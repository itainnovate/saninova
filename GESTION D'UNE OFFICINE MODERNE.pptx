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3" r:id="rId3"/>
    <p:sldId id="261" r:id="rId4"/>
    <p:sldId id="260" r:id="rId5"/>
    <p:sldId id="650" r:id="rId6"/>
    <p:sldId id="652" r:id="rId7"/>
    <p:sldId id="653" r:id="rId8"/>
    <p:sldId id="654" r:id="rId9"/>
    <p:sldId id="651" r:id="rId10"/>
    <p:sldId id="655" r:id="rId11"/>
    <p:sldId id="656" r:id="rId12"/>
    <p:sldId id="657" r:id="rId13"/>
    <p:sldId id="658" r:id="rId14"/>
    <p:sldId id="659" r:id="rId15"/>
    <p:sldId id="660" r:id="rId16"/>
    <p:sldId id="661" r:id="rId17"/>
    <p:sldId id="662" r:id="rId18"/>
    <p:sldId id="663" r:id="rId19"/>
    <p:sldId id="664" r:id="rId20"/>
    <p:sldId id="665" r:id="rId21"/>
    <p:sldId id="666" r:id="rId22"/>
    <p:sldId id="667" r:id="rId23"/>
    <p:sldId id="668" r:id="rId24"/>
    <p:sldId id="669" r:id="rId25"/>
    <p:sldId id="671" r:id="rId26"/>
    <p:sldId id="670" r:id="rId27"/>
    <p:sldId id="672" r:id="rId28"/>
    <p:sldId id="673" r:id="rId29"/>
    <p:sldId id="674" r:id="rId30"/>
    <p:sldId id="675" r:id="rId31"/>
    <p:sldId id="676" r:id="rId32"/>
    <p:sldId id="677" r:id="rId33"/>
    <p:sldId id="678" r:id="rId34"/>
    <p:sldId id="679" r:id="rId35"/>
    <p:sldId id="680" r:id="rId36"/>
    <p:sldId id="681" r:id="rId37"/>
    <p:sldId id="682" r:id="rId38"/>
    <p:sldId id="683" r:id="rId39"/>
    <p:sldId id="684" r:id="rId40"/>
    <p:sldId id="685" r:id="rId41"/>
    <p:sldId id="686" r:id="rId42"/>
    <p:sldId id="687" r:id="rId43"/>
    <p:sldId id="688" r:id="rId44"/>
    <p:sldId id="689" r:id="rId45"/>
    <p:sldId id="690" r:id="rId46"/>
    <p:sldId id="691" r:id="rId47"/>
    <p:sldId id="692" r:id="rId48"/>
    <p:sldId id="693" r:id="rId49"/>
    <p:sldId id="694" r:id="rId50"/>
    <p:sldId id="695" r:id="rId51"/>
    <p:sldId id="696" r:id="rId52"/>
    <p:sldId id="697" r:id="rId53"/>
    <p:sldId id="698" r:id="rId54"/>
    <p:sldId id="699" r:id="rId55"/>
    <p:sldId id="700" r:id="rId56"/>
    <p:sldId id="701" r:id="rId57"/>
    <p:sldId id="702" r:id="rId58"/>
    <p:sldId id="703" r:id="rId59"/>
    <p:sldId id="704" r:id="rId60"/>
    <p:sldId id="705" r:id="rId61"/>
    <p:sldId id="706" r:id="rId62"/>
    <p:sldId id="707" r:id="rId63"/>
    <p:sldId id="708" r:id="rId64"/>
    <p:sldId id="709" r:id="rId65"/>
    <p:sldId id="710" r:id="rId66"/>
    <p:sldId id="711" r:id="rId67"/>
    <p:sldId id="712" r:id="rId68"/>
    <p:sldId id="713" r:id="rId69"/>
    <p:sldId id="714" r:id="rId70"/>
    <p:sldId id="715" r:id="rId71"/>
    <p:sldId id="716" r:id="rId72"/>
    <p:sldId id="717" r:id="rId73"/>
    <p:sldId id="718" r:id="rId74"/>
    <p:sldId id="719" r:id="rId75"/>
    <p:sldId id="720" r:id="rId76"/>
    <p:sldId id="721" r:id="rId77"/>
    <p:sldId id="722" r:id="rId78"/>
    <p:sldId id="723" r:id="rId79"/>
    <p:sldId id="724" r:id="rId80"/>
    <p:sldId id="725" r:id="rId81"/>
    <p:sldId id="726" r:id="rId82"/>
    <p:sldId id="727" r:id="rId83"/>
    <p:sldId id="728" r:id="rId84"/>
    <p:sldId id="729" r:id="rId85"/>
    <p:sldId id="730" r:id="rId86"/>
    <p:sldId id="731" r:id="rId87"/>
    <p:sldId id="732" r:id="rId88"/>
    <p:sldId id="733" r:id="rId89"/>
    <p:sldId id="734" r:id="rId90"/>
    <p:sldId id="735" r:id="rId91"/>
    <p:sldId id="736" r:id="rId92"/>
    <p:sldId id="737" r:id="rId93"/>
    <p:sldId id="739" r:id="rId94"/>
    <p:sldId id="738" r:id="rId95"/>
    <p:sldId id="740" r:id="rId96"/>
    <p:sldId id="741" r:id="rId97"/>
    <p:sldId id="742" r:id="rId98"/>
    <p:sldId id="743" r:id="rId99"/>
    <p:sldId id="744" r:id="rId100"/>
    <p:sldId id="745" r:id="rId101"/>
    <p:sldId id="746" r:id="rId102"/>
    <p:sldId id="747" r:id="rId103"/>
    <p:sldId id="748" r:id="rId104"/>
    <p:sldId id="749" r:id="rId105"/>
    <p:sldId id="750" r:id="rId106"/>
    <p:sldId id="751" r:id="rId107"/>
    <p:sldId id="752" r:id="rId108"/>
    <p:sldId id="753" r:id="rId109"/>
    <p:sldId id="754" r:id="rId110"/>
    <p:sldId id="755" r:id="rId111"/>
    <p:sldId id="756" r:id="rId112"/>
    <p:sldId id="757" r:id="rId113"/>
    <p:sldId id="758" r:id="rId114"/>
    <p:sldId id="759" r:id="rId115"/>
    <p:sldId id="760" r:id="rId116"/>
    <p:sldId id="761" r:id="rId117"/>
    <p:sldId id="762" r:id="rId118"/>
    <p:sldId id="763" r:id="rId119"/>
    <p:sldId id="764" r:id="rId120"/>
    <p:sldId id="765" r:id="rId121"/>
    <p:sldId id="766" r:id="rId122"/>
    <p:sldId id="767" r:id="rId123"/>
    <p:sldId id="768" r:id="rId124"/>
    <p:sldId id="769" r:id="rId125"/>
    <p:sldId id="770" r:id="rId126"/>
    <p:sldId id="771" r:id="rId127"/>
    <p:sldId id="772" r:id="rId128"/>
    <p:sldId id="773" r:id="rId129"/>
    <p:sldId id="774" r:id="rId130"/>
    <p:sldId id="775" r:id="rId131"/>
    <p:sldId id="776" r:id="rId132"/>
    <p:sldId id="777" r:id="rId133"/>
    <p:sldId id="778" r:id="rId134"/>
    <p:sldId id="779" r:id="rId135"/>
    <p:sldId id="780" r:id="rId136"/>
    <p:sldId id="781" r:id="rId137"/>
    <p:sldId id="782" r:id="rId138"/>
    <p:sldId id="783" r:id="rId139"/>
    <p:sldId id="784" r:id="rId140"/>
    <p:sldId id="785" r:id="rId141"/>
    <p:sldId id="786" r:id="rId142"/>
    <p:sldId id="787" r:id="rId143"/>
    <p:sldId id="788" r:id="rId144"/>
    <p:sldId id="789" r:id="rId145"/>
    <p:sldId id="790" r:id="rId146"/>
    <p:sldId id="791" r:id="rId147"/>
    <p:sldId id="792" r:id="rId148"/>
    <p:sldId id="793" r:id="rId149"/>
    <p:sldId id="794" r:id="rId150"/>
    <p:sldId id="795" r:id="rId151"/>
    <p:sldId id="796" r:id="rId152"/>
    <p:sldId id="797" r:id="rId153"/>
    <p:sldId id="798" r:id="rId154"/>
    <p:sldId id="799" r:id="rId155"/>
    <p:sldId id="800" r:id="rId156"/>
    <p:sldId id="801" r:id="rId157"/>
    <p:sldId id="802" r:id="rId158"/>
    <p:sldId id="803" r:id="rId159"/>
    <p:sldId id="804" r:id="rId160"/>
    <p:sldId id="805" r:id="rId161"/>
    <p:sldId id="806" r:id="rId162"/>
    <p:sldId id="807" r:id="rId163"/>
    <p:sldId id="808" r:id="rId164"/>
    <p:sldId id="809" r:id="rId165"/>
    <p:sldId id="810" r:id="rId166"/>
    <p:sldId id="811" r:id="rId167"/>
    <p:sldId id="812" r:id="rId168"/>
    <p:sldId id="813" r:id="rId169"/>
    <p:sldId id="814" r:id="rId170"/>
    <p:sldId id="815" r:id="rId171"/>
    <p:sldId id="816" r:id="rId172"/>
    <p:sldId id="817" r:id="rId173"/>
    <p:sldId id="818" r:id="rId174"/>
    <p:sldId id="819" r:id="rId175"/>
    <p:sldId id="820" r:id="rId176"/>
    <p:sldId id="821" r:id="rId177"/>
    <p:sldId id="822" r:id="rId178"/>
    <p:sldId id="823" r:id="rId179"/>
    <p:sldId id="824" r:id="rId180"/>
    <p:sldId id="825" r:id="rId181"/>
    <p:sldId id="826" r:id="rId182"/>
    <p:sldId id="827" r:id="rId183"/>
    <p:sldId id="828" r:id="rId184"/>
    <p:sldId id="829" r:id="rId185"/>
    <p:sldId id="830" r:id="rId186"/>
    <p:sldId id="831" r:id="rId187"/>
    <p:sldId id="832" r:id="rId188"/>
    <p:sldId id="833" r:id="rId189"/>
    <p:sldId id="834" r:id="rId190"/>
    <p:sldId id="835" r:id="rId191"/>
    <p:sldId id="836" r:id="rId192"/>
    <p:sldId id="837" r:id="rId193"/>
    <p:sldId id="838" r:id="rId194"/>
    <p:sldId id="839" r:id="rId195"/>
    <p:sldId id="840" r:id="rId196"/>
    <p:sldId id="841" r:id="rId197"/>
    <p:sldId id="842" r:id="rId198"/>
    <p:sldId id="843" r:id="rId199"/>
    <p:sldId id="844" r:id="rId200"/>
    <p:sldId id="845" r:id="rId201"/>
    <p:sldId id="846" r:id="rId202"/>
    <p:sldId id="847" r:id="rId203"/>
    <p:sldId id="848" r:id="rId204"/>
    <p:sldId id="849" r:id="rId205"/>
    <p:sldId id="850" r:id="rId206"/>
    <p:sldId id="851" r:id="rId207"/>
    <p:sldId id="852" r:id="rId208"/>
    <p:sldId id="853" r:id="rId209"/>
    <p:sldId id="854" r:id="rId210"/>
    <p:sldId id="855" r:id="rId211"/>
    <p:sldId id="856" r:id="rId212"/>
    <p:sldId id="857" r:id="rId213"/>
    <p:sldId id="858" r:id="rId214"/>
    <p:sldId id="859" r:id="rId215"/>
    <p:sldId id="860" r:id="rId216"/>
    <p:sldId id="861" r:id="rId217"/>
    <p:sldId id="862" r:id="rId218"/>
    <p:sldId id="863" r:id="rId219"/>
    <p:sldId id="864" r:id="rId220"/>
    <p:sldId id="865" r:id="rId221"/>
    <p:sldId id="866" r:id="rId222"/>
    <p:sldId id="867" r:id="rId223"/>
    <p:sldId id="868" r:id="rId224"/>
    <p:sldId id="869" r:id="rId225"/>
    <p:sldId id="870" r:id="rId226"/>
    <p:sldId id="871" r:id="rId227"/>
    <p:sldId id="872" r:id="rId228"/>
    <p:sldId id="873" r:id="rId229"/>
    <p:sldId id="874" r:id="rId230"/>
    <p:sldId id="875" r:id="rId231"/>
    <p:sldId id="876" r:id="rId232"/>
    <p:sldId id="877" r:id="rId233"/>
    <p:sldId id="878" r:id="rId234"/>
    <p:sldId id="879" r:id="rId235"/>
    <p:sldId id="880" r:id="rId236"/>
    <p:sldId id="881" r:id="rId237"/>
    <p:sldId id="882" r:id="rId238"/>
    <p:sldId id="883" r:id="rId239"/>
    <p:sldId id="884" r:id="rId240"/>
    <p:sldId id="885" r:id="rId241"/>
    <p:sldId id="886" r:id="rId242"/>
    <p:sldId id="887" r:id="rId243"/>
    <p:sldId id="888" r:id="rId244"/>
    <p:sldId id="889" r:id="rId245"/>
    <p:sldId id="890" r:id="rId246"/>
    <p:sldId id="891" r:id="rId247"/>
    <p:sldId id="892" r:id="rId248"/>
    <p:sldId id="893" r:id="rId249"/>
    <p:sldId id="894" r:id="rId250"/>
    <p:sldId id="895" r:id="rId251"/>
    <p:sldId id="896" r:id="rId252"/>
    <p:sldId id="897" r:id="rId253"/>
    <p:sldId id="898" r:id="rId254"/>
    <p:sldId id="899" r:id="rId255"/>
    <p:sldId id="900" r:id="rId256"/>
    <p:sldId id="901" r:id="rId257"/>
    <p:sldId id="902" r:id="rId258"/>
    <p:sldId id="903" r:id="rId259"/>
    <p:sldId id="904" r:id="rId260"/>
    <p:sldId id="905" r:id="rId261"/>
    <p:sldId id="906" r:id="rId262"/>
    <p:sldId id="907" r:id="rId263"/>
    <p:sldId id="908" r:id="rId264"/>
    <p:sldId id="909" r:id="rId265"/>
    <p:sldId id="910" r:id="rId266"/>
    <p:sldId id="911" r:id="rId267"/>
    <p:sldId id="912" r:id="rId268"/>
    <p:sldId id="913" r:id="rId269"/>
    <p:sldId id="914" r:id="rId270"/>
    <p:sldId id="915" r:id="rId271"/>
    <p:sldId id="916" r:id="rId272"/>
    <p:sldId id="917" r:id="rId273"/>
    <p:sldId id="918" r:id="rId274"/>
    <p:sldId id="919" r:id="rId275"/>
    <p:sldId id="920" r:id="rId276"/>
    <p:sldId id="921" r:id="rId277"/>
    <p:sldId id="922" r:id="rId278"/>
    <p:sldId id="923" r:id="rId279"/>
    <p:sldId id="924" r:id="rId280"/>
    <p:sldId id="925" r:id="rId281"/>
    <p:sldId id="926" r:id="rId282"/>
    <p:sldId id="927" r:id="rId283"/>
    <p:sldId id="928" r:id="rId284"/>
    <p:sldId id="929" r:id="rId285"/>
    <p:sldId id="930" r:id="rId286"/>
    <p:sldId id="931" r:id="rId287"/>
    <p:sldId id="932" r:id="rId288"/>
    <p:sldId id="933" r:id="rId289"/>
    <p:sldId id="934" r:id="rId290"/>
    <p:sldId id="935" r:id="rId291"/>
    <p:sldId id="936" r:id="rId292"/>
    <p:sldId id="937" r:id="rId293"/>
    <p:sldId id="938" r:id="rId294"/>
    <p:sldId id="939" r:id="rId295"/>
    <p:sldId id="940" r:id="rId296"/>
    <p:sldId id="941" r:id="rId297"/>
    <p:sldId id="942" r:id="rId298"/>
    <p:sldId id="943" r:id="rId299"/>
    <p:sldId id="944" r:id="rId300"/>
    <p:sldId id="945" r:id="rId301"/>
    <p:sldId id="946" r:id="rId302"/>
    <p:sldId id="947" r:id="rId303"/>
    <p:sldId id="948" r:id="rId304"/>
    <p:sldId id="949" r:id="rId305"/>
    <p:sldId id="950" r:id="rId306"/>
    <p:sldId id="951" r:id="rId307"/>
    <p:sldId id="952" r:id="rId308"/>
    <p:sldId id="953" r:id="rId309"/>
    <p:sldId id="954" r:id="rId310"/>
    <p:sldId id="955" r:id="rId311"/>
    <p:sldId id="956" r:id="rId312"/>
    <p:sldId id="957" r:id="rId313"/>
    <p:sldId id="958" r:id="rId314"/>
    <p:sldId id="959" r:id="rId315"/>
    <p:sldId id="960" r:id="rId316"/>
    <p:sldId id="961" r:id="rId317"/>
    <p:sldId id="962" r:id="rId318"/>
    <p:sldId id="963" r:id="rId319"/>
    <p:sldId id="272" r:id="rId3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pe AKOHOUVI AMOU [SANTE]" initials="HAA[" lastIdx="1" clrIdx="0">
    <p:extLst>
      <p:ext uri="{19B8F6BF-5375-455C-9EA6-DF929625EA0E}">
        <p15:presenceInfo xmlns:p15="http://schemas.microsoft.com/office/powerpoint/2012/main" userId="S::hakohouvi@gouv.bj::2899bb1e-bb96-4adc-ba7b-0412e746b0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37504"/>
    <a:srgbClr val="339933"/>
    <a:srgbClr val="0150A2"/>
    <a:srgbClr val="014691"/>
    <a:srgbClr val="0150A3"/>
    <a:srgbClr val="0156AD"/>
    <a:srgbClr val="FFFFFF"/>
    <a:srgbClr val="014E9D"/>
    <a:srgbClr val="014C9B"/>
    <a:srgbClr val="0154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CAF9ED-07DC-4A11-8D7F-57B35C25682E}" styleName="Style moyen 1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Style moyen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Style moyen 1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19" autoAdjust="0"/>
    <p:restoredTop sz="94660"/>
  </p:normalViewPr>
  <p:slideViewPr>
    <p:cSldViewPr snapToGrid="0">
      <p:cViewPr varScale="1">
        <p:scale>
          <a:sx n="85" d="100"/>
          <a:sy n="85" d="100"/>
        </p:scale>
        <p:origin x="51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theme" Target="theme/theme1.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commentAuthors" Target="commentAuthors.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tableStyles" Target="tableStyles.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071E2A-4119-4214-8E1A-75C869753E5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5B17FE50-C3BF-46D4-A4A4-E0B95E4F79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2188503F-7A00-4171-BE61-95AC08694E5B}"/>
              </a:ext>
            </a:extLst>
          </p:cNvPr>
          <p:cNvSpPr>
            <a:spLocks noGrp="1"/>
          </p:cNvSpPr>
          <p:nvPr>
            <p:ph type="dt" sz="half" idx="10"/>
          </p:nvPr>
        </p:nvSpPr>
        <p:spPr/>
        <p:txBody>
          <a:bodyPr/>
          <a:lstStyle/>
          <a:p>
            <a:fld id="{C710214C-6F90-4EFD-A849-49C3BF3D8E83}" type="datetimeFigureOut">
              <a:rPr lang="en-US" smtClean="0"/>
              <a:t>6/6/2026</a:t>
            </a:fld>
            <a:endParaRPr lang="en-US"/>
          </a:p>
        </p:txBody>
      </p:sp>
      <p:sp>
        <p:nvSpPr>
          <p:cNvPr id="5" name="Espace réservé du pied de page 4">
            <a:extLst>
              <a:ext uri="{FF2B5EF4-FFF2-40B4-BE49-F238E27FC236}">
                <a16:creationId xmlns:a16="http://schemas.microsoft.com/office/drawing/2014/main" id="{2106E8FD-8421-4DF2-81B5-125C0D77DA12}"/>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6A2902D5-0AD6-4652-9CD0-757C94AD0B59}"/>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307371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3D7084-0320-4C2C-9516-769059D10671}"/>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5096985A-09AB-4172-AF53-BBA215FCE1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266F3484-B0BE-4ECA-BC76-1BFA451B70BE}"/>
              </a:ext>
            </a:extLst>
          </p:cNvPr>
          <p:cNvSpPr>
            <a:spLocks noGrp="1"/>
          </p:cNvSpPr>
          <p:nvPr>
            <p:ph type="dt" sz="half" idx="10"/>
          </p:nvPr>
        </p:nvSpPr>
        <p:spPr/>
        <p:txBody>
          <a:bodyPr/>
          <a:lstStyle/>
          <a:p>
            <a:fld id="{C710214C-6F90-4EFD-A849-49C3BF3D8E83}" type="datetimeFigureOut">
              <a:rPr lang="en-US" smtClean="0"/>
              <a:t>6/6/2026</a:t>
            </a:fld>
            <a:endParaRPr lang="en-US"/>
          </a:p>
        </p:txBody>
      </p:sp>
      <p:sp>
        <p:nvSpPr>
          <p:cNvPr id="5" name="Espace réservé du pied de page 4">
            <a:extLst>
              <a:ext uri="{FF2B5EF4-FFF2-40B4-BE49-F238E27FC236}">
                <a16:creationId xmlns:a16="http://schemas.microsoft.com/office/drawing/2014/main" id="{7F917757-2EEA-4CD4-A991-33F06535780D}"/>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40C989FD-0978-44C4-949F-10B1F7A06AB4}"/>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3345462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67904B-05FF-47A2-A4C3-D14CF69B120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FC204304-73CC-49BC-BE08-EEAA28C003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9330D5D5-21BF-441A-8931-E50B044DCA30}"/>
              </a:ext>
            </a:extLst>
          </p:cNvPr>
          <p:cNvSpPr>
            <a:spLocks noGrp="1"/>
          </p:cNvSpPr>
          <p:nvPr>
            <p:ph type="dt" sz="half" idx="10"/>
          </p:nvPr>
        </p:nvSpPr>
        <p:spPr/>
        <p:txBody>
          <a:bodyPr/>
          <a:lstStyle/>
          <a:p>
            <a:fld id="{C710214C-6F90-4EFD-A849-49C3BF3D8E83}" type="datetimeFigureOut">
              <a:rPr lang="en-US" smtClean="0"/>
              <a:t>6/6/2026</a:t>
            </a:fld>
            <a:endParaRPr lang="en-US"/>
          </a:p>
        </p:txBody>
      </p:sp>
      <p:sp>
        <p:nvSpPr>
          <p:cNvPr id="5" name="Espace réservé du pied de page 4">
            <a:extLst>
              <a:ext uri="{FF2B5EF4-FFF2-40B4-BE49-F238E27FC236}">
                <a16:creationId xmlns:a16="http://schemas.microsoft.com/office/drawing/2014/main" id="{BCC7D800-FC31-4236-9093-A9A6FB779B62}"/>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31E46DCB-9148-44E1-9537-DA22E5D3A4BA}"/>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1034786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253450-08ED-44CE-947C-3B474A31A36E}"/>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88B9DF2A-C374-431F-87EA-2A6BC340A45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a:extLst>
              <a:ext uri="{FF2B5EF4-FFF2-40B4-BE49-F238E27FC236}">
                <a16:creationId xmlns:a16="http://schemas.microsoft.com/office/drawing/2014/main" id="{39EA97DE-48C0-4415-B699-3EF1DCF280B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a:extLst>
              <a:ext uri="{FF2B5EF4-FFF2-40B4-BE49-F238E27FC236}">
                <a16:creationId xmlns:a16="http://schemas.microsoft.com/office/drawing/2014/main" id="{8D7458FD-6C49-4558-9529-1A6783189AF9}"/>
              </a:ext>
            </a:extLst>
          </p:cNvPr>
          <p:cNvSpPr>
            <a:spLocks noGrp="1"/>
          </p:cNvSpPr>
          <p:nvPr>
            <p:ph type="dt" sz="half" idx="10"/>
          </p:nvPr>
        </p:nvSpPr>
        <p:spPr/>
        <p:txBody>
          <a:bodyPr/>
          <a:lstStyle/>
          <a:p>
            <a:fld id="{C710214C-6F90-4EFD-A849-49C3BF3D8E83}" type="datetimeFigureOut">
              <a:rPr lang="en-US" smtClean="0"/>
              <a:t>6/6/2026</a:t>
            </a:fld>
            <a:endParaRPr lang="en-US"/>
          </a:p>
        </p:txBody>
      </p:sp>
      <p:sp>
        <p:nvSpPr>
          <p:cNvPr id="6" name="Espace réservé du pied de page 5">
            <a:extLst>
              <a:ext uri="{FF2B5EF4-FFF2-40B4-BE49-F238E27FC236}">
                <a16:creationId xmlns:a16="http://schemas.microsoft.com/office/drawing/2014/main" id="{CA9E60CA-E951-46AF-A3FA-C33FE517EB7A}"/>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66472540-A910-4897-86B9-05F88716AE57}"/>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31637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C0209B-ADE2-49DB-9017-D0E81542ED40}"/>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52BD18CB-91FE-44A1-81E0-E1C44E2062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3F895D3-A64A-49E6-BA72-EA35CA09079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19966AFB-FC27-4ACE-BD29-FC73E44D3D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1F45509-94A6-48EE-A7C7-84A90AF087ED}"/>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14F3747F-D218-4823-BA68-4C3C9658D2FF}"/>
              </a:ext>
            </a:extLst>
          </p:cNvPr>
          <p:cNvSpPr>
            <a:spLocks noGrp="1"/>
          </p:cNvSpPr>
          <p:nvPr>
            <p:ph type="dt" sz="half" idx="10"/>
          </p:nvPr>
        </p:nvSpPr>
        <p:spPr/>
        <p:txBody>
          <a:bodyPr/>
          <a:lstStyle/>
          <a:p>
            <a:fld id="{C710214C-6F90-4EFD-A849-49C3BF3D8E83}" type="datetimeFigureOut">
              <a:rPr lang="en-US" smtClean="0"/>
              <a:t>6/6/2026</a:t>
            </a:fld>
            <a:endParaRPr lang="en-US"/>
          </a:p>
        </p:txBody>
      </p:sp>
      <p:sp>
        <p:nvSpPr>
          <p:cNvPr id="8" name="Espace réservé du pied de page 7">
            <a:extLst>
              <a:ext uri="{FF2B5EF4-FFF2-40B4-BE49-F238E27FC236}">
                <a16:creationId xmlns:a16="http://schemas.microsoft.com/office/drawing/2014/main" id="{103260D5-42CC-43D3-99D7-B22E47510154}"/>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4FF582A9-ACE3-4FDB-89A2-1330002888A5}"/>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655683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3BC120-6E25-4146-97D1-91562B0A0928}"/>
              </a:ext>
            </a:extLst>
          </p:cNvPr>
          <p:cNvSpPr>
            <a:spLocks noGrp="1"/>
          </p:cNvSpPr>
          <p:nvPr>
            <p:ph type="title"/>
          </p:nvPr>
        </p:nvSpPr>
        <p:spPr/>
        <p:txBody>
          <a:bodyPr/>
          <a:lstStyle/>
          <a:p>
            <a:r>
              <a:rPr lang="fr-FR"/>
              <a:t>Modifiez le style du titre</a:t>
            </a:r>
            <a:endParaRPr lang="en-US"/>
          </a:p>
        </p:txBody>
      </p:sp>
      <p:sp>
        <p:nvSpPr>
          <p:cNvPr id="3" name="Espace réservé de la date 2">
            <a:extLst>
              <a:ext uri="{FF2B5EF4-FFF2-40B4-BE49-F238E27FC236}">
                <a16:creationId xmlns:a16="http://schemas.microsoft.com/office/drawing/2014/main" id="{FC927168-D792-40D3-A6BC-37E2C6040CC1}"/>
              </a:ext>
            </a:extLst>
          </p:cNvPr>
          <p:cNvSpPr>
            <a:spLocks noGrp="1"/>
          </p:cNvSpPr>
          <p:nvPr>
            <p:ph type="dt" sz="half" idx="10"/>
          </p:nvPr>
        </p:nvSpPr>
        <p:spPr/>
        <p:txBody>
          <a:bodyPr/>
          <a:lstStyle/>
          <a:p>
            <a:fld id="{C710214C-6F90-4EFD-A849-49C3BF3D8E83}" type="datetimeFigureOut">
              <a:rPr lang="en-US" smtClean="0"/>
              <a:t>6/6/2026</a:t>
            </a:fld>
            <a:endParaRPr lang="en-US"/>
          </a:p>
        </p:txBody>
      </p:sp>
      <p:sp>
        <p:nvSpPr>
          <p:cNvPr id="4" name="Espace réservé du pied de page 3">
            <a:extLst>
              <a:ext uri="{FF2B5EF4-FFF2-40B4-BE49-F238E27FC236}">
                <a16:creationId xmlns:a16="http://schemas.microsoft.com/office/drawing/2014/main" id="{2EB35CD1-FD1C-4B57-9E30-988F37BE9DD9}"/>
              </a:ext>
            </a:extLst>
          </p:cNvPr>
          <p:cNvSpPr>
            <a:spLocks noGrp="1"/>
          </p:cNvSpPr>
          <p:nvPr>
            <p:ph type="ftr" sz="quarter" idx="11"/>
          </p:nvPr>
        </p:nvSpPr>
        <p:spPr/>
        <p:txBody>
          <a:bodyPr/>
          <a:lstStyle/>
          <a:p>
            <a:endParaRPr lang="en-US"/>
          </a:p>
        </p:txBody>
      </p:sp>
      <p:sp>
        <p:nvSpPr>
          <p:cNvPr id="5" name="Espace réservé du numéro de diapositive 4">
            <a:extLst>
              <a:ext uri="{FF2B5EF4-FFF2-40B4-BE49-F238E27FC236}">
                <a16:creationId xmlns:a16="http://schemas.microsoft.com/office/drawing/2014/main" id="{09DFAC80-B2A4-47E4-A642-EAF142CD8B38}"/>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3909288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7594ACE-5676-48CB-B543-08D2A21E9013}"/>
              </a:ext>
            </a:extLst>
          </p:cNvPr>
          <p:cNvSpPr>
            <a:spLocks noGrp="1"/>
          </p:cNvSpPr>
          <p:nvPr>
            <p:ph type="dt" sz="half" idx="10"/>
          </p:nvPr>
        </p:nvSpPr>
        <p:spPr/>
        <p:txBody>
          <a:bodyPr/>
          <a:lstStyle/>
          <a:p>
            <a:fld id="{C710214C-6F90-4EFD-A849-49C3BF3D8E83}" type="datetimeFigureOut">
              <a:rPr lang="en-US" smtClean="0"/>
              <a:t>6/6/2026</a:t>
            </a:fld>
            <a:endParaRPr lang="en-US"/>
          </a:p>
        </p:txBody>
      </p:sp>
      <p:sp>
        <p:nvSpPr>
          <p:cNvPr id="3" name="Espace réservé du pied de page 2">
            <a:extLst>
              <a:ext uri="{FF2B5EF4-FFF2-40B4-BE49-F238E27FC236}">
                <a16:creationId xmlns:a16="http://schemas.microsoft.com/office/drawing/2014/main" id="{57FAE5BD-F80F-4B78-8E27-28AEA280BDF2}"/>
              </a:ext>
            </a:extLst>
          </p:cNvPr>
          <p:cNvSpPr>
            <a:spLocks noGrp="1"/>
          </p:cNvSpPr>
          <p:nvPr>
            <p:ph type="ftr" sz="quarter" idx="11"/>
          </p:nvPr>
        </p:nvSpPr>
        <p:spPr/>
        <p:txBody>
          <a:bodyPr/>
          <a:lstStyle/>
          <a:p>
            <a:endParaRPr lang="en-US"/>
          </a:p>
        </p:txBody>
      </p:sp>
      <p:sp>
        <p:nvSpPr>
          <p:cNvPr id="4" name="Espace réservé du numéro de diapositive 3">
            <a:extLst>
              <a:ext uri="{FF2B5EF4-FFF2-40B4-BE49-F238E27FC236}">
                <a16:creationId xmlns:a16="http://schemas.microsoft.com/office/drawing/2014/main" id="{51AE06D5-B480-4F25-A69B-0C7F45DA9D93}"/>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2999195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07CAAF-83C2-45C1-88CC-B9B455E4E4B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5D6FCB5B-B17E-433D-8CB4-73CD6D2211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89B44BAF-590E-48F9-B3C5-47950B80BC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6B5D2BA-5432-431E-B5EB-A4E00F9534AB}"/>
              </a:ext>
            </a:extLst>
          </p:cNvPr>
          <p:cNvSpPr>
            <a:spLocks noGrp="1"/>
          </p:cNvSpPr>
          <p:nvPr>
            <p:ph type="dt" sz="half" idx="10"/>
          </p:nvPr>
        </p:nvSpPr>
        <p:spPr/>
        <p:txBody>
          <a:bodyPr/>
          <a:lstStyle/>
          <a:p>
            <a:fld id="{C710214C-6F90-4EFD-A849-49C3BF3D8E83}" type="datetimeFigureOut">
              <a:rPr lang="en-US" smtClean="0"/>
              <a:t>6/6/2026</a:t>
            </a:fld>
            <a:endParaRPr lang="en-US"/>
          </a:p>
        </p:txBody>
      </p:sp>
      <p:sp>
        <p:nvSpPr>
          <p:cNvPr id="6" name="Espace réservé du pied de page 5">
            <a:extLst>
              <a:ext uri="{FF2B5EF4-FFF2-40B4-BE49-F238E27FC236}">
                <a16:creationId xmlns:a16="http://schemas.microsoft.com/office/drawing/2014/main" id="{492E150E-D470-4F75-A243-43C2D8D7B563}"/>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6C2CAFA6-224B-4858-AA8F-2A03CC0F8EBD}"/>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1669525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6FFF18-7ADE-4B09-8DD2-0F3F4A9C814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a:extLst>
              <a:ext uri="{FF2B5EF4-FFF2-40B4-BE49-F238E27FC236}">
                <a16:creationId xmlns:a16="http://schemas.microsoft.com/office/drawing/2014/main" id="{AAB042BF-1BB9-4569-9912-181995720B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a:extLst>
              <a:ext uri="{FF2B5EF4-FFF2-40B4-BE49-F238E27FC236}">
                <a16:creationId xmlns:a16="http://schemas.microsoft.com/office/drawing/2014/main" id="{340B60F4-FDF1-4A91-A14C-F65D197472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33C0581-84EE-42A6-8F9A-58385316253B}"/>
              </a:ext>
            </a:extLst>
          </p:cNvPr>
          <p:cNvSpPr>
            <a:spLocks noGrp="1"/>
          </p:cNvSpPr>
          <p:nvPr>
            <p:ph type="dt" sz="half" idx="10"/>
          </p:nvPr>
        </p:nvSpPr>
        <p:spPr/>
        <p:txBody>
          <a:bodyPr/>
          <a:lstStyle/>
          <a:p>
            <a:fld id="{C710214C-6F90-4EFD-A849-49C3BF3D8E83}" type="datetimeFigureOut">
              <a:rPr lang="en-US" smtClean="0"/>
              <a:t>6/6/2026</a:t>
            </a:fld>
            <a:endParaRPr lang="en-US"/>
          </a:p>
        </p:txBody>
      </p:sp>
      <p:sp>
        <p:nvSpPr>
          <p:cNvPr id="6" name="Espace réservé du pied de page 5">
            <a:extLst>
              <a:ext uri="{FF2B5EF4-FFF2-40B4-BE49-F238E27FC236}">
                <a16:creationId xmlns:a16="http://schemas.microsoft.com/office/drawing/2014/main" id="{6FEB829C-848C-4665-8B99-E154A8B1126F}"/>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2CFBF811-AEDE-47D1-993A-73FEA860D873}"/>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2666490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909646-C762-4828-9128-13C8904DCB49}"/>
              </a:ext>
            </a:extLst>
          </p:cNvPr>
          <p:cNvSpPr>
            <a:spLocks noGrp="1"/>
          </p:cNvSpPr>
          <p:nvPr>
            <p:ph type="title"/>
          </p:nvPr>
        </p:nvSpPr>
        <p:spPr/>
        <p:txBody>
          <a:bodyPr/>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3F1666B9-AC2A-4750-9C03-182D38A532C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7A7715E0-BE39-4CD2-8AAA-5FDA1FBDFEBD}"/>
              </a:ext>
            </a:extLst>
          </p:cNvPr>
          <p:cNvSpPr>
            <a:spLocks noGrp="1"/>
          </p:cNvSpPr>
          <p:nvPr>
            <p:ph type="dt" sz="half" idx="10"/>
          </p:nvPr>
        </p:nvSpPr>
        <p:spPr/>
        <p:txBody>
          <a:bodyPr/>
          <a:lstStyle/>
          <a:p>
            <a:fld id="{C710214C-6F90-4EFD-A849-49C3BF3D8E83}" type="datetimeFigureOut">
              <a:rPr lang="en-US" smtClean="0"/>
              <a:t>6/6/2026</a:t>
            </a:fld>
            <a:endParaRPr lang="en-US"/>
          </a:p>
        </p:txBody>
      </p:sp>
      <p:sp>
        <p:nvSpPr>
          <p:cNvPr id="5" name="Espace réservé du pied de page 4">
            <a:extLst>
              <a:ext uri="{FF2B5EF4-FFF2-40B4-BE49-F238E27FC236}">
                <a16:creationId xmlns:a16="http://schemas.microsoft.com/office/drawing/2014/main" id="{299677DB-61CC-4F9F-8BD7-8786EBD2322D}"/>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32C277B9-792D-4BE6-A424-D577AC2F01AC}"/>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1882688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41A971B-4CDB-4229-BDEC-A719FB570280}"/>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A373F74B-DD4C-48A0-943A-3DAEBCD1D17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DD099399-C5EE-41B9-B2C9-62240A708317}"/>
              </a:ext>
            </a:extLst>
          </p:cNvPr>
          <p:cNvSpPr>
            <a:spLocks noGrp="1"/>
          </p:cNvSpPr>
          <p:nvPr>
            <p:ph type="dt" sz="half" idx="10"/>
          </p:nvPr>
        </p:nvSpPr>
        <p:spPr/>
        <p:txBody>
          <a:bodyPr/>
          <a:lstStyle/>
          <a:p>
            <a:fld id="{C710214C-6F90-4EFD-A849-49C3BF3D8E83}" type="datetimeFigureOut">
              <a:rPr lang="en-US" smtClean="0"/>
              <a:t>6/6/2026</a:t>
            </a:fld>
            <a:endParaRPr lang="en-US"/>
          </a:p>
        </p:txBody>
      </p:sp>
      <p:sp>
        <p:nvSpPr>
          <p:cNvPr id="5" name="Espace réservé du pied de page 4">
            <a:extLst>
              <a:ext uri="{FF2B5EF4-FFF2-40B4-BE49-F238E27FC236}">
                <a16:creationId xmlns:a16="http://schemas.microsoft.com/office/drawing/2014/main" id="{7160E782-0B72-4416-8CFD-0A05A555E6CB}"/>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72DF7DC2-8162-49F5-8F78-D32BF2276BE4}"/>
              </a:ext>
            </a:extLst>
          </p:cNvPr>
          <p:cNvSpPr>
            <a:spLocks noGrp="1"/>
          </p:cNvSpPr>
          <p:nvPr>
            <p:ph type="sldNum" sz="quarter" idx="12"/>
          </p:nvPr>
        </p:nvSpPr>
        <p:spPr/>
        <p:txBody>
          <a:bodyPr/>
          <a:lstStyle/>
          <a:p>
            <a:fld id="{2ED412A2-ECFA-47BC-99E9-6BCA7B7D02BF}" type="slidenum">
              <a:rPr lang="en-US" smtClean="0"/>
              <a:t>‹N°›</a:t>
            </a:fld>
            <a:endParaRPr lang="en-US"/>
          </a:p>
        </p:txBody>
      </p:sp>
    </p:spTree>
    <p:extLst>
      <p:ext uri="{BB962C8B-B14F-4D97-AF65-F5344CB8AC3E}">
        <p14:creationId xmlns:p14="http://schemas.microsoft.com/office/powerpoint/2010/main" val="635519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141528A-24DE-4486-BF48-B624F30E71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DA3E4E90-E202-49DC-A6DF-AB9FD75CD7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F5DD182E-9284-418D-88C3-822A925E30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10214C-6F90-4EFD-A849-49C3BF3D8E83}" type="datetimeFigureOut">
              <a:rPr lang="en-US" smtClean="0"/>
              <a:t>6/6/2026</a:t>
            </a:fld>
            <a:endParaRPr lang="en-US"/>
          </a:p>
        </p:txBody>
      </p:sp>
      <p:sp>
        <p:nvSpPr>
          <p:cNvPr id="5" name="Espace réservé du pied de page 4">
            <a:extLst>
              <a:ext uri="{FF2B5EF4-FFF2-40B4-BE49-F238E27FC236}">
                <a16:creationId xmlns:a16="http://schemas.microsoft.com/office/drawing/2014/main" id="{C080CF4F-1EB6-43FD-92E5-368B4468C1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a:extLst>
              <a:ext uri="{FF2B5EF4-FFF2-40B4-BE49-F238E27FC236}">
                <a16:creationId xmlns:a16="http://schemas.microsoft.com/office/drawing/2014/main" id="{20E3544A-5889-4301-AB52-B8C7181FE6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D412A2-ECFA-47BC-99E9-6BCA7B7D02BF}" type="slidenum">
              <a:rPr lang="en-US" smtClean="0"/>
              <a:t>‹N°›</a:t>
            </a:fld>
            <a:endParaRPr lang="en-US"/>
          </a:p>
        </p:txBody>
      </p:sp>
    </p:spTree>
    <p:extLst>
      <p:ext uri="{BB962C8B-B14F-4D97-AF65-F5344CB8AC3E}">
        <p14:creationId xmlns:p14="http://schemas.microsoft.com/office/powerpoint/2010/main" val="1176616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BC426065-EB54-4719-AE8F-DBD62E38ECBE}"/>
              </a:ext>
            </a:extLst>
          </p:cNvPr>
          <p:cNvPicPr>
            <a:picLocks noChangeAspect="1"/>
          </p:cNvPicPr>
          <p:nvPr/>
        </p:nvPicPr>
        <p:blipFill rotWithShape="1">
          <a:blip r:embed="rId2">
            <a:extLst>
              <a:ext uri="{28A0092B-C50C-407E-A947-70E740481C1C}">
                <a14:useLocalDpi xmlns:a14="http://schemas.microsoft.com/office/drawing/2010/main" val="0"/>
              </a:ext>
            </a:extLst>
          </a:blip>
          <a:srcRect l="4450" r="67462"/>
          <a:stretch/>
        </p:blipFill>
        <p:spPr>
          <a:xfrm>
            <a:off x="3088257" y="2528596"/>
            <a:ext cx="1854679" cy="1800808"/>
          </a:xfrm>
          <a:prstGeom prst="rect">
            <a:avLst/>
          </a:prstGeom>
        </p:spPr>
      </p:pic>
      <p:pic>
        <p:nvPicPr>
          <p:cNvPr id="3" name="Image 2">
            <a:extLst>
              <a:ext uri="{FF2B5EF4-FFF2-40B4-BE49-F238E27FC236}">
                <a16:creationId xmlns:a16="http://schemas.microsoft.com/office/drawing/2014/main" id="{C268A599-18FB-4EC9-B95D-B5882B174D03}"/>
              </a:ext>
            </a:extLst>
          </p:cNvPr>
          <p:cNvPicPr>
            <a:picLocks noChangeAspect="1"/>
          </p:cNvPicPr>
          <p:nvPr/>
        </p:nvPicPr>
        <p:blipFill rotWithShape="1">
          <a:blip r:embed="rId2">
            <a:extLst>
              <a:ext uri="{28A0092B-C50C-407E-A947-70E740481C1C}">
                <a14:useLocalDpi xmlns:a14="http://schemas.microsoft.com/office/drawing/2010/main" val="0"/>
              </a:ext>
            </a:extLst>
          </a:blip>
          <a:srcRect l="30709"/>
          <a:stretch/>
        </p:blipFill>
        <p:spPr>
          <a:xfrm>
            <a:off x="4822166" y="2528596"/>
            <a:ext cx="4575315" cy="1800808"/>
          </a:xfrm>
          <a:prstGeom prst="rect">
            <a:avLst/>
          </a:prstGeom>
        </p:spPr>
      </p:pic>
    </p:spTree>
    <p:extLst>
      <p:ext uri="{BB962C8B-B14F-4D97-AF65-F5344CB8AC3E}">
        <p14:creationId xmlns:p14="http://schemas.microsoft.com/office/powerpoint/2010/main" val="118826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251DDFA-8265-4E9D-851A-03DF889A45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sp>
        <p:nvSpPr>
          <p:cNvPr id="2" name="Rectangle 1">
            <a:extLst>
              <a:ext uri="{FF2B5EF4-FFF2-40B4-BE49-F238E27FC236}">
                <a16:creationId xmlns:a16="http://schemas.microsoft.com/office/drawing/2014/main" id="{265604B0-EF89-4CCD-9A70-88801B695330}"/>
              </a:ext>
            </a:extLst>
          </p:cNvPr>
          <p:cNvSpPr/>
          <p:nvPr/>
        </p:nvSpPr>
        <p:spPr>
          <a:xfrm>
            <a:off x="233266" y="205274"/>
            <a:ext cx="11747240" cy="5057192"/>
          </a:xfrm>
          <a:prstGeom prst="rect">
            <a:avLst/>
          </a:prstGeom>
          <a:solidFill>
            <a:srgbClr val="014A9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59298" y="1948057"/>
            <a:ext cx="481069" cy="1571625"/>
          </a:xfrm>
          <a:prstGeom prst="roundRect">
            <a:avLst>
              <a:gd name="adj" fmla="val 50000"/>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82384" y="2410703"/>
            <a:ext cx="10049004" cy="646331"/>
          </a:xfrm>
          <a:prstGeom prst="rect">
            <a:avLst/>
          </a:prstGeom>
          <a:noFill/>
        </p:spPr>
        <p:txBody>
          <a:bodyPr wrap="square">
            <a:spAutoFit/>
          </a:bodyPr>
          <a:lstStyle/>
          <a:p>
            <a:r>
              <a:rPr lang="fr-FR" sz="3600" b="1" dirty="0">
                <a:solidFill>
                  <a:schemeClr val="bg1"/>
                </a:solidFill>
                <a:effectLst/>
                <a:latin typeface="Aptos" panose="020B0004020202020204" pitchFamily="34" charset="0"/>
                <a:ea typeface="Calibri" panose="020F0502020204030204" pitchFamily="34" charset="0"/>
                <a:cs typeface="Calibri" panose="020F0502020204030204" pitchFamily="34" charset="0"/>
              </a:rPr>
              <a:t>Gestion officinale </a:t>
            </a:r>
            <a:endParaRPr lang="en-US" sz="3600" dirty="0">
              <a:solidFill>
                <a:schemeClr val="bg1"/>
              </a:solidFill>
              <a:latin typeface="Aptos" panose="020B0004020202020204" pitchFamily="34" charset="0"/>
            </a:endParaRPr>
          </a:p>
        </p:txBody>
      </p:sp>
      <p:pic>
        <p:nvPicPr>
          <p:cNvPr id="11" name="Image 10">
            <a:extLst>
              <a:ext uri="{FF2B5EF4-FFF2-40B4-BE49-F238E27FC236}">
                <a16:creationId xmlns:a16="http://schemas.microsoft.com/office/drawing/2014/main" id="{B4C883C3-6DB9-4B07-895A-0E7650FB34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297" y="2493333"/>
            <a:ext cx="481069" cy="481069"/>
          </a:xfrm>
          <a:prstGeom prst="rect">
            <a:avLst/>
          </a:prstGeom>
        </p:spPr>
      </p:pic>
      <p:cxnSp>
        <p:nvCxnSpPr>
          <p:cNvPr id="6" name="Connecteur droit 5">
            <a:extLst>
              <a:ext uri="{FF2B5EF4-FFF2-40B4-BE49-F238E27FC236}">
                <a16:creationId xmlns:a16="http://schemas.microsoft.com/office/drawing/2014/main" id="{2DCBA7D2-EC6B-455F-8C1C-07EFE76AD878}"/>
              </a:ext>
            </a:extLst>
          </p:cNvPr>
          <p:cNvCxnSpPr>
            <a:cxnSpLocks/>
            <a:stCxn id="3"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2" name="Image 11">
            <a:extLst>
              <a:ext uri="{FF2B5EF4-FFF2-40B4-BE49-F238E27FC236}">
                <a16:creationId xmlns:a16="http://schemas.microsoft.com/office/drawing/2014/main" id="{08D08628-CED8-4C9D-A48F-571DCF30FBE7}"/>
              </a:ext>
            </a:extLst>
          </p:cNvPr>
          <p:cNvPicPr>
            <a:picLocks noChangeAspect="1"/>
          </p:cNvPicPr>
          <p:nvPr/>
        </p:nvPicPr>
        <p:blipFill rotWithShape="1">
          <a:blip r:embed="rId4">
            <a:extLst>
              <a:ext uri="{28A0092B-C50C-407E-A947-70E740481C1C}">
                <a14:useLocalDpi xmlns:a14="http://schemas.microsoft.com/office/drawing/2010/main" val="0"/>
              </a:ext>
            </a:extLst>
          </a:blip>
          <a:srcRect t="21545" b="12625"/>
          <a:stretch/>
        </p:blipFill>
        <p:spPr>
          <a:xfrm>
            <a:off x="8709840" y="221037"/>
            <a:ext cx="1944000" cy="592467"/>
          </a:xfrm>
          <a:prstGeom prst="rect">
            <a:avLst/>
          </a:prstGeom>
        </p:spPr>
      </p:pic>
      <p:sp>
        <p:nvSpPr>
          <p:cNvPr id="13" name="ZoneTexte 12">
            <a:extLst>
              <a:ext uri="{FF2B5EF4-FFF2-40B4-BE49-F238E27FC236}">
                <a16:creationId xmlns:a16="http://schemas.microsoft.com/office/drawing/2014/main" id="{3C701CF3-F193-472E-830F-066F21E47A90}"/>
              </a:ext>
            </a:extLst>
          </p:cNvPr>
          <p:cNvSpPr txBox="1"/>
          <p:nvPr/>
        </p:nvSpPr>
        <p:spPr>
          <a:xfrm>
            <a:off x="8349112" y="813504"/>
            <a:ext cx="2765498" cy="523220"/>
          </a:xfrm>
          <a:prstGeom prst="rect">
            <a:avLst/>
          </a:prstGeom>
          <a:noFill/>
        </p:spPr>
        <p:txBody>
          <a:bodyPr wrap="square">
            <a:spAutoFit/>
          </a:bodyPr>
          <a:lstStyle/>
          <a:p>
            <a:pPr algn="ctr"/>
            <a:r>
              <a:rPr lang="fr-FR" sz="1400" dirty="0">
                <a:solidFill>
                  <a:schemeClr val="bg1"/>
                </a:solidFill>
                <a:effectLst/>
                <a:latin typeface="Aptos" panose="020B0004020202020204" pitchFamily="34" charset="0"/>
                <a:ea typeface="Calibri" panose="020F0502020204030204" pitchFamily="34" charset="0"/>
                <a:cs typeface="Calibri" panose="020F0502020204030204" pitchFamily="34" charset="0"/>
              </a:rPr>
              <a:t>BUSINESS PHARMACEUTIQUE &amp; ENTREPRENEURIAT SANTÉ</a:t>
            </a:r>
            <a:endParaRPr lang="en-US" sz="1400" dirty="0">
              <a:solidFill>
                <a:schemeClr val="bg1"/>
              </a:solidFill>
              <a:latin typeface="Aptos" panose="020B0004020202020204" pitchFamily="34" charset="0"/>
            </a:endParaRPr>
          </a:p>
        </p:txBody>
      </p:sp>
    </p:spTree>
    <p:extLst>
      <p:ext uri="{BB962C8B-B14F-4D97-AF65-F5344CB8AC3E}">
        <p14:creationId xmlns:p14="http://schemas.microsoft.com/office/powerpoint/2010/main" val="4203897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82384" y="2410703"/>
            <a:ext cx="10049004" cy="646331"/>
          </a:xfrm>
          <a:prstGeom prst="rect">
            <a:avLst/>
          </a:prstGeom>
          <a:noFill/>
        </p:spPr>
        <p:txBody>
          <a:bodyPr wrap="square">
            <a:spAutoFit/>
          </a:bodyPr>
          <a:lstStyle/>
          <a:p>
            <a:r>
              <a:rPr lang="fr-FR" sz="3600" b="1" dirty="0">
                <a:solidFill>
                  <a:schemeClr val="bg1"/>
                </a:solidFill>
                <a:effectLst/>
                <a:latin typeface="Aptos" panose="020B0004020202020204" pitchFamily="34" charset="0"/>
                <a:ea typeface="Calibri" panose="020F0502020204030204" pitchFamily="34" charset="0"/>
                <a:cs typeface="Calibri" panose="020F0502020204030204" pitchFamily="34" charset="0"/>
              </a:rPr>
              <a:t>Gestion des approvisionnements et des stocks</a:t>
            </a:r>
            <a:r>
              <a:rPr lang="fr-FR" sz="3600" dirty="0">
                <a:solidFill>
                  <a:schemeClr val="bg1"/>
                </a:solidFill>
                <a:effectLst/>
                <a:latin typeface="Aptos" panose="020B0004020202020204" pitchFamily="34" charset="0"/>
                <a:ea typeface="Calibri" panose="020F0502020204030204" pitchFamily="34" charset="0"/>
                <a:cs typeface="Calibri" panose="020F0502020204030204" pitchFamily="34" charset="0"/>
              </a:rPr>
              <a:t> </a:t>
            </a:r>
            <a:endParaRPr lang="en-US" sz="3600" dirty="0">
              <a:solidFill>
                <a:schemeClr val="bg1"/>
              </a:solidFill>
              <a:latin typeface="Aptos" panose="020B0004020202020204" pitchFamily="34" charset="0"/>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Chapitres</a:t>
            </a:r>
            <a:endParaRPr lang="en-US" sz="2800" dirty="0">
              <a:solidFill>
                <a:schemeClr val="tx1">
                  <a:lumMod val="75000"/>
                  <a:lumOff val="25000"/>
                </a:schemeClr>
              </a:solidFill>
              <a:latin typeface="Aptos" panose="020B0004020202020204" pitchFamily="34" charset="0"/>
            </a:endParaRPr>
          </a:p>
        </p:txBody>
      </p:sp>
      <p:pic>
        <p:nvPicPr>
          <p:cNvPr id="11" name="Image 10">
            <a:extLst>
              <a:ext uri="{FF2B5EF4-FFF2-40B4-BE49-F238E27FC236}">
                <a16:creationId xmlns:a16="http://schemas.microsoft.com/office/drawing/2014/main" id="{557B18FD-32D3-4EBA-8AEB-B3A2D7B452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13" name="Content Placeholder 3">
            <a:extLst>
              <a:ext uri="{FF2B5EF4-FFF2-40B4-BE49-F238E27FC236}">
                <a16:creationId xmlns:a16="http://schemas.microsoft.com/office/drawing/2014/main" id="{94B8DB2E-A3E6-45FB-A31A-70487A5468F3}"/>
              </a:ext>
            </a:extLst>
          </p:cNvPr>
          <p:cNvSpPr txBox="1">
            <a:spLocks/>
          </p:cNvSpPr>
          <p:nvPr/>
        </p:nvSpPr>
        <p:spPr>
          <a:xfrm>
            <a:off x="617220" y="1584960"/>
            <a:ext cx="10965180" cy="459200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200"/>
              </a:spcBef>
              <a:buClr>
                <a:srgbClr val="6C6463"/>
              </a:buClr>
              <a:buFont typeface="Arial" panose="020B0604020202020204" pitchFamily="34" charset="0"/>
              <a:buChar char="•"/>
              <a:defRPr sz="2800" kern="1200">
                <a:solidFill>
                  <a:srgbClr val="6C6463"/>
                </a:solidFill>
                <a:latin typeface="+mn-lt"/>
                <a:ea typeface="+mn-ea"/>
                <a:cs typeface="+mn-cs"/>
              </a:defRPr>
            </a:lvl1pPr>
            <a:lvl2pPr marL="457200" indent="0" algn="l" defTabSz="914400" rtl="0" eaLnBrk="1" latinLnBrk="0" hangingPunct="1">
              <a:lnSpc>
                <a:spcPct val="100000"/>
              </a:lnSpc>
              <a:spcBef>
                <a:spcPts val="300"/>
              </a:spcBef>
              <a:buClr>
                <a:srgbClr val="6C6463"/>
              </a:buClr>
              <a:buSzPct val="80000"/>
              <a:buFont typeface="Courier New" panose="02070309020205020404" pitchFamily="49" charset="0"/>
              <a:buNone/>
              <a:defRPr sz="2400" kern="1200">
                <a:solidFill>
                  <a:srgbClr val="6C6463"/>
                </a:solidFill>
                <a:latin typeface="+mn-lt"/>
                <a:ea typeface="+mn-ea"/>
                <a:cs typeface="+mn-cs"/>
              </a:defRPr>
            </a:lvl2pPr>
            <a:lvl3pPr marL="1143000" indent="-228600" algn="l" defTabSz="914400" rtl="0" eaLnBrk="1" latinLnBrk="0" hangingPunct="1">
              <a:lnSpc>
                <a:spcPct val="100000"/>
              </a:lnSpc>
              <a:spcBef>
                <a:spcPts val="300"/>
              </a:spcBef>
              <a:buClr>
                <a:srgbClr val="6C6463"/>
              </a:buClr>
              <a:buFont typeface="Gill Sans MT" panose="020B0502020104020203" pitchFamily="34" charset="0"/>
              <a:buChar char="–"/>
              <a:defRPr sz="2000" kern="1200">
                <a:solidFill>
                  <a:srgbClr val="6C6463"/>
                </a:solidFill>
                <a:latin typeface="+mn-lt"/>
                <a:ea typeface="+mn-ea"/>
                <a:cs typeface="+mn-cs"/>
              </a:defRPr>
            </a:lvl3pPr>
            <a:lvl4pPr marL="16002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4pPr>
            <a:lvl5pPr marL="20574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5pPr>
            <a:lvl6pPr marL="25146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6pPr>
            <a:lvl7pPr marL="29718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7pPr>
            <a:lvl8pPr marL="34290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Réglementation et gestion administrative de l'officine </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Gestion des stocks et approvisionnements officinaux </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Relation client et conseil pharmaceutique </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Comptabilité et rentabilité de l'officine </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Marketing et fidélisation de la clientèle </a:t>
            </a:r>
          </a:p>
        </p:txBody>
      </p:sp>
      <p:pic>
        <p:nvPicPr>
          <p:cNvPr id="9" name="Image 8">
            <a:extLst>
              <a:ext uri="{FF2B5EF4-FFF2-40B4-BE49-F238E27FC236}">
                <a16:creationId xmlns:a16="http://schemas.microsoft.com/office/drawing/2014/main" id="{563CF69B-F11C-47B5-9086-DF473DFE33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82F88074-59E1-40E6-9F42-B8992D7270E1}"/>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9699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5604B0-EF89-4CCD-9A70-88801B695330}"/>
              </a:ext>
            </a:extLst>
          </p:cNvPr>
          <p:cNvSpPr/>
          <p:nvPr/>
        </p:nvSpPr>
        <p:spPr>
          <a:xfrm>
            <a:off x="233266" y="205274"/>
            <a:ext cx="11747240" cy="5057192"/>
          </a:xfrm>
          <a:prstGeom prst="rect">
            <a:avLst/>
          </a:prstGeom>
          <a:solidFill>
            <a:srgbClr val="FD7B0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59298" y="1948057"/>
            <a:ext cx="481069" cy="1571625"/>
          </a:xfrm>
          <a:prstGeom prst="roundRect">
            <a:avLst>
              <a:gd name="adj" fmla="val 50000"/>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40365" y="2441479"/>
            <a:ext cx="10343495" cy="584775"/>
          </a:xfrm>
          <a:prstGeom prst="rect">
            <a:avLst/>
          </a:prstGeom>
          <a:noFill/>
        </p:spPr>
        <p:txBody>
          <a:bodyPr wrap="square">
            <a:spAutoFit/>
          </a:bodyPr>
          <a:lstStyle/>
          <a:p>
            <a:r>
              <a:rPr lang="fr-FR" sz="3200" b="1" dirty="0">
                <a:solidFill>
                  <a:schemeClr val="bg1"/>
                </a:solidFill>
                <a:latin typeface="Aptos" panose="020B0004020202020204" pitchFamily="34" charset="0"/>
                <a:ea typeface="Calibri" panose="020F0502020204030204" pitchFamily="34" charset="0"/>
                <a:cs typeface="Calibri" panose="020F0502020204030204" pitchFamily="34" charset="0"/>
              </a:rPr>
              <a:t>Réglementation et gestion administrative de l'officine </a:t>
            </a:r>
          </a:p>
        </p:txBody>
      </p:sp>
      <p:pic>
        <p:nvPicPr>
          <p:cNvPr id="7" name="Image 6">
            <a:extLst>
              <a:ext uri="{FF2B5EF4-FFF2-40B4-BE49-F238E27FC236}">
                <a16:creationId xmlns:a16="http://schemas.microsoft.com/office/drawing/2014/main" id="{E2F6D796-76F1-49E6-8701-619808DA4C96}"/>
              </a:ext>
            </a:extLst>
          </p:cNvPr>
          <p:cNvPicPr>
            <a:picLocks noChangeAspect="1"/>
          </p:cNvPicPr>
          <p:nvPr/>
        </p:nvPicPr>
        <p:blipFill rotWithShape="1">
          <a:blip r:embed="rId2">
            <a:extLst>
              <a:ext uri="{28A0092B-C50C-407E-A947-70E740481C1C}">
                <a14:useLocalDpi xmlns:a14="http://schemas.microsoft.com/office/drawing/2010/main" val="0"/>
              </a:ext>
            </a:extLst>
          </a:blip>
          <a:srcRect t="21545" b="12625"/>
          <a:stretch/>
        </p:blipFill>
        <p:spPr>
          <a:xfrm>
            <a:off x="8709840" y="221037"/>
            <a:ext cx="1944000" cy="592467"/>
          </a:xfrm>
          <a:prstGeom prst="rect">
            <a:avLst/>
          </a:prstGeom>
        </p:spPr>
      </p:pic>
      <p:sp>
        <p:nvSpPr>
          <p:cNvPr id="9" name="ZoneTexte 8">
            <a:extLst>
              <a:ext uri="{FF2B5EF4-FFF2-40B4-BE49-F238E27FC236}">
                <a16:creationId xmlns:a16="http://schemas.microsoft.com/office/drawing/2014/main" id="{4A6EF384-4FA4-47D7-961A-157F9FFD1774}"/>
              </a:ext>
            </a:extLst>
          </p:cNvPr>
          <p:cNvSpPr txBox="1"/>
          <p:nvPr/>
        </p:nvSpPr>
        <p:spPr>
          <a:xfrm>
            <a:off x="7404946" y="813504"/>
            <a:ext cx="4553788" cy="307777"/>
          </a:xfrm>
          <a:prstGeom prst="rect">
            <a:avLst/>
          </a:prstGeom>
          <a:noFill/>
        </p:spPr>
        <p:txBody>
          <a:bodyPr wrap="square">
            <a:spAutoFit/>
          </a:bodyPr>
          <a:lstStyle/>
          <a:p>
            <a:pPr algn="ctr"/>
            <a:r>
              <a:rPr lang="fr-FR" sz="1400" dirty="0">
                <a:solidFill>
                  <a:schemeClr val="bg1"/>
                </a:solidFill>
                <a:latin typeface="Aptos" panose="020B0004020202020204" pitchFamily="34" charset="0"/>
                <a:ea typeface="Calibri" panose="020F0502020204030204" pitchFamily="34" charset="0"/>
                <a:cs typeface="Calibri" panose="020F0502020204030204" pitchFamily="34" charset="0"/>
              </a:rPr>
              <a:t>GESTION D’UNE OFFICINE MODERNE </a:t>
            </a:r>
          </a:p>
        </p:txBody>
      </p:sp>
      <p:pic>
        <p:nvPicPr>
          <p:cNvPr id="13" name="Image 12">
            <a:extLst>
              <a:ext uri="{FF2B5EF4-FFF2-40B4-BE49-F238E27FC236}">
                <a16:creationId xmlns:a16="http://schemas.microsoft.com/office/drawing/2014/main" id="{5FC12CEA-3333-4B55-A99F-80B86F71D5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4" name="Connecteur droit 13">
            <a:extLst>
              <a:ext uri="{FF2B5EF4-FFF2-40B4-BE49-F238E27FC236}">
                <a16:creationId xmlns:a16="http://schemas.microsoft.com/office/drawing/2014/main" id="{96CFDAD8-C39D-4C4B-AED8-A6D929694CED}"/>
              </a:ext>
            </a:extLst>
          </p:cNvPr>
          <p:cNvCxnSpPr>
            <a:cxnSpLocks/>
            <a:stCxn id="13"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5" name="Image 14">
            <a:extLst>
              <a:ext uri="{FF2B5EF4-FFF2-40B4-BE49-F238E27FC236}">
                <a16:creationId xmlns:a16="http://schemas.microsoft.com/office/drawing/2014/main" id="{1D7E960A-1BE1-48DA-96CC-0E811CE310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297" y="2493333"/>
            <a:ext cx="481069" cy="481069"/>
          </a:xfrm>
          <a:prstGeom prst="rect">
            <a:avLst/>
          </a:prstGeom>
        </p:spPr>
      </p:pic>
    </p:spTree>
    <p:extLst>
      <p:ext uri="{BB962C8B-B14F-4D97-AF65-F5344CB8AC3E}">
        <p14:creationId xmlns:p14="http://schemas.microsoft.com/office/powerpoint/2010/main" val="288350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82384" y="2410703"/>
            <a:ext cx="10049004" cy="646331"/>
          </a:xfrm>
          <a:prstGeom prst="rect">
            <a:avLst/>
          </a:prstGeom>
          <a:noFill/>
        </p:spPr>
        <p:txBody>
          <a:bodyPr wrap="square">
            <a:spAutoFit/>
          </a:bodyPr>
          <a:lstStyle/>
          <a:p>
            <a:r>
              <a:rPr lang="fr-FR" sz="3600" b="1" dirty="0">
                <a:solidFill>
                  <a:schemeClr val="bg1"/>
                </a:solidFill>
                <a:effectLst/>
                <a:latin typeface="Aptos" panose="020B0004020202020204" pitchFamily="34" charset="0"/>
                <a:ea typeface="Calibri" panose="020F0502020204030204" pitchFamily="34" charset="0"/>
                <a:cs typeface="Calibri" panose="020F0502020204030204" pitchFamily="34" charset="0"/>
              </a:rPr>
              <a:t>Gestion des approvisionnements et des stocks</a:t>
            </a:r>
            <a:r>
              <a:rPr lang="fr-FR" sz="3600" dirty="0">
                <a:solidFill>
                  <a:schemeClr val="bg1"/>
                </a:solidFill>
                <a:effectLst/>
                <a:latin typeface="Aptos" panose="020B0004020202020204" pitchFamily="34" charset="0"/>
                <a:ea typeface="Calibri" panose="020F0502020204030204" pitchFamily="34" charset="0"/>
                <a:cs typeface="Calibri" panose="020F0502020204030204" pitchFamily="34" charset="0"/>
              </a:rPr>
              <a:t> </a:t>
            </a:r>
            <a:endParaRPr lang="en-US" sz="3600" dirty="0">
              <a:solidFill>
                <a:schemeClr val="bg1"/>
              </a:solidFill>
              <a:latin typeface="Aptos" panose="020B0004020202020204" pitchFamily="34" charset="0"/>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Plan</a:t>
            </a:r>
            <a:endParaRPr lang="en-US" sz="2800" dirty="0">
              <a:solidFill>
                <a:schemeClr val="tx1">
                  <a:lumMod val="75000"/>
                  <a:lumOff val="25000"/>
                </a:schemeClr>
              </a:solidFill>
              <a:latin typeface="Aptos" panose="020B0004020202020204" pitchFamily="34" charset="0"/>
            </a:endParaRPr>
          </a:p>
        </p:txBody>
      </p:sp>
      <p:sp>
        <p:nvSpPr>
          <p:cNvPr id="13" name="Content Placeholder 3">
            <a:extLst>
              <a:ext uri="{FF2B5EF4-FFF2-40B4-BE49-F238E27FC236}">
                <a16:creationId xmlns:a16="http://schemas.microsoft.com/office/drawing/2014/main" id="{94B8DB2E-A3E6-45FB-A31A-70487A5468F3}"/>
              </a:ext>
            </a:extLst>
          </p:cNvPr>
          <p:cNvSpPr txBox="1">
            <a:spLocks/>
          </p:cNvSpPr>
          <p:nvPr/>
        </p:nvSpPr>
        <p:spPr>
          <a:xfrm>
            <a:off x="617220" y="1584961"/>
            <a:ext cx="10965180" cy="249174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200"/>
              </a:spcBef>
              <a:buClr>
                <a:srgbClr val="6C6463"/>
              </a:buClr>
              <a:buFont typeface="Arial" panose="020B0604020202020204" pitchFamily="34" charset="0"/>
              <a:buChar char="•"/>
              <a:defRPr sz="2800" kern="1200">
                <a:solidFill>
                  <a:srgbClr val="6C6463"/>
                </a:solidFill>
                <a:latin typeface="+mn-lt"/>
                <a:ea typeface="+mn-ea"/>
                <a:cs typeface="+mn-cs"/>
              </a:defRPr>
            </a:lvl1pPr>
            <a:lvl2pPr marL="457200" indent="0" algn="l" defTabSz="914400" rtl="0" eaLnBrk="1" latinLnBrk="0" hangingPunct="1">
              <a:lnSpc>
                <a:spcPct val="100000"/>
              </a:lnSpc>
              <a:spcBef>
                <a:spcPts val="300"/>
              </a:spcBef>
              <a:buClr>
                <a:srgbClr val="6C6463"/>
              </a:buClr>
              <a:buSzPct val="80000"/>
              <a:buFont typeface="Courier New" panose="02070309020205020404" pitchFamily="49" charset="0"/>
              <a:buNone/>
              <a:defRPr sz="2400" kern="1200">
                <a:solidFill>
                  <a:srgbClr val="6C6463"/>
                </a:solidFill>
                <a:latin typeface="+mn-lt"/>
                <a:ea typeface="+mn-ea"/>
                <a:cs typeface="+mn-cs"/>
              </a:defRPr>
            </a:lvl2pPr>
            <a:lvl3pPr marL="1143000" indent="-228600" algn="l" defTabSz="914400" rtl="0" eaLnBrk="1" latinLnBrk="0" hangingPunct="1">
              <a:lnSpc>
                <a:spcPct val="100000"/>
              </a:lnSpc>
              <a:spcBef>
                <a:spcPts val="300"/>
              </a:spcBef>
              <a:buClr>
                <a:srgbClr val="6C6463"/>
              </a:buClr>
              <a:buFont typeface="Gill Sans MT" panose="020B0502020104020203" pitchFamily="34" charset="0"/>
              <a:buChar char="–"/>
              <a:defRPr sz="2000" kern="1200">
                <a:solidFill>
                  <a:srgbClr val="6C6463"/>
                </a:solidFill>
                <a:latin typeface="+mn-lt"/>
                <a:ea typeface="+mn-ea"/>
                <a:cs typeface="+mn-cs"/>
              </a:defRPr>
            </a:lvl3pPr>
            <a:lvl4pPr marL="16002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4pPr>
            <a:lvl5pPr marL="20574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5pPr>
            <a:lvl6pPr marL="25146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6pPr>
            <a:lvl7pPr marL="29718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7pPr>
            <a:lvl8pPr marL="34290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Cadre juridique et réglementaire des officines</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Obligations légales du pharmacien titulaire</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Gestion des autorisations et des renouvellements</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119ADA14-3019-42A4-A2F9-8053E29963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Tree>
    <p:extLst>
      <p:ext uri="{BB962C8B-B14F-4D97-AF65-F5344CB8AC3E}">
        <p14:creationId xmlns:p14="http://schemas.microsoft.com/office/powerpoint/2010/main" val="3982164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3042" y="2283846"/>
            <a:ext cx="862585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tabLst/>
            </a:pPr>
            <a:r>
              <a:rPr kumimoji="0" lang="fr-FR" altLang="fr-FR" sz="2000" i="0" u="none" strike="noStrike" cap="none" normalizeH="0" baseline="0" dirty="0">
                <a:ln>
                  <a:noFill/>
                </a:ln>
                <a:solidFill>
                  <a:schemeClr val="tx1"/>
                </a:solidFill>
                <a:effectLst/>
                <a:latin typeface="Aptos" panose="020B0004020202020204" pitchFamily="34" charset="0"/>
              </a:rPr>
              <a:t>À l’issue de ce chapitre, le participant sera capable de :</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Comprendre l’organisation de la réglementation pharmaceutique en Afrique</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Identifier les institutions impliquées dans la gouvernance pharmaceutique</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Comprendre les mécanismes d’harmonisation réglementaire continentale et régionale</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Maîtriser les principales références réglementaires applicables aux officines au Bénin</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Identifier les responsabilités réglementaires du pharmacien titulaire</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Réaliser un autodiagnostic de conformité réglementaire de son officine</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Préparer son établissement à une inspection réglementaire</a:t>
            </a:r>
          </a:p>
        </p:txBody>
      </p:sp>
    </p:spTree>
    <p:extLst>
      <p:ext uri="{BB962C8B-B14F-4D97-AF65-F5344CB8AC3E}">
        <p14:creationId xmlns:p14="http://schemas.microsoft.com/office/powerpoint/2010/main" val="2470588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3042" y="2359571"/>
            <a:ext cx="1053854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tabLst/>
            </a:pPr>
            <a:r>
              <a:rPr kumimoji="0" lang="fr-FR" altLang="fr-FR" sz="2000" i="0" u="none" strike="noStrike" cap="none" normalizeH="0" baseline="0" dirty="0">
                <a:ln>
                  <a:noFill/>
                </a:ln>
                <a:solidFill>
                  <a:schemeClr val="tx1"/>
                </a:solidFill>
                <a:effectLst/>
                <a:latin typeface="Aptos" panose="020B0004020202020204" pitchFamily="34" charset="0"/>
              </a:rPr>
              <a:t>L’officine de pharmacie est un établissement de santé privé exerçant une mission de santé publique.</a:t>
            </a:r>
          </a:p>
          <a:p>
            <a:pPr marR="0" lvl="0" defTabSz="914400" rtl="0" eaLnBrk="0" fontAlgn="base" latinLnBrk="0" hangingPunct="0">
              <a:lnSpc>
                <a:spcPct val="100000"/>
              </a:lnSpc>
              <a:spcBef>
                <a:spcPct val="0"/>
              </a:spcBef>
              <a:spcAft>
                <a:spcPct val="0"/>
              </a:spcAft>
              <a:buClrTx/>
              <a:buSzTx/>
              <a:tabLst/>
            </a:pPr>
            <a:endParaRPr lang="fr-FR" altLang="fr-FR" sz="2000" dirty="0">
              <a:latin typeface="Aptos" panose="020B0004020202020204" pitchFamily="34" charset="0"/>
            </a:endParaRPr>
          </a:p>
          <a:p>
            <a:pPr marR="0" lvl="0" defTabSz="914400" rtl="0" eaLnBrk="0" fontAlgn="base" latinLnBrk="0" hangingPunct="0">
              <a:lnSpc>
                <a:spcPct val="100000"/>
              </a:lnSpc>
              <a:spcBef>
                <a:spcPct val="0"/>
              </a:spcBef>
              <a:spcAft>
                <a:spcPct val="0"/>
              </a:spcAft>
              <a:buClrTx/>
              <a:buSzTx/>
              <a:tabLst/>
            </a:pPr>
            <a:r>
              <a:rPr kumimoji="0" lang="fr-FR" altLang="fr-FR" sz="2000" i="0" u="none" strike="noStrike" cap="none" normalizeH="0" baseline="0" dirty="0">
                <a:ln>
                  <a:noFill/>
                </a:ln>
                <a:solidFill>
                  <a:schemeClr val="tx1"/>
                </a:solidFill>
                <a:effectLst/>
                <a:latin typeface="Aptos" panose="020B0004020202020204" pitchFamily="34" charset="0"/>
              </a:rPr>
              <a:t>Contrairement à un commerce classique, elle intervient directement dans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La prévention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Le diagnostic orienté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La dispensation des médicaments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La surveillance thérapeutique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La pharmacovigilance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La promotion du bon usage du médicament.</a:t>
            </a:r>
          </a:p>
          <a:p>
            <a:pPr marL="342900" indent="-342900" eaLnBrk="0" fontAlgn="base" hangingPunct="0">
              <a:spcBef>
                <a:spcPct val="0"/>
              </a:spcBef>
              <a:spcAft>
                <a:spcPct val="0"/>
              </a:spcAft>
              <a:buFont typeface="Arial" panose="020B0604020202020204" pitchFamily="34" charset="0"/>
              <a:buChar char="•"/>
            </a:pPr>
            <a:endParaRPr kumimoji="0" lang="fr-FR" altLang="fr-FR" sz="2000" i="0" u="none" strike="noStrike" cap="none" normalizeH="0" baseline="0" dirty="0">
              <a:ln>
                <a:noFill/>
              </a:ln>
              <a:solidFill>
                <a:schemeClr val="tx1"/>
              </a:solidFill>
              <a:effectLst/>
              <a:latin typeface="Aptos" panose="020B0004020202020204" pitchFamily="34" charset="0"/>
            </a:endParaRPr>
          </a:p>
          <a:p>
            <a:pPr eaLnBrk="0" fontAlgn="base" hangingPunct="0">
              <a:spcBef>
                <a:spcPct val="0"/>
              </a:spcBef>
              <a:spcAft>
                <a:spcPct val="0"/>
              </a:spcAft>
            </a:pPr>
            <a:r>
              <a:rPr kumimoji="0" lang="fr-FR" altLang="fr-FR" sz="2000" i="0" u="none" strike="noStrike" cap="none" normalizeH="0" baseline="0" dirty="0">
                <a:ln>
                  <a:noFill/>
                </a:ln>
                <a:solidFill>
                  <a:schemeClr val="tx1"/>
                </a:solidFill>
                <a:effectLst/>
                <a:latin typeface="Aptos" panose="020B0004020202020204" pitchFamily="34" charset="0"/>
              </a:rPr>
              <a:t>Pour cette raison, l’exercice officinal est strictement réglementé dans tous les pays africains.</a:t>
            </a:r>
          </a:p>
        </p:txBody>
      </p:sp>
    </p:spTree>
    <p:extLst>
      <p:ext uri="{BB962C8B-B14F-4D97-AF65-F5344CB8AC3E}">
        <p14:creationId xmlns:p14="http://schemas.microsoft.com/office/powerpoint/2010/main" val="3994494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3042" y="2089074"/>
            <a:ext cx="1053854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tabLst/>
            </a:pPr>
            <a:r>
              <a:rPr kumimoji="0" lang="fr-FR" altLang="fr-FR" sz="2000" i="0" u="none" strike="noStrike" cap="none" normalizeH="0" baseline="0" dirty="0">
                <a:ln>
                  <a:noFill/>
                </a:ln>
                <a:solidFill>
                  <a:schemeClr val="tx1"/>
                </a:solidFill>
                <a:effectLst/>
                <a:latin typeface="Aptos" panose="020B0004020202020204" pitchFamily="34" charset="0"/>
              </a:rPr>
              <a:t>L’évolution actuelle du secteur pharmaceutique africain se caractérise par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Le renforcement des autorités nationales de réglementation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L’harmonisation réglementaire régionale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La lutte contre les médicaments falsifiés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La digitalisation des systèmes réglementaires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Le renforcement des inspections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L’amélioration de la traçabilité pharmaceutique.</a:t>
            </a:r>
          </a:p>
          <a:p>
            <a:pPr marR="0" lvl="0" defTabSz="914400" rtl="0" eaLnBrk="0" fontAlgn="base" latinLnBrk="0" hangingPunct="0">
              <a:lnSpc>
                <a:spcPct val="100000"/>
              </a:lnSpc>
              <a:spcBef>
                <a:spcPct val="0"/>
              </a:spcBef>
              <a:spcAft>
                <a:spcPct val="0"/>
              </a:spcAft>
              <a:buClrTx/>
              <a:buSzTx/>
              <a:tabLst/>
            </a:pPr>
            <a:endParaRPr lang="fr-FR" altLang="fr-FR" sz="2000" dirty="0">
              <a:latin typeface="Aptos" panose="020B0004020202020204" pitchFamily="34" charset="0"/>
            </a:endParaRPr>
          </a:p>
          <a:p>
            <a:pPr marR="0" lvl="0" defTabSz="914400" rtl="0" eaLnBrk="0" fontAlgn="base" latinLnBrk="0" hangingPunct="0">
              <a:lnSpc>
                <a:spcPct val="100000"/>
              </a:lnSpc>
              <a:spcBef>
                <a:spcPct val="0"/>
              </a:spcBef>
              <a:spcAft>
                <a:spcPct val="0"/>
              </a:spcAft>
              <a:buClrTx/>
              <a:buSzTx/>
              <a:tabLst/>
            </a:pPr>
            <a:r>
              <a:rPr kumimoji="0" lang="fr-FR" altLang="fr-FR" sz="2000" b="1" i="0" u="none" strike="noStrike" cap="none" normalizeH="0" baseline="0" dirty="0">
                <a:ln>
                  <a:noFill/>
                </a:ln>
                <a:solidFill>
                  <a:schemeClr val="tx1"/>
                </a:solidFill>
                <a:effectLst/>
                <a:latin typeface="Aptos" panose="020B0004020202020204" pitchFamily="34" charset="0"/>
              </a:rPr>
              <a:t>L’Agence Africaine du Médicament </a:t>
            </a:r>
            <a:r>
              <a:rPr kumimoji="0" lang="fr-FR" altLang="fr-FR" sz="2000" i="0" u="none" strike="noStrike" cap="none" normalizeH="0" baseline="0" dirty="0">
                <a:ln>
                  <a:noFill/>
                </a:ln>
                <a:solidFill>
                  <a:schemeClr val="tx1"/>
                </a:solidFill>
                <a:effectLst/>
                <a:latin typeface="Aptos" panose="020B0004020202020204" pitchFamily="34" charset="0"/>
              </a:rPr>
              <a:t>(AMA) constitue aujourd’hui l’un des principaux moteurs de cette harmonisation réglementaire continentale</a:t>
            </a:r>
          </a:p>
        </p:txBody>
      </p:sp>
    </p:spTree>
    <p:extLst>
      <p:ext uri="{BB962C8B-B14F-4D97-AF65-F5344CB8AC3E}">
        <p14:creationId xmlns:p14="http://schemas.microsoft.com/office/powerpoint/2010/main" val="397220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Pourquoi l’officine est-elle un établissement fortement réglementé ?</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1075" y="2607639"/>
            <a:ext cx="11018679"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Le médicament n’est pas un produit de consommation ordinaire.</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Une mauvaise utilisation peut entraîner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Un échec thérapeutique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Une intoxication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Des effets indésirables graves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Une résistance antimicrobienne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Une hospitalisation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Un décès.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5" y="2192290"/>
            <a:ext cx="6003358"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Les risques liés au médicament</a:t>
            </a:r>
          </a:p>
        </p:txBody>
      </p:sp>
    </p:spTree>
    <p:extLst>
      <p:ext uri="{BB962C8B-B14F-4D97-AF65-F5344CB8AC3E}">
        <p14:creationId xmlns:p14="http://schemas.microsoft.com/office/powerpoint/2010/main" val="4063415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Pourquoi l’officine est-elle un établissement fortement réglementé ?</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1075" y="2607640"/>
            <a:ext cx="11018679"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257300" lvl="2"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L’officine participe à l’accès aux médicaments essentiels</a:t>
            </a:r>
          </a:p>
          <a:p>
            <a:pPr marL="1257300" lvl="2" indent="-342900" eaLnBrk="0" fontAlgn="base" hangingPunct="0">
              <a:spcBef>
                <a:spcPct val="0"/>
              </a:spcBef>
              <a:spcAft>
                <a:spcPct val="0"/>
              </a:spcAft>
              <a:buFont typeface="Arial" panose="020B0604020202020204" pitchFamily="34" charset="0"/>
              <a:buChar char="•"/>
            </a:pPr>
            <a:endParaRPr lang="fr-FR" altLang="fr-FR" sz="2000" dirty="0">
              <a:latin typeface="Aptos" panose="020B0004020202020204" pitchFamily="34" charset="0"/>
            </a:endParaRPr>
          </a:p>
          <a:p>
            <a:pPr marL="1257300" lvl="2" indent="-342900" eaLnBrk="0" fontAlgn="base" hangingPunct="0">
              <a:spcBef>
                <a:spcPct val="0"/>
              </a:spcBef>
              <a:spcAft>
                <a:spcPct val="0"/>
              </a:spcAft>
              <a:buFont typeface="Arial" panose="020B0604020202020204" pitchFamily="34" charset="0"/>
              <a:buChar char="•"/>
            </a:pPr>
            <a:r>
              <a:rPr kumimoji="0" lang="fr-FR" altLang="fr-FR" sz="2000" b="1" i="0" u="none" strike="noStrike" cap="none" normalizeH="0" baseline="0" dirty="0">
                <a:ln>
                  <a:noFill/>
                </a:ln>
                <a:solidFill>
                  <a:schemeClr val="tx1"/>
                </a:solidFill>
                <a:effectLst/>
                <a:latin typeface="Aptos" panose="020B0004020202020204" pitchFamily="34" charset="0"/>
              </a:rPr>
              <a:t>Exemples</a:t>
            </a:r>
            <a:r>
              <a:rPr kumimoji="0" lang="fr-FR" altLang="fr-FR" sz="2000" i="0" u="none" strike="noStrike" cap="none" normalizeH="0" baseline="0" dirty="0">
                <a:ln>
                  <a:noFill/>
                </a:ln>
                <a:solidFill>
                  <a:schemeClr val="tx1"/>
                </a:solidFill>
                <a:effectLst/>
                <a:latin typeface="Aptos" panose="020B0004020202020204" pitchFamily="34" charset="0"/>
              </a:rPr>
              <a:t>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antipaludiques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antihypertenseurs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antidiabétiques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antibiotiques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contraceptifs.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5" y="2192290"/>
            <a:ext cx="6003358" cy="594224"/>
          </a:xfrm>
          <a:prstGeom prst="rect">
            <a:avLst/>
          </a:prstGeom>
          <a:noFill/>
          <a:ln>
            <a:noFill/>
          </a:ln>
        </p:spPr>
        <p:txBody>
          <a:bodyPr spcFirstLastPara="1" vert="horz" wrap="square" lIns="91425" tIns="45700" rIns="91425" bIns="45700" rtlCol="0" anchor="t" anchorCtr="0">
            <a:normAutofit fontScale="92500"/>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Les missions de santé publique de l’officine</a:t>
            </a:r>
          </a:p>
        </p:txBody>
      </p:sp>
    </p:spTree>
    <p:extLst>
      <p:ext uri="{BB962C8B-B14F-4D97-AF65-F5344CB8AC3E}">
        <p14:creationId xmlns:p14="http://schemas.microsoft.com/office/powerpoint/2010/main" val="4140429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Pourquoi l’officine est-elle un établissement fortement réglementé ?</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834964" y="2607639"/>
            <a:ext cx="1101867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257300" lvl="2"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Le pharmacien doit :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vérifier les prescriptions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prévenir les interactions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limiter les risques d’automédication inappropriée.</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5" y="2192290"/>
            <a:ext cx="6003358" cy="594224"/>
          </a:xfrm>
          <a:prstGeom prst="rect">
            <a:avLst/>
          </a:prstGeom>
          <a:noFill/>
          <a:ln>
            <a:noFill/>
          </a:ln>
        </p:spPr>
        <p:txBody>
          <a:bodyPr spcFirstLastPara="1" vert="horz" wrap="square" lIns="91425" tIns="45700" rIns="91425" bIns="45700" rtlCol="0" anchor="t" anchorCtr="0">
            <a:normAutofit fontScale="92500"/>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La promotion du bon usage du médicament</a:t>
            </a:r>
          </a:p>
        </p:txBody>
      </p:sp>
      <p:sp>
        <p:nvSpPr>
          <p:cNvPr id="11" name="Rectangle 10">
            <a:extLst>
              <a:ext uri="{FF2B5EF4-FFF2-40B4-BE49-F238E27FC236}">
                <a16:creationId xmlns:a16="http://schemas.microsoft.com/office/drawing/2014/main" id="{63F95D09-7214-43D6-8C9A-A3D2AECA49B9}"/>
              </a:ext>
            </a:extLst>
          </p:cNvPr>
          <p:cNvSpPr>
            <a:spLocks noChangeArrowheads="1"/>
          </p:cNvSpPr>
          <p:nvPr/>
        </p:nvSpPr>
        <p:spPr bwMode="auto">
          <a:xfrm>
            <a:off x="1003619" y="4577308"/>
            <a:ext cx="1101867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257300" lvl="2"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Le pharmacien participe au signalement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des effets indésirables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des défauts qualité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des erreurs médicamenteuses.</a:t>
            </a:r>
          </a:p>
        </p:txBody>
      </p:sp>
      <p:sp>
        <p:nvSpPr>
          <p:cNvPr id="13" name="ZoneTexte 12">
            <a:extLst>
              <a:ext uri="{FF2B5EF4-FFF2-40B4-BE49-F238E27FC236}">
                <a16:creationId xmlns:a16="http://schemas.microsoft.com/office/drawing/2014/main" id="{DB062F8A-0880-454D-AACA-7E2E95238098}"/>
              </a:ext>
            </a:extLst>
          </p:cNvPr>
          <p:cNvSpPr txBox="1"/>
          <p:nvPr/>
        </p:nvSpPr>
        <p:spPr>
          <a:xfrm>
            <a:off x="919730" y="4161959"/>
            <a:ext cx="6003358"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La pharmacovigilance</a:t>
            </a:r>
          </a:p>
        </p:txBody>
      </p:sp>
    </p:spTree>
    <p:extLst>
      <p:ext uri="{BB962C8B-B14F-4D97-AF65-F5344CB8AC3E}">
        <p14:creationId xmlns:p14="http://schemas.microsoft.com/office/powerpoint/2010/main" val="3986540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Pourquoi l’officine est-elle un établissement fortement réglementé ?</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834964" y="2607639"/>
            <a:ext cx="1101867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257300" lvl="2"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Le pharmacien constitue l’un des premiers remparts contre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Les faux médicaments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Les produits de contrebande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Les produits sans autorisation.</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5" y="2192290"/>
            <a:ext cx="6003358"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La lutte contre les médicaments falsifiés</a:t>
            </a:r>
          </a:p>
        </p:txBody>
      </p:sp>
      <p:sp>
        <p:nvSpPr>
          <p:cNvPr id="11" name="Rectangle 10">
            <a:extLst>
              <a:ext uri="{FF2B5EF4-FFF2-40B4-BE49-F238E27FC236}">
                <a16:creationId xmlns:a16="http://schemas.microsoft.com/office/drawing/2014/main" id="{33658AC6-EC25-486E-9608-9D8CACFF719B}"/>
              </a:ext>
            </a:extLst>
          </p:cNvPr>
          <p:cNvSpPr>
            <a:spLocks noChangeArrowheads="1"/>
          </p:cNvSpPr>
          <p:nvPr/>
        </p:nvSpPr>
        <p:spPr bwMode="auto">
          <a:xfrm>
            <a:off x="834964" y="4602475"/>
            <a:ext cx="1101867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257300" lvl="2"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Le pharmacien participe à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L’information du patient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La prévention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L’accompagnement thérapeutique.</a:t>
            </a:r>
          </a:p>
        </p:txBody>
      </p:sp>
      <p:sp>
        <p:nvSpPr>
          <p:cNvPr id="13" name="ZoneTexte 12">
            <a:extLst>
              <a:ext uri="{FF2B5EF4-FFF2-40B4-BE49-F238E27FC236}">
                <a16:creationId xmlns:a16="http://schemas.microsoft.com/office/drawing/2014/main" id="{C6C313A4-639F-4143-A418-D00AE4C15C9B}"/>
              </a:ext>
            </a:extLst>
          </p:cNvPr>
          <p:cNvSpPr txBox="1"/>
          <p:nvPr/>
        </p:nvSpPr>
        <p:spPr>
          <a:xfrm>
            <a:off x="751075" y="4187126"/>
            <a:ext cx="6003358"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L’éducation sanitaire</a:t>
            </a:r>
          </a:p>
        </p:txBody>
      </p:sp>
    </p:spTree>
    <p:extLst>
      <p:ext uri="{BB962C8B-B14F-4D97-AF65-F5344CB8AC3E}">
        <p14:creationId xmlns:p14="http://schemas.microsoft.com/office/powerpoint/2010/main" val="1629257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Architecture de la réglementation pharmaceutique en Afrique</a:t>
            </a:r>
            <a:endParaRPr lang="en-US" sz="2400" b="1" dirty="0">
              <a:solidFill>
                <a:schemeClr val="bg1"/>
              </a:solidFill>
            </a:endParaRP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11018679"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b="0" dirty="0">
                <a:solidFill>
                  <a:schemeClr val="tx1"/>
                </a:solidFill>
              </a:rPr>
              <a:t>La réglementation pharmaceutique africaine est organisée à quatre niveaux :</a:t>
            </a:r>
          </a:p>
        </p:txBody>
      </p:sp>
      <p:graphicFrame>
        <p:nvGraphicFramePr>
          <p:cNvPr id="3" name="Tableau 2">
            <a:extLst>
              <a:ext uri="{FF2B5EF4-FFF2-40B4-BE49-F238E27FC236}">
                <a16:creationId xmlns:a16="http://schemas.microsoft.com/office/drawing/2014/main" id="{7A53096C-486F-4B0C-906C-DCBCDF233BBD}"/>
              </a:ext>
            </a:extLst>
          </p:cNvPr>
          <p:cNvGraphicFramePr>
            <a:graphicFrameLocks noGrp="1"/>
          </p:cNvGraphicFramePr>
          <p:nvPr>
            <p:extLst>
              <p:ext uri="{D42A27DB-BD31-4B8C-83A1-F6EECF244321}">
                <p14:modId xmlns:p14="http://schemas.microsoft.com/office/powerpoint/2010/main" val="2374250962"/>
              </p:ext>
            </p:extLst>
          </p:nvPr>
        </p:nvGraphicFramePr>
        <p:xfrm>
          <a:off x="1980000" y="2958192"/>
          <a:ext cx="7777293" cy="1828800"/>
        </p:xfrm>
        <a:graphic>
          <a:graphicData uri="http://schemas.openxmlformats.org/drawingml/2006/table">
            <a:tbl>
              <a:tblPr/>
              <a:tblGrid>
                <a:gridCol w="2687049">
                  <a:extLst>
                    <a:ext uri="{9D8B030D-6E8A-4147-A177-3AD203B41FA5}">
                      <a16:colId xmlns:a16="http://schemas.microsoft.com/office/drawing/2014/main" val="312021161"/>
                    </a:ext>
                  </a:extLst>
                </a:gridCol>
                <a:gridCol w="5090244">
                  <a:extLst>
                    <a:ext uri="{9D8B030D-6E8A-4147-A177-3AD203B41FA5}">
                      <a16:colId xmlns:a16="http://schemas.microsoft.com/office/drawing/2014/main" val="1525543697"/>
                    </a:ext>
                  </a:extLst>
                </a:gridCol>
              </a:tblGrid>
              <a:tr h="0">
                <a:tc>
                  <a:txBody>
                    <a:bodyPr/>
                    <a:lstStyle/>
                    <a:p>
                      <a:r>
                        <a:rPr lang="fr-FR" b="1" dirty="0">
                          <a:solidFill>
                            <a:schemeClr val="bg1"/>
                          </a:solidFill>
                          <a:latin typeface="Aptos" panose="020B0004020202020204" pitchFamily="34" charset="0"/>
                        </a:rPr>
                        <a:t>Niveau</a:t>
                      </a:r>
                    </a:p>
                  </a:txBody>
                  <a:tcPr anchor="ctr">
                    <a:lnL>
                      <a:noFill/>
                    </a:lnL>
                    <a:lnR>
                      <a:noFill/>
                    </a:lnR>
                    <a:lnT>
                      <a:noFill/>
                    </a:lnT>
                    <a:lnB>
                      <a:noFill/>
                    </a:lnB>
                    <a:solidFill>
                      <a:schemeClr val="accent2"/>
                    </a:solidFill>
                  </a:tcPr>
                </a:tc>
                <a:tc>
                  <a:txBody>
                    <a:bodyPr/>
                    <a:lstStyle/>
                    <a:p>
                      <a:r>
                        <a:rPr lang="fr-FR" b="1" dirty="0">
                          <a:solidFill>
                            <a:schemeClr val="bg1"/>
                          </a:solidFill>
                          <a:latin typeface="Aptos" panose="020B0004020202020204" pitchFamily="34" charset="0"/>
                        </a:rPr>
                        <a:t>Structure</a:t>
                      </a:r>
                    </a:p>
                  </a:txBody>
                  <a:tcPr anchor="ctr">
                    <a:lnL>
                      <a:noFill/>
                    </a:lnL>
                    <a:lnR>
                      <a:noFill/>
                    </a:lnR>
                    <a:lnT>
                      <a:noFill/>
                    </a:lnT>
                    <a:lnB>
                      <a:noFill/>
                    </a:lnB>
                    <a:solidFill>
                      <a:schemeClr val="accent2"/>
                    </a:solidFill>
                  </a:tcPr>
                </a:tc>
                <a:extLst>
                  <a:ext uri="{0D108BD9-81ED-4DB2-BD59-A6C34878D82A}">
                    <a16:rowId xmlns:a16="http://schemas.microsoft.com/office/drawing/2014/main" val="397971990"/>
                  </a:ext>
                </a:extLst>
              </a:tr>
              <a:tr h="0">
                <a:tc>
                  <a:txBody>
                    <a:bodyPr/>
                    <a:lstStyle/>
                    <a:p>
                      <a:r>
                        <a:rPr lang="fr-FR">
                          <a:latin typeface="Aptos" panose="020B0004020202020204" pitchFamily="34" charset="0"/>
                        </a:rPr>
                        <a:t>Continental</a:t>
                      </a:r>
                    </a:p>
                  </a:txBody>
                  <a:tcPr anchor="ctr">
                    <a:lnL>
                      <a:noFill/>
                    </a:lnL>
                    <a:lnR>
                      <a:noFill/>
                    </a:lnR>
                    <a:lnT>
                      <a:noFill/>
                    </a:lnT>
                    <a:lnB>
                      <a:noFill/>
                    </a:lnB>
                  </a:tcPr>
                </a:tc>
                <a:tc>
                  <a:txBody>
                    <a:bodyPr/>
                    <a:lstStyle/>
                    <a:p>
                      <a:r>
                        <a:rPr lang="fr-FR">
                          <a:latin typeface="Aptos" panose="020B0004020202020204" pitchFamily="34" charset="0"/>
                        </a:rPr>
                        <a:t>Union Africaine / AMA</a:t>
                      </a:r>
                    </a:p>
                  </a:txBody>
                  <a:tcPr anchor="ctr">
                    <a:lnL>
                      <a:noFill/>
                    </a:lnL>
                    <a:lnR>
                      <a:noFill/>
                    </a:lnR>
                    <a:lnT>
                      <a:noFill/>
                    </a:lnT>
                    <a:lnB>
                      <a:noFill/>
                    </a:lnB>
                  </a:tcPr>
                </a:tc>
                <a:extLst>
                  <a:ext uri="{0D108BD9-81ED-4DB2-BD59-A6C34878D82A}">
                    <a16:rowId xmlns:a16="http://schemas.microsoft.com/office/drawing/2014/main" val="2351822176"/>
                  </a:ext>
                </a:extLst>
              </a:tr>
              <a:tr h="0">
                <a:tc>
                  <a:txBody>
                    <a:bodyPr/>
                    <a:lstStyle/>
                    <a:p>
                      <a:r>
                        <a:rPr lang="fr-FR" dirty="0">
                          <a:latin typeface="Aptos" panose="020B0004020202020204" pitchFamily="34" charset="0"/>
                        </a:rPr>
                        <a:t>Régional</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CEDEAO, EAC, SADC, CEMAC, etc.</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754504855"/>
                  </a:ext>
                </a:extLst>
              </a:tr>
              <a:tr h="0">
                <a:tc>
                  <a:txBody>
                    <a:bodyPr/>
                    <a:lstStyle/>
                    <a:p>
                      <a:r>
                        <a:rPr lang="fr-FR">
                          <a:latin typeface="Aptos" panose="020B0004020202020204" pitchFamily="34" charset="0"/>
                        </a:rPr>
                        <a:t>National</a:t>
                      </a:r>
                    </a:p>
                  </a:txBody>
                  <a:tcPr anchor="ctr">
                    <a:lnL>
                      <a:noFill/>
                    </a:lnL>
                    <a:lnR>
                      <a:noFill/>
                    </a:lnR>
                    <a:lnT>
                      <a:noFill/>
                    </a:lnT>
                    <a:lnB>
                      <a:noFill/>
                    </a:lnB>
                  </a:tcPr>
                </a:tc>
                <a:tc>
                  <a:txBody>
                    <a:bodyPr/>
                    <a:lstStyle/>
                    <a:p>
                      <a:r>
                        <a:rPr lang="fr-FR">
                          <a:latin typeface="Aptos" panose="020B0004020202020204" pitchFamily="34" charset="0"/>
                        </a:rPr>
                        <a:t>Ministère de la Santé, Autorité de Régulation</a:t>
                      </a:r>
                    </a:p>
                  </a:txBody>
                  <a:tcPr anchor="ctr">
                    <a:lnL>
                      <a:noFill/>
                    </a:lnL>
                    <a:lnR>
                      <a:noFill/>
                    </a:lnR>
                    <a:lnT>
                      <a:noFill/>
                    </a:lnT>
                    <a:lnB>
                      <a:noFill/>
                    </a:lnB>
                  </a:tcPr>
                </a:tc>
                <a:extLst>
                  <a:ext uri="{0D108BD9-81ED-4DB2-BD59-A6C34878D82A}">
                    <a16:rowId xmlns:a16="http://schemas.microsoft.com/office/drawing/2014/main" val="67006190"/>
                  </a:ext>
                </a:extLst>
              </a:tr>
              <a:tr h="0">
                <a:tc>
                  <a:txBody>
                    <a:bodyPr/>
                    <a:lstStyle/>
                    <a:p>
                      <a:r>
                        <a:rPr lang="fr-FR" dirty="0">
                          <a:latin typeface="Aptos" panose="020B0004020202020204" pitchFamily="34" charset="0"/>
                        </a:rPr>
                        <a:t>Professionnel</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Ordres des pharmaciens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689313034"/>
                  </a:ext>
                </a:extLst>
              </a:tr>
            </a:tbl>
          </a:graphicData>
        </a:graphic>
      </p:graphicFrame>
    </p:spTree>
    <p:extLst>
      <p:ext uri="{BB962C8B-B14F-4D97-AF65-F5344CB8AC3E}">
        <p14:creationId xmlns:p14="http://schemas.microsoft.com/office/powerpoint/2010/main" val="3466569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Architecture de la réglementation pharmaceutique en Afrique</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834964" y="2673090"/>
            <a:ext cx="11018679"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257300" lvl="2"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L’Union Africaine soutient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l’accès aux médicaments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la souveraineté pharmaceutique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l’industrialisation pharmaceutique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l’harmonisation réglementaire.</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5" y="2192290"/>
            <a:ext cx="6003358"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Niveau continental : Union Africaine </a:t>
            </a:r>
          </a:p>
        </p:txBody>
      </p:sp>
    </p:spTree>
    <p:extLst>
      <p:ext uri="{BB962C8B-B14F-4D97-AF65-F5344CB8AC3E}">
        <p14:creationId xmlns:p14="http://schemas.microsoft.com/office/powerpoint/2010/main" val="276273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Architecture de la réglementation pharmaceutique en Afrique</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834964" y="2604294"/>
            <a:ext cx="1101867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eaLnBrk="0" fontAlgn="base" hangingPunct="0">
              <a:spcBef>
                <a:spcPct val="0"/>
              </a:spcBef>
              <a:spcAft>
                <a:spcPct val="0"/>
              </a:spcAft>
            </a:pPr>
            <a:r>
              <a:rPr kumimoji="0" lang="fr-FR" altLang="fr-FR" sz="2000" b="1" i="0" u="none" strike="noStrike" cap="none" normalizeH="0" baseline="0" dirty="0">
                <a:ln>
                  <a:noFill/>
                </a:ln>
                <a:solidFill>
                  <a:schemeClr val="tx1"/>
                </a:solidFill>
                <a:effectLst/>
                <a:latin typeface="Aptos" panose="020B0004020202020204" pitchFamily="34" charset="0"/>
              </a:rPr>
              <a:t>Contexte de création</a:t>
            </a:r>
          </a:p>
          <a:p>
            <a:pPr marL="1257300" lvl="2"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Avant l’AMA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Procédures réglementaires très différentes selon les pays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Délais d’enregistrement longs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Faibles capacités réglementaires dans certains états ;</a:t>
            </a:r>
          </a:p>
          <a:p>
            <a:pPr marL="1714500" lvl="3"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Circulation importante de médicaments falsifiés.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9986833"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Niveau continental : Agence Africaine du Médicament (AMA)</a:t>
            </a:r>
          </a:p>
        </p:txBody>
      </p:sp>
    </p:spTree>
    <p:extLst>
      <p:ext uri="{BB962C8B-B14F-4D97-AF65-F5344CB8AC3E}">
        <p14:creationId xmlns:p14="http://schemas.microsoft.com/office/powerpoint/2010/main" val="220373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Architecture de la réglementation pharmaceutique en Afrique</a:t>
            </a:r>
            <a:endParaRPr lang="en-US" sz="2400" b="1" dirty="0">
              <a:solidFill>
                <a:schemeClr val="bg1"/>
              </a:solidFill>
            </a:endParaRP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9986833"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Niveau continental : Agence Africaine du Médicament (AMA)</a:t>
            </a:r>
          </a:p>
        </p:txBody>
      </p:sp>
      <p:sp>
        <p:nvSpPr>
          <p:cNvPr id="11" name="ZoneTexte 10">
            <a:extLst>
              <a:ext uri="{FF2B5EF4-FFF2-40B4-BE49-F238E27FC236}">
                <a16:creationId xmlns:a16="http://schemas.microsoft.com/office/drawing/2014/main" id="{2075DFA1-5E94-42CF-A395-B96EF0E771CA}"/>
              </a:ext>
            </a:extLst>
          </p:cNvPr>
          <p:cNvSpPr txBox="1"/>
          <p:nvPr/>
        </p:nvSpPr>
        <p:spPr>
          <a:xfrm>
            <a:off x="751073" y="2604171"/>
            <a:ext cx="11102569" cy="2862322"/>
          </a:xfrm>
          <a:prstGeom prst="rect">
            <a:avLst/>
          </a:prstGeom>
          <a:noFill/>
        </p:spPr>
        <p:txBody>
          <a:bodyPr wrap="square">
            <a:spAutoFit/>
          </a:bodyPr>
          <a:lstStyle/>
          <a:p>
            <a:pPr lvl="1"/>
            <a:r>
              <a:rPr lang="fr-FR" sz="2000" b="1" dirty="0">
                <a:latin typeface="Aptos" panose="020B0004020202020204" pitchFamily="34" charset="0"/>
              </a:rPr>
              <a:t>Missions : </a:t>
            </a:r>
          </a:p>
          <a:p>
            <a:pPr marL="800100" lvl="1" indent="-342900">
              <a:buFont typeface="Arial" panose="020B0604020202020204" pitchFamily="34" charset="0"/>
              <a:buChar char="•"/>
            </a:pPr>
            <a:r>
              <a:rPr lang="fr-FR" sz="2000" dirty="0">
                <a:latin typeface="Aptos" panose="020B0004020202020204" pitchFamily="34" charset="0"/>
              </a:rPr>
              <a:t>Harmonisation réglementaire</a:t>
            </a:r>
          </a:p>
          <a:p>
            <a:pPr marL="800100" lvl="1" indent="-342900">
              <a:buFont typeface="Arial" panose="020B0604020202020204" pitchFamily="34" charset="0"/>
              <a:buChar char="•"/>
            </a:pPr>
            <a:r>
              <a:rPr lang="fr-FR" sz="2000" dirty="0">
                <a:latin typeface="Aptos" panose="020B0004020202020204" pitchFamily="34" charset="0"/>
              </a:rPr>
              <a:t>Renforcement des autorités nationales</a:t>
            </a:r>
          </a:p>
          <a:p>
            <a:pPr marL="800100" lvl="1" indent="-342900">
              <a:buFont typeface="Arial" panose="020B0604020202020204" pitchFamily="34" charset="0"/>
              <a:buChar char="•"/>
            </a:pPr>
            <a:r>
              <a:rPr lang="fr-FR" sz="2000" dirty="0">
                <a:latin typeface="Aptos" panose="020B0004020202020204" pitchFamily="34" charset="0"/>
              </a:rPr>
              <a:t>Coopération réglementaire</a:t>
            </a:r>
          </a:p>
          <a:p>
            <a:pPr marL="800100" lvl="1" indent="-342900">
              <a:buFont typeface="Arial" panose="020B0604020202020204" pitchFamily="34" charset="0"/>
              <a:buChar char="•"/>
            </a:pPr>
            <a:r>
              <a:rPr lang="fr-FR" sz="2000" dirty="0">
                <a:latin typeface="Aptos" panose="020B0004020202020204" pitchFamily="34" charset="0"/>
              </a:rPr>
              <a:t>Surveillance du marché</a:t>
            </a:r>
          </a:p>
          <a:p>
            <a:pPr marL="800100" lvl="1" indent="-342900">
              <a:buFont typeface="Arial" panose="020B0604020202020204" pitchFamily="34" charset="0"/>
              <a:buChar char="•"/>
            </a:pPr>
            <a:r>
              <a:rPr lang="fr-FR" sz="2000" dirty="0">
                <a:latin typeface="Aptos" panose="020B0004020202020204" pitchFamily="34" charset="0"/>
              </a:rPr>
              <a:t>Partage d’informations réglementaires</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dirty="0">
                <a:latin typeface="Aptos" panose="020B0004020202020204" pitchFamily="34" charset="0"/>
              </a:rPr>
              <a:t>L’AMA constitue aujourd’hui l’un des principaux mécanismes continentaux de renforcement de la régulation pharmaceutique.</a:t>
            </a:r>
          </a:p>
        </p:txBody>
      </p:sp>
    </p:spTree>
    <p:extLst>
      <p:ext uri="{BB962C8B-B14F-4D97-AF65-F5344CB8AC3E}">
        <p14:creationId xmlns:p14="http://schemas.microsoft.com/office/powerpoint/2010/main" val="3696489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Architecture de la réglementation pharmaceutique en Afrique</a:t>
            </a:r>
            <a:endParaRPr lang="en-US" sz="2400" b="1" dirty="0">
              <a:solidFill>
                <a:schemeClr val="bg1"/>
              </a:solidFill>
            </a:endParaRP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9986833"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Niveau continental : Agence Africaine du Médicament (AMA)</a:t>
            </a:r>
          </a:p>
        </p:txBody>
      </p:sp>
      <p:sp>
        <p:nvSpPr>
          <p:cNvPr id="11" name="ZoneTexte 10">
            <a:extLst>
              <a:ext uri="{FF2B5EF4-FFF2-40B4-BE49-F238E27FC236}">
                <a16:creationId xmlns:a16="http://schemas.microsoft.com/office/drawing/2014/main" id="{2075DFA1-5E94-42CF-A395-B96EF0E771CA}"/>
              </a:ext>
            </a:extLst>
          </p:cNvPr>
          <p:cNvSpPr txBox="1"/>
          <p:nvPr/>
        </p:nvSpPr>
        <p:spPr>
          <a:xfrm>
            <a:off x="751073" y="2604171"/>
            <a:ext cx="11102569" cy="2246769"/>
          </a:xfrm>
          <a:prstGeom prst="rect">
            <a:avLst/>
          </a:prstGeom>
          <a:noFill/>
        </p:spPr>
        <p:txBody>
          <a:bodyPr wrap="square">
            <a:spAutoFit/>
          </a:bodyPr>
          <a:lstStyle/>
          <a:p>
            <a:pPr lvl="1"/>
            <a:r>
              <a:rPr lang="fr-FR" sz="2000" b="1" dirty="0">
                <a:latin typeface="Aptos" panose="020B0004020202020204" pitchFamily="34" charset="0"/>
              </a:rPr>
              <a:t>Implications pour les officines africaines : </a:t>
            </a:r>
          </a:p>
          <a:p>
            <a:pPr lvl="1"/>
            <a:r>
              <a:rPr lang="fr-FR" sz="2000" dirty="0">
                <a:latin typeface="Aptos" panose="020B0004020202020204" pitchFamily="34" charset="0"/>
              </a:rPr>
              <a:t>À moyen terme</a:t>
            </a:r>
            <a:r>
              <a:rPr lang="fr-FR" sz="2000" b="1" dirty="0">
                <a:latin typeface="Aptos" panose="020B0004020202020204" pitchFamily="34" charset="0"/>
              </a:rPr>
              <a:t> </a:t>
            </a:r>
            <a:r>
              <a:rPr lang="fr-FR" sz="2000" dirty="0">
                <a:latin typeface="Aptos" panose="020B0004020202020204" pitchFamily="34" charset="0"/>
              </a:rPr>
              <a:t>:</a:t>
            </a:r>
          </a:p>
          <a:p>
            <a:pPr marL="1257300" lvl="2" indent="-342900">
              <a:buFont typeface="Arial" panose="020B0604020202020204" pitchFamily="34" charset="0"/>
              <a:buChar char="•"/>
            </a:pPr>
            <a:r>
              <a:rPr lang="fr-FR" sz="2000" dirty="0">
                <a:latin typeface="Aptos" panose="020B0004020202020204" pitchFamily="34" charset="0"/>
              </a:rPr>
              <a:t>Augmentation des exigences de conformité ;</a:t>
            </a:r>
          </a:p>
          <a:p>
            <a:pPr marL="1257300" lvl="2" indent="-342900">
              <a:buFont typeface="Arial" panose="020B0604020202020204" pitchFamily="34" charset="0"/>
              <a:buChar char="•"/>
            </a:pPr>
            <a:r>
              <a:rPr lang="fr-FR" sz="2000" dirty="0">
                <a:latin typeface="Aptos" panose="020B0004020202020204" pitchFamily="34" charset="0"/>
              </a:rPr>
              <a:t>Renforcement de la traçabilité ;</a:t>
            </a:r>
          </a:p>
          <a:p>
            <a:pPr marL="1257300" lvl="2" indent="-342900">
              <a:buFont typeface="Arial" panose="020B0604020202020204" pitchFamily="34" charset="0"/>
              <a:buChar char="•"/>
            </a:pPr>
            <a:r>
              <a:rPr lang="fr-FR" sz="2000" dirty="0">
                <a:latin typeface="Aptos" panose="020B0004020202020204" pitchFamily="34" charset="0"/>
              </a:rPr>
              <a:t>Amélioration de la pharmacovigilance ;</a:t>
            </a:r>
          </a:p>
          <a:p>
            <a:pPr marL="1257300" lvl="2" indent="-342900">
              <a:buFont typeface="Arial" panose="020B0604020202020204" pitchFamily="34" charset="0"/>
              <a:buChar char="•"/>
            </a:pPr>
            <a:r>
              <a:rPr lang="fr-FR" sz="2000" dirty="0">
                <a:latin typeface="Aptos" panose="020B0004020202020204" pitchFamily="34" charset="0"/>
              </a:rPr>
              <a:t>Inspections plus structurées ;</a:t>
            </a:r>
          </a:p>
          <a:p>
            <a:pPr marL="1257300" lvl="2" indent="-342900">
              <a:buFont typeface="Arial" panose="020B0604020202020204" pitchFamily="34" charset="0"/>
              <a:buChar char="•"/>
            </a:pPr>
            <a:r>
              <a:rPr lang="fr-FR" sz="2000" dirty="0">
                <a:latin typeface="Aptos" panose="020B0004020202020204" pitchFamily="34" charset="0"/>
              </a:rPr>
              <a:t>Digitalisation des systèmes réglementaires.</a:t>
            </a:r>
          </a:p>
        </p:txBody>
      </p:sp>
    </p:spTree>
    <p:extLst>
      <p:ext uri="{BB962C8B-B14F-4D97-AF65-F5344CB8AC3E}">
        <p14:creationId xmlns:p14="http://schemas.microsoft.com/office/powerpoint/2010/main" val="767505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Architecture de la réglementation pharmaceutique en Afrique</a:t>
            </a:r>
            <a:endParaRPr lang="en-US" sz="2400" b="1" dirty="0">
              <a:solidFill>
                <a:schemeClr val="bg1"/>
              </a:solidFill>
            </a:endParaRP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9986833"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Afrique de l’Ouest : CEDEAO  </a:t>
            </a:r>
          </a:p>
        </p:txBody>
      </p:sp>
      <p:sp>
        <p:nvSpPr>
          <p:cNvPr id="11" name="ZoneTexte 10">
            <a:extLst>
              <a:ext uri="{FF2B5EF4-FFF2-40B4-BE49-F238E27FC236}">
                <a16:creationId xmlns:a16="http://schemas.microsoft.com/office/drawing/2014/main" id="{2075DFA1-5E94-42CF-A395-B96EF0E771CA}"/>
              </a:ext>
            </a:extLst>
          </p:cNvPr>
          <p:cNvSpPr txBox="1"/>
          <p:nvPr/>
        </p:nvSpPr>
        <p:spPr>
          <a:xfrm>
            <a:off x="751073" y="2604171"/>
            <a:ext cx="11102569" cy="1323439"/>
          </a:xfrm>
          <a:prstGeom prst="rect">
            <a:avLst/>
          </a:prstGeom>
          <a:noFill/>
        </p:spPr>
        <p:txBody>
          <a:bodyPr wrap="square">
            <a:spAutoFit/>
          </a:bodyPr>
          <a:lstStyle/>
          <a:p>
            <a:pPr lvl="1"/>
            <a:r>
              <a:rPr lang="fr-FR" sz="2000" b="1" dirty="0">
                <a:latin typeface="Aptos" panose="020B0004020202020204" pitchFamily="34" charset="0"/>
              </a:rPr>
              <a:t>Objectifs :</a:t>
            </a:r>
          </a:p>
          <a:p>
            <a:pPr marL="1257300" lvl="2" indent="-342900">
              <a:buFont typeface="Arial" panose="020B0604020202020204" pitchFamily="34" charset="0"/>
              <a:buChar char="•"/>
            </a:pPr>
            <a:r>
              <a:rPr lang="fr-FR" sz="2000" dirty="0">
                <a:latin typeface="Aptos" panose="020B0004020202020204" pitchFamily="34" charset="0"/>
              </a:rPr>
              <a:t>Intégration régionale ;</a:t>
            </a:r>
          </a:p>
          <a:p>
            <a:pPr marL="1257300" lvl="2" indent="-342900">
              <a:buFont typeface="Arial" panose="020B0604020202020204" pitchFamily="34" charset="0"/>
              <a:buChar char="•"/>
            </a:pPr>
            <a:r>
              <a:rPr lang="fr-FR" sz="2000" dirty="0">
                <a:latin typeface="Aptos" panose="020B0004020202020204" pitchFamily="34" charset="0"/>
              </a:rPr>
              <a:t>Harmonisation réglementaire ;</a:t>
            </a:r>
          </a:p>
          <a:p>
            <a:pPr marL="1257300" lvl="2" indent="-342900">
              <a:buFont typeface="Arial" panose="020B0604020202020204" pitchFamily="34" charset="0"/>
              <a:buChar char="•"/>
            </a:pPr>
            <a:r>
              <a:rPr lang="fr-FR" sz="2000" dirty="0">
                <a:latin typeface="Aptos" panose="020B0004020202020204" pitchFamily="34" charset="0"/>
              </a:rPr>
              <a:t>Amélioration de l’accès aux médicaments.</a:t>
            </a:r>
          </a:p>
        </p:txBody>
      </p:sp>
    </p:spTree>
    <p:extLst>
      <p:ext uri="{BB962C8B-B14F-4D97-AF65-F5344CB8AC3E}">
        <p14:creationId xmlns:p14="http://schemas.microsoft.com/office/powerpoint/2010/main" val="1241017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Architecture de la réglementation pharmaceutique en Afrique</a:t>
            </a:r>
            <a:endParaRPr lang="en-US" sz="2400" b="1" dirty="0">
              <a:solidFill>
                <a:schemeClr val="bg1"/>
              </a:solidFill>
            </a:endParaRP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9986833"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Afrique de l’Ouest : OOAS / WAHO  </a:t>
            </a:r>
          </a:p>
        </p:txBody>
      </p:sp>
      <p:sp>
        <p:nvSpPr>
          <p:cNvPr id="11" name="ZoneTexte 10">
            <a:extLst>
              <a:ext uri="{FF2B5EF4-FFF2-40B4-BE49-F238E27FC236}">
                <a16:creationId xmlns:a16="http://schemas.microsoft.com/office/drawing/2014/main" id="{2075DFA1-5E94-42CF-A395-B96EF0E771CA}"/>
              </a:ext>
            </a:extLst>
          </p:cNvPr>
          <p:cNvSpPr txBox="1"/>
          <p:nvPr/>
        </p:nvSpPr>
        <p:spPr>
          <a:xfrm>
            <a:off x="751073" y="2604171"/>
            <a:ext cx="6245345" cy="3477875"/>
          </a:xfrm>
          <a:prstGeom prst="rect">
            <a:avLst/>
          </a:prstGeom>
          <a:noFill/>
        </p:spPr>
        <p:txBody>
          <a:bodyPr wrap="square">
            <a:spAutoFit/>
          </a:bodyPr>
          <a:lstStyle/>
          <a:p>
            <a:pPr lvl="1"/>
            <a:r>
              <a:rPr lang="fr-FR" sz="2000" b="1" dirty="0">
                <a:latin typeface="Aptos" panose="020B0004020202020204" pitchFamily="34" charset="0"/>
              </a:rPr>
              <a:t>Travaille sur :</a:t>
            </a:r>
          </a:p>
          <a:p>
            <a:pPr marL="1257300" lvl="2" indent="-342900">
              <a:buFont typeface="Arial" panose="020B0604020202020204" pitchFamily="34" charset="0"/>
              <a:buChar char="•"/>
            </a:pPr>
            <a:r>
              <a:rPr lang="fr-FR" sz="2000" dirty="0">
                <a:latin typeface="Aptos" panose="020B0004020202020204" pitchFamily="34" charset="0"/>
              </a:rPr>
              <a:t>Réglementation pharmaceutique ;</a:t>
            </a:r>
          </a:p>
          <a:p>
            <a:pPr marL="1257300" lvl="2" indent="-342900">
              <a:buFont typeface="Arial" panose="020B0604020202020204" pitchFamily="34" charset="0"/>
              <a:buChar char="•"/>
            </a:pPr>
            <a:r>
              <a:rPr lang="fr-FR" sz="2000" dirty="0">
                <a:latin typeface="Aptos" panose="020B0004020202020204" pitchFamily="34" charset="0"/>
              </a:rPr>
              <a:t>Pharmacovigilance ;</a:t>
            </a:r>
          </a:p>
          <a:p>
            <a:pPr marL="1257300" lvl="2" indent="-342900">
              <a:buFont typeface="Arial" panose="020B0604020202020204" pitchFamily="34" charset="0"/>
              <a:buChar char="•"/>
            </a:pPr>
            <a:r>
              <a:rPr lang="fr-FR" sz="2000" dirty="0">
                <a:latin typeface="Aptos" panose="020B0004020202020204" pitchFamily="34" charset="0"/>
              </a:rPr>
              <a:t>Qualité ;</a:t>
            </a:r>
          </a:p>
          <a:p>
            <a:pPr marL="1257300" lvl="2" indent="-342900">
              <a:buFont typeface="Arial" panose="020B0604020202020204" pitchFamily="34" charset="0"/>
              <a:buChar char="•"/>
            </a:pPr>
            <a:r>
              <a:rPr lang="fr-FR" sz="2000" dirty="0">
                <a:latin typeface="Aptos" panose="020B0004020202020204" pitchFamily="34" charset="0"/>
              </a:rPr>
              <a:t>Lutte contre les médicaments falsifiés.</a:t>
            </a:r>
          </a:p>
          <a:p>
            <a:pPr lvl="1"/>
            <a:endParaRPr lang="fr-FR" sz="2000" dirty="0">
              <a:latin typeface="Aptos" panose="020B0004020202020204" pitchFamily="34" charset="0"/>
            </a:endParaRPr>
          </a:p>
          <a:p>
            <a:pPr lvl="1"/>
            <a:r>
              <a:rPr lang="fr-FR" sz="2000" b="1" dirty="0">
                <a:latin typeface="Aptos" panose="020B0004020202020204" pitchFamily="34" charset="0"/>
              </a:rPr>
              <a:t>Principaux défis :</a:t>
            </a:r>
          </a:p>
          <a:p>
            <a:pPr marL="1257300" lvl="2" indent="-342900">
              <a:buFont typeface="Arial" panose="020B0604020202020204" pitchFamily="34" charset="0"/>
              <a:buChar char="•"/>
            </a:pPr>
            <a:r>
              <a:rPr lang="fr-FR" sz="2000" dirty="0">
                <a:latin typeface="Aptos" panose="020B0004020202020204" pitchFamily="34" charset="0"/>
              </a:rPr>
              <a:t>Médicaments falsifiés</a:t>
            </a:r>
          </a:p>
          <a:p>
            <a:pPr marL="1257300" lvl="2" indent="-342900">
              <a:buFont typeface="Arial" panose="020B0604020202020204" pitchFamily="34" charset="0"/>
              <a:buChar char="•"/>
            </a:pPr>
            <a:r>
              <a:rPr lang="fr-FR" sz="2000" dirty="0">
                <a:latin typeface="Aptos" panose="020B0004020202020204" pitchFamily="34" charset="0"/>
              </a:rPr>
              <a:t>Circuits parallèles</a:t>
            </a:r>
          </a:p>
          <a:p>
            <a:pPr marL="1257300" lvl="2" indent="-342900">
              <a:buFont typeface="Arial" panose="020B0604020202020204" pitchFamily="34" charset="0"/>
              <a:buChar char="•"/>
            </a:pPr>
            <a:r>
              <a:rPr lang="fr-FR" sz="2000" dirty="0">
                <a:latin typeface="Aptos" panose="020B0004020202020204" pitchFamily="34" charset="0"/>
              </a:rPr>
              <a:t>Frontières poreuses</a:t>
            </a:r>
          </a:p>
          <a:p>
            <a:pPr marL="1257300" lvl="2" indent="-342900">
              <a:buFont typeface="Arial" panose="020B0604020202020204" pitchFamily="34" charset="0"/>
              <a:buChar char="•"/>
            </a:pPr>
            <a:r>
              <a:rPr lang="fr-FR" sz="2000" dirty="0">
                <a:latin typeface="Aptos" panose="020B0004020202020204" pitchFamily="34" charset="0"/>
              </a:rPr>
              <a:t>Informel pharmaceutique</a:t>
            </a:r>
          </a:p>
        </p:txBody>
      </p:sp>
    </p:spTree>
    <p:extLst>
      <p:ext uri="{BB962C8B-B14F-4D97-AF65-F5344CB8AC3E}">
        <p14:creationId xmlns:p14="http://schemas.microsoft.com/office/powerpoint/2010/main" val="1489533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Architecture de la réglementation pharmaceutique en Afrique</a:t>
            </a:r>
            <a:endParaRPr lang="en-US" sz="2400" b="1" dirty="0">
              <a:solidFill>
                <a:schemeClr val="bg1"/>
              </a:solidFill>
            </a:endParaRP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9986833"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Afrique centrale</a:t>
            </a:r>
          </a:p>
        </p:txBody>
      </p:sp>
      <p:sp>
        <p:nvSpPr>
          <p:cNvPr id="11" name="ZoneTexte 10">
            <a:extLst>
              <a:ext uri="{FF2B5EF4-FFF2-40B4-BE49-F238E27FC236}">
                <a16:creationId xmlns:a16="http://schemas.microsoft.com/office/drawing/2014/main" id="{2075DFA1-5E94-42CF-A395-B96EF0E771CA}"/>
              </a:ext>
            </a:extLst>
          </p:cNvPr>
          <p:cNvSpPr txBox="1"/>
          <p:nvPr/>
        </p:nvSpPr>
        <p:spPr>
          <a:xfrm>
            <a:off x="751073" y="2604171"/>
            <a:ext cx="6245345" cy="1323439"/>
          </a:xfrm>
          <a:prstGeom prst="rect">
            <a:avLst/>
          </a:prstGeom>
          <a:noFill/>
        </p:spPr>
        <p:txBody>
          <a:bodyPr wrap="square">
            <a:spAutoFit/>
          </a:bodyPr>
          <a:lstStyle/>
          <a:p>
            <a:pPr lvl="1"/>
            <a:r>
              <a:rPr lang="fr-FR" sz="2000" b="1" dirty="0">
                <a:latin typeface="Aptos" panose="020B0004020202020204" pitchFamily="34" charset="0"/>
              </a:rPr>
              <a:t>Principaux enjeux :</a:t>
            </a:r>
          </a:p>
          <a:p>
            <a:pPr marL="1257300" lvl="2" indent="-342900">
              <a:buFont typeface="Arial" panose="020B0604020202020204" pitchFamily="34" charset="0"/>
              <a:buChar char="•"/>
            </a:pPr>
            <a:r>
              <a:rPr lang="fr-FR" sz="2000" dirty="0">
                <a:latin typeface="Aptos" panose="020B0004020202020204" pitchFamily="34" charset="0"/>
              </a:rPr>
              <a:t>Contrôle des importations ;</a:t>
            </a:r>
          </a:p>
          <a:p>
            <a:pPr marL="1257300" lvl="2" indent="-342900">
              <a:buFont typeface="Arial" panose="020B0604020202020204" pitchFamily="34" charset="0"/>
              <a:buChar char="•"/>
            </a:pPr>
            <a:r>
              <a:rPr lang="fr-FR" sz="2000" dirty="0">
                <a:latin typeface="Aptos" panose="020B0004020202020204" pitchFamily="34" charset="0"/>
              </a:rPr>
              <a:t>Renforcement des inspections ;</a:t>
            </a:r>
          </a:p>
          <a:p>
            <a:pPr marL="1257300" lvl="2" indent="-342900">
              <a:buFont typeface="Arial" panose="020B0604020202020204" pitchFamily="34" charset="0"/>
              <a:buChar char="•"/>
            </a:pPr>
            <a:r>
              <a:rPr lang="fr-FR" sz="2000" dirty="0">
                <a:latin typeface="Aptos" panose="020B0004020202020204" pitchFamily="34" charset="0"/>
              </a:rPr>
              <a:t>Sécurisation des grossistes.</a:t>
            </a:r>
          </a:p>
        </p:txBody>
      </p:sp>
    </p:spTree>
    <p:extLst>
      <p:ext uri="{BB962C8B-B14F-4D97-AF65-F5344CB8AC3E}">
        <p14:creationId xmlns:p14="http://schemas.microsoft.com/office/powerpoint/2010/main" val="1724038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Architecture de la réglementation pharmaceutique en Afrique</a:t>
            </a:r>
            <a:endParaRPr lang="en-US" sz="2400" b="1" dirty="0">
              <a:solidFill>
                <a:schemeClr val="bg1"/>
              </a:solidFill>
            </a:endParaRP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9986833"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Afrique de l’est</a:t>
            </a:r>
          </a:p>
        </p:txBody>
      </p:sp>
      <p:sp>
        <p:nvSpPr>
          <p:cNvPr id="11" name="ZoneTexte 10">
            <a:extLst>
              <a:ext uri="{FF2B5EF4-FFF2-40B4-BE49-F238E27FC236}">
                <a16:creationId xmlns:a16="http://schemas.microsoft.com/office/drawing/2014/main" id="{2075DFA1-5E94-42CF-A395-B96EF0E771CA}"/>
              </a:ext>
            </a:extLst>
          </p:cNvPr>
          <p:cNvSpPr txBox="1"/>
          <p:nvPr/>
        </p:nvSpPr>
        <p:spPr>
          <a:xfrm>
            <a:off x="751073" y="2604171"/>
            <a:ext cx="6245345" cy="1323439"/>
          </a:xfrm>
          <a:prstGeom prst="rect">
            <a:avLst/>
          </a:prstGeom>
          <a:noFill/>
        </p:spPr>
        <p:txBody>
          <a:bodyPr wrap="square">
            <a:spAutoFit/>
          </a:bodyPr>
          <a:lstStyle/>
          <a:p>
            <a:pPr lvl="1"/>
            <a:r>
              <a:rPr lang="fr-FR" sz="2000" b="1" dirty="0">
                <a:latin typeface="Aptos" panose="020B0004020202020204" pitchFamily="34" charset="0"/>
              </a:rPr>
              <a:t>Particularités :</a:t>
            </a:r>
          </a:p>
          <a:p>
            <a:pPr marL="1257300" lvl="2" indent="-342900">
              <a:buFont typeface="Arial" panose="020B0604020202020204" pitchFamily="34" charset="0"/>
              <a:buChar char="•"/>
            </a:pPr>
            <a:r>
              <a:rPr lang="fr-FR" sz="2000" dirty="0">
                <a:latin typeface="Aptos" panose="020B0004020202020204" pitchFamily="34" charset="0"/>
              </a:rPr>
              <a:t>Harmonisation avancée ;</a:t>
            </a:r>
          </a:p>
          <a:p>
            <a:pPr marL="1257300" lvl="2" indent="-342900">
              <a:buFont typeface="Arial" panose="020B0604020202020204" pitchFamily="34" charset="0"/>
              <a:buChar char="•"/>
            </a:pPr>
            <a:r>
              <a:rPr lang="fr-FR" sz="2000" dirty="0">
                <a:latin typeface="Aptos" panose="020B0004020202020204" pitchFamily="34" charset="0"/>
              </a:rPr>
              <a:t>Inspections harmonisées ;</a:t>
            </a:r>
          </a:p>
          <a:p>
            <a:pPr marL="1257300" lvl="2" indent="-342900">
              <a:buFont typeface="Arial" panose="020B0604020202020204" pitchFamily="34" charset="0"/>
              <a:buChar char="•"/>
            </a:pPr>
            <a:r>
              <a:rPr lang="fr-FR" sz="2000" dirty="0">
                <a:latin typeface="Aptos" panose="020B0004020202020204" pitchFamily="34" charset="0"/>
              </a:rPr>
              <a:t>Digitalisation importante.</a:t>
            </a:r>
          </a:p>
        </p:txBody>
      </p:sp>
    </p:spTree>
    <p:extLst>
      <p:ext uri="{BB962C8B-B14F-4D97-AF65-F5344CB8AC3E}">
        <p14:creationId xmlns:p14="http://schemas.microsoft.com/office/powerpoint/2010/main" val="2913381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Architecture de la réglementation pharmaceutique en Afrique</a:t>
            </a:r>
            <a:endParaRPr lang="en-US" sz="2400" b="1" dirty="0">
              <a:solidFill>
                <a:schemeClr val="bg1"/>
              </a:solidFill>
            </a:endParaRP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9986833"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Afrique australe</a:t>
            </a:r>
          </a:p>
        </p:txBody>
      </p:sp>
      <p:sp>
        <p:nvSpPr>
          <p:cNvPr id="11" name="ZoneTexte 10">
            <a:extLst>
              <a:ext uri="{FF2B5EF4-FFF2-40B4-BE49-F238E27FC236}">
                <a16:creationId xmlns:a16="http://schemas.microsoft.com/office/drawing/2014/main" id="{2075DFA1-5E94-42CF-A395-B96EF0E771CA}"/>
              </a:ext>
            </a:extLst>
          </p:cNvPr>
          <p:cNvSpPr txBox="1"/>
          <p:nvPr/>
        </p:nvSpPr>
        <p:spPr>
          <a:xfrm>
            <a:off x="751073" y="2604171"/>
            <a:ext cx="6245345" cy="1323439"/>
          </a:xfrm>
          <a:prstGeom prst="rect">
            <a:avLst/>
          </a:prstGeom>
          <a:noFill/>
        </p:spPr>
        <p:txBody>
          <a:bodyPr wrap="square">
            <a:spAutoFit/>
          </a:bodyPr>
          <a:lstStyle/>
          <a:p>
            <a:pPr lvl="1"/>
            <a:r>
              <a:rPr lang="fr-FR" sz="2000" b="1" dirty="0">
                <a:latin typeface="Aptos" panose="020B0004020202020204" pitchFamily="34" charset="0"/>
              </a:rPr>
              <a:t>Accent mis sur :</a:t>
            </a:r>
          </a:p>
          <a:p>
            <a:pPr marL="1257300" lvl="2" indent="-342900">
              <a:buFont typeface="Arial" panose="020B0604020202020204" pitchFamily="34" charset="0"/>
              <a:buChar char="•"/>
            </a:pPr>
            <a:r>
              <a:rPr lang="fr-FR" sz="2000" dirty="0">
                <a:latin typeface="Aptos" panose="020B0004020202020204" pitchFamily="34" charset="0"/>
              </a:rPr>
              <a:t>Assurance qualité ;</a:t>
            </a:r>
          </a:p>
          <a:p>
            <a:pPr marL="1257300" lvl="2" indent="-342900">
              <a:buFont typeface="Arial" panose="020B0604020202020204" pitchFamily="34" charset="0"/>
              <a:buChar char="•"/>
            </a:pPr>
            <a:r>
              <a:rPr lang="fr-FR" sz="2000" dirty="0">
                <a:latin typeface="Aptos" panose="020B0004020202020204" pitchFamily="34" charset="0"/>
              </a:rPr>
              <a:t>Conformité documentaire ;</a:t>
            </a:r>
          </a:p>
          <a:p>
            <a:pPr marL="1257300" lvl="2" indent="-342900">
              <a:buFont typeface="Arial" panose="020B0604020202020204" pitchFamily="34" charset="0"/>
              <a:buChar char="•"/>
            </a:pPr>
            <a:r>
              <a:rPr lang="fr-FR" sz="2000" dirty="0">
                <a:latin typeface="Aptos" panose="020B0004020202020204" pitchFamily="34" charset="0"/>
              </a:rPr>
              <a:t>Pharmacovigilance.</a:t>
            </a:r>
          </a:p>
        </p:txBody>
      </p:sp>
    </p:spTree>
    <p:extLst>
      <p:ext uri="{BB962C8B-B14F-4D97-AF65-F5344CB8AC3E}">
        <p14:creationId xmlns:p14="http://schemas.microsoft.com/office/powerpoint/2010/main" val="2671071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Architecture de la réglementation pharmaceutique en Afrique</a:t>
            </a:r>
            <a:endParaRPr lang="en-US" sz="2400" b="1" dirty="0">
              <a:solidFill>
                <a:schemeClr val="bg1"/>
              </a:solidFill>
            </a:endParaRP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9986833"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Afrique du nord</a:t>
            </a:r>
          </a:p>
        </p:txBody>
      </p:sp>
      <p:sp>
        <p:nvSpPr>
          <p:cNvPr id="11" name="ZoneTexte 10">
            <a:extLst>
              <a:ext uri="{FF2B5EF4-FFF2-40B4-BE49-F238E27FC236}">
                <a16:creationId xmlns:a16="http://schemas.microsoft.com/office/drawing/2014/main" id="{2075DFA1-5E94-42CF-A395-B96EF0E771CA}"/>
              </a:ext>
            </a:extLst>
          </p:cNvPr>
          <p:cNvSpPr txBox="1"/>
          <p:nvPr/>
        </p:nvSpPr>
        <p:spPr>
          <a:xfrm>
            <a:off x="751073" y="2604171"/>
            <a:ext cx="6245345" cy="2246769"/>
          </a:xfrm>
          <a:prstGeom prst="rect">
            <a:avLst/>
          </a:prstGeom>
          <a:noFill/>
        </p:spPr>
        <p:txBody>
          <a:bodyPr wrap="square">
            <a:spAutoFit/>
          </a:bodyPr>
          <a:lstStyle/>
          <a:p>
            <a:pPr lvl="1"/>
            <a:r>
              <a:rPr lang="fr-FR" sz="2000" dirty="0">
                <a:latin typeface="Aptos" panose="020B0004020202020204" pitchFamily="34" charset="0"/>
              </a:rPr>
              <a:t>Cadres réglementaires souvent très structurés.</a:t>
            </a:r>
          </a:p>
          <a:p>
            <a:pPr lvl="1"/>
            <a:endParaRPr lang="fr-FR" sz="2000" dirty="0">
              <a:latin typeface="Aptos" panose="020B0004020202020204" pitchFamily="34" charset="0"/>
            </a:endParaRPr>
          </a:p>
          <a:p>
            <a:pPr lvl="1"/>
            <a:r>
              <a:rPr lang="fr-FR" sz="2000" dirty="0">
                <a:latin typeface="Aptos" panose="020B0004020202020204" pitchFamily="34" charset="0"/>
              </a:rPr>
              <a:t>Contrôle important sur :</a:t>
            </a:r>
          </a:p>
          <a:p>
            <a:pPr marL="1257300" lvl="2" indent="-342900">
              <a:buFont typeface="Arial" panose="020B0604020202020204" pitchFamily="34" charset="0"/>
              <a:buChar char="•"/>
            </a:pPr>
            <a:r>
              <a:rPr lang="fr-FR" sz="2000" dirty="0">
                <a:latin typeface="Aptos" panose="020B0004020202020204" pitchFamily="34" charset="0"/>
              </a:rPr>
              <a:t>L’implantation ;</a:t>
            </a:r>
          </a:p>
          <a:p>
            <a:pPr marL="1257300" lvl="2" indent="-342900">
              <a:buFont typeface="Arial" panose="020B0604020202020204" pitchFamily="34" charset="0"/>
              <a:buChar char="•"/>
            </a:pPr>
            <a:r>
              <a:rPr lang="fr-FR" sz="2000" dirty="0">
                <a:latin typeface="Aptos" panose="020B0004020202020204" pitchFamily="34" charset="0"/>
              </a:rPr>
              <a:t>La publicité ;</a:t>
            </a:r>
          </a:p>
          <a:p>
            <a:pPr marL="1257300" lvl="2" indent="-342900">
              <a:buFont typeface="Arial" panose="020B0604020202020204" pitchFamily="34" charset="0"/>
              <a:buChar char="•"/>
            </a:pPr>
            <a:r>
              <a:rPr lang="fr-FR" sz="2000" dirty="0">
                <a:latin typeface="Aptos" panose="020B0004020202020204" pitchFamily="34" charset="0"/>
              </a:rPr>
              <a:t>Les prix ;</a:t>
            </a:r>
          </a:p>
          <a:p>
            <a:pPr marL="1257300" lvl="2" indent="-342900">
              <a:buFont typeface="Arial" panose="020B0604020202020204" pitchFamily="34" charset="0"/>
              <a:buChar char="•"/>
            </a:pPr>
            <a:r>
              <a:rPr lang="fr-FR" sz="2000" dirty="0">
                <a:latin typeface="Aptos" panose="020B0004020202020204" pitchFamily="34" charset="0"/>
              </a:rPr>
              <a:t>Les autorisations.</a:t>
            </a:r>
          </a:p>
        </p:txBody>
      </p:sp>
    </p:spTree>
    <p:extLst>
      <p:ext uri="{BB962C8B-B14F-4D97-AF65-F5344CB8AC3E}">
        <p14:creationId xmlns:p14="http://schemas.microsoft.com/office/powerpoint/2010/main" val="4211060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système réglementaire pharmaceutique du Bénin</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9986833"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Acteurs</a:t>
            </a:r>
          </a:p>
        </p:txBody>
      </p:sp>
      <p:sp>
        <p:nvSpPr>
          <p:cNvPr id="11" name="ZoneTexte 10">
            <a:extLst>
              <a:ext uri="{FF2B5EF4-FFF2-40B4-BE49-F238E27FC236}">
                <a16:creationId xmlns:a16="http://schemas.microsoft.com/office/drawing/2014/main" id="{2075DFA1-5E94-42CF-A395-B96EF0E771CA}"/>
              </a:ext>
            </a:extLst>
          </p:cNvPr>
          <p:cNvSpPr txBox="1"/>
          <p:nvPr/>
        </p:nvSpPr>
        <p:spPr>
          <a:xfrm>
            <a:off x="751073" y="2604171"/>
            <a:ext cx="8594263" cy="1631216"/>
          </a:xfrm>
          <a:prstGeom prst="rect">
            <a:avLst/>
          </a:prstGeom>
          <a:noFill/>
        </p:spPr>
        <p:txBody>
          <a:bodyPr wrap="square">
            <a:spAutoFit/>
          </a:bodyPr>
          <a:lstStyle/>
          <a:p>
            <a:pPr lvl="1"/>
            <a:r>
              <a:rPr lang="fr-FR" sz="2000" dirty="0">
                <a:latin typeface="Aptos" panose="020B0004020202020204" pitchFamily="34" charset="0"/>
              </a:rPr>
              <a:t>Le système réglementaire béninois repose principalement sur :</a:t>
            </a:r>
          </a:p>
          <a:p>
            <a:pPr marL="1257300" lvl="2" indent="-342900">
              <a:buFont typeface="Arial" panose="020B0604020202020204" pitchFamily="34" charset="0"/>
              <a:buChar char="•"/>
            </a:pPr>
            <a:r>
              <a:rPr lang="fr-FR" sz="2000" dirty="0">
                <a:latin typeface="Aptos" panose="020B0004020202020204" pitchFamily="34" charset="0"/>
              </a:rPr>
              <a:t>Le Ministère de la Santé ;</a:t>
            </a:r>
          </a:p>
          <a:p>
            <a:pPr marL="1257300" lvl="2" indent="-342900">
              <a:buFont typeface="Arial" panose="020B0604020202020204" pitchFamily="34" charset="0"/>
              <a:buChar char="•"/>
            </a:pPr>
            <a:r>
              <a:rPr lang="fr-FR" sz="2000" dirty="0">
                <a:latin typeface="Aptos" panose="020B0004020202020204" pitchFamily="34" charset="0"/>
              </a:rPr>
              <a:t>L’ARS</a:t>
            </a:r>
          </a:p>
          <a:p>
            <a:pPr marL="1257300" lvl="2" indent="-342900">
              <a:buFont typeface="Arial" panose="020B0604020202020204" pitchFamily="34" charset="0"/>
              <a:buChar char="•"/>
            </a:pPr>
            <a:r>
              <a:rPr lang="fr-FR" sz="2000" dirty="0">
                <a:latin typeface="Aptos" panose="020B0004020202020204" pitchFamily="34" charset="0"/>
              </a:rPr>
              <a:t>L’ABMed ;</a:t>
            </a:r>
          </a:p>
          <a:p>
            <a:pPr marL="1257300" lvl="2" indent="-342900">
              <a:buFont typeface="Arial" panose="020B0604020202020204" pitchFamily="34" charset="0"/>
              <a:buChar char="•"/>
            </a:pPr>
            <a:r>
              <a:rPr lang="fr-FR" sz="2000" dirty="0">
                <a:latin typeface="Aptos" panose="020B0004020202020204" pitchFamily="34" charset="0"/>
              </a:rPr>
              <a:t>L’Ordre National des Pharmaciens du Bénin.</a:t>
            </a:r>
          </a:p>
        </p:txBody>
      </p:sp>
      <p:sp>
        <p:nvSpPr>
          <p:cNvPr id="13" name="ZoneTexte 12">
            <a:extLst>
              <a:ext uri="{FF2B5EF4-FFF2-40B4-BE49-F238E27FC236}">
                <a16:creationId xmlns:a16="http://schemas.microsoft.com/office/drawing/2014/main" id="{0DA6CE9B-741E-4FA7-8CF9-E4F76A9CD573}"/>
              </a:ext>
            </a:extLst>
          </p:cNvPr>
          <p:cNvSpPr txBox="1"/>
          <p:nvPr/>
        </p:nvSpPr>
        <p:spPr>
          <a:xfrm>
            <a:off x="751073" y="4305454"/>
            <a:ext cx="8594263" cy="1015663"/>
          </a:xfrm>
          <a:prstGeom prst="rect">
            <a:avLst/>
          </a:prstGeom>
          <a:noFill/>
        </p:spPr>
        <p:txBody>
          <a:bodyPr wrap="square">
            <a:spAutoFit/>
          </a:bodyPr>
          <a:lstStyle/>
          <a:p>
            <a:pPr marL="800100" lvl="1" indent="-342900">
              <a:buFont typeface="Arial" panose="020B0604020202020204" pitchFamily="34" charset="0"/>
              <a:buChar char="•"/>
            </a:pPr>
            <a:r>
              <a:rPr lang="fr-FR" sz="2000" b="1" dirty="0">
                <a:latin typeface="Aptos" panose="020B0004020202020204" pitchFamily="34" charset="0"/>
              </a:rPr>
              <a:t>Le Ministère de la Santé </a:t>
            </a:r>
          </a:p>
          <a:p>
            <a:pPr marL="1257300" lvl="2" indent="-342900">
              <a:buFont typeface="Arial" panose="020B0604020202020204" pitchFamily="34" charset="0"/>
              <a:buChar char="•"/>
            </a:pPr>
            <a:r>
              <a:rPr lang="fr-FR" sz="2000" dirty="0">
                <a:latin typeface="Aptos" panose="020B0004020202020204" pitchFamily="34" charset="0"/>
              </a:rPr>
              <a:t>Responsable de la politique pharmaceutique nationale ;</a:t>
            </a:r>
          </a:p>
          <a:p>
            <a:pPr marL="1257300" lvl="2" indent="-342900">
              <a:buFont typeface="Arial" panose="020B0604020202020204" pitchFamily="34" charset="0"/>
              <a:buChar char="•"/>
            </a:pPr>
            <a:r>
              <a:rPr lang="fr-FR" sz="2000" dirty="0">
                <a:latin typeface="Aptos" panose="020B0004020202020204" pitchFamily="34" charset="0"/>
              </a:rPr>
              <a:t>Responsable de la gouvernance du secteur.</a:t>
            </a:r>
          </a:p>
        </p:txBody>
      </p:sp>
      <p:sp>
        <p:nvSpPr>
          <p:cNvPr id="15" name="ZoneTexte 14">
            <a:extLst>
              <a:ext uri="{FF2B5EF4-FFF2-40B4-BE49-F238E27FC236}">
                <a16:creationId xmlns:a16="http://schemas.microsoft.com/office/drawing/2014/main" id="{6B8C7198-D764-4BA3-979B-C133109E7799}"/>
              </a:ext>
            </a:extLst>
          </p:cNvPr>
          <p:cNvSpPr txBox="1"/>
          <p:nvPr/>
        </p:nvSpPr>
        <p:spPr>
          <a:xfrm>
            <a:off x="751073" y="5496053"/>
            <a:ext cx="8594263" cy="1015663"/>
          </a:xfrm>
          <a:prstGeom prst="rect">
            <a:avLst/>
          </a:prstGeom>
          <a:noFill/>
        </p:spPr>
        <p:txBody>
          <a:bodyPr wrap="square">
            <a:spAutoFit/>
          </a:bodyPr>
          <a:lstStyle/>
          <a:p>
            <a:pPr marL="800100" lvl="1" indent="-342900">
              <a:buFont typeface="Arial" panose="020B0604020202020204" pitchFamily="34" charset="0"/>
              <a:buChar char="•"/>
            </a:pPr>
            <a:r>
              <a:rPr lang="fr-FR" sz="2000" b="1" dirty="0">
                <a:latin typeface="Aptos" panose="020B0004020202020204" pitchFamily="34" charset="0"/>
              </a:rPr>
              <a:t>L’ARS</a:t>
            </a:r>
          </a:p>
          <a:p>
            <a:pPr marL="1257300" lvl="2" indent="-342900">
              <a:buFont typeface="Arial" panose="020B0604020202020204" pitchFamily="34" charset="0"/>
              <a:buChar char="•"/>
            </a:pPr>
            <a:r>
              <a:rPr lang="fr-FR" sz="2000" dirty="0">
                <a:latin typeface="Aptos" panose="020B0004020202020204" pitchFamily="34" charset="0"/>
              </a:rPr>
              <a:t>Responsable de la régulation du sous secteur pharmaceutique nationale.</a:t>
            </a:r>
          </a:p>
        </p:txBody>
      </p:sp>
    </p:spTree>
    <p:extLst>
      <p:ext uri="{BB962C8B-B14F-4D97-AF65-F5344CB8AC3E}">
        <p14:creationId xmlns:p14="http://schemas.microsoft.com/office/powerpoint/2010/main" val="1482084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système réglementaire pharmaceutique du Bénin</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9986833"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Acteurs</a:t>
            </a:r>
          </a:p>
        </p:txBody>
      </p:sp>
      <p:sp>
        <p:nvSpPr>
          <p:cNvPr id="13" name="ZoneTexte 12">
            <a:extLst>
              <a:ext uri="{FF2B5EF4-FFF2-40B4-BE49-F238E27FC236}">
                <a16:creationId xmlns:a16="http://schemas.microsoft.com/office/drawing/2014/main" id="{0DA6CE9B-741E-4FA7-8CF9-E4F76A9CD573}"/>
              </a:ext>
            </a:extLst>
          </p:cNvPr>
          <p:cNvSpPr txBox="1"/>
          <p:nvPr/>
        </p:nvSpPr>
        <p:spPr>
          <a:xfrm>
            <a:off x="751072" y="2609993"/>
            <a:ext cx="11102571" cy="3785652"/>
          </a:xfrm>
          <a:prstGeom prst="rect">
            <a:avLst/>
          </a:prstGeom>
          <a:noFill/>
        </p:spPr>
        <p:txBody>
          <a:bodyPr wrap="square">
            <a:spAutoFit/>
          </a:bodyPr>
          <a:lstStyle/>
          <a:p>
            <a:pPr marL="800100" lvl="1" indent="-342900">
              <a:buFont typeface="Arial" panose="020B0604020202020204" pitchFamily="34" charset="0"/>
              <a:buChar char="•"/>
            </a:pPr>
            <a:r>
              <a:rPr lang="fr-FR" sz="2000" b="1" dirty="0">
                <a:latin typeface="Aptos" panose="020B0004020202020204" pitchFamily="34" charset="0"/>
              </a:rPr>
              <a:t>L’ABMed</a:t>
            </a:r>
          </a:p>
          <a:p>
            <a:pPr marL="1257300" lvl="2" indent="-342900">
              <a:buFont typeface="Courier New" panose="02070309020205020404" pitchFamily="49" charset="0"/>
              <a:buChar char="o"/>
            </a:pPr>
            <a:r>
              <a:rPr lang="fr-FR" sz="2000" b="1" dirty="0">
                <a:latin typeface="Aptos" panose="020B0004020202020204" pitchFamily="34" charset="0"/>
              </a:rPr>
              <a:t>Missions</a:t>
            </a:r>
          </a:p>
          <a:p>
            <a:pPr marL="1714500" lvl="3" indent="-342900">
              <a:buFont typeface="Wingdings" panose="05000000000000000000" pitchFamily="2" charset="2"/>
              <a:buChar char="ü"/>
            </a:pPr>
            <a:r>
              <a:rPr lang="fr-FR" sz="2000" dirty="0">
                <a:latin typeface="Aptos" panose="020B0004020202020204" pitchFamily="34" charset="0"/>
              </a:rPr>
              <a:t>Réglementation pharmaceutique</a:t>
            </a:r>
          </a:p>
          <a:p>
            <a:pPr marL="1714500" lvl="3" indent="-342900">
              <a:buFont typeface="Wingdings" panose="05000000000000000000" pitchFamily="2" charset="2"/>
              <a:buChar char="ü"/>
            </a:pPr>
            <a:r>
              <a:rPr lang="fr-FR" sz="2000" dirty="0">
                <a:latin typeface="Aptos" panose="020B0004020202020204" pitchFamily="34" charset="0"/>
              </a:rPr>
              <a:t>Autorisation des établissements</a:t>
            </a:r>
          </a:p>
          <a:p>
            <a:pPr marL="1714500" lvl="3" indent="-342900">
              <a:buFont typeface="Wingdings" panose="05000000000000000000" pitchFamily="2" charset="2"/>
              <a:buChar char="ü"/>
            </a:pPr>
            <a:r>
              <a:rPr lang="fr-FR" sz="2000" dirty="0">
                <a:latin typeface="Aptos" panose="020B0004020202020204" pitchFamily="34" charset="0"/>
              </a:rPr>
              <a:t>Inspection pharmaceutique</a:t>
            </a:r>
          </a:p>
          <a:p>
            <a:pPr marL="1714500" lvl="3" indent="-342900">
              <a:buFont typeface="Wingdings" panose="05000000000000000000" pitchFamily="2" charset="2"/>
              <a:buChar char="ü"/>
            </a:pPr>
            <a:r>
              <a:rPr lang="fr-FR" sz="2000" dirty="0">
                <a:latin typeface="Aptos" panose="020B0004020202020204" pitchFamily="34" charset="0"/>
              </a:rPr>
              <a:t>Pharmacovigilance</a:t>
            </a:r>
          </a:p>
          <a:p>
            <a:pPr marL="1714500" lvl="3" indent="-342900">
              <a:buFont typeface="Wingdings" panose="05000000000000000000" pitchFamily="2" charset="2"/>
              <a:buChar char="ü"/>
            </a:pPr>
            <a:r>
              <a:rPr lang="fr-FR" sz="2000" dirty="0">
                <a:latin typeface="Aptos" panose="020B0004020202020204" pitchFamily="34" charset="0"/>
              </a:rPr>
              <a:t>Surveillance du marché</a:t>
            </a:r>
          </a:p>
          <a:p>
            <a:pPr marL="1714500" lvl="3" indent="-342900">
              <a:buFont typeface="Wingdings" panose="05000000000000000000" pitchFamily="2" charset="2"/>
              <a:buChar char="ü"/>
            </a:pPr>
            <a:r>
              <a:rPr lang="fr-FR" sz="2000" dirty="0">
                <a:latin typeface="Aptos" panose="020B0004020202020204" pitchFamily="34" charset="0"/>
              </a:rPr>
              <a:t>Contrôle post-commercialisation</a:t>
            </a:r>
          </a:p>
          <a:p>
            <a:pPr marL="1714500" lvl="3" indent="-342900">
              <a:buFont typeface="Wingdings" panose="05000000000000000000" pitchFamily="2" charset="2"/>
              <a:buChar char="ü"/>
            </a:pPr>
            <a:r>
              <a:rPr lang="fr-FR" sz="2000" dirty="0">
                <a:latin typeface="Aptos" panose="020B0004020202020204" pitchFamily="34" charset="0"/>
              </a:rPr>
              <a:t>Gestion des licences pharmaceutiques</a:t>
            </a:r>
          </a:p>
          <a:p>
            <a:pPr lvl="2"/>
            <a:endParaRPr lang="fr-FR" sz="2000" dirty="0">
              <a:latin typeface="Aptos" panose="020B0004020202020204" pitchFamily="34" charset="0"/>
            </a:endParaRPr>
          </a:p>
          <a:p>
            <a:pPr lvl="1"/>
            <a:r>
              <a:rPr lang="fr-FR" sz="2000" dirty="0">
                <a:latin typeface="Aptos" panose="020B0004020202020204" pitchFamily="34" charset="0"/>
              </a:rPr>
              <a:t>L’ABMed met aujourd’hui à disposition plusieurs services réglementaires liés aux licences, inspections, signalements et répertoires des établissements pharmaceutiques.</a:t>
            </a:r>
          </a:p>
        </p:txBody>
      </p:sp>
    </p:spTree>
    <p:extLst>
      <p:ext uri="{BB962C8B-B14F-4D97-AF65-F5344CB8AC3E}">
        <p14:creationId xmlns:p14="http://schemas.microsoft.com/office/powerpoint/2010/main" val="2758513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système réglementaire pharmaceutique du Bénin</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9986833"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Acteurs</a:t>
            </a:r>
          </a:p>
        </p:txBody>
      </p:sp>
      <p:sp>
        <p:nvSpPr>
          <p:cNvPr id="13" name="ZoneTexte 12">
            <a:extLst>
              <a:ext uri="{FF2B5EF4-FFF2-40B4-BE49-F238E27FC236}">
                <a16:creationId xmlns:a16="http://schemas.microsoft.com/office/drawing/2014/main" id="{0DA6CE9B-741E-4FA7-8CF9-E4F76A9CD573}"/>
              </a:ext>
            </a:extLst>
          </p:cNvPr>
          <p:cNvSpPr txBox="1"/>
          <p:nvPr/>
        </p:nvSpPr>
        <p:spPr>
          <a:xfrm>
            <a:off x="751072" y="2609993"/>
            <a:ext cx="11102571" cy="2862322"/>
          </a:xfrm>
          <a:prstGeom prst="rect">
            <a:avLst/>
          </a:prstGeom>
          <a:noFill/>
        </p:spPr>
        <p:txBody>
          <a:bodyPr wrap="square">
            <a:spAutoFit/>
          </a:bodyPr>
          <a:lstStyle/>
          <a:p>
            <a:pPr marL="800100" lvl="1" indent="-342900">
              <a:buFont typeface="Arial" panose="020B0604020202020204" pitchFamily="34" charset="0"/>
              <a:buChar char="•"/>
            </a:pPr>
            <a:r>
              <a:rPr lang="fr-FR" sz="2000" b="1" dirty="0">
                <a:latin typeface="Aptos" panose="020B0004020202020204" pitchFamily="34" charset="0"/>
              </a:rPr>
              <a:t>L’ABMed</a:t>
            </a:r>
          </a:p>
          <a:p>
            <a:pPr marL="1257300" lvl="2" indent="-342900">
              <a:buFont typeface="Courier New" panose="02070309020205020404" pitchFamily="49" charset="0"/>
              <a:buChar char="o"/>
            </a:pPr>
            <a:r>
              <a:rPr lang="fr-FR" sz="2000" b="1" dirty="0">
                <a:latin typeface="Aptos" panose="020B0004020202020204" pitchFamily="34" charset="0"/>
              </a:rPr>
              <a:t>Pourquoi l’ABMed est importante pour l’officine ?</a:t>
            </a:r>
          </a:p>
          <a:p>
            <a:pPr lvl="3"/>
            <a:r>
              <a:rPr lang="fr-FR" sz="2000" dirty="0">
                <a:latin typeface="Aptos" panose="020B0004020202020204" pitchFamily="34" charset="0"/>
              </a:rPr>
              <a:t>L’ABMed peut :</a:t>
            </a:r>
          </a:p>
          <a:p>
            <a:pPr marL="2171700" lvl="4" indent="-342900">
              <a:buFont typeface="Wingdings" panose="05000000000000000000" pitchFamily="2" charset="2"/>
              <a:buChar char="ü"/>
            </a:pPr>
            <a:r>
              <a:rPr lang="fr-FR" sz="2000" dirty="0">
                <a:latin typeface="Aptos" panose="020B0004020202020204" pitchFamily="34" charset="0"/>
              </a:rPr>
              <a:t>Inspecter l’établissement</a:t>
            </a:r>
          </a:p>
          <a:p>
            <a:pPr marL="2171700" lvl="4" indent="-342900">
              <a:buFont typeface="Wingdings" panose="05000000000000000000" pitchFamily="2" charset="2"/>
              <a:buChar char="ü"/>
            </a:pPr>
            <a:r>
              <a:rPr lang="fr-FR" sz="2000" dirty="0">
                <a:latin typeface="Aptos" panose="020B0004020202020204" pitchFamily="34" charset="0"/>
              </a:rPr>
              <a:t>Constater des non-conformités</a:t>
            </a:r>
          </a:p>
          <a:p>
            <a:pPr marL="2171700" lvl="4" indent="-342900">
              <a:buFont typeface="Wingdings" panose="05000000000000000000" pitchFamily="2" charset="2"/>
              <a:buChar char="ü"/>
            </a:pPr>
            <a:r>
              <a:rPr lang="fr-FR" sz="2000" dirty="0">
                <a:latin typeface="Aptos" panose="020B0004020202020204" pitchFamily="34" charset="0"/>
              </a:rPr>
              <a:t>Exiger des mesures correctives</a:t>
            </a:r>
          </a:p>
          <a:p>
            <a:pPr marL="2171700" lvl="4" indent="-342900">
              <a:buFont typeface="Wingdings" panose="05000000000000000000" pitchFamily="2" charset="2"/>
              <a:buChar char="ü"/>
            </a:pPr>
            <a:r>
              <a:rPr lang="fr-FR" sz="2000" dirty="0">
                <a:latin typeface="Aptos" panose="020B0004020202020204" pitchFamily="34" charset="0"/>
              </a:rPr>
              <a:t>Participer aux procédures de sanction</a:t>
            </a:r>
          </a:p>
          <a:p>
            <a:pPr marL="2171700" lvl="4" indent="-342900">
              <a:buFont typeface="Wingdings" panose="05000000000000000000" pitchFamily="2" charset="2"/>
              <a:buChar char="ü"/>
            </a:pPr>
            <a:r>
              <a:rPr lang="fr-FR" sz="2000" dirty="0">
                <a:latin typeface="Aptos" panose="020B0004020202020204" pitchFamily="34" charset="0"/>
              </a:rPr>
              <a:t>Contrôler les licences</a:t>
            </a:r>
          </a:p>
          <a:p>
            <a:pPr marL="2171700" lvl="4" indent="-342900">
              <a:buFont typeface="Wingdings" panose="05000000000000000000" pitchFamily="2" charset="2"/>
              <a:buChar char="ü"/>
            </a:pPr>
            <a:r>
              <a:rPr lang="fr-FR" sz="2000" dirty="0">
                <a:latin typeface="Aptos" panose="020B0004020202020204" pitchFamily="34" charset="0"/>
              </a:rPr>
              <a:t>Vérifier la conformité documentaire</a:t>
            </a:r>
          </a:p>
        </p:txBody>
      </p:sp>
    </p:spTree>
    <p:extLst>
      <p:ext uri="{BB962C8B-B14F-4D97-AF65-F5344CB8AC3E}">
        <p14:creationId xmlns:p14="http://schemas.microsoft.com/office/powerpoint/2010/main" val="2433209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système réglementaire pharmaceutique du Bénin</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9986833" cy="594224"/>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Acteurs</a:t>
            </a:r>
          </a:p>
        </p:txBody>
      </p:sp>
      <p:sp>
        <p:nvSpPr>
          <p:cNvPr id="13" name="ZoneTexte 12">
            <a:extLst>
              <a:ext uri="{FF2B5EF4-FFF2-40B4-BE49-F238E27FC236}">
                <a16:creationId xmlns:a16="http://schemas.microsoft.com/office/drawing/2014/main" id="{0DA6CE9B-741E-4FA7-8CF9-E4F76A9CD573}"/>
              </a:ext>
            </a:extLst>
          </p:cNvPr>
          <p:cNvSpPr txBox="1"/>
          <p:nvPr/>
        </p:nvSpPr>
        <p:spPr>
          <a:xfrm>
            <a:off x="751072" y="2609993"/>
            <a:ext cx="11102571" cy="2246769"/>
          </a:xfrm>
          <a:prstGeom prst="rect">
            <a:avLst/>
          </a:prstGeom>
          <a:noFill/>
        </p:spPr>
        <p:txBody>
          <a:bodyPr wrap="square">
            <a:spAutoFit/>
          </a:bodyPr>
          <a:lstStyle/>
          <a:p>
            <a:pPr marL="800100" lvl="1" indent="-342900">
              <a:buFont typeface="Arial" panose="020B0604020202020204" pitchFamily="34" charset="0"/>
              <a:buChar char="•"/>
            </a:pPr>
            <a:r>
              <a:rPr lang="fr-FR" sz="2000" b="1" dirty="0">
                <a:latin typeface="Aptos" panose="020B0004020202020204" pitchFamily="34" charset="0"/>
              </a:rPr>
              <a:t>Ordre National des Pharmaciens du Bénin</a:t>
            </a:r>
          </a:p>
          <a:p>
            <a:pPr marL="1257300" lvl="2" indent="-342900">
              <a:buFont typeface="Courier New" panose="02070309020205020404" pitchFamily="49" charset="0"/>
              <a:buChar char="o"/>
            </a:pPr>
            <a:r>
              <a:rPr lang="fr-FR" sz="2000" b="1" dirty="0">
                <a:latin typeface="Aptos" panose="020B0004020202020204" pitchFamily="34" charset="0"/>
              </a:rPr>
              <a:t>Missions</a:t>
            </a:r>
          </a:p>
          <a:p>
            <a:pPr marL="1714500" lvl="3" indent="-342900">
              <a:buFont typeface="Wingdings" panose="05000000000000000000" pitchFamily="2" charset="2"/>
              <a:buChar char="ü"/>
            </a:pPr>
            <a:r>
              <a:rPr lang="fr-FR" sz="2000" dirty="0">
                <a:latin typeface="Aptos" panose="020B0004020202020204" pitchFamily="34" charset="0"/>
              </a:rPr>
              <a:t>Inscription au tableau de l’Ordre</a:t>
            </a:r>
          </a:p>
          <a:p>
            <a:pPr marL="1714500" lvl="3" indent="-342900">
              <a:buFont typeface="Wingdings" panose="05000000000000000000" pitchFamily="2" charset="2"/>
              <a:buChar char="ü"/>
            </a:pPr>
            <a:r>
              <a:rPr lang="fr-FR" sz="2000" dirty="0">
                <a:latin typeface="Aptos" panose="020B0004020202020204" pitchFamily="34" charset="0"/>
              </a:rPr>
              <a:t>Protection de la profession</a:t>
            </a:r>
          </a:p>
          <a:p>
            <a:pPr marL="1714500" lvl="3" indent="-342900">
              <a:buFont typeface="Wingdings" panose="05000000000000000000" pitchFamily="2" charset="2"/>
              <a:buChar char="ü"/>
            </a:pPr>
            <a:r>
              <a:rPr lang="fr-FR" sz="2000" dirty="0">
                <a:latin typeface="Aptos" panose="020B0004020202020204" pitchFamily="34" charset="0"/>
              </a:rPr>
              <a:t>Respect de la déontologie</a:t>
            </a:r>
          </a:p>
          <a:p>
            <a:pPr marL="1714500" lvl="3" indent="-342900">
              <a:buFont typeface="Wingdings" panose="05000000000000000000" pitchFamily="2" charset="2"/>
              <a:buChar char="ü"/>
            </a:pPr>
            <a:r>
              <a:rPr lang="fr-FR" sz="2000" dirty="0">
                <a:latin typeface="Aptos" panose="020B0004020202020204" pitchFamily="34" charset="0"/>
              </a:rPr>
              <a:t>Discipline professionnelle</a:t>
            </a:r>
          </a:p>
          <a:p>
            <a:pPr marL="1714500" lvl="3" indent="-342900">
              <a:buFont typeface="Wingdings" panose="05000000000000000000" pitchFamily="2" charset="2"/>
              <a:buChar char="ü"/>
            </a:pPr>
            <a:r>
              <a:rPr lang="fr-FR" sz="2000" dirty="0">
                <a:latin typeface="Aptos" panose="020B0004020202020204" pitchFamily="34" charset="0"/>
              </a:rPr>
              <a:t>Représentation professionnelle</a:t>
            </a:r>
          </a:p>
        </p:txBody>
      </p:sp>
      <p:sp>
        <p:nvSpPr>
          <p:cNvPr id="11" name="ZoneTexte 10">
            <a:extLst>
              <a:ext uri="{FF2B5EF4-FFF2-40B4-BE49-F238E27FC236}">
                <a16:creationId xmlns:a16="http://schemas.microsoft.com/office/drawing/2014/main" id="{D0B59DA6-4DA8-49AD-9767-A5512FA40E38}"/>
              </a:ext>
            </a:extLst>
          </p:cNvPr>
          <p:cNvSpPr txBox="1"/>
          <p:nvPr/>
        </p:nvSpPr>
        <p:spPr>
          <a:xfrm>
            <a:off x="1601495" y="5552098"/>
            <a:ext cx="9529893" cy="646331"/>
          </a:xfrm>
          <a:prstGeom prst="rect">
            <a:avLst/>
          </a:prstGeom>
          <a:noFill/>
        </p:spPr>
        <p:txBody>
          <a:bodyPr wrap="square">
            <a:spAutoFit/>
          </a:bodyPr>
          <a:lstStyle/>
          <a:p>
            <a:r>
              <a:rPr lang="fr-FR" b="1" dirty="0">
                <a:latin typeface="Aptos" panose="020B0004020202020204" pitchFamily="34" charset="0"/>
              </a:rPr>
              <a:t>Obligation réglementaire : </a:t>
            </a:r>
          </a:p>
          <a:p>
            <a:r>
              <a:rPr lang="fr-FR" dirty="0">
                <a:latin typeface="Aptos" panose="020B0004020202020204" pitchFamily="34" charset="0"/>
              </a:rPr>
              <a:t>Tout pharmacien exerçant en officine doit être régulièrement inscrit à l’Ordre.</a:t>
            </a:r>
          </a:p>
        </p:txBody>
      </p:sp>
    </p:spTree>
    <p:extLst>
      <p:ext uri="{BB962C8B-B14F-4D97-AF65-F5344CB8AC3E}">
        <p14:creationId xmlns:p14="http://schemas.microsoft.com/office/powerpoint/2010/main" val="1317596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références réglementaires béninoises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89"/>
            <a:ext cx="11102569" cy="74606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Loi n°2021-03 du 1er février 2021 portant organisation des activités pharmaceutiques en république du bénin</a:t>
            </a:r>
          </a:p>
        </p:txBody>
      </p:sp>
      <p:sp>
        <p:nvSpPr>
          <p:cNvPr id="13" name="ZoneTexte 12">
            <a:extLst>
              <a:ext uri="{FF2B5EF4-FFF2-40B4-BE49-F238E27FC236}">
                <a16:creationId xmlns:a16="http://schemas.microsoft.com/office/drawing/2014/main" id="{0DA6CE9B-741E-4FA7-8CF9-E4F76A9CD573}"/>
              </a:ext>
            </a:extLst>
          </p:cNvPr>
          <p:cNvSpPr txBox="1"/>
          <p:nvPr/>
        </p:nvSpPr>
        <p:spPr>
          <a:xfrm>
            <a:off x="751072" y="2938355"/>
            <a:ext cx="6429903" cy="3170099"/>
          </a:xfrm>
          <a:prstGeom prst="rect">
            <a:avLst/>
          </a:prstGeom>
          <a:noFill/>
        </p:spPr>
        <p:txBody>
          <a:bodyPr wrap="square">
            <a:spAutoFit/>
          </a:bodyPr>
          <a:lstStyle/>
          <a:p>
            <a:pPr marL="800100" lvl="1" indent="-342900">
              <a:buFont typeface="Arial" panose="020B0604020202020204" pitchFamily="34" charset="0"/>
              <a:buChar char="•"/>
            </a:pPr>
            <a:r>
              <a:rPr lang="fr-FR" sz="2000" b="1" dirty="0">
                <a:latin typeface="Aptos" panose="020B0004020202020204" pitchFamily="34" charset="0"/>
              </a:rPr>
              <a:t>Importance</a:t>
            </a:r>
          </a:p>
          <a:p>
            <a:pPr lvl="2"/>
            <a:r>
              <a:rPr lang="fr-FR" sz="2000" dirty="0">
                <a:latin typeface="Aptos" panose="020B0004020202020204" pitchFamily="34" charset="0"/>
              </a:rPr>
              <a:t>Cette loi constitue aujourd’hui le socle juridique principal de l’ensemble du secteur pharmaceutique béninois. </a:t>
            </a:r>
          </a:p>
          <a:p>
            <a:pPr lvl="2"/>
            <a:endParaRPr lang="fr-FR" sz="2000" dirty="0">
              <a:latin typeface="Aptos" panose="020B0004020202020204" pitchFamily="34" charset="0"/>
            </a:endParaRPr>
          </a:p>
          <a:p>
            <a:pPr lvl="2"/>
            <a:r>
              <a:rPr lang="fr-FR" sz="2000" dirty="0">
                <a:latin typeface="Aptos" panose="020B0004020202020204" pitchFamily="34" charset="0"/>
              </a:rPr>
              <a:t>Elle organise les activités liées aux médicaments et autres produits de santé, ainsi que les conditions d’exercice et de régulation du secteur.</a:t>
            </a:r>
          </a:p>
          <a:p>
            <a:pPr lvl="2"/>
            <a:endParaRPr lang="fr-FR" sz="2000" dirty="0">
              <a:latin typeface="Aptos" panose="020B0004020202020204" pitchFamily="34" charset="0"/>
            </a:endParaRPr>
          </a:p>
        </p:txBody>
      </p:sp>
    </p:spTree>
    <p:extLst>
      <p:ext uri="{BB962C8B-B14F-4D97-AF65-F5344CB8AC3E}">
        <p14:creationId xmlns:p14="http://schemas.microsoft.com/office/powerpoint/2010/main" val="4155480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références réglementaires béninoises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89"/>
            <a:ext cx="11102569" cy="74606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Loi n°2021-03 du 1er février 2021 portant organisation des activités pharmaceutiques en république du bénin</a:t>
            </a:r>
          </a:p>
        </p:txBody>
      </p:sp>
      <p:sp>
        <p:nvSpPr>
          <p:cNvPr id="13" name="ZoneTexte 12">
            <a:extLst>
              <a:ext uri="{FF2B5EF4-FFF2-40B4-BE49-F238E27FC236}">
                <a16:creationId xmlns:a16="http://schemas.microsoft.com/office/drawing/2014/main" id="{0DA6CE9B-741E-4FA7-8CF9-E4F76A9CD573}"/>
              </a:ext>
            </a:extLst>
          </p:cNvPr>
          <p:cNvSpPr txBox="1"/>
          <p:nvPr/>
        </p:nvSpPr>
        <p:spPr>
          <a:xfrm>
            <a:off x="751072" y="2938355"/>
            <a:ext cx="6429903" cy="2246769"/>
          </a:xfrm>
          <a:prstGeom prst="rect">
            <a:avLst/>
          </a:prstGeom>
          <a:noFill/>
        </p:spPr>
        <p:txBody>
          <a:bodyPr wrap="square">
            <a:spAutoFit/>
          </a:bodyPr>
          <a:lstStyle/>
          <a:p>
            <a:pPr marL="800100" lvl="1" indent="-342900">
              <a:buFont typeface="Arial" panose="020B0604020202020204" pitchFamily="34" charset="0"/>
              <a:buChar char="•"/>
            </a:pPr>
            <a:r>
              <a:rPr lang="fr-FR" sz="2000" b="1" dirty="0">
                <a:latin typeface="Aptos" panose="020B0004020202020204" pitchFamily="34" charset="0"/>
              </a:rPr>
              <a:t>Elle encadre : </a:t>
            </a:r>
          </a:p>
          <a:p>
            <a:pPr marL="1257300" lvl="2" indent="-342900">
              <a:buFont typeface="Courier New" panose="02070309020205020404" pitchFamily="49" charset="0"/>
              <a:buChar char="o"/>
            </a:pPr>
            <a:r>
              <a:rPr lang="fr-FR" sz="2000" dirty="0">
                <a:latin typeface="Aptos" panose="020B0004020202020204" pitchFamily="34" charset="0"/>
              </a:rPr>
              <a:t>Les établissements pharmaceutiques</a:t>
            </a:r>
          </a:p>
          <a:p>
            <a:pPr marL="1257300" lvl="2" indent="-342900">
              <a:buFont typeface="Courier New" panose="02070309020205020404" pitchFamily="49" charset="0"/>
              <a:buChar char="o"/>
            </a:pPr>
            <a:r>
              <a:rPr lang="fr-FR" sz="2000" dirty="0">
                <a:latin typeface="Aptos" panose="020B0004020202020204" pitchFamily="34" charset="0"/>
              </a:rPr>
              <a:t>Les activités pharmaceutiques</a:t>
            </a:r>
          </a:p>
          <a:p>
            <a:pPr marL="1257300" lvl="2" indent="-342900">
              <a:buFont typeface="Courier New" panose="02070309020205020404" pitchFamily="49" charset="0"/>
              <a:buChar char="o"/>
            </a:pPr>
            <a:r>
              <a:rPr lang="fr-FR" sz="2000" dirty="0">
                <a:latin typeface="Aptos" panose="020B0004020202020204" pitchFamily="34" charset="0"/>
              </a:rPr>
              <a:t>Les inspections</a:t>
            </a:r>
          </a:p>
          <a:p>
            <a:pPr marL="1257300" lvl="2" indent="-342900">
              <a:buFont typeface="Courier New" panose="02070309020205020404" pitchFamily="49" charset="0"/>
              <a:buChar char="o"/>
            </a:pPr>
            <a:r>
              <a:rPr lang="fr-FR" sz="2000" dirty="0">
                <a:latin typeface="Aptos" panose="020B0004020202020204" pitchFamily="34" charset="0"/>
              </a:rPr>
              <a:t>Les sanctions</a:t>
            </a:r>
          </a:p>
          <a:p>
            <a:pPr marL="1257300" lvl="2" indent="-342900">
              <a:buFont typeface="Courier New" panose="02070309020205020404" pitchFamily="49" charset="0"/>
              <a:buChar char="o"/>
            </a:pPr>
            <a:r>
              <a:rPr lang="fr-FR" sz="2000" dirty="0">
                <a:latin typeface="Aptos" panose="020B0004020202020204" pitchFamily="34" charset="0"/>
              </a:rPr>
              <a:t>La traçabilité</a:t>
            </a:r>
          </a:p>
          <a:p>
            <a:pPr marL="1257300" lvl="2" indent="-342900">
              <a:buFont typeface="Courier New" panose="02070309020205020404" pitchFamily="49" charset="0"/>
              <a:buChar char="o"/>
            </a:pPr>
            <a:r>
              <a:rPr lang="fr-FR" sz="2000" dirty="0">
                <a:latin typeface="Aptos" panose="020B0004020202020204" pitchFamily="34" charset="0"/>
              </a:rPr>
              <a:t>La surveillance du marché</a:t>
            </a:r>
          </a:p>
        </p:txBody>
      </p:sp>
      <p:sp>
        <p:nvSpPr>
          <p:cNvPr id="11" name="ZoneTexte 10">
            <a:extLst>
              <a:ext uri="{FF2B5EF4-FFF2-40B4-BE49-F238E27FC236}">
                <a16:creationId xmlns:a16="http://schemas.microsoft.com/office/drawing/2014/main" id="{940111AA-21FE-4550-8437-2D99FCC7725C}"/>
              </a:ext>
            </a:extLst>
          </p:cNvPr>
          <p:cNvSpPr txBox="1"/>
          <p:nvPr/>
        </p:nvSpPr>
        <p:spPr>
          <a:xfrm>
            <a:off x="1342239" y="5579188"/>
            <a:ext cx="10511404" cy="646331"/>
          </a:xfrm>
          <a:prstGeom prst="rect">
            <a:avLst/>
          </a:prstGeom>
          <a:noFill/>
        </p:spPr>
        <p:txBody>
          <a:bodyPr wrap="square">
            <a:spAutoFit/>
          </a:bodyPr>
          <a:lstStyle/>
          <a:p>
            <a:r>
              <a:rPr lang="fr-FR" dirty="0">
                <a:latin typeface="Aptos" panose="020B0004020202020204" pitchFamily="34" charset="0"/>
              </a:rPr>
              <a:t>Cette loi a également été présentée comme un outil majeur de lutte contre les médicaments falsifiés et de renforcement de la traçabilité pharmaceutique au Bénin.</a:t>
            </a:r>
          </a:p>
        </p:txBody>
      </p:sp>
    </p:spTree>
    <p:extLst>
      <p:ext uri="{BB962C8B-B14F-4D97-AF65-F5344CB8AC3E}">
        <p14:creationId xmlns:p14="http://schemas.microsoft.com/office/powerpoint/2010/main" val="3999477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références réglementaires béninoises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89"/>
            <a:ext cx="11102569" cy="74606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Décret n°2024-1296 du 06 novembre 2024 fixant les conditions de création et d’exploitation des officines de pharmacie</a:t>
            </a:r>
          </a:p>
        </p:txBody>
      </p:sp>
      <p:sp>
        <p:nvSpPr>
          <p:cNvPr id="13" name="ZoneTexte 12">
            <a:extLst>
              <a:ext uri="{FF2B5EF4-FFF2-40B4-BE49-F238E27FC236}">
                <a16:creationId xmlns:a16="http://schemas.microsoft.com/office/drawing/2014/main" id="{0DA6CE9B-741E-4FA7-8CF9-E4F76A9CD573}"/>
              </a:ext>
            </a:extLst>
          </p:cNvPr>
          <p:cNvSpPr txBox="1"/>
          <p:nvPr/>
        </p:nvSpPr>
        <p:spPr>
          <a:xfrm>
            <a:off x="751072" y="2938355"/>
            <a:ext cx="9391218" cy="2862322"/>
          </a:xfrm>
          <a:prstGeom prst="rect">
            <a:avLst/>
          </a:prstGeom>
          <a:noFill/>
        </p:spPr>
        <p:txBody>
          <a:bodyPr wrap="square">
            <a:spAutoFit/>
          </a:bodyPr>
          <a:lstStyle/>
          <a:p>
            <a:pPr marL="800100" lvl="1" indent="-342900">
              <a:buFont typeface="Arial" panose="020B0604020202020204" pitchFamily="34" charset="0"/>
              <a:buChar char="•"/>
            </a:pPr>
            <a:r>
              <a:rPr lang="fr-FR" sz="2000" b="1" dirty="0">
                <a:latin typeface="Aptos" panose="020B0004020202020204" pitchFamily="34" charset="0"/>
              </a:rPr>
              <a:t>Pourquoi ce décret est stratégique ? : </a:t>
            </a:r>
          </a:p>
          <a:p>
            <a:pPr marL="1257300" lvl="2" indent="-342900">
              <a:buFont typeface="Courier New" panose="02070309020205020404" pitchFamily="49" charset="0"/>
              <a:buChar char="o"/>
            </a:pPr>
            <a:r>
              <a:rPr lang="fr-FR" sz="2000" dirty="0">
                <a:latin typeface="Aptos" panose="020B0004020202020204" pitchFamily="34" charset="0"/>
              </a:rPr>
              <a:t>Il constitue aujourd’hui le principal texte réglementaire encadrant :</a:t>
            </a:r>
          </a:p>
          <a:p>
            <a:pPr marL="1714500" lvl="3" indent="-342900">
              <a:buFont typeface="Wingdings" panose="05000000000000000000" pitchFamily="2" charset="2"/>
              <a:buChar char="ü"/>
            </a:pPr>
            <a:r>
              <a:rPr lang="fr-FR" sz="2000" dirty="0">
                <a:latin typeface="Aptos" panose="020B0004020202020204" pitchFamily="34" charset="0"/>
              </a:rPr>
              <a:t>La création ;</a:t>
            </a:r>
          </a:p>
          <a:p>
            <a:pPr marL="1714500" lvl="3" indent="-342900">
              <a:buFont typeface="Wingdings" panose="05000000000000000000" pitchFamily="2" charset="2"/>
              <a:buChar char="ü"/>
            </a:pPr>
            <a:r>
              <a:rPr lang="fr-FR" sz="2000" dirty="0">
                <a:latin typeface="Aptos" panose="020B0004020202020204" pitchFamily="34" charset="0"/>
              </a:rPr>
              <a:t>L’ouverture ;</a:t>
            </a:r>
          </a:p>
          <a:p>
            <a:pPr marL="1714500" lvl="3" indent="-342900">
              <a:buFont typeface="Wingdings" panose="05000000000000000000" pitchFamily="2" charset="2"/>
              <a:buChar char="ü"/>
            </a:pPr>
            <a:r>
              <a:rPr lang="fr-FR" sz="2000" dirty="0">
                <a:latin typeface="Aptos" panose="020B0004020202020204" pitchFamily="34" charset="0"/>
              </a:rPr>
              <a:t>Le transfert ;</a:t>
            </a:r>
          </a:p>
          <a:p>
            <a:pPr marL="1714500" lvl="3" indent="-342900">
              <a:buFont typeface="Wingdings" panose="05000000000000000000" pitchFamily="2" charset="2"/>
              <a:buChar char="ü"/>
            </a:pPr>
            <a:r>
              <a:rPr lang="fr-FR" sz="2000" dirty="0">
                <a:latin typeface="Aptos" panose="020B0004020202020204" pitchFamily="34" charset="0"/>
              </a:rPr>
              <a:t>L’exploitation ;</a:t>
            </a:r>
          </a:p>
          <a:p>
            <a:pPr marL="1714500" lvl="3" indent="-342900">
              <a:buFont typeface="Wingdings" panose="05000000000000000000" pitchFamily="2" charset="2"/>
              <a:buChar char="ü"/>
            </a:pPr>
            <a:r>
              <a:rPr lang="fr-FR" sz="2000" dirty="0">
                <a:latin typeface="Aptos" panose="020B0004020202020204" pitchFamily="34" charset="0"/>
              </a:rPr>
              <a:t>La gérance et</a:t>
            </a:r>
          </a:p>
          <a:p>
            <a:pPr marL="1714500" lvl="3" indent="-342900">
              <a:buFont typeface="Wingdings" panose="05000000000000000000" pitchFamily="2" charset="2"/>
              <a:buChar char="ü"/>
            </a:pPr>
            <a:r>
              <a:rPr lang="fr-FR" sz="2000" dirty="0">
                <a:latin typeface="Aptos" panose="020B0004020202020204" pitchFamily="34" charset="0"/>
              </a:rPr>
              <a:t>Le rachat </a:t>
            </a:r>
          </a:p>
          <a:p>
            <a:pPr lvl="3"/>
            <a:r>
              <a:rPr lang="fr-FR" sz="2000" dirty="0">
                <a:latin typeface="Aptos" panose="020B0004020202020204" pitchFamily="34" charset="0"/>
              </a:rPr>
              <a:t>d’une officine.</a:t>
            </a:r>
          </a:p>
        </p:txBody>
      </p:sp>
    </p:spTree>
    <p:extLst>
      <p:ext uri="{BB962C8B-B14F-4D97-AF65-F5344CB8AC3E}">
        <p14:creationId xmlns:p14="http://schemas.microsoft.com/office/powerpoint/2010/main" val="302351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références réglementaires béninoises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89"/>
            <a:ext cx="11102569" cy="74606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Décret n°2024-1296 du 06 novembre 2024 fixant les conditions de création et d’exploitation des officines de pharmacie</a:t>
            </a:r>
          </a:p>
        </p:txBody>
      </p:sp>
      <p:sp>
        <p:nvSpPr>
          <p:cNvPr id="13" name="ZoneTexte 12">
            <a:extLst>
              <a:ext uri="{FF2B5EF4-FFF2-40B4-BE49-F238E27FC236}">
                <a16:creationId xmlns:a16="http://schemas.microsoft.com/office/drawing/2014/main" id="{0DA6CE9B-741E-4FA7-8CF9-E4F76A9CD573}"/>
              </a:ext>
            </a:extLst>
          </p:cNvPr>
          <p:cNvSpPr txBox="1"/>
          <p:nvPr/>
        </p:nvSpPr>
        <p:spPr>
          <a:xfrm>
            <a:off x="751072" y="2938355"/>
            <a:ext cx="10934792" cy="3477875"/>
          </a:xfrm>
          <a:prstGeom prst="rect">
            <a:avLst/>
          </a:prstGeom>
          <a:noFill/>
        </p:spPr>
        <p:txBody>
          <a:bodyPr wrap="square">
            <a:spAutoFit/>
          </a:bodyPr>
          <a:lstStyle/>
          <a:p>
            <a:pPr marL="800100" lvl="1" indent="-342900">
              <a:buFont typeface="Arial" panose="020B0604020202020204" pitchFamily="34" charset="0"/>
              <a:buChar char="•"/>
            </a:pPr>
            <a:r>
              <a:rPr lang="fr-FR" sz="2000" b="1" dirty="0">
                <a:latin typeface="Aptos" panose="020B0004020202020204" pitchFamily="34" charset="0"/>
              </a:rPr>
              <a:t>Principales dispositions : </a:t>
            </a:r>
          </a:p>
          <a:p>
            <a:pPr marL="1257300" lvl="2" indent="-342900">
              <a:buFont typeface="Courier New" panose="02070309020205020404" pitchFamily="49" charset="0"/>
              <a:buChar char="o"/>
            </a:pPr>
            <a:r>
              <a:rPr lang="fr-FR" sz="2000" b="1" dirty="0">
                <a:latin typeface="Aptos" panose="020B0004020202020204" pitchFamily="34" charset="0"/>
              </a:rPr>
              <a:t>La licence est obligatoire :</a:t>
            </a:r>
          </a:p>
          <a:p>
            <a:pPr marL="1714500" lvl="3" indent="-342900">
              <a:buFont typeface="Wingdings" panose="05000000000000000000" pitchFamily="2" charset="2"/>
              <a:buChar char="ü"/>
            </a:pPr>
            <a:r>
              <a:rPr lang="fr-FR" sz="2000" dirty="0">
                <a:latin typeface="Aptos" panose="020B0004020202020204" pitchFamily="34" charset="0"/>
              </a:rPr>
              <a:t>La création d’une officine est subordonnée à l’obtention d’une licence délivrée par le Ministre chargé de la Santé après avis du Conseil National de l’Ordre des Pharmaciens.</a:t>
            </a:r>
          </a:p>
          <a:p>
            <a:pPr marL="1714500" lvl="3" indent="-342900">
              <a:buFont typeface="Wingdings" panose="05000000000000000000" pitchFamily="2" charset="2"/>
              <a:buChar char="ü"/>
            </a:pPr>
            <a:endParaRPr lang="fr-FR" sz="2000" dirty="0">
              <a:latin typeface="Aptos" panose="020B0004020202020204" pitchFamily="34" charset="0"/>
            </a:endParaRPr>
          </a:p>
          <a:p>
            <a:pPr marL="1257300" lvl="2" indent="-342900">
              <a:buFont typeface="Courier New" panose="02070309020205020404" pitchFamily="49" charset="0"/>
              <a:buChar char="o"/>
            </a:pPr>
            <a:r>
              <a:rPr lang="fr-FR" sz="2000" b="1" dirty="0">
                <a:latin typeface="Aptos" panose="020B0004020202020204" pitchFamily="34" charset="0"/>
              </a:rPr>
              <a:t>Conditions du pharmacien :</a:t>
            </a:r>
          </a:p>
          <a:p>
            <a:pPr lvl="3"/>
            <a:r>
              <a:rPr lang="fr-FR" sz="2000" dirty="0">
                <a:latin typeface="Aptos" panose="020B0004020202020204" pitchFamily="34" charset="0"/>
              </a:rPr>
              <a:t>Le pharmacien doit notamment :</a:t>
            </a:r>
          </a:p>
          <a:p>
            <a:pPr marL="1714500" lvl="3" indent="-342900">
              <a:buFont typeface="Wingdings" panose="05000000000000000000" pitchFamily="2" charset="2"/>
              <a:buChar char="ü"/>
            </a:pPr>
            <a:r>
              <a:rPr lang="fr-FR" sz="2000" dirty="0">
                <a:latin typeface="Aptos" panose="020B0004020202020204" pitchFamily="34" charset="0"/>
              </a:rPr>
              <a:t>être titulaire du diplôme de docteur en pharmacie ;</a:t>
            </a:r>
          </a:p>
          <a:p>
            <a:pPr marL="1714500" lvl="3" indent="-342900">
              <a:buFont typeface="Wingdings" panose="05000000000000000000" pitchFamily="2" charset="2"/>
              <a:buChar char="ü"/>
            </a:pPr>
            <a:r>
              <a:rPr lang="fr-FR" sz="2000" dirty="0">
                <a:latin typeface="Aptos" panose="020B0004020202020204" pitchFamily="34" charset="0"/>
              </a:rPr>
              <a:t>être inscrit à l’Ordre ;</a:t>
            </a:r>
          </a:p>
          <a:p>
            <a:pPr marL="1714500" lvl="3" indent="-342900">
              <a:buFont typeface="Wingdings" panose="05000000000000000000" pitchFamily="2" charset="2"/>
              <a:buChar char="ü"/>
            </a:pPr>
            <a:r>
              <a:rPr lang="fr-FR" sz="2000" dirty="0">
                <a:latin typeface="Aptos" panose="020B0004020202020204" pitchFamily="34" charset="0"/>
              </a:rPr>
              <a:t>satisfaire aux conditions réglementaires prévues.</a:t>
            </a:r>
          </a:p>
        </p:txBody>
      </p:sp>
    </p:spTree>
    <p:extLst>
      <p:ext uri="{BB962C8B-B14F-4D97-AF65-F5344CB8AC3E}">
        <p14:creationId xmlns:p14="http://schemas.microsoft.com/office/powerpoint/2010/main" val="1519423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références réglementaires béninoises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89"/>
            <a:ext cx="11102569" cy="746065"/>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Décret n°2024-1296 du 06 novembre 2024 fixant les conditions de création et d’exploitation des officines de pharmacie</a:t>
            </a:r>
          </a:p>
        </p:txBody>
      </p:sp>
      <p:sp>
        <p:nvSpPr>
          <p:cNvPr id="13" name="ZoneTexte 12">
            <a:extLst>
              <a:ext uri="{FF2B5EF4-FFF2-40B4-BE49-F238E27FC236}">
                <a16:creationId xmlns:a16="http://schemas.microsoft.com/office/drawing/2014/main" id="{0DA6CE9B-741E-4FA7-8CF9-E4F76A9CD573}"/>
              </a:ext>
            </a:extLst>
          </p:cNvPr>
          <p:cNvSpPr txBox="1"/>
          <p:nvPr/>
        </p:nvSpPr>
        <p:spPr>
          <a:xfrm>
            <a:off x="751072" y="2938355"/>
            <a:ext cx="10934792" cy="2862322"/>
          </a:xfrm>
          <a:prstGeom prst="rect">
            <a:avLst/>
          </a:prstGeom>
          <a:noFill/>
        </p:spPr>
        <p:txBody>
          <a:bodyPr wrap="square">
            <a:spAutoFit/>
          </a:bodyPr>
          <a:lstStyle/>
          <a:p>
            <a:pPr marL="800100" lvl="1" indent="-342900">
              <a:buFont typeface="Arial" panose="020B0604020202020204" pitchFamily="34" charset="0"/>
              <a:buChar char="•"/>
            </a:pPr>
            <a:r>
              <a:rPr lang="fr-FR" sz="2000" b="1" dirty="0">
                <a:latin typeface="Aptos" panose="020B0004020202020204" pitchFamily="34" charset="0"/>
              </a:rPr>
              <a:t>Principales dispositions : </a:t>
            </a:r>
          </a:p>
          <a:p>
            <a:pPr marL="1257300" lvl="2" indent="-342900">
              <a:buFont typeface="Courier New" panose="02070309020205020404" pitchFamily="49" charset="0"/>
              <a:buChar char="o"/>
            </a:pPr>
            <a:r>
              <a:rPr lang="fr-FR" sz="2000" b="1" dirty="0">
                <a:latin typeface="Aptos" panose="020B0004020202020204" pitchFamily="34" charset="0"/>
              </a:rPr>
              <a:t>Notions réglementaires définies :</a:t>
            </a:r>
          </a:p>
          <a:p>
            <a:pPr lvl="3"/>
            <a:r>
              <a:rPr lang="fr-FR" sz="2000" dirty="0">
                <a:latin typeface="Aptos" panose="020B0004020202020204" pitchFamily="34" charset="0"/>
              </a:rPr>
              <a:t>Le décret introduit notamment :</a:t>
            </a:r>
          </a:p>
          <a:p>
            <a:pPr marL="2171700" lvl="4" indent="-342900">
              <a:buFont typeface="Wingdings" panose="05000000000000000000" pitchFamily="2" charset="2"/>
              <a:buChar char="ü"/>
            </a:pPr>
            <a:r>
              <a:rPr lang="fr-FR" sz="2000" dirty="0">
                <a:latin typeface="Aptos" panose="020B0004020202020204" pitchFamily="34" charset="0"/>
              </a:rPr>
              <a:t>transfert d’officine ;</a:t>
            </a:r>
          </a:p>
          <a:p>
            <a:pPr marL="2171700" lvl="4" indent="-342900">
              <a:buFont typeface="Wingdings" panose="05000000000000000000" pitchFamily="2" charset="2"/>
              <a:buChar char="ü"/>
            </a:pPr>
            <a:r>
              <a:rPr lang="fr-FR" sz="2000" dirty="0">
                <a:latin typeface="Aptos" panose="020B0004020202020204" pitchFamily="34" charset="0"/>
              </a:rPr>
              <a:t>déplacement d’officine ;</a:t>
            </a:r>
          </a:p>
          <a:p>
            <a:pPr marL="2171700" lvl="4" indent="-342900">
              <a:buFont typeface="Wingdings" panose="05000000000000000000" pitchFamily="2" charset="2"/>
              <a:buChar char="ü"/>
            </a:pPr>
            <a:r>
              <a:rPr lang="fr-FR" sz="2000" dirty="0">
                <a:latin typeface="Aptos" panose="020B0004020202020204" pitchFamily="34" charset="0"/>
              </a:rPr>
              <a:t>rachat d’officine ;</a:t>
            </a:r>
          </a:p>
          <a:p>
            <a:pPr marL="2171700" lvl="4" indent="-342900">
              <a:buFont typeface="Wingdings" panose="05000000000000000000" pitchFamily="2" charset="2"/>
              <a:buChar char="ü"/>
            </a:pPr>
            <a:r>
              <a:rPr lang="fr-FR" sz="2000" dirty="0">
                <a:latin typeface="Aptos" panose="020B0004020202020204" pitchFamily="34" charset="0"/>
              </a:rPr>
              <a:t>gérance ;</a:t>
            </a:r>
          </a:p>
          <a:p>
            <a:pPr marL="2171700" lvl="4" indent="-342900">
              <a:buFont typeface="Wingdings" panose="05000000000000000000" pitchFamily="2" charset="2"/>
              <a:buChar char="ü"/>
            </a:pPr>
            <a:r>
              <a:rPr lang="fr-FR" sz="2000" dirty="0">
                <a:latin typeface="Aptos" panose="020B0004020202020204" pitchFamily="34" charset="0"/>
              </a:rPr>
              <a:t>pharmacien assistant ;</a:t>
            </a:r>
          </a:p>
          <a:p>
            <a:pPr marL="2171700" lvl="4" indent="-342900">
              <a:buFont typeface="Wingdings" panose="05000000000000000000" pitchFamily="2" charset="2"/>
              <a:buChar char="ü"/>
            </a:pPr>
            <a:r>
              <a:rPr lang="fr-FR" sz="2000" dirty="0">
                <a:latin typeface="Aptos" panose="020B0004020202020204" pitchFamily="34" charset="0"/>
              </a:rPr>
              <a:t>site pharmaceutique.</a:t>
            </a:r>
          </a:p>
        </p:txBody>
      </p:sp>
    </p:spTree>
    <p:extLst>
      <p:ext uri="{BB962C8B-B14F-4D97-AF65-F5344CB8AC3E}">
        <p14:creationId xmlns:p14="http://schemas.microsoft.com/office/powerpoint/2010/main" val="3012547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références réglementaires béninoises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Carte pharmaceutique nationale</a:t>
            </a:r>
          </a:p>
        </p:txBody>
      </p:sp>
      <p:sp>
        <p:nvSpPr>
          <p:cNvPr id="13" name="ZoneTexte 12">
            <a:extLst>
              <a:ext uri="{FF2B5EF4-FFF2-40B4-BE49-F238E27FC236}">
                <a16:creationId xmlns:a16="http://schemas.microsoft.com/office/drawing/2014/main" id="{0DA6CE9B-741E-4FA7-8CF9-E4F76A9CD573}"/>
              </a:ext>
            </a:extLst>
          </p:cNvPr>
          <p:cNvSpPr txBox="1"/>
          <p:nvPr/>
        </p:nvSpPr>
        <p:spPr>
          <a:xfrm>
            <a:off x="751074" y="2668356"/>
            <a:ext cx="5473557" cy="1938992"/>
          </a:xfrm>
          <a:prstGeom prst="rect">
            <a:avLst/>
          </a:prstGeom>
          <a:noFill/>
        </p:spPr>
        <p:txBody>
          <a:bodyPr wrap="square">
            <a:spAutoFit/>
          </a:bodyPr>
          <a:lstStyle/>
          <a:p>
            <a:pPr marL="800100" lvl="1" indent="-342900">
              <a:buFont typeface="Arial" panose="020B0604020202020204" pitchFamily="34" charset="0"/>
              <a:buChar char="•"/>
            </a:pPr>
            <a:r>
              <a:rPr lang="fr-FR" sz="2000" dirty="0">
                <a:latin typeface="Aptos" panose="020B0004020202020204" pitchFamily="34" charset="0"/>
              </a:rPr>
              <a:t>Le système béninois repose sur une organisation territoriale des implantations officinales.</a:t>
            </a:r>
          </a:p>
          <a:p>
            <a:pPr marL="800100" lvl="1" indent="-342900">
              <a:buFont typeface="Arial" panose="020B0604020202020204" pitchFamily="34" charset="0"/>
              <a:buChar char="•"/>
            </a:pPr>
            <a:endParaRPr lang="fr-FR" sz="2000" dirty="0">
              <a:latin typeface="Aptos" panose="020B0004020202020204" pitchFamily="34" charset="0"/>
            </a:endParaRPr>
          </a:p>
          <a:p>
            <a:pPr marL="800100" lvl="1" indent="-342900">
              <a:buFont typeface="Arial" panose="020B0604020202020204" pitchFamily="34" charset="0"/>
              <a:buChar char="•"/>
            </a:pPr>
            <a:r>
              <a:rPr lang="fr-FR" sz="2000" dirty="0">
                <a:latin typeface="Aptos" panose="020B0004020202020204" pitchFamily="34" charset="0"/>
              </a:rPr>
              <a:t>L’ABMed publie notamment les tableaux d’attribution des sites.</a:t>
            </a:r>
          </a:p>
        </p:txBody>
      </p:sp>
    </p:spTree>
    <p:extLst>
      <p:ext uri="{BB962C8B-B14F-4D97-AF65-F5344CB8AC3E}">
        <p14:creationId xmlns:p14="http://schemas.microsoft.com/office/powerpoint/2010/main" val="1898558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références réglementaires béninoises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Carte pharmaceutique nationale</a:t>
            </a:r>
          </a:p>
        </p:txBody>
      </p:sp>
      <p:sp>
        <p:nvSpPr>
          <p:cNvPr id="13" name="ZoneTexte 12">
            <a:extLst>
              <a:ext uri="{FF2B5EF4-FFF2-40B4-BE49-F238E27FC236}">
                <a16:creationId xmlns:a16="http://schemas.microsoft.com/office/drawing/2014/main" id="{0DA6CE9B-741E-4FA7-8CF9-E4F76A9CD573}"/>
              </a:ext>
            </a:extLst>
          </p:cNvPr>
          <p:cNvSpPr txBox="1"/>
          <p:nvPr/>
        </p:nvSpPr>
        <p:spPr>
          <a:xfrm>
            <a:off x="751074" y="2668356"/>
            <a:ext cx="5473557" cy="1323439"/>
          </a:xfrm>
          <a:prstGeom prst="rect">
            <a:avLst/>
          </a:prstGeom>
          <a:noFill/>
        </p:spPr>
        <p:txBody>
          <a:bodyPr wrap="square">
            <a:spAutoFit/>
          </a:bodyPr>
          <a:lstStyle/>
          <a:p>
            <a:pPr lvl="1"/>
            <a:r>
              <a:rPr lang="fr-FR" sz="2000" b="1" dirty="0">
                <a:latin typeface="Aptos" panose="020B0004020202020204" pitchFamily="34" charset="0"/>
              </a:rPr>
              <a:t>Objectifs</a:t>
            </a:r>
          </a:p>
          <a:p>
            <a:pPr marL="800100" lvl="1" indent="-342900">
              <a:buFont typeface="Arial" panose="020B0604020202020204" pitchFamily="34" charset="0"/>
              <a:buChar char="•"/>
            </a:pPr>
            <a:r>
              <a:rPr lang="fr-FR" sz="2000" dirty="0">
                <a:latin typeface="Aptos" panose="020B0004020202020204" pitchFamily="34" charset="0"/>
              </a:rPr>
              <a:t>Éviter la surconcentration</a:t>
            </a:r>
          </a:p>
          <a:p>
            <a:pPr marL="800100" lvl="1" indent="-342900">
              <a:buFont typeface="Arial" panose="020B0604020202020204" pitchFamily="34" charset="0"/>
              <a:buChar char="•"/>
            </a:pPr>
            <a:r>
              <a:rPr lang="fr-FR" sz="2000" dirty="0">
                <a:latin typeface="Aptos" panose="020B0004020202020204" pitchFamily="34" charset="0"/>
              </a:rPr>
              <a:t>Garantir l’accès aux médicaments</a:t>
            </a:r>
          </a:p>
          <a:p>
            <a:pPr marL="800100" lvl="1" indent="-342900">
              <a:buFont typeface="Arial" panose="020B0604020202020204" pitchFamily="34" charset="0"/>
              <a:buChar char="•"/>
            </a:pPr>
            <a:r>
              <a:rPr lang="fr-FR" sz="2000" dirty="0">
                <a:latin typeface="Aptos" panose="020B0004020202020204" pitchFamily="34" charset="0"/>
              </a:rPr>
              <a:t>Organiser le maillage territorial</a:t>
            </a:r>
          </a:p>
        </p:txBody>
      </p:sp>
    </p:spTree>
    <p:extLst>
      <p:ext uri="{BB962C8B-B14F-4D97-AF65-F5344CB8AC3E}">
        <p14:creationId xmlns:p14="http://schemas.microsoft.com/office/powerpoint/2010/main" val="4013510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références réglementaires béninoises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Lignes directrices ABMed sur les licences aux établissements pharmaceutiques</a:t>
            </a:r>
          </a:p>
        </p:txBody>
      </p:sp>
      <p:sp>
        <p:nvSpPr>
          <p:cNvPr id="13" name="ZoneTexte 12">
            <a:extLst>
              <a:ext uri="{FF2B5EF4-FFF2-40B4-BE49-F238E27FC236}">
                <a16:creationId xmlns:a16="http://schemas.microsoft.com/office/drawing/2014/main" id="{0DA6CE9B-741E-4FA7-8CF9-E4F76A9CD573}"/>
              </a:ext>
            </a:extLst>
          </p:cNvPr>
          <p:cNvSpPr txBox="1"/>
          <p:nvPr/>
        </p:nvSpPr>
        <p:spPr>
          <a:xfrm>
            <a:off x="751074" y="2668356"/>
            <a:ext cx="11102568" cy="2862322"/>
          </a:xfrm>
          <a:prstGeom prst="rect">
            <a:avLst/>
          </a:prstGeom>
          <a:noFill/>
        </p:spPr>
        <p:txBody>
          <a:bodyPr wrap="square">
            <a:spAutoFit/>
          </a:bodyPr>
          <a:lstStyle/>
          <a:p>
            <a:pPr lvl="1"/>
            <a:r>
              <a:rPr lang="fr-FR" sz="2000" b="1" dirty="0">
                <a:latin typeface="Aptos" panose="020B0004020202020204" pitchFamily="34" charset="0"/>
              </a:rPr>
              <a:t>Pourquoi ces lignes directrices sont essentielles ?</a:t>
            </a:r>
          </a:p>
          <a:p>
            <a:pPr lvl="1"/>
            <a:r>
              <a:rPr lang="fr-FR" sz="2000" dirty="0">
                <a:latin typeface="Aptos" panose="020B0004020202020204" pitchFamily="34" charset="0"/>
              </a:rPr>
              <a:t>Elles expliquent :</a:t>
            </a:r>
          </a:p>
          <a:p>
            <a:pPr marL="1257300" lvl="2" indent="-342900">
              <a:buFont typeface="Arial" panose="020B0604020202020204" pitchFamily="34" charset="0"/>
              <a:buChar char="•"/>
            </a:pPr>
            <a:r>
              <a:rPr lang="fr-FR" sz="2000" dirty="0">
                <a:latin typeface="Aptos" panose="020B0004020202020204" pitchFamily="34" charset="0"/>
              </a:rPr>
              <a:t>les procédures ;</a:t>
            </a:r>
          </a:p>
          <a:p>
            <a:pPr marL="1257300" lvl="2" indent="-342900">
              <a:buFont typeface="Arial" panose="020B0604020202020204" pitchFamily="34" charset="0"/>
              <a:buChar char="•"/>
            </a:pPr>
            <a:r>
              <a:rPr lang="fr-FR" sz="2000" dirty="0">
                <a:latin typeface="Aptos" panose="020B0004020202020204" pitchFamily="34" charset="0"/>
              </a:rPr>
              <a:t>les documents requis ;</a:t>
            </a:r>
          </a:p>
          <a:p>
            <a:pPr marL="1257300" lvl="2" indent="-342900">
              <a:buFont typeface="Arial" panose="020B0604020202020204" pitchFamily="34" charset="0"/>
              <a:buChar char="•"/>
            </a:pPr>
            <a:r>
              <a:rPr lang="fr-FR" sz="2000" dirty="0">
                <a:latin typeface="Aptos" panose="020B0004020202020204" pitchFamily="34" charset="0"/>
              </a:rPr>
              <a:t>les modalités d’évaluation ;</a:t>
            </a:r>
          </a:p>
          <a:p>
            <a:pPr marL="1257300" lvl="2" indent="-342900">
              <a:buFont typeface="Arial" panose="020B0604020202020204" pitchFamily="34" charset="0"/>
              <a:buChar char="•"/>
            </a:pPr>
            <a:r>
              <a:rPr lang="fr-FR" sz="2000" dirty="0">
                <a:latin typeface="Aptos" panose="020B0004020202020204" pitchFamily="34" charset="0"/>
              </a:rPr>
              <a:t>les exigences de conformité.</a:t>
            </a:r>
          </a:p>
          <a:p>
            <a:pPr marL="800100" lvl="1" indent="-342900">
              <a:buFont typeface="Arial" panose="020B0604020202020204" pitchFamily="34" charset="0"/>
              <a:buChar char="•"/>
            </a:pPr>
            <a:endParaRPr lang="fr-FR" sz="2000" dirty="0">
              <a:latin typeface="Aptos" panose="020B0004020202020204" pitchFamily="34" charset="0"/>
            </a:endParaRPr>
          </a:p>
          <a:p>
            <a:pPr lvl="1"/>
            <a:r>
              <a:rPr lang="fr-FR" sz="2000" dirty="0">
                <a:latin typeface="Aptos" panose="020B0004020202020204" pitchFamily="34" charset="0"/>
              </a:rPr>
              <a:t>L’ABMed met à disposition les outils réglementaires relatifs aux demandes d’autorisation, transferts et licences.</a:t>
            </a:r>
          </a:p>
        </p:txBody>
      </p:sp>
    </p:spTree>
    <p:extLst>
      <p:ext uri="{BB962C8B-B14F-4D97-AF65-F5344CB8AC3E}">
        <p14:creationId xmlns:p14="http://schemas.microsoft.com/office/powerpoint/2010/main" val="2595831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références réglementaires béninoises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Lignes directrices ABMed sur les licences aux établissements pharmaceutiques</a:t>
            </a:r>
          </a:p>
        </p:txBody>
      </p:sp>
      <p:sp>
        <p:nvSpPr>
          <p:cNvPr id="13" name="ZoneTexte 12">
            <a:extLst>
              <a:ext uri="{FF2B5EF4-FFF2-40B4-BE49-F238E27FC236}">
                <a16:creationId xmlns:a16="http://schemas.microsoft.com/office/drawing/2014/main" id="{0DA6CE9B-741E-4FA7-8CF9-E4F76A9CD573}"/>
              </a:ext>
            </a:extLst>
          </p:cNvPr>
          <p:cNvSpPr txBox="1"/>
          <p:nvPr/>
        </p:nvSpPr>
        <p:spPr>
          <a:xfrm>
            <a:off x="751074" y="2668356"/>
            <a:ext cx="6270511" cy="3785652"/>
          </a:xfrm>
          <a:prstGeom prst="rect">
            <a:avLst/>
          </a:prstGeom>
          <a:noFill/>
        </p:spPr>
        <p:txBody>
          <a:bodyPr wrap="square">
            <a:spAutoFit/>
          </a:bodyPr>
          <a:lstStyle/>
          <a:p>
            <a:pPr lvl="1"/>
            <a:r>
              <a:rPr lang="fr-FR" sz="2000" b="1" dirty="0">
                <a:latin typeface="Aptos" panose="020B0004020202020204" pitchFamily="34" charset="0"/>
              </a:rPr>
              <a:t>Ce que l’inspecteur vérifie généralement ?</a:t>
            </a:r>
          </a:p>
          <a:p>
            <a:pPr marL="1257300" lvl="2" indent="-342900">
              <a:buFont typeface="Arial" panose="020B0604020202020204" pitchFamily="34" charset="0"/>
              <a:buChar char="•"/>
            </a:pPr>
            <a:r>
              <a:rPr lang="fr-FR" sz="2000" b="1" dirty="0">
                <a:latin typeface="Aptos" panose="020B0004020202020204" pitchFamily="34" charset="0"/>
              </a:rPr>
              <a:t>Documents administratifs :</a:t>
            </a:r>
          </a:p>
          <a:p>
            <a:pPr marL="1714500" lvl="3" indent="-342900">
              <a:buFont typeface="Courier New" panose="02070309020205020404" pitchFamily="49" charset="0"/>
              <a:buChar char="o"/>
            </a:pPr>
            <a:r>
              <a:rPr lang="fr-FR" sz="2000" dirty="0">
                <a:latin typeface="Aptos" panose="020B0004020202020204" pitchFamily="34" charset="0"/>
              </a:rPr>
              <a:t>Licence ;</a:t>
            </a:r>
          </a:p>
          <a:p>
            <a:pPr marL="1714500" lvl="3" indent="-342900">
              <a:buFont typeface="Courier New" panose="02070309020205020404" pitchFamily="49" charset="0"/>
              <a:buChar char="o"/>
            </a:pPr>
            <a:r>
              <a:rPr lang="fr-FR" sz="2000" dirty="0">
                <a:latin typeface="Aptos" panose="020B0004020202020204" pitchFamily="34" charset="0"/>
              </a:rPr>
              <a:t>Autorisation ;</a:t>
            </a:r>
          </a:p>
          <a:p>
            <a:pPr marL="1714500" lvl="3" indent="-342900">
              <a:buFont typeface="Courier New" panose="02070309020205020404" pitchFamily="49" charset="0"/>
              <a:buChar char="o"/>
            </a:pPr>
            <a:r>
              <a:rPr lang="fr-FR" sz="2000" dirty="0">
                <a:latin typeface="Aptos" panose="020B0004020202020204" pitchFamily="34" charset="0"/>
              </a:rPr>
              <a:t>Documents d’exploitation. </a:t>
            </a:r>
          </a:p>
          <a:p>
            <a:pPr marL="1257300" lvl="2" indent="-342900">
              <a:buFont typeface="Arial" panose="020B0604020202020204" pitchFamily="34" charset="0"/>
              <a:buChar char="•"/>
            </a:pPr>
            <a:r>
              <a:rPr lang="fr-FR" sz="2000" b="1" dirty="0">
                <a:latin typeface="Aptos" panose="020B0004020202020204" pitchFamily="34" charset="0"/>
              </a:rPr>
              <a:t>Documents professionnels</a:t>
            </a:r>
          </a:p>
          <a:p>
            <a:pPr marL="1714500" lvl="3" indent="-342900">
              <a:buFont typeface="Courier New" panose="02070309020205020404" pitchFamily="49" charset="0"/>
              <a:buChar char="o"/>
            </a:pPr>
            <a:r>
              <a:rPr lang="fr-FR" sz="2000" dirty="0">
                <a:latin typeface="Aptos" panose="020B0004020202020204" pitchFamily="34" charset="0"/>
              </a:rPr>
              <a:t>Inscription ordinale ;</a:t>
            </a:r>
          </a:p>
          <a:p>
            <a:pPr marL="1714500" lvl="3" indent="-342900">
              <a:buFont typeface="Courier New" panose="02070309020205020404" pitchFamily="49" charset="0"/>
              <a:buChar char="o"/>
            </a:pPr>
            <a:r>
              <a:rPr lang="fr-FR" sz="2000" dirty="0">
                <a:latin typeface="Aptos" panose="020B0004020202020204" pitchFamily="34" charset="0"/>
              </a:rPr>
              <a:t>Autorisation d’exercice.</a:t>
            </a:r>
          </a:p>
          <a:p>
            <a:pPr marL="1257300" lvl="2" indent="-342900">
              <a:buFont typeface="Arial" panose="020B0604020202020204" pitchFamily="34" charset="0"/>
              <a:buChar char="•"/>
            </a:pPr>
            <a:r>
              <a:rPr lang="fr-FR" sz="2000" b="1" dirty="0">
                <a:latin typeface="Aptos" panose="020B0004020202020204" pitchFamily="34" charset="0"/>
              </a:rPr>
              <a:t>Documents techniques</a:t>
            </a:r>
          </a:p>
          <a:p>
            <a:pPr marL="1714500" lvl="3" indent="-342900">
              <a:buFont typeface="Courier New" panose="02070309020205020404" pitchFamily="49" charset="0"/>
              <a:buChar char="o"/>
            </a:pPr>
            <a:r>
              <a:rPr lang="fr-FR" sz="2000" dirty="0">
                <a:latin typeface="Aptos" panose="020B0004020202020204" pitchFamily="34" charset="0"/>
              </a:rPr>
              <a:t>Procédures ;</a:t>
            </a:r>
          </a:p>
          <a:p>
            <a:pPr marL="1714500" lvl="3" indent="-342900">
              <a:buFont typeface="Courier New" panose="02070309020205020404" pitchFamily="49" charset="0"/>
              <a:buChar char="o"/>
            </a:pPr>
            <a:r>
              <a:rPr lang="fr-FR" sz="2000" dirty="0">
                <a:latin typeface="Aptos" panose="020B0004020202020204" pitchFamily="34" charset="0"/>
              </a:rPr>
              <a:t>Registres ;</a:t>
            </a:r>
          </a:p>
          <a:p>
            <a:pPr marL="1714500" lvl="3" indent="-342900">
              <a:buFont typeface="Courier New" panose="02070309020205020404" pitchFamily="49" charset="0"/>
              <a:buChar char="o"/>
            </a:pPr>
            <a:r>
              <a:rPr lang="fr-FR" sz="2000" dirty="0">
                <a:latin typeface="Aptos" panose="020B0004020202020204" pitchFamily="34" charset="0"/>
              </a:rPr>
              <a:t>Documentation qualité.</a:t>
            </a:r>
          </a:p>
        </p:txBody>
      </p:sp>
    </p:spTree>
    <p:extLst>
      <p:ext uri="{BB962C8B-B14F-4D97-AF65-F5344CB8AC3E}">
        <p14:creationId xmlns:p14="http://schemas.microsoft.com/office/powerpoint/2010/main" val="3087157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références réglementaires béninoises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Code de déontologie des Pharmaciens</a:t>
            </a:r>
          </a:p>
        </p:txBody>
      </p:sp>
      <p:sp>
        <p:nvSpPr>
          <p:cNvPr id="13" name="ZoneTexte 12">
            <a:extLst>
              <a:ext uri="{FF2B5EF4-FFF2-40B4-BE49-F238E27FC236}">
                <a16:creationId xmlns:a16="http://schemas.microsoft.com/office/drawing/2014/main" id="{0DA6CE9B-741E-4FA7-8CF9-E4F76A9CD573}"/>
              </a:ext>
            </a:extLst>
          </p:cNvPr>
          <p:cNvSpPr txBox="1"/>
          <p:nvPr/>
        </p:nvSpPr>
        <p:spPr>
          <a:xfrm>
            <a:off x="751074" y="2668356"/>
            <a:ext cx="7151355" cy="3785652"/>
          </a:xfrm>
          <a:prstGeom prst="rect">
            <a:avLst/>
          </a:prstGeom>
          <a:noFill/>
        </p:spPr>
        <p:txBody>
          <a:bodyPr wrap="square">
            <a:spAutoFit/>
          </a:bodyPr>
          <a:lstStyle/>
          <a:p>
            <a:pPr marL="800100" lvl="1" indent="-342900">
              <a:buFont typeface="Arial" panose="020B0604020202020204" pitchFamily="34" charset="0"/>
              <a:buChar char="•"/>
            </a:pPr>
            <a:r>
              <a:rPr lang="fr-FR" sz="2000" b="1" dirty="0">
                <a:latin typeface="Aptos" panose="020B0004020202020204" pitchFamily="34" charset="0"/>
              </a:rPr>
              <a:t>Principes fondamentaux ?</a:t>
            </a:r>
          </a:p>
          <a:p>
            <a:pPr marL="1257300" lvl="2" indent="-342900">
              <a:buFont typeface="Courier New" panose="02070309020205020404" pitchFamily="49" charset="0"/>
              <a:buChar char="o"/>
            </a:pPr>
            <a:r>
              <a:rPr lang="fr-FR" sz="2000" dirty="0">
                <a:latin typeface="Aptos" panose="020B0004020202020204" pitchFamily="34" charset="0"/>
              </a:rPr>
              <a:t>Exercice personnel de la pharmacie </a:t>
            </a:r>
          </a:p>
          <a:p>
            <a:pPr marL="1257300" lvl="2" indent="-342900">
              <a:buFont typeface="Courier New" panose="02070309020205020404" pitchFamily="49" charset="0"/>
              <a:buChar char="o"/>
            </a:pPr>
            <a:r>
              <a:rPr lang="fr-FR" sz="2000" dirty="0">
                <a:latin typeface="Aptos" panose="020B0004020202020204" pitchFamily="34" charset="0"/>
              </a:rPr>
              <a:t>Indépendance professionnelle</a:t>
            </a:r>
          </a:p>
          <a:p>
            <a:pPr marL="1257300" lvl="2" indent="-342900">
              <a:buFont typeface="Courier New" panose="02070309020205020404" pitchFamily="49" charset="0"/>
              <a:buChar char="o"/>
            </a:pPr>
            <a:r>
              <a:rPr lang="fr-FR" sz="2000" dirty="0">
                <a:latin typeface="Aptos" panose="020B0004020202020204" pitchFamily="34" charset="0"/>
              </a:rPr>
              <a:t>Secret professionnel</a:t>
            </a:r>
          </a:p>
          <a:p>
            <a:pPr marL="1257300" lvl="2" indent="-342900">
              <a:buFont typeface="Courier New" panose="02070309020205020404" pitchFamily="49" charset="0"/>
              <a:buChar char="o"/>
            </a:pPr>
            <a:r>
              <a:rPr lang="fr-FR" sz="2000" dirty="0">
                <a:latin typeface="Aptos" panose="020B0004020202020204" pitchFamily="34" charset="0"/>
              </a:rPr>
              <a:t>Respect du patient</a:t>
            </a:r>
          </a:p>
          <a:p>
            <a:pPr marL="1257300" lvl="2" indent="-342900">
              <a:buFont typeface="Courier New" panose="02070309020205020404" pitchFamily="49" charset="0"/>
              <a:buChar char="o"/>
            </a:pPr>
            <a:r>
              <a:rPr lang="fr-FR" sz="2000" dirty="0">
                <a:latin typeface="Aptos" panose="020B0004020202020204" pitchFamily="34" charset="0"/>
              </a:rPr>
              <a:t>Dignité professionnelle</a:t>
            </a:r>
          </a:p>
          <a:p>
            <a:pPr marL="1257300" lvl="2" indent="-342900">
              <a:buFont typeface="Courier New" panose="02070309020205020404" pitchFamily="49" charset="0"/>
              <a:buChar char="o"/>
            </a:pPr>
            <a:endParaRPr lang="fr-FR" sz="2000" dirty="0">
              <a:latin typeface="Aptos" panose="020B0004020202020204" pitchFamily="34" charset="0"/>
            </a:endParaRPr>
          </a:p>
          <a:p>
            <a:pPr marL="800100" lvl="1" indent="-342900">
              <a:buFont typeface="Arial" panose="020B0604020202020204" pitchFamily="34" charset="0"/>
              <a:buChar char="•"/>
            </a:pPr>
            <a:r>
              <a:rPr lang="fr-FR" sz="2000" b="1" dirty="0">
                <a:latin typeface="Aptos" panose="020B0004020202020204" pitchFamily="34" charset="0"/>
              </a:rPr>
              <a:t>Situations fréquentes de non-conformité</a:t>
            </a:r>
          </a:p>
          <a:p>
            <a:pPr marL="1257300" lvl="2" indent="-342900">
              <a:buFont typeface="Courier New" panose="02070309020205020404" pitchFamily="49" charset="0"/>
              <a:buChar char="o"/>
            </a:pPr>
            <a:r>
              <a:rPr lang="fr-FR" sz="2000" dirty="0">
                <a:latin typeface="Aptos" panose="020B0004020202020204" pitchFamily="34" charset="0"/>
              </a:rPr>
              <a:t>Publicité abusive</a:t>
            </a:r>
          </a:p>
          <a:p>
            <a:pPr marL="1257300" lvl="2" indent="-342900">
              <a:buFont typeface="Courier New" panose="02070309020205020404" pitchFamily="49" charset="0"/>
              <a:buChar char="o"/>
            </a:pPr>
            <a:r>
              <a:rPr lang="fr-FR" sz="2000" dirty="0">
                <a:latin typeface="Aptos" panose="020B0004020202020204" pitchFamily="34" charset="0"/>
              </a:rPr>
              <a:t>Vente sans supervision</a:t>
            </a:r>
          </a:p>
          <a:p>
            <a:pPr marL="1257300" lvl="2" indent="-342900">
              <a:buFont typeface="Courier New" panose="02070309020205020404" pitchFamily="49" charset="0"/>
              <a:buChar char="o"/>
            </a:pPr>
            <a:r>
              <a:rPr lang="fr-FR" sz="2000" dirty="0">
                <a:latin typeface="Aptos" panose="020B0004020202020204" pitchFamily="34" charset="0"/>
              </a:rPr>
              <a:t>Conseil inapproprié</a:t>
            </a:r>
          </a:p>
          <a:p>
            <a:pPr marL="1257300" lvl="2" indent="-342900">
              <a:buFont typeface="Courier New" panose="02070309020205020404" pitchFamily="49" charset="0"/>
              <a:buChar char="o"/>
            </a:pPr>
            <a:r>
              <a:rPr lang="fr-FR" sz="2000" dirty="0">
                <a:latin typeface="Aptos" panose="020B0004020202020204" pitchFamily="34" charset="0"/>
              </a:rPr>
              <a:t>Non-respect de la confidentialité</a:t>
            </a:r>
          </a:p>
        </p:txBody>
      </p:sp>
    </p:spTree>
    <p:extLst>
      <p:ext uri="{BB962C8B-B14F-4D97-AF65-F5344CB8AC3E}">
        <p14:creationId xmlns:p14="http://schemas.microsoft.com/office/powerpoint/2010/main" val="3216496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Cadre juridique et réglementaire des officines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références réglementaires béninoises</a:t>
            </a:r>
          </a:p>
        </p:txBody>
      </p:sp>
      <p:sp>
        <p:nvSpPr>
          <p:cNvPr id="10" name="ZoneTexte 9">
            <a:extLst>
              <a:ext uri="{FF2B5EF4-FFF2-40B4-BE49-F238E27FC236}">
                <a16:creationId xmlns:a16="http://schemas.microsoft.com/office/drawing/2014/main" id="{B9FC501F-8294-41BB-8B1A-7FD83E0B768E}"/>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MESSAGE CLÉ À RETENIR</a:t>
            </a:r>
          </a:p>
        </p:txBody>
      </p:sp>
      <p:sp>
        <p:nvSpPr>
          <p:cNvPr id="13" name="ZoneTexte 12">
            <a:extLst>
              <a:ext uri="{FF2B5EF4-FFF2-40B4-BE49-F238E27FC236}">
                <a16:creationId xmlns:a16="http://schemas.microsoft.com/office/drawing/2014/main" id="{0DA6CE9B-741E-4FA7-8CF9-E4F76A9CD573}"/>
              </a:ext>
            </a:extLst>
          </p:cNvPr>
          <p:cNvSpPr txBox="1"/>
          <p:nvPr/>
        </p:nvSpPr>
        <p:spPr>
          <a:xfrm>
            <a:off x="751074" y="2668356"/>
            <a:ext cx="6815796" cy="3170099"/>
          </a:xfrm>
          <a:prstGeom prst="rect">
            <a:avLst/>
          </a:prstGeom>
          <a:noFill/>
        </p:spPr>
        <p:txBody>
          <a:bodyPr wrap="square">
            <a:spAutoFit/>
          </a:bodyPr>
          <a:lstStyle/>
          <a:p>
            <a:pPr marL="800100" lvl="1" indent="-342900">
              <a:buFont typeface="Arial" panose="020B0604020202020204" pitchFamily="34" charset="0"/>
              <a:buChar char="•"/>
            </a:pPr>
            <a:r>
              <a:rPr lang="fr-FR" sz="2000" dirty="0">
                <a:latin typeface="Aptos" panose="020B0004020202020204" pitchFamily="34" charset="0"/>
              </a:rPr>
              <a:t>La conformité réglementaire d’une officine ne repose pas uniquement sur la présence des médicaments ou la qualité du conseil pharmaceutique.</a:t>
            </a:r>
          </a:p>
          <a:p>
            <a:pPr marL="800100" lvl="1" indent="-342900">
              <a:buFont typeface="Arial" panose="020B0604020202020204" pitchFamily="34" charset="0"/>
              <a:buChar char="•"/>
            </a:pPr>
            <a:endParaRPr lang="fr-FR" sz="2000" dirty="0">
              <a:latin typeface="Aptos" panose="020B0004020202020204" pitchFamily="34" charset="0"/>
            </a:endParaRPr>
          </a:p>
          <a:p>
            <a:pPr marL="800100" lvl="1" indent="-342900">
              <a:buFont typeface="Arial" panose="020B0604020202020204" pitchFamily="34" charset="0"/>
              <a:buChar char="•"/>
            </a:pPr>
            <a:r>
              <a:rPr lang="fr-FR" sz="2000" dirty="0">
                <a:latin typeface="Aptos" panose="020B0004020202020204" pitchFamily="34" charset="0"/>
              </a:rPr>
              <a:t>Elle repose sur la capacité du pharmacien à démontrer, à tout moment, que son établissement respecte les exigences de la loi n°2021-03, les décrets d’application, les exigences de l’ABMed, les règles ordinales et les principes de déontologie professionnelle.</a:t>
            </a:r>
          </a:p>
        </p:txBody>
      </p:sp>
    </p:spTree>
    <p:extLst>
      <p:ext uri="{BB962C8B-B14F-4D97-AF65-F5344CB8AC3E}">
        <p14:creationId xmlns:p14="http://schemas.microsoft.com/office/powerpoint/2010/main" val="3058873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3042" y="2141480"/>
            <a:ext cx="624337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tabLst/>
            </a:pPr>
            <a:r>
              <a:rPr kumimoji="0" lang="fr-FR" altLang="fr-FR" sz="2000" i="0" u="none" strike="noStrike" cap="none" normalizeH="0" baseline="0" dirty="0">
                <a:ln>
                  <a:noFill/>
                </a:ln>
                <a:solidFill>
                  <a:schemeClr val="tx1"/>
                </a:solidFill>
                <a:effectLst/>
                <a:latin typeface="Aptos" panose="020B0004020202020204" pitchFamily="34" charset="0"/>
              </a:rPr>
              <a:t>À l’issue de ce chapitre, le participant sera capable de :</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Comprendre son rôle légal en tant que pharmacien titulaire ;</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Identifier ses obligations réglementaires quotidiennes ;</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Assurer la conformité de son officine ;</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Encadrer son personnel conformément à la réglementation ;</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Prévenir les infractions les plus fréquentes observées lors des inspections ;</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Mettre en place un système interne de conformité réglementaire.</a:t>
            </a:r>
          </a:p>
        </p:txBody>
      </p:sp>
    </p:spTree>
    <p:extLst>
      <p:ext uri="{BB962C8B-B14F-4D97-AF65-F5344CB8AC3E}">
        <p14:creationId xmlns:p14="http://schemas.microsoft.com/office/powerpoint/2010/main" val="269138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3042" y="2046315"/>
            <a:ext cx="6595714"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Le pharmacien titulaire est le principal garant de la qualité, de la sécurité et de la conformité réglementaire de l’officine.</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2000" dirty="0">
              <a:latin typeface="Aptos" panose="020B00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Dans la plupart des pays africains, la licence d’exploitation est accordée en raison de la qualification professionnelle du pharmacien et non uniquement en raison de la qualité des locaux ou de l’investissement réalisé.</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2000" dirty="0">
              <a:latin typeface="Aptos" panose="020B00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Ainsi, lorsqu’une non-conformité est constatée, la responsabilité du pharmacien titulaire est généralement engagée en premier lieu.</a:t>
            </a:r>
          </a:p>
        </p:txBody>
      </p:sp>
    </p:spTree>
    <p:extLst>
      <p:ext uri="{BB962C8B-B14F-4D97-AF65-F5344CB8AC3E}">
        <p14:creationId xmlns:p14="http://schemas.microsoft.com/office/powerpoint/2010/main" val="1680394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rôle du pharmacien titulaire</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1074" y="2584257"/>
            <a:ext cx="11102569"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Le pharmacien titulaire est le pharmacien légalement autorisé à exploiter l’officine et à en assurer la responsabilité pharmaceutique.</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2000" dirty="0">
              <a:latin typeface="Aptos" panose="020B00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Il est :</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responsable de la dispensation ;</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responsable de la qualité des médicaments ;</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responsable des achats ;</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responsable des stocks ;</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responsable du personnel pharmaceutique ;</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interlocuteur des autorités réglementaires.</a:t>
            </a:r>
          </a:p>
        </p:txBody>
      </p:sp>
      <p:sp>
        <p:nvSpPr>
          <p:cNvPr id="10" name="ZoneTexte 9">
            <a:extLst>
              <a:ext uri="{FF2B5EF4-FFF2-40B4-BE49-F238E27FC236}">
                <a16:creationId xmlns:a16="http://schemas.microsoft.com/office/drawing/2014/main" id="{8A17FA90-028F-4FD4-AA8F-F3287F45FEED}"/>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Définition</a:t>
            </a:r>
          </a:p>
        </p:txBody>
      </p:sp>
    </p:spTree>
    <p:extLst>
      <p:ext uri="{BB962C8B-B14F-4D97-AF65-F5344CB8AC3E}">
        <p14:creationId xmlns:p14="http://schemas.microsoft.com/office/powerpoint/2010/main" val="2385192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rôle du pharmacien titulaire</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1074" y="2565369"/>
            <a:ext cx="594334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Dans la majorité des pays africains francophones, l’officine est considérée comme un </a:t>
            </a:r>
            <a:r>
              <a:rPr kumimoji="0" lang="fr-FR" altLang="fr-FR" sz="2000" b="1" i="0" u="none" strike="noStrike" cap="none" normalizeH="0" baseline="0" dirty="0">
                <a:ln>
                  <a:noFill/>
                </a:ln>
                <a:solidFill>
                  <a:schemeClr val="tx1"/>
                </a:solidFill>
                <a:effectLst/>
                <a:latin typeface="Aptos" panose="020B0004020202020204" pitchFamily="34" charset="0"/>
              </a:rPr>
              <a:t>établissement de santé et non comme un simple commerce</a:t>
            </a:r>
            <a:r>
              <a:rPr kumimoji="0" lang="fr-FR" altLang="fr-FR" sz="2000" i="0" u="none" strike="noStrike" cap="none" normalizeH="0" baseline="0" dirty="0">
                <a:ln>
                  <a:noFill/>
                </a:ln>
                <a:solidFill>
                  <a:schemeClr val="tx1"/>
                </a:solidFill>
                <a:effectLst/>
                <a:latin typeface="Aptos" panose="020B0004020202020204" pitchFamily="34" charset="0"/>
              </a:rPr>
              <a:t>.</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2000" dirty="0">
              <a:latin typeface="Aptos" panose="020B00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Le pharmacien titulaire a donc une double responsabilité :</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b="1" i="0" u="none" strike="noStrike" cap="none" normalizeH="0" baseline="0" dirty="0">
                <a:ln>
                  <a:noFill/>
                </a:ln>
                <a:solidFill>
                  <a:schemeClr val="tx1"/>
                </a:solidFill>
                <a:effectLst/>
                <a:latin typeface="Aptos" panose="020B0004020202020204" pitchFamily="34" charset="0"/>
              </a:rPr>
              <a:t>Responsabilité sanitaire </a:t>
            </a:r>
            <a:r>
              <a:rPr kumimoji="0" lang="fr-FR" altLang="fr-FR" sz="2000" i="0" u="none" strike="noStrike" cap="none" normalizeH="0" baseline="0" dirty="0">
                <a:ln>
                  <a:noFill/>
                </a:ln>
                <a:solidFill>
                  <a:schemeClr val="tx1"/>
                </a:solidFill>
                <a:effectLst/>
                <a:latin typeface="Aptos" panose="020B0004020202020204" pitchFamily="34" charset="0"/>
              </a:rPr>
              <a:t>: Protéger le patient.</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b="1" i="0" u="none" strike="noStrike" cap="none" normalizeH="0" baseline="0" dirty="0">
                <a:ln>
                  <a:noFill/>
                </a:ln>
                <a:solidFill>
                  <a:schemeClr val="tx1"/>
                </a:solidFill>
                <a:effectLst/>
                <a:latin typeface="Aptos" panose="020B0004020202020204" pitchFamily="34" charset="0"/>
              </a:rPr>
              <a:t>Responsabilité réglementaire </a:t>
            </a:r>
            <a:r>
              <a:rPr kumimoji="0" lang="fr-FR" altLang="fr-FR" sz="2000" i="0" u="none" strike="noStrike" cap="none" normalizeH="0" baseline="0" dirty="0">
                <a:ln>
                  <a:noFill/>
                </a:ln>
                <a:solidFill>
                  <a:schemeClr val="tx1"/>
                </a:solidFill>
                <a:effectLst/>
                <a:latin typeface="Aptos" panose="020B0004020202020204" pitchFamily="34" charset="0"/>
              </a:rPr>
              <a:t>: Respecter les textes en vigueur.</a:t>
            </a:r>
          </a:p>
        </p:txBody>
      </p:sp>
      <p:sp>
        <p:nvSpPr>
          <p:cNvPr id="10" name="ZoneTexte 9">
            <a:extLst>
              <a:ext uri="{FF2B5EF4-FFF2-40B4-BE49-F238E27FC236}">
                <a16:creationId xmlns:a16="http://schemas.microsoft.com/office/drawing/2014/main" id="{8A17FA90-028F-4FD4-AA8F-F3287F45FEED}"/>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Vision africaine</a:t>
            </a:r>
          </a:p>
        </p:txBody>
      </p:sp>
    </p:spTree>
    <p:extLst>
      <p:ext uri="{BB962C8B-B14F-4D97-AF65-F5344CB8AC3E}">
        <p14:creationId xmlns:p14="http://schemas.microsoft.com/office/powerpoint/2010/main" val="795292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Obligation de présence professionnelle</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1074" y="2592533"/>
            <a:ext cx="984422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Le médicament est un produit de santé nécessitant une expertise pharmaceutique.</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Chaque délivrance doit pouvoir bénéficier d’un contrôle professionnel.</a:t>
            </a:r>
          </a:p>
        </p:txBody>
      </p:sp>
      <p:sp>
        <p:nvSpPr>
          <p:cNvPr id="10" name="ZoneTexte 9">
            <a:extLst>
              <a:ext uri="{FF2B5EF4-FFF2-40B4-BE49-F238E27FC236}">
                <a16:creationId xmlns:a16="http://schemas.microsoft.com/office/drawing/2014/main" id="{8A17FA90-028F-4FD4-AA8F-F3287F45FEED}"/>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Pourquoi cette obligation existe ?</a:t>
            </a:r>
          </a:p>
        </p:txBody>
      </p:sp>
      <p:sp>
        <p:nvSpPr>
          <p:cNvPr id="11" name="Rectangle 10">
            <a:extLst>
              <a:ext uri="{FF2B5EF4-FFF2-40B4-BE49-F238E27FC236}">
                <a16:creationId xmlns:a16="http://schemas.microsoft.com/office/drawing/2014/main" id="{8D698F65-60B4-4F55-93BD-4B5F33C7409A}"/>
              </a:ext>
            </a:extLst>
          </p:cNvPr>
          <p:cNvSpPr>
            <a:spLocks noChangeArrowheads="1"/>
          </p:cNvSpPr>
          <p:nvPr/>
        </p:nvSpPr>
        <p:spPr bwMode="auto">
          <a:xfrm>
            <a:off x="903474" y="4224816"/>
            <a:ext cx="665640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Les autorités sanitaires exigent généralement :</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Une présence effective du pharmacien ;</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Ou une supervision pharmaceutique effective.</a:t>
            </a:r>
          </a:p>
        </p:txBody>
      </p:sp>
      <p:sp>
        <p:nvSpPr>
          <p:cNvPr id="13" name="ZoneTexte 12">
            <a:extLst>
              <a:ext uri="{FF2B5EF4-FFF2-40B4-BE49-F238E27FC236}">
                <a16:creationId xmlns:a16="http://schemas.microsoft.com/office/drawing/2014/main" id="{59476200-F734-41CD-9B32-CD9FE18451E6}"/>
              </a:ext>
            </a:extLst>
          </p:cNvPr>
          <p:cNvSpPr txBox="1"/>
          <p:nvPr/>
        </p:nvSpPr>
        <p:spPr>
          <a:xfrm>
            <a:off x="903474" y="3888266"/>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Exigence générale en Afrique</a:t>
            </a:r>
          </a:p>
        </p:txBody>
      </p:sp>
    </p:spTree>
    <p:extLst>
      <p:ext uri="{BB962C8B-B14F-4D97-AF65-F5344CB8AC3E}">
        <p14:creationId xmlns:p14="http://schemas.microsoft.com/office/powerpoint/2010/main" val="1548724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Obligation de présence professionnelle</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1074" y="2528925"/>
            <a:ext cx="1101029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Le Code de déontologie béninois rappelle le principe de l’exercice personnel de la pharmacie.</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Le pharmacien doit préparer ou délivrer lui-même les médicaments ou en surveiller l’exécution.</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fr-FR" altLang="fr-FR" sz="2000" i="0" u="none" strike="noStrike" cap="none" normalizeH="0" baseline="0" dirty="0">
              <a:ln>
                <a:noFill/>
              </a:ln>
              <a:solidFill>
                <a:schemeClr val="tx1"/>
              </a:solidFill>
              <a:effectLst/>
              <a:latin typeface="Aptos" panose="020B00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b="1" i="0" u="none" strike="noStrike" cap="none" normalizeH="0" baseline="0" dirty="0">
                <a:ln>
                  <a:noFill/>
                </a:ln>
                <a:solidFill>
                  <a:schemeClr val="tx1"/>
                </a:solidFill>
                <a:effectLst/>
                <a:latin typeface="Aptos" panose="020B0004020202020204" pitchFamily="34" charset="0"/>
              </a:rPr>
              <a:t>Situations à risque</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Pharmacien absent de façon répétée</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Préparateurs délivrant seuls les médicaments</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Absence de pharmacien remplaçant</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Officine ouverte sans supervision pharmaceutique</a:t>
            </a:r>
          </a:p>
        </p:txBody>
      </p:sp>
      <p:sp>
        <p:nvSpPr>
          <p:cNvPr id="10" name="ZoneTexte 9">
            <a:extLst>
              <a:ext uri="{FF2B5EF4-FFF2-40B4-BE49-F238E27FC236}">
                <a16:creationId xmlns:a16="http://schemas.microsoft.com/office/drawing/2014/main" id="{8A17FA90-028F-4FD4-AA8F-F3287F45FEED}"/>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Application au Bénin</a:t>
            </a:r>
          </a:p>
        </p:txBody>
      </p:sp>
    </p:spTree>
    <p:extLst>
      <p:ext uri="{BB962C8B-B14F-4D97-AF65-F5344CB8AC3E}">
        <p14:creationId xmlns:p14="http://schemas.microsoft.com/office/powerpoint/2010/main" val="1009791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Obligation de sécurisation de l’approvisionnement</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1074" y="2549273"/>
            <a:ext cx="1101029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Les médicaments falsifiés demeurent une menace importante sur le continent.</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Le pharmacien constitue le dernier rempart avant le patient.</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fr-FR" altLang="fr-FR" sz="2000" i="0" u="none" strike="noStrike" cap="none" normalizeH="0" baseline="0" dirty="0">
              <a:ln>
                <a:noFill/>
              </a:ln>
              <a:solidFill>
                <a:schemeClr val="tx1"/>
              </a:solidFill>
              <a:effectLst/>
              <a:latin typeface="Aptos" panose="020B00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b="1" i="0" u="none" strike="noStrike" cap="none" normalizeH="0" baseline="0" dirty="0">
                <a:ln>
                  <a:noFill/>
                </a:ln>
                <a:solidFill>
                  <a:schemeClr val="tx1"/>
                </a:solidFill>
                <a:effectLst/>
                <a:latin typeface="Aptos" panose="020B0004020202020204" pitchFamily="34" charset="0"/>
              </a:rPr>
              <a:t>Obligations</a:t>
            </a:r>
            <a:r>
              <a:rPr kumimoji="0" lang="fr-FR" altLang="fr-FR" sz="2000" i="0" u="none" strike="noStrike" cap="none" normalizeH="0" baseline="0" dirty="0">
                <a:ln>
                  <a:noFill/>
                </a:ln>
                <a:solidFill>
                  <a:schemeClr val="tx1"/>
                </a:solidFill>
                <a:effectLst/>
                <a:latin typeface="Aptos" panose="020B0004020202020204" pitchFamily="34" charset="0"/>
              </a:rPr>
              <a:t> : </a:t>
            </a:r>
          </a:p>
          <a:p>
            <a:pPr lvl="1" eaLnBrk="0" fontAlgn="base" hangingPunct="0">
              <a:spcBef>
                <a:spcPct val="0"/>
              </a:spcBef>
              <a:spcAft>
                <a:spcPct val="0"/>
              </a:spcAft>
            </a:pPr>
            <a:r>
              <a:rPr kumimoji="0" lang="fr-FR" altLang="fr-FR" sz="2000" i="0" u="none" strike="noStrike" cap="none" normalizeH="0" baseline="0" dirty="0">
                <a:ln>
                  <a:noFill/>
                </a:ln>
                <a:solidFill>
                  <a:schemeClr val="tx1"/>
                </a:solidFill>
                <a:effectLst/>
                <a:latin typeface="Aptos" panose="020B0004020202020204" pitchFamily="34" charset="0"/>
              </a:rPr>
              <a:t>Le pharmacien doit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Acheter auprès de fournisseurs autorisés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Conserver les factures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Assurer la traçabilité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Vérifier l’intégrité des produits.</a:t>
            </a:r>
          </a:p>
        </p:txBody>
      </p:sp>
      <p:sp>
        <p:nvSpPr>
          <p:cNvPr id="10" name="ZoneTexte 9">
            <a:extLst>
              <a:ext uri="{FF2B5EF4-FFF2-40B4-BE49-F238E27FC236}">
                <a16:creationId xmlns:a16="http://schemas.microsoft.com/office/drawing/2014/main" id="{8A17FA90-028F-4FD4-AA8F-F3287F45FEED}"/>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Contexte africain</a:t>
            </a:r>
          </a:p>
        </p:txBody>
      </p:sp>
    </p:spTree>
    <p:extLst>
      <p:ext uri="{BB962C8B-B14F-4D97-AF65-F5344CB8AC3E}">
        <p14:creationId xmlns:p14="http://schemas.microsoft.com/office/powerpoint/2010/main" val="1127207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Obligation de sécurisation de l’approvisionnement</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1074" y="2500157"/>
            <a:ext cx="11010291"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i="0" u="none" strike="noStrike" cap="none" normalizeH="0" baseline="0" dirty="0">
                <a:ln>
                  <a:noFill/>
                </a:ln>
                <a:solidFill>
                  <a:schemeClr val="tx1"/>
                </a:solidFill>
                <a:effectLst/>
                <a:latin typeface="Aptos" panose="020B0004020202020204" pitchFamily="34" charset="0"/>
              </a:rPr>
              <a:t>Lors des inspections, l’ABMed peut demander :</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les factures ;</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les bons de livraison ;</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les preuves d’origine des produits.</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altLang="fr-FR" sz="2000" dirty="0">
              <a:latin typeface="Aptos" panose="020B00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2000" b="1" i="0" u="none" strike="noStrike" cap="none" normalizeH="0" baseline="0" dirty="0">
                <a:ln>
                  <a:noFill/>
                </a:ln>
                <a:solidFill>
                  <a:schemeClr val="tx1"/>
                </a:solidFill>
                <a:effectLst/>
                <a:latin typeface="Aptos" panose="020B0004020202020204" pitchFamily="34" charset="0"/>
              </a:rPr>
              <a:t>Situations interdites </a:t>
            </a:r>
            <a:r>
              <a:rPr kumimoji="0" lang="fr-FR" altLang="fr-FR" sz="2000" i="0" u="none" strike="noStrike" cap="none" normalizeH="0" baseline="0" dirty="0">
                <a:ln>
                  <a:noFill/>
                </a:ln>
                <a:solidFill>
                  <a:schemeClr val="tx1"/>
                </a:solidFill>
                <a:effectLst/>
                <a:latin typeface="Aptos" panose="020B0004020202020204" pitchFamily="34" charset="0"/>
              </a:rPr>
              <a:t>:</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Achat auprès d’un fournisseur non agréé</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Achat sur un marché parallèle</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Achat auprès d’un particulier</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Achat sans facture</a:t>
            </a:r>
          </a:p>
        </p:txBody>
      </p:sp>
      <p:sp>
        <p:nvSpPr>
          <p:cNvPr id="10" name="ZoneTexte 9">
            <a:extLst>
              <a:ext uri="{FF2B5EF4-FFF2-40B4-BE49-F238E27FC236}">
                <a16:creationId xmlns:a16="http://schemas.microsoft.com/office/drawing/2014/main" id="{8A17FA90-028F-4FD4-AA8F-F3287F45FEED}"/>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Application au Bénin</a:t>
            </a:r>
          </a:p>
        </p:txBody>
      </p:sp>
    </p:spTree>
    <p:extLst>
      <p:ext uri="{BB962C8B-B14F-4D97-AF65-F5344CB8AC3E}">
        <p14:creationId xmlns:p14="http://schemas.microsoft.com/office/powerpoint/2010/main" val="1532895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Obligation de garantir la qualité des médicaments</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1074" y="2532348"/>
            <a:ext cx="909760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Le pharmacien titulaire doit garantir que tous les produits dispensés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Sont autorisés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Sont conservés correctement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Sont traçables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Ne sont pas périmés.</a:t>
            </a:r>
          </a:p>
          <a:p>
            <a:pPr marL="800100" lvl="1" indent="-342900" eaLnBrk="0" fontAlgn="base" hangingPunct="0">
              <a:spcBef>
                <a:spcPct val="0"/>
              </a:spcBef>
              <a:spcAft>
                <a:spcPct val="0"/>
              </a:spcAft>
              <a:buFont typeface="Arial" panose="020B0604020202020204" pitchFamily="34" charset="0"/>
              <a:buChar char="•"/>
            </a:pPr>
            <a:endParaRPr lang="fr-FR" altLang="fr-FR" sz="2000" dirty="0">
              <a:latin typeface="Aptos" panose="020B00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fr-FR" altLang="fr-FR" sz="2000" b="1" i="0" u="none" strike="noStrike" cap="none" normalizeH="0" baseline="0" dirty="0">
                <a:ln>
                  <a:noFill/>
                </a:ln>
                <a:solidFill>
                  <a:schemeClr val="tx1"/>
                </a:solidFill>
                <a:effectLst/>
                <a:latin typeface="Aptos" panose="020B0004020202020204" pitchFamily="34" charset="0"/>
              </a:rPr>
              <a:t>Contrôles quotidiens :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Température</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Humidité</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Réfrigérateurs</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Péremptions</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Retraits de lots</a:t>
            </a:r>
          </a:p>
        </p:txBody>
      </p:sp>
      <p:sp>
        <p:nvSpPr>
          <p:cNvPr id="10" name="ZoneTexte 9">
            <a:extLst>
              <a:ext uri="{FF2B5EF4-FFF2-40B4-BE49-F238E27FC236}">
                <a16:creationId xmlns:a16="http://schemas.microsoft.com/office/drawing/2014/main" id="{8A17FA90-028F-4FD4-AA8F-F3287F45FEED}"/>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Application au Bénin</a:t>
            </a:r>
          </a:p>
        </p:txBody>
      </p:sp>
    </p:spTree>
    <p:extLst>
      <p:ext uri="{BB962C8B-B14F-4D97-AF65-F5344CB8AC3E}">
        <p14:creationId xmlns:p14="http://schemas.microsoft.com/office/powerpoint/2010/main" val="96472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Obligation de garantir la qualité des médicaments</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751074" y="2591261"/>
            <a:ext cx="9097601"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Les inspections de l’ABMed vérifient régulièrement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les relevés de température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les conditions de stockage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la gestion des produits périmés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la gestion des produits thermosensibles.</a:t>
            </a:r>
          </a:p>
        </p:txBody>
      </p:sp>
      <p:sp>
        <p:nvSpPr>
          <p:cNvPr id="10" name="ZoneTexte 9">
            <a:extLst>
              <a:ext uri="{FF2B5EF4-FFF2-40B4-BE49-F238E27FC236}">
                <a16:creationId xmlns:a16="http://schemas.microsoft.com/office/drawing/2014/main" id="{8A17FA90-028F-4FD4-AA8F-F3287F45FEED}"/>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Application au Bénin</a:t>
            </a:r>
          </a:p>
        </p:txBody>
      </p:sp>
    </p:spTree>
    <p:extLst>
      <p:ext uri="{BB962C8B-B14F-4D97-AF65-F5344CB8AC3E}">
        <p14:creationId xmlns:p14="http://schemas.microsoft.com/office/powerpoint/2010/main" val="39791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Obligation de tenue des documents réglementaires</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475187" y="2639473"/>
            <a:ext cx="1110256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En réglementation pharmaceutique : « </a:t>
            </a:r>
            <a:r>
              <a:rPr kumimoji="0" lang="fr-FR" altLang="fr-FR" sz="2000" b="1" i="0" u="none" strike="noStrike" cap="none" normalizeH="0" baseline="0" dirty="0">
                <a:ln>
                  <a:noFill/>
                </a:ln>
                <a:solidFill>
                  <a:schemeClr val="tx1"/>
                </a:solidFill>
                <a:effectLst/>
                <a:latin typeface="Aptos" panose="020B0004020202020204" pitchFamily="34" charset="0"/>
              </a:rPr>
              <a:t>Ce qui n’est pas documenté est considéré comme non réalisé</a:t>
            </a:r>
            <a:r>
              <a:rPr kumimoji="0" lang="fr-FR" altLang="fr-FR" sz="2000" i="0" u="none" strike="noStrike" cap="none" normalizeH="0" baseline="0" dirty="0">
                <a:ln>
                  <a:noFill/>
                </a:ln>
                <a:solidFill>
                  <a:schemeClr val="tx1"/>
                </a:solidFill>
                <a:effectLst/>
                <a:latin typeface="Aptos" panose="020B0004020202020204" pitchFamily="34" charset="0"/>
              </a:rPr>
              <a:t>. »</a:t>
            </a:r>
          </a:p>
        </p:txBody>
      </p:sp>
      <p:sp>
        <p:nvSpPr>
          <p:cNvPr id="10" name="ZoneTexte 9">
            <a:extLst>
              <a:ext uri="{FF2B5EF4-FFF2-40B4-BE49-F238E27FC236}">
                <a16:creationId xmlns:a16="http://schemas.microsoft.com/office/drawing/2014/main" id="{8A17FA90-028F-4FD4-AA8F-F3287F45FEED}"/>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Pourquoi la documentation est-elle essentielle ?</a:t>
            </a:r>
          </a:p>
        </p:txBody>
      </p:sp>
      <p:sp>
        <p:nvSpPr>
          <p:cNvPr id="11" name="Rectangle 10">
            <a:extLst>
              <a:ext uri="{FF2B5EF4-FFF2-40B4-BE49-F238E27FC236}">
                <a16:creationId xmlns:a16="http://schemas.microsoft.com/office/drawing/2014/main" id="{EF7280B4-38CD-4116-9622-A5CA36D55961}"/>
              </a:ext>
            </a:extLst>
          </p:cNvPr>
          <p:cNvSpPr>
            <a:spLocks noChangeArrowheads="1"/>
          </p:cNvSpPr>
          <p:nvPr/>
        </p:nvSpPr>
        <p:spPr bwMode="auto">
          <a:xfrm>
            <a:off x="475187" y="3617359"/>
            <a:ext cx="517627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lvl="1" indent="-342900" eaLnBrk="0" fontAlgn="base" hangingPunct="0">
              <a:spcBef>
                <a:spcPct val="0"/>
              </a:spcBef>
              <a:spcAft>
                <a:spcPct val="0"/>
              </a:spcAft>
              <a:buFont typeface="Arial" panose="020B0604020202020204" pitchFamily="34" charset="0"/>
              <a:buChar char="•"/>
            </a:pPr>
            <a:r>
              <a:rPr kumimoji="0" lang="fr-FR" altLang="fr-FR" sz="2000" b="1" i="0" u="none" strike="noStrike" cap="none" normalizeH="0" baseline="0" dirty="0">
                <a:ln>
                  <a:noFill/>
                </a:ln>
                <a:solidFill>
                  <a:schemeClr val="tx1"/>
                </a:solidFill>
                <a:effectLst/>
                <a:latin typeface="Aptos" panose="020B0004020202020204" pitchFamily="34" charset="0"/>
              </a:rPr>
              <a:t>Documents obligatoires :</a:t>
            </a:r>
          </a:p>
          <a:p>
            <a:pPr marL="1257300" lvl="2" indent="-342900" eaLnBrk="0" fontAlgn="base" hangingPunct="0">
              <a:spcBef>
                <a:spcPct val="0"/>
              </a:spcBef>
              <a:spcAft>
                <a:spcPct val="0"/>
              </a:spcAft>
              <a:buFont typeface="Courier New" panose="02070309020205020404" pitchFamily="49" charset="0"/>
              <a:buChar char="o"/>
            </a:pPr>
            <a:r>
              <a:rPr kumimoji="0" lang="fr-FR" altLang="fr-FR" sz="2000" b="1" i="0" u="none" strike="noStrike" cap="none" normalizeH="0" baseline="0" dirty="0">
                <a:ln>
                  <a:noFill/>
                </a:ln>
                <a:solidFill>
                  <a:schemeClr val="tx1"/>
                </a:solidFill>
                <a:effectLst/>
                <a:latin typeface="Aptos" panose="020B0004020202020204" pitchFamily="34" charset="0"/>
              </a:rPr>
              <a:t>Documents administratifs</a:t>
            </a:r>
          </a:p>
          <a:p>
            <a:pPr marL="1714500" lvl="3" indent="-342900" eaLnBrk="0" fontAlgn="base" hangingPunct="0">
              <a:spcBef>
                <a:spcPct val="0"/>
              </a:spcBef>
              <a:spcAft>
                <a:spcPct val="0"/>
              </a:spcAft>
              <a:buFont typeface="Wingdings" panose="05000000000000000000" pitchFamily="2" charset="2"/>
              <a:buChar char="ü"/>
            </a:pPr>
            <a:r>
              <a:rPr kumimoji="0" lang="fr-FR" altLang="fr-FR" sz="2000" i="0" u="none" strike="noStrike" cap="none" normalizeH="0" baseline="0" dirty="0">
                <a:ln>
                  <a:noFill/>
                </a:ln>
                <a:solidFill>
                  <a:schemeClr val="tx1"/>
                </a:solidFill>
                <a:effectLst/>
                <a:latin typeface="Aptos" panose="020B0004020202020204" pitchFamily="34" charset="0"/>
              </a:rPr>
              <a:t>licence ;</a:t>
            </a:r>
          </a:p>
          <a:p>
            <a:pPr marL="1714500" lvl="3" indent="-342900" eaLnBrk="0" fontAlgn="base" hangingPunct="0">
              <a:spcBef>
                <a:spcPct val="0"/>
              </a:spcBef>
              <a:spcAft>
                <a:spcPct val="0"/>
              </a:spcAft>
              <a:buFont typeface="Wingdings" panose="05000000000000000000" pitchFamily="2" charset="2"/>
              <a:buChar char="ü"/>
            </a:pPr>
            <a:r>
              <a:rPr kumimoji="0" lang="fr-FR" altLang="fr-FR" sz="2000" i="0" u="none" strike="noStrike" cap="none" normalizeH="0" baseline="0" dirty="0">
                <a:ln>
                  <a:noFill/>
                </a:ln>
                <a:solidFill>
                  <a:schemeClr val="tx1"/>
                </a:solidFill>
                <a:effectLst/>
                <a:latin typeface="Aptos" panose="020B0004020202020204" pitchFamily="34" charset="0"/>
              </a:rPr>
              <a:t>autorisation d’exploitation ;</a:t>
            </a:r>
          </a:p>
          <a:p>
            <a:pPr marL="1714500" lvl="3" indent="-342900" eaLnBrk="0" fontAlgn="base" hangingPunct="0">
              <a:spcBef>
                <a:spcPct val="0"/>
              </a:spcBef>
              <a:spcAft>
                <a:spcPct val="0"/>
              </a:spcAft>
              <a:buFont typeface="Wingdings" panose="05000000000000000000" pitchFamily="2" charset="2"/>
              <a:buChar char="ü"/>
            </a:pPr>
            <a:r>
              <a:rPr kumimoji="0" lang="fr-FR" altLang="fr-FR" sz="2000" i="0" u="none" strike="noStrike" cap="none" normalizeH="0" baseline="0" dirty="0">
                <a:ln>
                  <a:noFill/>
                </a:ln>
                <a:solidFill>
                  <a:schemeClr val="tx1"/>
                </a:solidFill>
                <a:effectLst/>
                <a:latin typeface="Aptos" panose="020B0004020202020204" pitchFamily="34" charset="0"/>
              </a:rPr>
              <a:t>registre de commerce ;</a:t>
            </a:r>
          </a:p>
          <a:p>
            <a:pPr marL="1714500" lvl="3" indent="-342900" eaLnBrk="0" fontAlgn="base" hangingPunct="0">
              <a:spcBef>
                <a:spcPct val="0"/>
              </a:spcBef>
              <a:spcAft>
                <a:spcPct val="0"/>
              </a:spcAft>
              <a:buFont typeface="Wingdings" panose="05000000000000000000" pitchFamily="2" charset="2"/>
              <a:buChar char="ü"/>
            </a:pPr>
            <a:r>
              <a:rPr kumimoji="0" lang="fr-FR" altLang="fr-FR" sz="2000" i="0" u="none" strike="noStrike" cap="none" normalizeH="0" baseline="0" dirty="0">
                <a:ln>
                  <a:noFill/>
                </a:ln>
                <a:solidFill>
                  <a:schemeClr val="tx1"/>
                </a:solidFill>
                <a:effectLst/>
                <a:latin typeface="Aptos" panose="020B0004020202020204" pitchFamily="34" charset="0"/>
              </a:rPr>
              <a:t>assurance.</a:t>
            </a:r>
          </a:p>
        </p:txBody>
      </p:sp>
      <p:sp>
        <p:nvSpPr>
          <p:cNvPr id="13" name="Rectangle 12">
            <a:extLst>
              <a:ext uri="{FF2B5EF4-FFF2-40B4-BE49-F238E27FC236}">
                <a16:creationId xmlns:a16="http://schemas.microsoft.com/office/drawing/2014/main" id="{B50F4E51-1AB6-42C0-BA82-FA442664B65C}"/>
              </a:ext>
            </a:extLst>
          </p:cNvPr>
          <p:cNvSpPr>
            <a:spLocks noChangeArrowheads="1"/>
          </p:cNvSpPr>
          <p:nvPr/>
        </p:nvSpPr>
        <p:spPr bwMode="auto">
          <a:xfrm>
            <a:off x="6792294" y="3966220"/>
            <a:ext cx="4785462"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lvl="1" indent="-342900" eaLnBrk="0" fontAlgn="base" hangingPunct="0">
              <a:spcBef>
                <a:spcPct val="0"/>
              </a:spcBef>
              <a:spcAft>
                <a:spcPct val="0"/>
              </a:spcAft>
              <a:buFont typeface="Courier New" panose="02070309020205020404" pitchFamily="49" charset="0"/>
              <a:buChar char="o"/>
            </a:pPr>
            <a:r>
              <a:rPr kumimoji="0" lang="fr-FR" altLang="fr-FR" sz="2000" b="1" i="0" u="none" strike="noStrike" cap="none" normalizeH="0" baseline="0" dirty="0">
                <a:ln>
                  <a:noFill/>
                </a:ln>
                <a:solidFill>
                  <a:schemeClr val="tx1"/>
                </a:solidFill>
                <a:effectLst/>
                <a:latin typeface="Aptos" panose="020B0004020202020204" pitchFamily="34" charset="0"/>
              </a:rPr>
              <a:t>Documents professionnels</a:t>
            </a:r>
          </a:p>
          <a:p>
            <a:pPr marL="1257300" lvl="2" indent="-342900" eaLnBrk="0" fontAlgn="base" hangingPunct="0">
              <a:spcBef>
                <a:spcPct val="0"/>
              </a:spcBef>
              <a:spcAft>
                <a:spcPct val="0"/>
              </a:spcAft>
              <a:buFont typeface="Wingdings" panose="05000000000000000000" pitchFamily="2" charset="2"/>
              <a:buChar char="ü"/>
            </a:pPr>
            <a:r>
              <a:rPr kumimoji="0" lang="fr-FR" altLang="fr-FR" sz="2000" i="0" u="none" strike="noStrike" cap="none" normalizeH="0" baseline="0" dirty="0">
                <a:ln>
                  <a:noFill/>
                </a:ln>
                <a:solidFill>
                  <a:schemeClr val="tx1"/>
                </a:solidFill>
                <a:effectLst/>
                <a:latin typeface="Aptos" panose="020B0004020202020204" pitchFamily="34" charset="0"/>
              </a:rPr>
              <a:t>inscription à l’Ordre ;</a:t>
            </a:r>
          </a:p>
          <a:p>
            <a:pPr marL="1257300" lvl="2" indent="-342900" eaLnBrk="0" fontAlgn="base" hangingPunct="0">
              <a:spcBef>
                <a:spcPct val="0"/>
              </a:spcBef>
              <a:spcAft>
                <a:spcPct val="0"/>
              </a:spcAft>
              <a:buFont typeface="Wingdings" panose="05000000000000000000" pitchFamily="2" charset="2"/>
              <a:buChar char="ü"/>
            </a:pPr>
            <a:r>
              <a:rPr kumimoji="0" lang="fr-FR" altLang="fr-FR" sz="2000" i="0" u="none" strike="noStrike" cap="none" normalizeH="0" baseline="0" dirty="0">
                <a:ln>
                  <a:noFill/>
                </a:ln>
                <a:solidFill>
                  <a:schemeClr val="tx1"/>
                </a:solidFill>
                <a:effectLst/>
                <a:latin typeface="Aptos" panose="020B0004020202020204" pitchFamily="34" charset="0"/>
              </a:rPr>
              <a:t>contrats des pharmaciens.</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b="1" i="0" u="none" strike="noStrike" cap="none" normalizeH="0" baseline="0" dirty="0">
                <a:ln>
                  <a:noFill/>
                </a:ln>
                <a:solidFill>
                  <a:schemeClr val="tx1"/>
                </a:solidFill>
                <a:effectLst/>
                <a:latin typeface="Aptos" panose="020B0004020202020204" pitchFamily="34" charset="0"/>
              </a:rPr>
              <a:t>Documents techniques</a:t>
            </a:r>
          </a:p>
          <a:p>
            <a:pPr marL="1257300" lvl="2" indent="-342900" eaLnBrk="0" fontAlgn="base" hangingPunct="0">
              <a:spcBef>
                <a:spcPct val="0"/>
              </a:spcBef>
              <a:spcAft>
                <a:spcPct val="0"/>
              </a:spcAft>
              <a:buFont typeface="Wingdings" panose="05000000000000000000" pitchFamily="2" charset="2"/>
              <a:buChar char="ü"/>
            </a:pPr>
            <a:r>
              <a:rPr kumimoji="0" lang="fr-FR" altLang="fr-FR" sz="2000" i="0" u="none" strike="noStrike" cap="none" normalizeH="0" baseline="0" dirty="0">
                <a:ln>
                  <a:noFill/>
                </a:ln>
                <a:solidFill>
                  <a:schemeClr val="tx1"/>
                </a:solidFill>
                <a:effectLst/>
                <a:latin typeface="Aptos" panose="020B0004020202020204" pitchFamily="34" charset="0"/>
              </a:rPr>
              <a:t>SOP ;</a:t>
            </a:r>
          </a:p>
          <a:p>
            <a:pPr marL="1257300" lvl="2" indent="-342900" eaLnBrk="0" fontAlgn="base" hangingPunct="0">
              <a:spcBef>
                <a:spcPct val="0"/>
              </a:spcBef>
              <a:spcAft>
                <a:spcPct val="0"/>
              </a:spcAft>
              <a:buFont typeface="Wingdings" panose="05000000000000000000" pitchFamily="2" charset="2"/>
              <a:buChar char="ü"/>
            </a:pPr>
            <a:r>
              <a:rPr kumimoji="0" lang="fr-FR" altLang="fr-FR" sz="2000" i="0" u="none" strike="noStrike" cap="none" normalizeH="0" baseline="0" dirty="0">
                <a:ln>
                  <a:noFill/>
                </a:ln>
                <a:solidFill>
                  <a:schemeClr val="tx1"/>
                </a:solidFill>
                <a:effectLst/>
                <a:latin typeface="Aptos" panose="020B0004020202020204" pitchFamily="34" charset="0"/>
              </a:rPr>
              <a:t>registres ;</a:t>
            </a:r>
          </a:p>
          <a:p>
            <a:pPr marL="1257300" lvl="2" indent="-342900" eaLnBrk="0" fontAlgn="base" hangingPunct="0">
              <a:spcBef>
                <a:spcPct val="0"/>
              </a:spcBef>
              <a:spcAft>
                <a:spcPct val="0"/>
              </a:spcAft>
              <a:buFont typeface="Wingdings" panose="05000000000000000000" pitchFamily="2" charset="2"/>
              <a:buChar char="ü"/>
            </a:pPr>
            <a:r>
              <a:rPr kumimoji="0" lang="fr-FR" altLang="fr-FR" sz="2000" i="0" u="none" strike="noStrike" cap="none" normalizeH="0" baseline="0" dirty="0">
                <a:ln>
                  <a:noFill/>
                </a:ln>
                <a:solidFill>
                  <a:schemeClr val="tx1"/>
                </a:solidFill>
                <a:effectLst/>
                <a:latin typeface="Aptos" panose="020B0004020202020204" pitchFamily="34" charset="0"/>
              </a:rPr>
              <a:t>rapports internes.</a:t>
            </a:r>
          </a:p>
        </p:txBody>
      </p:sp>
    </p:spTree>
    <p:extLst>
      <p:ext uri="{BB962C8B-B14F-4D97-AF65-F5344CB8AC3E}">
        <p14:creationId xmlns:p14="http://schemas.microsoft.com/office/powerpoint/2010/main" val="1410182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Obligation de tenue des documents réglementaires</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345820" y="2633731"/>
            <a:ext cx="1110256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eaLnBrk="0" fontAlgn="base" hangingPunct="0">
              <a:spcBef>
                <a:spcPct val="0"/>
              </a:spcBef>
              <a:spcAft>
                <a:spcPct val="0"/>
              </a:spcAft>
            </a:pPr>
            <a:r>
              <a:rPr kumimoji="0" lang="fr-FR" altLang="fr-FR" sz="2000" b="1" i="0" u="none" strike="noStrike" cap="none" normalizeH="0" baseline="0" dirty="0">
                <a:ln>
                  <a:noFill/>
                </a:ln>
                <a:solidFill>
                  <a:schemeClr val="tx1"/>
                </a:solidFill>
                <a:effectLst/>
                <a:latin typeface="Aptos" panose="020B0004020202020204" pitchFamily="34" charset="0"/>
              </a:rPr>
              <a:t>Sections recommandées :</a:t>
            </a:r>
          </a:p>
          <a:p>
            <a:pPr marL="1257300" lvl="2"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Autorisations</a:t>
            </a:r>
          </a:p>
          <a:p>
            <a:pPr marL="1257300" lvl="2"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Documents ordinaux</a:t>
            </a:r>
          </a:p>
          <a:p>
            <a:pPr marL="1257300" lvl="2"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Fournisseurs</a:t>
            </a:r>
          </a:p>
          <a:p>
            <a:pPr marL="1257300" lvl="2"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Températures</a:t>
            </a:r>
          </a:p>
          <a:p>
            <a:pPr marL="1257300" lvl="2"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Pharmacovigilance</a:t>
            </a:r>
          </a:p>
          <a:p>
            <a:pPr marL="1257300" lvl="2"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Périmés</a:t>
            </a:r>
          </a:p>
          <a:p>
            <a:pPr marL="1257300" lvl="2"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SOP</a:t>
            </a:r>
          </a:p>
          <a:p>
            <a:pPr marL="1257300" lvl="2"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Rapports d’inspection</a:t>
            </a:r>
          </a:p>
        </p:txBody>
      </p:sp>
      <p:sp>
        <p:nvSpPr>
          <p:cNvPr id="10" name="ZoneTexte 9">
            <a:extLst>
              <a:ext uri="{FF2B5EF4-FFF2-40B4-BE49-F238E27FC236}">
                <a16:creationId xmlns:a16="http://schemas.microsoft.com/office/drawing/2014/main" id="{8A17FA90-028F-4FD4-AA8F-F3287F45FEED}"/>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Classeur réglementaire de l’officine</a:t>
            </a:r>
          </a:p>
        </p:txBody>
      </p:sp>
    </p:spTree>
    <p:extLst>
      <p:ext uri="{BB962C8B-B14F-4D97-AF65-F5344CB8AC3E}">
        <p14:creationId xmlns:p14="http://schemas.microsoft.com/office/powerpoint/2010/main" val="2660213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Obligation de pharmacovigilance</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824919" y="2554186"/>
            <a:ext cx="654061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Détecter :</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Evènements indésirables ;</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Erreurs médicamenteuses ;</a:t>
            </a:r>
          </a:p>
          <a:p>
            <a:pPr marL="800100" lvl="1" indent="-342900" eaLnBrk="0" fontAlgn="base" hangingPunct="0">
              <a:spcBef>
                <a:spcPct val="0"/>
              </a:spcBef>
              <a:spcAft>
                <a:spcPct val="0"/>
              </a:spcAft>
              <a:buFont typeface="Courier New" panose="02070309020205020404" pitchFamily="49" charset="0"/>
              <a:buChar char="o"/>
            </a:pPr>
            <a:r>
              <a:rPr kumimoji="0" lang="fr-FR" altLang="fr-FR" sz="2000" i="0" u="none" strike="noStrike" cap="none" normalizeH="0" baseline="0" dirty="0">
                <a:ln>
                  <a:noFill/>
                </a:ln>
                <a:solidFill>
                  <a:schemeClr val="tx1"/>
                </a:solidFill>
                <a:effectLst/>
                <a:latin typeface="Aptos" panose="020B0004020202020204" pitchFamily="34" charset="0"/>
              </a:rPr>
              <a:t>Défauts qualité (inspection visuelle).</a:t>
            </a:r>
          </a:p>
          <a:p>
            <a:pPr marL="342900"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Documenter.</a:t>
            </a:r>
          </a:p>
          <a:p>
            <a:pPr marL="342900"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Notifier.</a:t>
            </a:r>
          </a:p>
        </p:txBody>
      </p:sp>
      <p:sp>
        <p:nvSpPr>
          <p:cNvPr id="10" name="ZoneTexte 9">
            <a:extLst>
              <a:ext uri="{FF2B5EF4-FFF2-40B4-BE49-F238E27FC236}">
                <a16:creationId xmlns:a16="http://schemas.microsoft.com/office/drawing/2014/main" id="{8A17FA90-028F-4FD4-AA8F-F3287F45FEED}"/>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Missions</a:t>
            </a:r>
          </a:p>
        </p:txBody>
      </p:sp>
      <p:sp>
        <p:nvSpPr>
          <p:cNvPr id="11" name="ZoneTexte 10">
            <a:extLst>
              <a:ext uri="{FF2B5EF4-FFF2-40B4-BE49-F238E27FC236}">
                <a16:creationId xmlns:a16="http://schemas.microsoft.com/office/drawing/2014/main" id="{70A8D0AE-CFD3-48D8-881E-838545A8641E}"/>
              </a:ext>
            </a:extLst>
          </p:cNvPr>
          <p:cNvSpPr txBox="1"/>
          <p:nvPr/>
        </p:nvSpPr>
        <p:spPr>
          <a:xfrm>
            <a:off x="824919" y="4979114"/>
            <a:ext cx="9267038" cy="707886"/>
          </a:xfrm>
          <a:prstGeom prst="rect">
            <a:avLst/>
          </a:prstGeom>
          <a:noFill/>
        </p:spPr>
        <p:txBody>
          <a:bodyPr wrap="square">
            <a:spAutoFit/>
          </a:bodyPr>
          <a:lstStyle/>
          <a:p>
            <a:pPr marL="285750" indent="-285750">
              <a:buFont typeface="Arial" panose="020B0604020202020204" pitchFamily="34" charset="0"/>
              <a:buChar char="•"/>
            </a:pPr>
            <a:r>
              <a:rPr lang="fr-FR" sz="2000" dirty="0">
                <a:latin typeface="Aptos" panose="020B0004020202020204" pitchFamily="34" charset="0"/>
              </a:rPr>
              <a:t>L’ABMed dispose d’un système officiel de déclaration des effets indésirables.</a:t>
            </a:r>
          </a:p>
          <a:p>
            <a:pPr marL="285750" indent="-285750">
              <a:buFont typeface="Arial" panose="020B0604020202020204" pitchFamily="34" charset="0"/>
              <a:buChar char="•"/>
            </a:pPr>
            <a:r>
              <a:rPr lang="fr-FR" sz="2000" dirty="0">
                <a:latin typeface="Aptos" panose="020B0004020202020204" pitchFamily="34" charset="0"/>
              </a:rPr>
              <a:t>Le pharmacien doit participer activement à ce dispositif.</a:t>
            </a:r>
          </a:p>
        </p:txBody>
      </p:sp>
    </p:spTree>
    <p:extLst>
      <p:ext uri="{BB962C8B-B14F-4D97-AF65-F5344CB8AC3E}">
        <p14:creationId xmlns:p14="http://schemas.microsoft.com/office/powerpoint/2010/main" val="3989209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Secret professionnel et confidentialité</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824919" y="2538090"/>
            <a:ext cx="5844329"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fr-FR" altLang="fr-FR" sz="2000" b="1" i="0" u="none" strike="noStrike" cap="none" normalizeH="0" baseline="0" dirty="0">
                <a:ln>
                  <a:noFill/>
                </a:ln>
                <a:solidFill>
                  <a:schemeClr val="tx1"/>
                </a:solidFill>
                <a:effectLst/>
                <a:latin typeface="Aptos" panose="020B0004020202020204" pitchFamily="34" charset="0"/>
              </a:rPr>
              <a:t>Le secret professionnel protège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Les prescriptions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Les traitements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Les données médicales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Les informations personnelles.</a:t>
            </a:r>
          </a:p>
        </p:txBody>
      </p:sp>
      <p:sp>
        <p:nvSpPr>
          <p:cNvPr id="10" name="ZoneTexte 9">
            <a:extLst>
              <a:ext uri="{FF2B5EF4-FFF2-40B4-BE49-F238E27FC236}">
                <a16:creationId xmlns:a16="http://schemas.microsoft.com/office/drawing/2014/main" id="{8A17FA90-028F-4FD4-AA8F-F3287F45FEED}"/>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Principe</a:t>
            </a:r>
          </a:p>
        </p:txBody>
      </p:sp>
      <p:sp>
        <p:nvSpPr>
          <p:cNvPr id="11" name="ZoneTexte 10">
            <a:extLst>
              <a:ext uri="{FF2B5EF4-FFF2-40B4-BE49-F238E27FC236}">
                <a16:creationId xmlns:a16="http://schemas.microsoft.com/office/drawing/2014/main" id="{70A8D0AE-CFD3-48D8-881E-838545A8641E}"/>
              </a:ext>
            </a:extLst>
          </p:cNvPr>
          <p:cNvSpPr txBox="1"/>
          <p:nvPr/>
        </p:nvSpPr>
        <p:spPr>
          <a:xfrm>
            <a:off x="824919" y="4260942"/>
            <a:ext cx="5844329" cy="1631216"/>
          </a:xfrm>
          <a:prstGeom prst="rect">
            <a:avLst/>
          </a:prstGeom>
          <a:noFill/>
        </p:spPr>
        <p:txBody>
          <a:bodyPr wrap="square">
            <a:spAutoFit/>
          </a:bodyPr>
          <a:lstStyle/>
          <a:p>
            <a:r>
              <a:rPr lang="fr-FR" sz="2000" b="1" dirty="0">
                <a:latin typeface="Aptos" panose="020B0004020202020204" pitchFamily="34" charset="0"/>
              </a:rPr>
              <a:t>Situations fréquentes : </a:t>
            </a:r>
          </a:p>
          <a:p>
            <a:pPr marL="742950" lvl="1" indent="-285750">
              <a:buFont typeface="Arial" panose="020B0604020202020204" pitchFamily="34" charset="0"/>
              <a:buChar char="•"/>
            </a:pPr>
            <a:r>
              <a:rPr lang="fr-FR" sz="2000" dirty="0">
                <a:latin typeface="Aptos" panose="020B0004020202020204" pitchFamily="34" charset="0"/>
              </a:rPr>
              <a:t>Demande d’information par un proche</a:t>
            </a:r>
          </a:p>
          <a:p>
            <a:pPr marL="742950" lvl="1" indent="-285750">
              <a:buFont typeface="Arial" panose="020B0604020202020204" pitchFamily="34" charset="0"/>
              <a:buChar char="•"/>
            </a:pPr>
            <a:r>
              <a:rPr lang="fr-FR" sz="2000" dirty="0">
                <a:latin typeface="Aptos" panose="020B0004020202020204" pitchFamily="34" charset="0"/>
              </a:rPr>
              <a:t>Appel d’un employeur</a:t>
            </a:r>
          </a:p>
          <a:p>
            <a:pPr marL="742950" lvl="1" indent="-285750">
              <a:buFont typeface="Arial" panose="020B0604020202020204" pitchFamily="34" charset="0"/>
              <a:buChar char="•"/>
            </a:pPr>
            <a:r>
              <a:rPr lang="fr-FR" sz="2000" dirty="0">
                <a:latin typeface="Aptos" panose="020B0004020202020204" pitchFamily="34" charset="0"/>
              </a:rPr>
              <a:t>Publication de données sur WhatsApp</a:t>
            </a:r>
          </a:p>
          <a:p>
            <a:pPr marL="742950" lvl="1" indent="-285750">
              <a:buFont typeface="Arial" panose="020B0604020202020204" pitchFamily="34" charset="0"/>
              <a:buChar char="•"/>
            </a:pPr>
            <a:r>
              <a:rPr lang="fr-FR" sz="2000" dirty="0">
                <a:latin typeface="Aptos" panose="020B0004020202020204" pitchFamily="34" charset="0"/>
              </a:rPr>
              <a:t>Réseaux sociaux</a:t>
            </a:r>
          </a:p>
        </p:txBody>
      </p:sp>
    </p:spTree>
    <p:extLst>
      <p:ext uri="{BB962C8B-B14F-4D97-AF65-F5344CB8AC3E}">
        <p14:creationId xmlns:p14="http://schemas.microsoft.com/office/powerpoint/2010/main" val="2944734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Obligation de formation continue</a:t>
            </a:r>
            <a:endParaRPr lang="en-US" sz="2400" b="1" dirty="0">
              <a:solidFill>
                <a:schemeClr val="bg1"/>
              </a:solidFill>
            </a:endParaRPr>
          </a:p>
        </p:txBody>
      </p:sp>
      <p:sp>
        <p:nvSpPr>
          <p:cNvPr id="2" name="Rectangle 1">
            <a:extLst>
              <a:ext uri="{FF2B5EF4-FFF2-40B4-BE49-F238E27FC236}">
                <a16:creationId xmlns:a16="http://schemas.microsoft.com/office/drawing/2014/main" id="{1C9DBC07-7CDE-4B86-AEE4-94F13967C39C}"/>
              </a:ext>
            </a:extLst>
          </p:cNvPr>
          <p:cNvSpPr>
            <a:spLocks noChangeArrowheads="1"/>
          </p:cNvSpPr>
          <p:nvPr/>
        </p:nvSpPr>
        <p:spPr bwMode="auto">
          <a:xfrm>
            <a:off x="824919" y="2538090"/>
            <a:ext cx="5844329"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fr-FR" altLang="fr-FR" sz="2000" b="1" i="0" u="none" strike="noStrike" cap="none" normalizeH="0" baseline="0" dirty="0">
                <a:ln>
                  <a:noFill/>
                </a:ln>
                <a:solidFill>
                  <a:schemeClr val="tx1"/>
                </a:solidFill>
                <a:effectLst/>
                <a:latin typeface="Aptos" panose="020B0004020202020204" pitchFamily="34" charset="0"/>
              </a:rPr>
              <a:t>La réglementation évolue rapidement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Nouvelles lois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Nouvelles lignes directrices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Nouveaux produits ;</a:t>
            </a:r>
          </a:p>
          <a:p>
            <a:pPr marL="800100" lvl="1" indent="-342900" eaLnBrk="0" fontAlgn="base" hangingPunct="0">
              <a:spcBef>
                <a:spcPct val="0"/>
              </a:spcBef>
              <a:spcAft>
                <a:spcPct val="0"/>
              </a:spcAft>
              <a:buFont typeface="Arial" panose="020B0604020202020204" pitchFamily="34" charset="0"/>
              <a:buChar char="•"/>
            </a:pPr>
            <a:r>
              <a:rPr kumimoji="0" lang="fr-FR" altLang="fr-FR" sz="2000" i="0" u="none" strike="noStrike" cap="none" normalizeH="0" baseline="0" dirty="0">
                <a:ln>
                  <a:noFill/>
                </a:ln>
                <a:solidFill>
                  <a:schemeClr val="tx1"/>
                </a:solidFill>
                <a:effectLst/>
                <a:latin typeface="Aptos" panose="020B0004020202020204" pitchFamily="34" charset="0"/>
              </a:rPr>
              <a:t>Nouvelles obligations numériques.</a:t>
            </a:r>
          </a:p>
        </p:txBody>
      </p:sp>
      <p:sp>
        <p:nvSpPr>
          <p:cNvPr id="10" name="ZoneTexte 9">
            <a:extLst>
              <a:ext uri="{FF2B5EF4-FFF2-40B4-BE49-F238E27FC236}">
                <a16:creationId xmlns:a16="http://schemas.microsoft.com/office/drawing/2014/main" id="{8A17FA90-028F-4FD4-AA8F-F3287F45FEED}"/>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Pourquoi ?</a:t>
            </a:r>
          </a:p>
        </p:txBody>
      </p:sp>
      <p:sp>
        <p:nvSpPr>
          <p:cNvPr id="11" name="ZoneTexte 10">
            <a:extLst>
              <a:ext uri="{FF2B5EF4-FFF2-40B4-BE49-F238E27FC236}">
                <a16:creationId xmlns:a16="http://schemas.microsoft.com/office/drawing/2014/main" id="{70A8D0AE-CFD3-48D8-881E-838545A8641E}"/>
              </a:ext>
            </a:extLst>
          </p:cNvPr>
          <p:cNvSpPr txBox="1"/>
          <p:nvPr/>
        </p:nvSpPr>
        <p:spPr>
          <a:xfrm>
            <a:off x="824919" y="4169306"/>
            <a:ext cx="5844329" cy="2246769"/>
          </a:xfrm>
          <a:prstGeom prst="rect">
            <a:avLst/>
          </a:prstGeom>
          <a:noFill/>
        </p:spPr>
        <p:txBody>
          <a:bodyPr wrap="square">
            <a:spAutoFit/>
          </a:bodyPr>
          <a:lstStyle/>
          <a:p>
            <a:r>
              <a:rPr lang="fr-FR" sz="2000" b="1" dirty="0">
                <a:latin typeface="Aptos" panose="020B0004020202020204" pitchFamily="34" charset="0"/>
              </a:rPr>
              <a:t>Compétences à maintenir : </a:t>
            </a:r>
          </a:p>
          <a:p>
            <a:pPr marL="742950" lvl="1" indent="-285750">
              <a:buFont typeface="Arial" panose="020B0604020202020204" pitchFamily="34" charset="0"/>
              <a:buChar char="•"/>
            </a:pPr>
            <a:r>
              <a:rPr lang="fr-FR" sz="2000" dirty="0">
                <a:latin typeface="Aptos" panose="020B0004020202020204" pitchFamily="34" charset="0"/>
              </a:rPr>
              <a:t>Réglementation</a:t>
            </a:r>
          </a:p>
          <a:p>
            <a:pPr marL="742950" lvl="1" indent="-285750">
              <a:buFont typeface="Arial" panose="020B0604020202020204" pitchFamily="34" charset="0"/>
              <a:buChar char="•"/>
            </a:pPr>
            <a:r>
              <a:rPr lang="fr-FR" sz="2000" dirty="0">
                <a:latin typeface="Aptos" panose="020B0004020202020204" pitchFamily="34" charset="0"/>
              </a:rPr>
              <a:t>Pharmacovigilance</a:t>
            </a:r>
          </a:p>
          <a:p>
            <a:pPr marL="742950" lvl="1" indent="-285750">
              <a:buFont typeface="Arial" panose="020B0604020202020204" pitchFamily="34" charset="0"/>
              <a:buChar char="•"/>
            </a:pPr>
            <a:r>
              <a:rPr lang="fr-FR" sz="2000" dirty="0">
                <a:latin typeface="Aptos" panose="020B0004020202020204" pitchFamily="34" charset="0"/>
              </a:rPr>
              <a:t>Gestion des risques</a:t>
            </a:r>
          </a:p>
          <a:p>
            <a:pPr marL="742950" lvl="1" indent="-285750">
              <a:buFont typeface="Arial" panose="020B0604020202020204" pitchFamily="34" charset="0"/>
              <a:buChar char="•"/>
            </a:pPr>
            <a:r>
              <a:rPr lang="fr-FR" sz="2000" dirty="0">
                <a:latin typeface="Aptos" panose="020B0004020202020204" pitchFamily="34" charset="0"/>
              </a:rPr>
              <a:t>Qualité</a:t>
            </a:r>
          </a:p>
          <a:p>
            <a:pPr marL="742950" lvl="1" indent="-285750">
              <a:buFont typeface="Arial" panose="020B0604020202020204" pitchFamily="34" charset="0"/>
              <a:buChar char="•"/>
            </a:pPr>
            <a:r>
              <a:rPr lang="fr-FR" sz="2000" dirty="0">
                <a:latin typeface="Aptos" panose="020B0004020202020204" pitchFamily="34" charset="0"/>
              </a:rPr>
              <a:t>Digitalisation</a:t>
            </a:r>
          </a:p>
          <a:p>
            <a:pPr marL="742950" lvl="1" indent="-285750">
              <a:buFont typeface="Arial" panose="020B0604020202020204" pitchFamily="34" charset="0"/>
              <a:buChar char="•"/>
            </a:pPr>
            <a:r>
              <a:rPr lang="fr-FR" sz="2000" dirty="0">
                <a:latin typeface="Aptos" panose="020B0004020202020204" pitchFamily="34" charset="0"/>
              </a:rPr>
              <a:t>Conseil pharmaceutique</a:t>
            </a:r>
          </a:p>
        </p:txBody>
      </p:sp>
      <p:sp>
        <p:nvSpPr>
          <p:cNvPr id="13" name="ZoneTexte 12">
            <a:extLst>
              <a:ext uri="{FF2B5EF4-FFF2-40B4-BE49-F238E27FC236}">
                <a16:creationId xmlns:a16="http://schemas.microsoft.com/office/drawing/2014/main" id="{4E2B3C27-E287-4E35-BF93-354DDEB5B593}"/>
              </a:ext>
            </a:extLst>
          </p:cNvPr>
          <p:cNvSpPr txBox="1"/>
          <p:nvPr/>
        </p:nvSpPr>
        <p:spPr>
          <a:xfrm>
            <a:off x="5463930" y="5907755"/>
            <a:ext cx="5995432" cy="461665"/>
          </a:xfrm>
          <a:prstGeom prst="rect">
            <a:avLst/>
          </a:prstGeom>
          <a:noFill/>
        </p:spPr>
        <p:txBody>
          <a:bodyPr wrap="square">
            <a:spAutoFit/>
          </a:bodyPr>
          <a:lstStyle/>
          <a:p>
            <a:r>
              <a:rPr lang="fr-FR" sz="1200" dirty="0">
                <a:latin typeface="Aptos" panose="020B0004020202020204" pitchFamily="34" charset="0"/>
              </a:rPr>
              <a:t>Le pharmacien doit participer régulièrement à des formations professionnelles afin de maintenir ses compétences et assurer une pratique conforme aux exigences actuelles.</a:t>
            </a:r>
          </a:p>
        </p:txBody>
      </p:sp>
    </p:spTree>
    <p:extLst>
      <p:ext uri="{BB962C8B-B14F-4D97-AF65-F5344CB8AC3E}">
        <p14:creationId xmlns:p14="http://schemas.microsoft.com/office/powerpoint/2010/main" val="2421376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Check-list mensuelle du pharmacien titulaire</a:t>
            </a:r>
            <a:endParaRPr lang="en-US" sz="2400" b="1" dirty="0">
              <a:solidFill>
                <a:schemeClr val="bg1"/>
              </a:solidFill>
            </a:endParaRPr>
          </a:p>
        </p:txBody>
      </p:sp>
      <p:graphicFrame>
        <p:nvGraphicFramePr>
          <p:cNvPr id="3" name="Tableau 2">
            <a:extLst>
              <a:ext uri="{FF2B5EF4-FFF2-40B4-BE49-F238E27FC236}">
                <a16:creationId xmlns:a16="http://schemas.microsoft.com/office/drawing/2014/main" id="{8D337423-5201-49A9-B3D9-F4A44D10C4AE}"/>
              </a:ext>
            </a:extLst>
          </p:cNvPr>
          <p:cNvGraphicFramePr>
            <a:graphicFrameLocks noGrp="1"/>
          </p:cNvGraphicFramePr>
          <p:nvPr>
            <p:extLst>
              <p:ext uri="{D42A27DB-BD31-4B8C-83A1-F6EECF244321}">
                <p14:modId xmlns:p14="http://schemas.microsoft.com/office/powerpoint/2010/main" val="2875048752"/>
              </p:ext>
            </p:extLst>
          </p:nvPr>
        </p:nvGraphicFramePr>
        <p:xfrm>
          <a:off x="838200" y="2355374"/>
          <a:ext cx="10515600" cy="3291840"/>
        </p:xfrm>
        <a:graphic>
          <a:graphicData uri="http://schemas.openxmlformats.org/drawingml/2006/table">
            <a:tbl>
              <a:tblPr/>
              <a:tblGrid>
                <a:gridCol w="4237139">
                  <a:extLst>
                    <a:ext uri="{9D8B030D-6E8A-4147-A177-3AD203B41FA5}">
                      <a16:colId xmlns:a16="http://schemas.microsoft.com/office/drawing/2014/main" val="1771615775"/>
                    </a:ext>
                  </a:extLst>
                </a:gridCol>
                <a:gridCol w="3212984">
                  <a:extLst>
                    <a:ext uri="{9D8B030D-6E8A-4147-A177-3AD203B41FA5}">
                      <a16:colId xmlns:a16="http://schemas.microsoft.com/office/drawing/2014/main" val="1888454801"/>
                    </a:ext>
                  </a:extLst>
                </a:gridCol>
                <a:gridCol w="3065477">
                  <a:extLst>
                    <a:ext uri="{9D8B030D-6E8A-4147-A177-3AD203B41FA5}">
                      <a16:colId xmlns:a16="http://schemas.microsoft.com/office/drawing/2014/main" val="1817848887"/>
                    </a:ext>
                  </a:extLst>
                </a:gridCol>
              </a:tblGrid>
              <a:tr h="315268">
                <a:tc>
                  <a:txBody>
                    <a:bodyPr/>
                    <a:lstStyle/>
                    <a:p>
                      <a:r>
                        <a:rPr lang="fr-FR" b="1" dirty="0">
                          <a:solidFill>
                            <a:schemeClr val="bg1"/>
                          </a:solidFill>
                          <a:latin typeface="Aptos" panose="020B0004020202020204" pitchFamily="34" charset="0"/>
                        </a:rPr>
                        <a:t>Vérification</a:t>
                      </a:r>
                    </a:p>
                  </a:txBody>
                  <a:tcPr anchor="ctr">
                    <a:lnL>
                      <a:noFill/>
                    </a:lnL>
                    <a:lnR>
                      <a:noFill/>
                    </a:lnR>
                    <a:lnT>
                      <a:noFill/>
                    </a:lnT>
                    <a:lnB>
                      <a:noFill/>
                    </a:lnB>
                    <a:solidFill>
                      <a:srgbClr val="F37504"/>
                    </a:solidFill>
                  </a:tcPr>
                </a:tc>
                <a:tc>
                  <a:txBody>
                    <a:bodyPr/>
                    <a:lstStyle/>
                    <a:p>
                      <a:r>
                        <a:rPr lang="fr-FR" b="1" dirty="0">
                          <a:solidFill>
                            <a:schemeClr val="bg1"/>
                          </a:solidFill>
                          <a:latin typeface="Aptos" panose="020B0004020202020204" pitchFamily="34" charset="0"/>
                        </a:rPr>
                        <a:t>Oui</a:t>
                      </a:r>
                    </a:p>
                  </a:txBody>
                  <a:tcPr anchor="ctr">
                    <a:lnL>
                      <a:noFill/>
                    </a:lnL>
                    <a:lnR>
                      <a:noFill/>
                    </a:lnR>
                    <a:lnT>
                      <a:noFill/>
                    </a:lnT>
                    <a:lnB>
                      <a:noFill/>
                    </a:lnB>
                    <a:solidFill>
                      <a:srgbClr val="F37504"/>
                    </a:solidFill>
                  </a:tcPr>
                </a:tc>
                <a:tc>
                  <a:txBody>
                    <a:bodyPr/>
                    <a:lstStyle/>
                    <a:p>
                      <a:r>
                        <a:rPr lang="fr-FR" b="1" dirty="0">
                          <a:solidFill>
                            <a:schemeClr val="bg1"/>
                          </a:solidFill>
                          <a:latin typeface="Aptos" panose="020B0004020202020204" pitchFamily="34" charset="0"/>
                        </a:rPr>
                        <a:t>Non</a:t>
                      </a:r>
                    </a:p>
                  </a:txBody>
                  <a:tcPr anchor="ctr">
                    <a:lnL>
                      <a:noFill/>
                    </a:lnL>
                    <a:lnR>
                      <a:noFill/>
                    </a:lnR>
                    <a:lnT>
                      <a:noFill/>
                    </a:lnT>
                    <a:lnB>
                      <a:noFill/>
                    </a:lnB>
                    <a:solidFill>
                      <a:srgbClr val="F37504"/>
                    </a:solidFill>
                  </a:tcPr>
                </a:tc>
                <a:extLst>
                  <a:ext uri="{0D108BD9-81ED-4DB2-BD59-A6C34878D82A}">
                    <a16:rowId xmlns:a16="http://schemas.microsoft.com/office/drawing/2014/main" val="2382980935"/>
                  </a:ext>
                </a:extLst>
              </a:tr>
              <a:tr h="315268">
                <a:tc>
                  <a:txBody>
                    <a:bodyPr/>
                    <a:lstStyle/>
                    <a:p>
                      <a:r>
                        <a:rPr lang="fr-FR" dirty="0">
                          <a:latin typeface="Aptos" panose="020B0004020202020204" pitchFamily="34" charset="0"/>
                        </a:rPr>
                        <a:t>Présence pharmaceutique assurée</a:t>
                      </a:r>
                    </a:p>
                  </a:txBody>
                  <a:tcPr anchor="ctr">
                    <a:lnL>
                      <a:noFill/>
                    </a:lnL>
                    <a:lnR>
                      <a:noFill/>
                    </a:lnR>
                    <a:lnT>
                      <a:noFill/>
                    </a:lnT>
                    <a:lnB>
                      <a:noFill/>
                    </a:lnB>
                  </a:tcPr>
                </a:tc>
                <a:tc>
                  <a:txBody>
                    <a:bodyPr/>
                    <a:lstStyle/>
                    <a:p>
                      <a:r>
                        <a:rPr lang="fr-FR" dirty="0">
                          <a:latin typeface="Aptos" panose="020B0004020202020204" pitchFamily="34" charset="0"/>
                        </a:rPr>
                        <a:t>□</a:t>
                      </a:r>
                    </a:p>
                  </a:txBody>
                  <a:tcPr anchor="ctr">
                    <a:lnL>
                      <a:noFill/>
                    </a:lnL>
                    <a:lnR>
                      <a:noFill/>
                    </a:lnR>
                    <a:lnT>
                      <a:noFill/>
                    </a:lnT>
                    <a:lnB>
                      <a:noFill/>
                    </a:lnB>
                  </a:tcPr>
                </a:tc>
                <a:tc>
                  <a:txBody>
                    <a:bodyPr/>
                    <a:lstStyle/>
                    <a:p>
                      <a:r>
                        <a:rPr lang="fr-FR">
                          <a:latin typeface="Aptos" panose="020B0004020202020204" pitchFamily="34" charset="0"/>
                        </a:rPr>
                        <a:t>□</a:t>
                      </a:r>
                    </a:p>
                  </a:txBody>
                  <a:tcPr anchor="ctr">
                    <a:lnL>
                      <a:noFill/>
                    </a:lnL>
                    <a:lnR>
                      <a:noFill/>
                    </a:lnR>
                    <a:lnT>
                      <a:noFill/>
                    </a:lnT>
                    <a:lnB>
                      <a:noFill/>
                    </a:lnB>
                  </a:tcPr>
                </a:tc>
                <a:extLst>
                  <a:ext uri="{0D108BD9-81ED-4DB2-BD59-A6C34878D82A}">
                    <a16:rowId xmlns:a16="http://schemas.microsoft.com/office/drawing/2014/main" val="3351740900"/>
                  </a:ext>
                </a:extLst>
              </a:tr>
              <a:tr h="315268">
                <a:tc>
                  <a:txBody>
                    <a:bodyPr/>
                    <a:lstStyle/>
                    <a:p>
                      <a:r>
                        <a:rPr lang="fr-FR" dirty="0">
                          <a:latin typeface="Aptos" panose="020B0004020202020204" pitchFamily="34" charset="0"/>
                        </a:rPr>
                        <a:t>Fournisseurs vérifiés</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259313029"/>
                  </a:ext>
                </a:extLst>
              </a:tr>
              <a:tr h="315268">
                <a:tc>
                  <a:txBody>
                    <a:bodyPr/>
                    <a:lstStyle/>
                    <a:p>
                      <a:r>
                        <a:rPr lang="fr-FR">
                          <a:latin typeface="Aptos" panose="020B0004020202020204" pitchFamily="34" charset="0"/>
                        </a:rPr>
                        <a:t>Températures enregistrées</a:t>
                      </a:r>
                    </a:p>
                  </a:txBody>
                  <a:tcPr anchor="ctr">
                    <a:lnL>
                      <a:noFill/>
                    </a:lnL>
                    <a:lnR>
                      <a:noFill/>
                    </a:lnR>
                    <a:lnT>
                      <a:noFill/>
                    </a:lnT>
                    <a:lnB>
                      <a:noFill/>
                    </a:lnB>
                  </a:tcPr>
                </a:tc>
                <a:tc>
                  <a:txBody>
                    <a:bodyPr/>
                    <a:lstStyle/>
                    <a:p>
                      <a:r>
                        <a:rPr lang="fr-FR">
                          <a:latin typeface="Aptos" panose="020B0004020202020204" pitchFamily="34" charset="0"/>
                        </a:rPr>
                        <a:t>□</a:t>
                      </a:r>
                    </a:p>
                  </a:txBody>
                  <a:tcPr anchor="ctr">
                    <a:lnL>
                      <a:noFill/>
                    </a:lnL>
                    <a:lnR>
                      <a:noFill/>
                    </a:lnR>
                    <a:lnT>
                      <a:noFill/>
                    </a:lnT>
                    <a:lnB>
                      <a:noFill/>
                    </a:lnB>
                  </a:tcPr>
                </a:tc>
                <a:tc>
                  <a:txBody>
                    <a:bodyPr/>
                    <a:lstStyle/>
                    <a:p>
                      <a:r>
                        <a:rPr lang="fr-FR">
                          <a:latin typeface="Aptos" panose="020B0004020202020204" pitchFamily="34" charset="0"/>
                        </a:rPr>
                        <a:t>□</a:t>
                      </a:r>
                    </a:p>
                  </a:txBody>
                  <a:tcPr anchor="ctr">
                    <a:lnL>
                      <a:noFill/>
                    </a:lnL>
                    <a:lnR>
                      <a:noFill/>
                    </a:lnR>
                    <a:lnT>
                      <a:noFill/>
                    </a:lnT>
                    <a:lnB>
                      <a:noFill/>
                    </a:lnB>
                  </a:tcPr>
                </a:tc>
                <a:extLst>
                  <a:ext uri="{0D108BD9-81ED-4DB2-BD59-A6C34878D82A}">
                    <a16:rowId xmlns:a16="http://schemas.microsoft.com/office/drawing/2014/main" val="3538928631"/>
                  </a:ext>
                </a:extLst>
              </a:tr>
              <a:tr h="315268">
                <a:tc>
                  <a:txBody>
                    <a:bodyPr/>
                    <a:lstStyle/>
                    <a:p>
                      <a:r>
                        <a:rPr lang="fr-FR" dirty="0">
                          <a:latin typeface="Aptos" panose="020B0004020202020204" pitchFamily="34" charset="0"/>
                        </a:rPr>
                        <a:t>Produits périmés isolés</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47107496"/>
                  </a:ext>
                </a:extLst>
              </a:tr>
              <a:tr h="315268">
                <a:tc>
                  <a:txBody>
                    <a:bodyPr/>
                    <a:lstStyle/>
                    <a:p>
                      <a:r>
                        <a:rPr lang="fr-FR">
                          <a:latin typeface="Aptos" panose="020B0004020202020204" pitchFamily="34" charset="0"/>
                        </a:rPr>
                        <a:t>Registres à jour</a:t>
                      </a:r>
                    </a:p>
                  </a:txBody>
                  <a:tcPr anchor="ctr">
                    <a:lnL>
                      <a:noFill/>
                    </a:lnL>
                    <a:lnR>
                      <a:noFill/>
                    </a:lnR>
                    <a:lnT>
                      <a:noFill/>
                    </a:lnT>
                    <a:lnB>
                      <a:noFill/>
                    </a:lnB>
                  </a:tcPr>
                </a:tc>
                <a:tc>
                  <a:txBody>
                    <a:bodyPr/>
                    <a:lstStyle/>
                    <a:p>
                      <a:r>
                        <a:rPr lang="fr-FR">
                          <a:latin typeface="Aptos" panose="020B0004020202020204" pitchFamily="34" charset="0"/>
                        </a:rPr>
                        <a:t>□</a:t>
                      </a:r>
                    </a:p>
                  </a:txBody>
                  <a:tcPr anchor="ctr">
                    <a:lnL>
                      <a:noFill/>
                    </a:lnL>
                    <a:lnR>
                      <a:noFill/>
                    </a:lnR>
                    <a:lnT>
                      <a:noFill/>
                    </a:lnT>
                    <a:lnB>
                      <a:noFill/>
                    </a:lnB>
                  </a:tcPr>
                </a:tc>
                <a:tc>
                  <a:txBody>
                    <a:bodyPr/>
                    <a:lstStyle/>
                    <a:p>
                      <a:r>
                        <a:rPr lang="fr-FR">
                          <a:latin typeface="Aptos" panose="020B0004020202020204" pitchFamily="34" charset="0"/>
                        </a:rPr>
                        <a:t>□</a:t>
                      </a:r>
                    </a:p>
                  </a:txBody>
                  <a:tcPr anchor="ctr">
                    <a:lnL>
                      <a:noFill/>
                    </a:lnL>
                    <a:lnR>
                      <a:noFill/>
                    </a:lnR>
                    <a:lnT>
                      <a:noFill/>
                    </a:lnT>
                    <a:lnB>
                      <a:noFill/>
                    </a:lnB>
                  </a:tcPr>
                </a:tc>
                <a:extLst>
                  <a:ext uri="{0D108BD9-81ED-4DB2-BD59-A6C34878D82A}">
                    <a16:rowId xmlns:a16="http://schemas.microsoft.com/office/drawing/2014/main" val="2565804291"/>
                  </a:ext>
                </a:extLst>
              </a:tr>
              <a:tr h="315268">
                <a:tc>
                  <a:txBody>
                    <a:bodyPr/>
                    <a:lstStyle/>
                    <a:p>
                      <a:r>
                        <a:rPr lang="fr-FR" dirty="0">
                          <a:latin typeface="Aptos" panose="020B0004020202020204" pitchFamily="34" charset="0"/>
                        </a:rPr>
                        <a:t>Pharmacovigilance suivie</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4149320134"/>
                  </a:ext>
                </a:extLst>
              </a:tr>
              <a:tr h="315268">
                <a:tc>
                  <a:txBody>
                    <a:bodyPr/>
                    <a:lstStyle/>
                    <a:p>
                      <a:r>
                        <a:rPr lang="fr-FR">
                          <a:latin typeface="Aptos" panose="020B0004020202020204" pitchFamily="34" charset="0"/>
                        </a:rPr>
                        <a:t>SOP à jour</a:t>
                      </a:r>
                    </a:p>
                  </a:txBody>
                  <a:tcPr anchor="ctr">
                    <a:lnL>
                      <a:noFill/>
                    </a:lnL>
                    <a:lnR>
                      <a:noFill/>
                    </a:lnR>
                    <a:lnT>
                      <a:noFill/>
                    </a:lnT>
                    <a:lnB>
                      <a:noFill/>
                    </a:lnB>
                  </a:tcPr>
                </a:tc>
                <a:tc>
                  <a:txBody>
                    <a:bodyPr/>
                    <a:lstStyle/>
                    <a:p>
                      <a:r>
                        <a:rPr lang="fr-FR">
                          <a:latin typeface="Aptos" panose="020B0004020202020204" pitchFamily="34" charset="0"/>
                        </a:rPr>
                        <a:t>□</a:t>
                      </a:r>
                    </a:p>
                  </a:txBody>
                  <a:tcPr anchor="ctr">
                    <a:lnL>
                      <a:noFill/>
                    </a:lnL>
                    <a:lnR>
                      <a:noFill/>
                    </a:lnR>
                    <a:lnT>
                      <a:noFill/>
                    </a:lnT>
                    <a:lnB>
                      <a:noFill/>
                    </a:lnB>
                  </a:tcPr>
                </a:tc>
                <a:tc>
                  <a:txBody>
                    <a:bodyPr/>
                    <a:lstStyle/>
                    <a:p>
                      <a:r>
                        <a:rPr lang="fr-FR">
                          <a:latin typeface="Aptos" panose="020B0004020202020204" pitchFamily="34" charset="0"/>
                        </a:rPr>
                        <a:t>□</a:t>
                      </a:r>
                    </a:p>
                  </a:txBody>
                  <a:tcPr anchor="ctr">
                    <a:lnL>
                      <a:noFill/>
                    </a:lnL>
                    <a:lnR>
                      <a:noFill/>
                    </a:lnR>
                    <a:lnT>
                      <a:noFill/>
                    </a:lnT>
                    <a:lnB>
                      <a:noFill/>
                    </a:lnB>
                  </a:tcPr>
                </a:tc>
                <a:extLst>
                  <a:ext uri="{0D108BD9-81ED-4DB2-BD59-A6C34878D82A}">
                    <a16:rowId xmlns:a16="http://schemas.microsoft.com/office/drawing/2014/main" val="187087537"/>
                  </a:ext>
                </a:extLst>
              </a:tr>
              <a:tr h="315268">
                <a:tc>
                  <a:txBody>
                    <a:bodyPr/>
                    <a:lstStyle/>
                    <a:p>
                      <a:r>
                        <a:rPr lang="fr-FR" dirty="0">
                          <a:latin typeface="Aptos" panose="020B0004020202020204" pitchFamily="34" charset="0"/>
                        </a:rPr>
                        <a:t>Personnel formé</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82815367"/>
                  </a:ext>
                </a:extLst>
              </a:tr>
            </a:tbl>
          </a:graphicData>
        </a:graphic>
      </p:graphicFrame>
    </p:spTree>
    <p:extLst>
      <p:ext uri="{BB962C8B-B14F-4D97-AF65-F5344CB8AC3E}">
        <p14:creationId xmlns:p14="http://schemas.microsoft.com/office/powerpoint/2010/main" val="783253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Obligations légales du pharmacien titulaire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Message clé à retenir</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586354" y="2276935"/>
            <a:ext cx="6091283" cy="3785652"/>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Le pharmacien titulaire n’est pas seulement le gestionnaire de l’officine.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Il est le garant permanent de la qualité, de la sécurité des patients, de la conformité réglementaire et de la crédibilité de la profession pharmaceutique.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Une officine conforme est avant tout une officine dont le pharmacien titulaire exerce pleinement ses responsabilités professionnelles, réglementaires et éthiques.</a:t>
            </a:r>
          </a:p>
        </p:txBody>
      </p:sp>
    </p:spTree>
    <p:extLst>
      <p:ext uri="{BB962C8B-B14F-4D97-AF65-F5344CB8AC3E}">
        <p14:creationId xmlns:p14="http://schemas.microsoft.com/office/powerpoint/2010/main" val="1782025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autorisations et des renouvellements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586353" y="2276935"/>
            <a:ext cx="7198629" cy="3477875"/>
          </a:xfrm>
          <a:prstGeom prst="rect">
            <a:avLst/>
          </a:prstGeom>
          <a:noFill/>
        </p:spPr>
        <p:txBody>
          <a:bodyPr wrap="square">
            <a:spAutoFit/>
          </a:bodyPr>
          <a:lstStyle/>
          <a:p>
            <a:r>
              <a:rPr lang="fr-FR" sz="2000" b="1" dirty="0">
                <a:latin typeface="Aptos" panose="020B0004020202020204" pitchFamily="34" charset="0"/>
              </a:rPr>
              <a:t>À l'issue de ce sous-module, le participant sera capable de</a:t>
            </a:r>
            <a:r>
              <a:rPr lang="fr-FR" sz="2000" dirty="0">
                <a:latin typeface="Aptos" panose="020B0004020202020204" pitchFamily="34" charset="0"/>
              </a:rPr>
              <a:t> :</a:t>
            </a:r>
          </a:p>
          <a:p>
            <a:pPr marL="800100" lvl="1" indent="-342900">
              <a:buFont typeface="Arial" panose="020B0604020202020204" pitchFamily="34" charset="0"/>
              <a:buChar char="•"/>
            </a:pPr>
            <a:r>
              <a:rPr lang="fr-FR" sz="2000" dirty="0">
                <a:latin typeface="Aptos" panose="020B0004020202020204" pitchFamily="34" charset="0"/>
              </a:rPr>
              <a:t>Identifier les différentes autorisations nécessaires à l'exploitation d'une officine ;</a:t>
            </a:r>
          </a:p>
          <a:p>
            <a:pPr marL="800100" lvl="1" indent="-342900">
              <a:buFont typeface="Arial" panose="020B0604020202020204" pitchFamily="34" charset="0"/>
              <a:buChar char="•"/>
            </a:pPr>
            <a:r>
              <a:rPr lang="fr-FR" sz="2000" dirty="0">
                <a:latin typeface="Aptos" panose="020B0004020202020204" pitchFamily="34" charset="0"/>
              </a:rPr>
              <a:t>Comprendre les mécanismes de délivrance, </a:t>
            </a:r>
          </a:p>
          <a:p>
            <a:pPr marL="800100" lvl="1" indent="-342900">
              <a:buFont typeface="Arial" panose="020B0604020202020204" pitchFamily="34" charset="0"/>
              <a:buChar char="•"/>
            </a:pPr>
            <a:r>
              <a:rPr lang="fr-FR" sz="2000" dirty="0">
                <a:latin typeface="Aptos" panose="020B0004020202020204" pitchFamily="34" charset="0"/>
              </a:rPr>
              <a:t>De renouvellement et de modification des autorisations ;</a:t>
            </a:r>
          </a:p>
          <a:p>
            <a:pPr marL="800100" lvl="1" indent="-342900">
              <a:buFont typeface="Arial" panose="020B0604020202020204" pitchFamily="34" charset="0"/>
              <a:buChar char="•"/>
            </a:pPr>
            <a:r>
              <a:rPr lang="fr-FR" sz="2000" dirty="0">
                <a:latin typeface="Aptos" panose="020B0004020202020204" pitchFamily="34" charset="0"/>
              </a:rPr>
              <a:t>Mettre en place un système de suivi réglementaire efficace ;</a:t>
            </a:r>
          </a:p>
          <a:p>
            <a:pPr marL="800100" lvl="1" indent="-342900">
              <a:buFont typeface="Arial" panose="020B0604020202020204" pitchFamily="34" charset="0"/>
              <a:buChar char="•"/>
            </a:pPr>
            <a:r>
              <a:rPr lang="fr-FR" sz="2000" dirty="0">
                <a:latin typeface="Aptos" panose="020B0004020202020204" pitchFamily="34" charset="0"/>
              </a:rPr>
              <a:t>Prévenir les interruptions d'activité liées à l'expiration des documents réglementaires ;</a:t>
            </a:r>
          </a:p>
          <a:p>
            <a:pPr marL="800100" lvl="1" indent="-342900">
              <a:buFont typeface="Arial" panose="020B0604020202020204" pitchFamily="34" charset="0"/>
              <a:buChar char="•"/>
            </a:pPr>
            <a:r>
              <a:rPr lang="fr-FR" sz="2000" dirty="0">
                <a:latin typeface="Aptos" panose="020B0004020202020204" pitchFamily="34" charset="0"/>
              </a:rPr>
              <a:t>Préparer son officine aux inspections documentaires ;</a:t>
            </a:r>
          </a:p>
          <a:p>
            <a:pPr marL="800100" lvl="1" indent="-342900">
              <a:buFont typeface="Arial" panose="020B0604020202020204" pitchFamily="34" charset="0"/>
              <a:buChar char="•"/>
            </a:pPr>
            <a:r>
              <a:rPr lang="fr-FR" sz="2000" dirty="0">
                <a:latin typeface="Aptos" panose="020B0004020202020204" pitchFamily="34" charset="0"/>
              </a:rPr>
              <a:t>Assurer une conformité administrative permanente.</a:t>
            </a:r>
          </a:p>
        </p:txBody>
      </p:sp>
    </p:spTree>
    <p:extLst>
      <p:ext uri="{BB962C8B-B14F-4D97-AF65-F5344CB8AC3E}">
        <p14:creationId xmlns:p14="http://schemas.microsoft.com/office/powerpoint/2010/main" val="1916361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autorisations et des renouvellements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586353" y="2276935"/>
            <a:ext cx="11267288" cy="3170099"/>
          </a:xfrm>
          <a:prstGeom prst="rect">
            <a:avLst/>
          </a:prstGeom>
          <a:noFill/>
        </p:spPr>
        <p:txBody>
          <a:bodyPr wrap="square">
            <a:spAutoFit/>
          </a:bodyPr>
          <a:lstStyle/>
          <a:p>
            <a:r>
              <a:rPr lang="fr-FR" sz="2000" b="1" dirty="0">
                <a:latin typeface="Aptos" panose="020B0004020202020204" pitchFamily="34" charset="0"/>
              </a:rPr>
              <a:t>À l'issue de ce sous-module, le participant sera capable de</a:t>
            </a:r>
            <a:r>
              <a:rPr lang="fr-FR" sz="2000" dirty="0">
                <a:latin typeface="Aptos" panose="020B0004020202020204" pitchFamily="34" charset="0"/>
              </a:rPr>
              <a:t> :</a:t>
            </a:r>
          </a:p>
          <a:p>
            <a:pPr marL="800100" lvl="1" indent="-342900">
              <a:buFont typeface="Arial" panose="020B0604020202020204" pitchFamily="34" charset="0"/>
              <a:buChar char="•"/>
            </a:pPr>
            <a:r>
              <a:rPr lang="fr-FR" sz="2000" dirty="0">
                <a:latin typeface="Aptos" panose="020B0004020202020204" pitchFamily="34" charset="0"/>
              </a:rPr>
              <a:t>L'autorisation d'exploitation d'une officine n'est pas un acte unique obtenu une seule fois dans la vie professionnelle du pharmacien.</a:t>
            </a:r>
          </a:p>
          <a:p>
            <a:pPr marL="800100" lvl="1" indent="-342900">
              <a:buFont typeface="Arial" panose="020B0604020202020204" pitchFamily="34" charset="0"/>
              <a:buChar char="•"/>
            </a:pPr>
            <a:endParaRPr lang="fr-FR" sz="2000" dirty="0">
              <a:latin typeface="Aptos" panose="020B0004020202020204" pitchFamily="34" charset="0"/>
            </a:endParaRPr>
          </a:p>
          <a:p>
            <a:pPr marL="800100" lvl="1" indent="-342900">
              <a:buFont typeface="Arial" panose="020B0604020202020204" pitchFamily="34" charset="0"/>
              <a:buChar char="•"/>
            </a:pPr>
            <a:r>
              <a:rPr lang="fr-FR" sz="2000" dirty="0">
                <a:latin typeface="Aptos" panose="020B0004020202020204" pitchFamily="34" charset="0"/>
              </a:rPr>
              <a:t>L'exploitation légale d'une officine repose sur un ensemble d'autorisations, de licences, d'enregistrements et de documents qui doivent être maintenus à jour pendant toute la durée de vie de l'établissement.</a:t>
            </a:r>
          </a:p>
          <a:p>
            <a:pPr marL="800100" lvl="1" indent="-342900">
              <a:buFont typeface="Arial" panose="020B0604020202020204" pitchFamily="34" charset="0"/>
              <a:buChar char="•"/>
            </a:pPr>
            <a:endParaRPr lang="fr-FR" sz="2000" dirty="0">
              <a:latin typeface="Aptos" panose="020B0004020202020204" pitchFamily="34" charset="0"/>
            </a:endParaRPr>
          </a:p>
          <a:p>
            <a:pPr marL="800100" lvl="1" indent="-342900">
              <a:buFont typeface="Arial" panose="020B0604020202020204" pitchFamily="34" charset="0"/>
              <a:buChar char="•"/>
            </a:pPr>
            <a:r>
              <a:rPr lang="fr-FR" sz="2000" dirty="0">
                <a:latin typeface="Aptos" panose="020B0004020202020204" pitchFamily="34" charset="0"/>
              </a:rPr>
              <a:t>La conformité administrative constitue aujourd'hui l'un des principaux axes de contrôle des autorités réglementaires africaines.</a:t>
            </a:r>
          </a:p>
        </p:txBody>
      </p:sp>
    </p:spTree>
    <p:extLst>
      <p:ext uri="{BB962C8B-B14F-4D97-AF65-F5344CB8AC3E}">
        <p14:creationId xmlns:p14="http://schemas.microsoft.com/office/powerpoint/2010/main" val="371965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autorisations et des renouvellements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autorisations pharmaceutiques en Afrique</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751074" y="2726962"/>
            <a:ext cx="6799018" cy="1938992"/>
          </a:xfrm>
          <a:prstGeom prst="rect">
            <a:avLst/>
          </a:prstGeom>
          <a:noFill/>
        </p:spPr>
        <p:txBody>
          <a:bodyPr wrap="square">
            <a:spAutoFit/>
          </a:bodyPr>
          <a:lstStyle/>
          <a:p>
            <a:r>
              <a:rPr lang="fr-FR" sz="2000" dirty="0">
                <a:latin typeface="Aptos" panose="020B0004020202020204" pitchFamily="34" charset="0"/>
              </a:rPr>
              <a:t>Les autorités sanitaires utilisent les autorisations pour :</a:t>
            </a:r>
          </a:p>
          <a:p>
            <a:pPr marL="800100" lvl="1" indent="-342900">
              <a:buFont typeface="Arial" panose="020B0604020202020204" pitchFamily="34" charset="0"/>
              <a:buChar char="•"/>
            </a:pPr>
            <a:r>
              <a:rPr lang="fr-FR" sz="2000" dirty="0">
                <a:latin typeface="Aptos" panose="020B0004020202020204" pitchFamily="34" charset="0"/>
              </a:rPr>
              <a:t>Contrôler l'accès à l'exercice pharmaceutique ;</a:t>
            </a:r>
          </a:p>
          <a:p>
            <a:pPr marL="800100" lvl="1" indent="-342900">
              <a:buFont typeface="Arial" panose="020B0604020202020204" pitchFamily="34" charset="0"/>
              <a:buChar char="•"/>
            </a:pPr>
            <a:r>
              <a:rPr lang="fr-FR" sz="2000" dirty="0">
                <a:latin typeface="Aptos" panose="020B0004020202020204" pitchFamily="34" charset="0"/>
              </a:rPr>
              <a:t>Protéger la santé publique ;</a:t>
            </a:r>
          </a:p>
          <a:p>
            <a:pPr marL="800100" lvl="1" indent="-342900">
              <a:buFont typeface="Arial" panose="020B0604020202020204" pitchFamily="34" charset="0"/>
              <a:buChar char="•"/>
            </a:pPr>
            <a:r>
              <a:rPr lang="fr-FR" sz="2000" dirty="0">
                <a:latin typeface="Aptos" panose="020B0004020202020204" pitchFamily="34" charset="0"/>
              </a:rPr>
              <a:t>Assurer la traçabilité des établissements ;</a:t>
            </a:r>
          </a:p>
          <a:p>
            <a:pPr marL="800100" lvl="1" indent="-342900">
              <a:buFont typeface="Arial" panose="020B0604020202020204" pitchFamily="34" charset="0"/>
              <a:buChar char="•"/>
            </a:pPr>
            <a:r>
              <a:rPr lang="fr-FR" sz="2000" dirty="0">
                <a:latin typeface="Aptos" panose="020B0004020202020204" pitchFamily="34" charset="0"/>
              </a:rPr>
              <a:t>Garantir la compétence des professionnels ;</a:t>
            </a:r>
          </a:p>
          <a:p>
            <a:pPr marL="800100" lvl="1" indent="-342900">
              <a:buFont typeface="Arial" panose="020B0604020202020204" pitchFamily="34" charset="0"/>
              <a:buChar char="•"/>
            </a:pPr>
            <a:r>
              <a:rPr lang="fr-FR" sz="2000" dirty="0">
                <a:latin typeface="Aptos" panose="020B0004020202020204" pitchFamily="34" charset="0"/>
              </a:rPr>
              <a:t>Surveiller le marché pharmaceutique.</a:t>
            </a:r>
          </a:p>
        </p:txBody>
      </p:sp>
      <p:sp>
        <p:nvSpPr>
          <p:cNvPr id="11" name="ZoneTexte 10">
            <a:extLst>
              <a:ext uri="{FF2B5EF4-FFF2-40B4-BE49-F238E27FC236}">
                <a16:creationId xmlns:a16="http://schemas.microsoft.com/office/drawing/2014/main" id="{54BA9029-32BF-4354-9112-CD17D790916C}"/>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Pourquoi les autorisations sont-elles nécessaires ? </a:t>
            </a:r>
          </a:p>
        </p:txBody>
      </p:sp>
    </p:spTree>
    <p:extLst>
      <p:ext uri="{BB962C8B-B14F-4D97-AF65-F5344CB8AC3E}">
        <p14:creationId xmlns:p14="http://schemas.microsoft.com/office/powerpoint/2010/main" val="1082057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autorisations et des renouvellements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autorisations pharmaceutiques en Afrique</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586355" y="2724937"/>
            <a:ext cx="6799018" cy="3170099"/>
          </a:xfrm>
          <a:prstGeom prst="rect">
            <a:avLst/>
          </a:prstGeom>
          <a:noFill/>
        </p:spPr>
        <p:txBody>
          <a:bodyPr wrap="square">
            <a:spAutoFit/>
          </a:bodyPr>
          <a:lstStyle/>
          <a:p>
            <a:r>
              <a:rPr lang="fr-FR" sz="2000" b="1" dirty="0">
                <a:latin typeface="Aptos" panose="020B0004020202020204" pitchFamily="34" charset="0"/>
              </a:rPr>
              <a:t>Autorisations relatives à l'officine : </a:t>
            </a:r>
          </a:p>
          <a:p>
            <a:pPr marL="800100" lvl="1" indent="-342900">
              <a:buFont typeface="Arial" panose="020B0604020202020204" pitchFamily="34" charset="0"/>
              <a:buChar char="•"/>
            </a:pPr>
            <a:r>
              <a:rPr lang="fr-FR" sz="2000" dirty="0">
                <a:latin typeface="Aptos" panose="020B0004020202020204" pitchFamily="34" charset="0"/>
              </a:rPr>
              <a:t>Licence d'exploitation ;</a:t>
            </a:r>
          </a:p>
          <a:p>
            <a:pPr marL="800100" lvl="1" indent="-342900">
              <a:buFont typeface="Arial" panose="020B0604020202020204" pitchFamily="34" charset="0"/>
              <a:buChar char="•"/>
            </a:pPr>
            <a:r>
              <a:rPr lang="fr-FR" sz="2000" dirty="0">
                <a:latin typeface="Aptos" panose="020B0004020202020204" pitchFamily="34" charset="0"/>
              </a:rPr>
              <a:t>Autorisation d'ouverture ;</a:t>
            </a:r>
          </a:p>
          <a:p>
            <a:pPr marL="800100" lvl="1" indent="-342900">
              <a:buFont typeface="Arial" panose="020B0604020202020204" pitchFamily="34" charset="0"/>
              <a:buChar char="•"/>
            </a:pPr>
            <a:r>
              <a:rPr lang="fr-FR" sz="2000" dirty="0">
                <a:latin typeface="Aptos" panose="020B0004020202020204" pitchFamily="34" charset="0"/>
              </a:rPr>
              <a:t>Autorisation de transfert ;</a:t>
            </a:r>
          </a:p>
          <a:p>
            <a:pPr marL="800100" lvl="1" indent="-342900">
              <a:buFont typeface="Arial" panose="020B0604020202020204" pitchFamily="34" charset="0"/>
              <a:buChar char="•"/>
            </a:pPr>
            <a:r>
              <a:rPr lang="fr-FR" sz="2000" dirty="0">
                <a:latin typeface="Aptos" panose="020B0004020202020204" pitchFamily="34" charset="0"/>
              </a:rPr>
              <a:t>Autorisation de modification.</a:t>
            </a:r>
          </a:p>
          <a:p>
            <a:endParaRPr lang="fr-FR" sz="2000" dirty="0">
              <a:latin typeface="Aptos" panose="020B0004020202020204" pitchFamily="34" charset="0"/>
            </a:endParaRPr>
          </a:p>
          <a:p>
            <a:r>
              <a:rPr lang="fr-FR" sz="2000" b="1" dirty="0">
                <a:latin typeface="Aptos" panose="020B0004020202020204" pitchFamily="34" charset="0"/>
              </a:rPr>
              <a:t>Autorisations relatives au pharmacien : </a:t>
            </a:r>
          </a:p>
          <a:p>
            <a:pPr marL="800100" lvl="1" indent="-342900">
              <a:buFont typeface="Arial" panose="020B0604020202020204" pitchFamily="34" charset="0"/>
              <a:buChar char="•"/>
            </a:pPr>
            <a:r>
              <a:rPr lang="fr-FR" sz="2000" dirty="0">
                <a:latin typeface="Aptos" panose="020B0004020202020204" pitchFamily="34" charset="0"/>
              </a:rPr>
              <a:t>Inscription à l'ordre ;</a:t>
            </a:r>
          </a:p>
          <a:p>
            <a:pPr marL="800100" lvl="1" indent="-342900">
              <a:buFont typeface="Arial" panose="020B0604020202020204" pitchFamily="34" charset="0"/>
              <a:buChar char="•"/>
            </a:pPr>
            <a:r>
              <a:rPr lang="fr-FR" sz="2000" dirty="0">
                <a:latin typeface="Aptos" panose="020B0004020202020204" pitchFamily="34" charset="0"/>
              </a:rPr>
              <a:t>Autorisation d'exercice ;</a:t>
            </a:r>
          </a:p>
          <a:p>
            <a:pPr marL="800100" lvl="1" indent="-342900">
              <a:buFont typeface="Arial" panose="020B0604020202020204" pitchFamily="34" charset="0"/>
              <a:buChar char="•"/>
            </a:pPr>
            <a:r>
              <a:rPr lang="fr-FR" sz="2000" dirty="0">
                <a:latin typeface="Aptos" panose="020B0004020202020204" pitchFamily="34" charset="0"/>
              </a:rPr>
              <a:t>Habilitations spécifiques.</a:t>
            </a:r>
          </a:p>
        </p:txBody>
      </p:sp>
      <p:sp>
        <p:nvSpPr>
          <p:cNvPr id="11" name="ZoneTexte 10">
            <a:extLst>
              <a:ext uri="{FF2B5EF4-FFF2-40B4-BE49-F238E27FC236}">
                <a16:creationId xmlns:a16="http://schemas.microsoft.com/office/drawing/2014/main" id="{54BA9029-32BF-4354-9112-CD17D790916C}"/>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Types d'autorisations généralement observées en Afrique</a:t>
            </a:r>
          </a:p>
        </p:txBody>
      </p:sp>
      <p:sp>
        <p:nvSpPr>
          <p:cNvPr id="15" name="ZoneTexte 14">
            <a:extLst>
              <a:ext uri="{FF2B5EF4-FFF2-40B4-BE49-F238E27FC236}">
                <a16:creationId xmlns:a16="http://schemas.microsoft.com/office/drawing/2014/main" id="{367D1BD9-5863-4E1C-859D-1D652701C9B2}"/>
              </a:ext>
            </a:extLst>
          </p:cNvPr>
          <p:cNvSpPr txBox="1"/>
          <p:nvPr/>
        </p:nvSpPr>
        <p:spPr>
          <a:xfrm>
            <a:off x="5486401" y="2724937"/>
            <a:ext cx="4774138" cy="1631216"/>
          </a:xfrm>
          <a:prstGeom prst="rect">
            <a:avLst/>
          </a:prstGeom>
          <a:noFill/>
        </p:spPr>
        <p:txBody>
          <a:bodyPr wrap="square">
            <a:spAutoFit/>
          </a:bodyPr>
          <a:lstStyle/>
          <a:p>
            <a:r>
              <a:rPr lang="fr-FR" sz="2000" b="1" dirty="0">
                <a:latin typeface="Aptos" panose="020B0004020202020204" pitchFamily="34" charset="0"/>
              </a:rPr>
              <a:t>Autorisations relatives aux produits</a:t>
            </a:r>
          </a:p>
          <a:p>
            <a:r>
              <a:rPr lang="fr-FR" sz="2000" dirty="0">
                <a:latin typeface="Aptos" panose="020B0004020202020204" pitchFamily="34" charset="0"/>
              </a:rPr>
              <a:t>Selon les pays :</a:t>
            </a:r>
          </a:p>
          <a:p>
            <a:pPr marL="742950" lvl="1" indent="-285750">
              <a:buFont typeface="Arial" panose="020B0604020202020204" pitchFamily="34" charset="0"/>
              <a:buChar char="•"/>
            </a:pPr>
            <a:r>
              <a:rPr lang="fr-FR" sz="2000" dirty="0">
                <a:latin typeface="Aptos" panose="020B0004020202020204" pitchFamily="34" charset="0"/>
              </a:rPr>
              <a:t>Stupéfiants ; </a:t>
            </a:r>
          </a:p>
          <a:p>
            <a:pPr marL="742950" lvl="1" indent="-285750">
              <a:buFont typeface="Arial" panose="020B0604020202020204" pitchFamily="34" charset="0"/>
              <a:buChar char="•"/>
            </a:pPr>
            <a:r>
              <a:rPr lang="fr-FR" sz="2000" dirty="0">
                <a:latin typeface="Aptos" panose="020B0004020202020204" pitchFamily="34" charset="0"/>
              </a:rPr>
              <a:t>Psychotropes ; </a:t>
            </a:r>
          </a:p>
          <a:p>
            <a:pPr marL="742950" lvl="1" indent="-285750">
              <a:buFont typeface="Arial" panose="020B0604020202020204" pitchFamily="34" charset="0"/>
              <a:buChar char="•"/>
            </a:pPr>
            <a:r>
              <a:rPr lang="fr-FR" sz="2000" dirty="0">
                <a:latin typeface="Aptos" panose="020B0004020202020204" pitchFamily="34" charset="0"/>
              </a:rPr>
              <a:t>Produits sous contrôle particulier.</a:t>
            </a:r>
          </a:p>
        </p:txBody>
      </p:sp>
      <p:sp>
        <p:nvSpPr>
          <p:cNvPr id="16" name="ZoneTexte 15">
            <a:extLst>
              <a:ext uri="{FF2B5EF4-FFF2-40B4-BE49-F238E27FC236}">
                <a16:creationId xmlns:a16="http://schemas.microsoft.com/office/drawing/2014/main" id="{58E18837-BCC6-4F3C-8836-52F1750DDEF7}"/>
              </a:ext>
            </a:extLst>
          </p:cNvPr>
          <p:cNvSpPr txBox="1"/>
          <p:nvPr/>
        </p:nvSpPr>
        <p:spPr>
          <a:xfrm>
            <a:off x="5486401" y="4609692"/>
            <a:ext cx="6587354" cy="1938992"/>
          </a:xfrm>
          <a:prstGeom prst="rect">
            <a:avLst/>
          </a:prstGeom>
          <a:noFill/>
        </p:spPr>
        <p:txBody>
          <a:bodyPr wrap="square">
            <a:spAutoFit/>
          </a:bodyPr>
          <a:lstStyle/>
          <a:p>
            <a:r>
              <a:rPr lang="fr-FR" sz="2000" b="1" dirty="0">
                <a:latin typeface="Aptos" panose="020B0004020202020204" pitchFamily="34" charset="0"/>
              </a:rPr>
              <a:t>Autorisations relatives aux activités complémentaires :</a:t>
            </a:r>
          </a:p>
          <a:p>
            <a:r>
              <a:rPr lang="fr-FR" sz="2000" dirty="0">
                <a:latin typeface="Aptos" panose="020B0004020202020204" pitchFamily="34" charset="0"/>
              </a:rPr>
              <a:t>Selon la réglementation nationale :</a:t>
            </a:r>
          </a:p>
          <a:p>
            <a:pPr marL="800100" lvl="1" indent="-342900">
              <a:buFont typeface="Arial" panose="020B0604020202020204" pitchFamily="34" charset="0"/>
              <a:buChar char="•"/>
            </a:pPr>
            <a:r>
              <a:rPr lang="fr-FR" sz="2000" dirty="0">
                <a:latin typeface="Aptos" panose="020B0004020202020204" pitchFamily="34" charset="0"/>
              </a:rPr>
              <a:t>vente en ligne ; </a:t>
            </a:r>
          </a:p>
          <a:p>
            <a:pPr marL="800100" lvl="1" indent="-342900">
              <a:buFont typeface="Arial" panose="020B0604020202020204" pitchFamily="34" charset="0"/>
              <a:buChar char="•"/>
            </a:pPr>
            <a:r>
              <a:rPr lang="fr-FR" sz="2000" dirty="0">
                <a:latin typeface="Aptos" panose="020B0004020202020204" pitchFamily="34" charset="0"/>
              </a:rPr>
              <a:t>vaccination ; </a:t>
            </a:r>
          </a:p>
          <a:p>
            <a:pPr marL="800100" lvl="1" indent="-342900">
              <a:buFont typeface="Arial" panose="020B0604020202020204" pitchFamily="34" charset="0"/>
              <a:buChar char="•"/>
            </a:pPr>
            <a:r>
              <a:rPr lang="fr-FR" sz="2000" dirty="0">
                <a:latin typeface="Aptos" panose="020B0004020202020204" pitchFamily="34" charset="0"/>
              </a:rPr>
              <a:t>dépistage ; </a:t>
            </a:r>
          </a:p>
          <a:p>
            <a:pPr marL="800100" lvl="1" indent="-342900">
              <a:buFont typeface="Arial" panose="020B0604020202020204" pitchFamily="34" charset="0"/>
              <a:buChar char="•"/>
            </a:pPr>
            <a:r>
              <a:rPr lang="fr-FR" sz="2000" dirty="0">
                <a:latin typeface="Aptos" panose="020B0004020202020204" pitchFamily="34" charset="0"/>
              </a:rPr>
              <a:t>services pharmaceutiques élargis.</a:t>
            </a:r>
          </a:p>
        </p:txBody>
      </p:sp>
    </p:spTree>
    <p:extLst>
      <p:ext uri="{BB962C8B-B14F-4D97-AF65-F5344CB8AC3E}">
        <p14:creationId xmlns:p14="http://schemas.microsoft.com/office/powerpoint/2010/main" val="1819329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autorisations et des renouvellements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Cycle de vie d'une autorisation</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751074" y="2551605"/>
            <a:ext cx="7252023" cy="2862322"/>
          </a:xfrm>
          <a:prstGeom prst="rect">
            <a:avLst/>
          </a:prstGeom>
          <a:noFill/>
        </p:spPr>
        <p:txBody>
          <a:bodyPr wrap="square">
            <a:spAutoFit/>
          </a:bodyPr>
          <a:lstStyle/>
          <a:p>
            <a:r>
              <a:rPr lang="fr-FR" sz="2000" dirty="0">
                <a:latin typeface="Aptos" panose="020B0004020202020204" pitchFamily="34" charset="0"/>
              </a:rPr>
              <a:t>Une autorisation suit généralement plusieurs étapes :</a:t>
            </a:r>
          </a:p>
          <a:p>
            <a:pPr marL="800100" lvl="1" indent="-342900">
              <a:buFont typeface="Arial" panose="020B0604020202020204" pitchFamily="34" charset="0"/>
              <a:buChar char="•"/>
            </a:pPr>
            <a:r>
              <a:rPr lang="fr-FR" sz="2000" dirty="0">
                <a:latin typeface="Aptos" panose="020B0004020202020204" pitchFamily="34" charset="0"/>
              </a:rPr>
              <a:t>Demande</a:t>
            </a:r>
          </a:p>
          <a:p>
            <a:pPr marL="800100" lvl="1" indent="-342900">
              <a:buFont typeface="Arial" panose="020B0604020202020204" pitchFamily="34" charset="0"/>
              <a:buChar char="•"/>
            </a:pPr>
            <a:r>
              <a:rPr lang="fr-FR" sz="2000" dirty="0">
                <a:latin typeface="Aptos" panose="020B0004020202020204" pitchFamily="34" charset="0"/>
              </a:rPr>
              <a:t>Évaluation</a:t>
            </a:r>
          </a:p>
          <a:p>
            <a:pPr marL="800100" lvl="1" indent="-342900">
              <a:buFont typeface="Arial" panose="020B0604020202020204" pitchFamily="34" charset="0"/>
              <a:buChar char="•"/>
            </a:pPr>
            <a:r>
              <a:rPr lang="fr-FR" sz="2000" dirty="0">
                <a:latin typeface="Aptos" panose="020B0004020202020204" pitchFamily="34" charset="0"/>
              </a:rPr>
              <a:t>Inspection</a:t>
            </a:r>
          </a:p>
          <a:p>
            <a:pPr marL="800100" lvl="1" indent="-342900">
              <a:buFont typeface="Arial" panose="020B0604020202020204" pitchFamily="34" charset="0"/>
              <a:buChar char="•"/>
            </a:pPr>
            <a:r>
              <a:rPr lang="fr-FR" sz="2000" dirty="0">
                <a:latin typeface="Aptos" panose="020B0004020202020204" pitchFamily="34" charset="0"/>
              </a:rPr>
              <a:t>Décision</a:t>
            </a:r>
          </a:p>
          <a:p>
            <a:pPr marL="800100" lvl="1" indent="-342900">
              <a:buFont typeface="Arial" panose="020B0604020202020204" pitchFamily="34" charset="0"/>
              <a:buChar char="•"/>
            </a:pPr>
            <a:r>
              <a:rPr lang="fr-FR" sz="2000" dirty="0">
                <a:latin typeface="Aptos" panose="020B0004020202020204" pitchFamily="34" charset="0"/>
              </a:rPr>
              <a:t>Délivrance</a:t>
            </a:r>
          </a:p>
          <a:p>
            <a:pPr marL="800100" lvl="1" indent="-342900">
              <a:buFont typeface="Arial" panose="020B0604020202020204" pitchFamily="34" charset="0"/>
              <a:buChar char="•"/>
            </a:pPr>
            <a:r>
              <a:rPr lang="fr-FR" sz="2000" dirty="0">
                <a:latin typeface="Aptos" panose="020B0004020202020204" pitchFamily="34" charset="0"/>
              </a:rPr>
              <a:t>Renouvellement</a:t>
            </a:r>
          </a:p>
          <a:p>
            <a:pPr marL="800100" lvl="1" indent="-342900">
              <a:buFont typeface="Arial" panose="020B0604020202020204" pitchFamily="34" charset="0"/>
              <a:buChar char="•"/>
            </a:pPr>
            <a:r>
              <a:rPr lang="fr-FR" sz="2000" dirty="0">
                <a:latin typeface="Aptos" panose="020B0004020202020204" pitchFamily="34" charset="0"/>
              </a:rPr>
              <a:t>Suspension éventuelle</a:t>
            </a:r>
          </a:p>
          <a:p>
            <a:pPr marL="800100" lvl="1" indent="-342900">
              <a:buFont typeface="Arial" panose="020B0604020202020204" pitchFamily="34" charset="0"/>
              <a:buChar char="•"/>
            </a:pPr>
            <a:r>
              <a:rPr lang="fr-FR" sz="2000" dirty="0">
                <a:latin typeface="Aptos" panose="020B0004020202020204" pitchFamily="34" charset="0"/>
              </a:rPr>
              <a:t>Retrait éventuel</a:t>
            </a:r>
          </a:p>
        </p:txBody>
      </p:sp>
      <p:sp>
        <p:nvSpPr>
          <p:cNvPr id="11" name="ZoneTexte 10">
            <a:extLst>
              <a:ext uri="{FF2B5EF4-FFF2-40B4-BE49-F238E27FC236}">
                <a16:creationId xmlns:a16="http://schemas.microsoft.com/office/drawing/2014/main" id="{54BA9029-32BF-4354-9112-CD17D790916C}"/>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Les étapes</a:t>
            </a:r>
          </a:p>
        </p:txBody>
      </p:sp>
    </p:spTree>
    <p:extLst>
      <p:ext uri="{BB962C8B-B14F-4D97-AF65-F5344CB8AC3E}">
        <p14:creationId xmlns:p14="http://schemas.microsoft.com/office/powerpoint/2010/main" val="4249889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autorisations et des renouvellements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Cycle de vie d'une autorisation</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751074" y="2551605"/>
            <a:ext cx="7252023" cy="1631216"/>
          </a:xfrm>
          <a:prstGeom prst="rect">
            <a:avLst/>
          </a:prstGeom>
          <a:noFill/>
        </p:spPr>
        <p:txBody>
          <a:bodyPr wrap="square">
            <a:spAutoFit/>
          </a:bodyPr>
          <a:lstStyle/>
          <a:p>
            <a:r>
              <a:rPr lang="fr-FR" sz="2000" dirty="0">
                <a:latin typeface="Aptos" panose="020B0004020202020204" pitchFamily="34" charset="0"/>
              </a:rPr>
              <a:t>Une autorisation expirée peut entraîner :</a:t>
            </a:r>
          </a:p>
          <a:p>
            <a:pPr marL="800100" lvl="1" indent="-342900">
              <a:buFont typeface="Arial" panose="020B0604020202020204" pitchFamily="34" charset="0"/>
              <a:buChar char="•"/>
            </a:pPr>
            <a:r>
              <a:rPr lang="fr-FR" sz="2000" dirty="0">
                <a:latin typeface="Aptos" panose="020B0004020202020204" pitchFamily="34" charset="0"/>
              </a:rPr>
              <a:t>Une mise en demeure ;</a:t>
            </a:r>
          </a:p>
          <a:p>
            <a:pPr marL="800100" lvl="1" indent="-342900">
              <a:buFont typeface="Arial" panose="020B0604020202020204" pitchFamily="34" charset="0"/>
              <a:buChar char="•"/>
            </a:pPr>
            <a:r>
              <a:rPr lang="fr-FR" sz="2000" dirty="0">
                <a:latin typeface="Aptos" panose="020B0004020202020204" pitchFamily="34" charset="0"/>
              </a:rPr>
              <a:t>Une suspension ;</a:t>
            </a:r>
          </a:p>
          <a:p>
            <a:pPr marL="800100" lvl="1" indent="-342900">
              <a:buFont typeface="Arial" panose="020B0604020202020204" pitchFamily="34" charset="0"/>
              <a:buChar char="•"/>
            </a:pPr>
            <a:r>
              <a:rPr lang="fr-FR" sz="2000" dirty="0">
                <a:latin typeface="Aptos" panose="020B0004020202020204" pitchFamily="34" charset="0"/>
              </a:rPr>
              <a:t>Une fermeture administrative ;</a:t>
            </a:r>
          </a:p>
          <a:p>
            <a:pPr marL="800100" lvl="1" indent="-342900">
              <a:buFont typeface="Arial" panose="020B0604020202020204" pitchFamily="34" charset="0"/>
              <a:buChar char="•"/>
            </a:pPr>
            <a:r>
              <a:rPr lang="fr-FR" sz="2000" dirty="0">
                <a:latin typeface="Aptos" panose="020B0004020202020204" pitchFamily="34" charset="0"/>
              </a:rPr>
              <a:t>Des sanctions ordinales.</a:t>
            </a:r>
          </a:p>
        </p:txBody>
      </p:sp>
      <p:sp>
        <p:nvSpPr>
          <p:cNvPr id="11" name="ZoneTexte 10">
            <a:extLst>
              <a:ext uri="{FF2B5EF4-FFF2-40B4-BE49-F238E27FC236}">
                <a16:creationId xmlns:a16="http://schemas.microsoft.com/office/drawing/2014/main" id="{54BA9029-32BF-4354-9112-CD17D790916C}"/>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Risques de non-renouvellement</a:t>
            </a:r>
          </a:p>
        </p:txBody>
      </p:sp>
    </p:spTree>
    <p:extLst>
      <p:ext uri="{BB962C8B-B14F-4D97-AF65-F5344CB8AC3E}">
        <p14:creationId xmlns:p14="http://schemas.microsoft.com/office/powerpoint/2010/main" val="3090795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autorisations et des renouvellements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autorisations d'officine au bénin</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751074" y="2551605"/>
            <a:ext cx="9936500" cy="1323439"/>
          </a:xfrm>
          <a:prstGeom prst="rect">
            <a:avLst/>
          </a:prstGeom>
          <a:noFill/>
        </p:spPr>
        <p:txBody>
          <a:bodyPr wrap="square">
            <a:spAutoFit/>
          </a:bodyPr>
          <a:lstStyle/>
          <a:p>
            <a:r>
              <a:rPr lang="fr-FR" sz="2000" dirty="0">
                <a:latin typeface="Aptos" panose="020B0004020202020204" pitchFamily="34" charset="0"/>
              </a:rPr>
              <a:t>Le cadre béninois repose notamment sur :</a:t>
            </a:r>
          </a:p>
          <a:p>
            <a:pPr marL="342900" indent="-342900">
              <a:buFont typeface="Arial" panose="020B0604020202020204" pitchFamily="34" charset="0"/>
              <a:buChar char="•"/>
            </a:pPr>
            <a:r>
              <a:rPr lang="fr-FR" sz="2000" dirty="0">
                <a:latin typeface="Aptos" panose="020B0004020202020204" pitchFamily="34" charset="0"/>
              </a:rPr>
              <a:t>Loi n°2021-03 portant organisation des activités pharmaceutiques</a:t>
            </a:r>
          </a:p>
          <a:p>
            <a:pPr marL="342900" indent="-342900">
              <a:buFont typeface="Arial" panose="020B0604020202020204" pitchFamily="34" charset="0"/>
              <a:buChar char="•"/>
            </a:pPr>
            <a:r>
              <a:rPr lang="fr-FR" sz="2000" dirty="0">
                <a:latin typeface="Aptos" panose="020B0004020202020204" pitchFamily="34" charset="0"/>
              </a:rPr>
              <a:t>Décret n°2024-1296 fixant les conditions de création et d'exploitation des officines</a:t>
            </a:r>
          </a:p>
          <a:p>
            <a:pPr marL="342900" indent="-342900">
              <a:buFont typeface="Arial" panose="020B0604020202020204" pitchFamily="34" charset="0"/>
              <a:buChar char="•"/>
            </a:pPr>
            <a:r>
              <a:rPr lang="fr-FR" sz="2000" dirty="0">
                <a:latin typeface="Aptos" panose="020B0004020202020204" pitchFamily="34" charset="0"/>
              </a:rPr>
              <a:t>Textes d'application de l'ABMed</a:t>
            </a:r>
          </a:p>
        </p:txBody>
      </p:sp>
      <p:sp>
        <p:nvSpPr>
          <p:cNvPr id="11" name="ZoneTexte 10">
            <a:extLst>
              <a:ext uri="{FF2B5EF4-FFF2-40B4-BE49-F238E27FC236}">
                <a16:creationId xmlns:a16="http://schemas.microsoft.com/office/drawing/2014/main" id="{54BA9029-32BF-4354-9112-CD17D790916C}"/>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Références réglementaires</a:t>
            </a:r>
          </a:p>
        </p:txBody>
      </p:sp>
      <p:sp>
        <p:nvSpPr>
          <p:cNvPr id="13" name="ZoneTexte 12">
            <a:extLst>
              <a:ext uri="{FF2B5EF4-FFF2-40B4-BE49-F238E27FC236}">
                <a16:creationId xmlns:a16="http://schemas.microsoft.com/office/drawing/2014/main" id="{36AC647D-A943-4BF0-9C93-A5C3D8943D95}"/>
              </a:ext>
            </a:extLst>
          </p:cNvPr>
          <p:cNvSpPr txBox="1"/>
          <p:nvPr/>
        </p:nvSpPr>
        <p:spPr>
          <a:xfrm>
            <a:off x="751074" y="4586012"/>
            <a:ext cx="9936500" cy="707886"/>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Toute officine doit disposer d'une autorisation régulièrement délivrée.</a:t>
            </a:r>
          </a:p>
          <a:p>
            <a:pPr marL="342900" indent="-342900">
              <a:buFont typeface="Arial" panose="020B0604020202020204" pitchFamily="34" charset="0"/>
              <a:buChar char="•"/>
            </a:pPr>
            <a:r>
              <a:rPr lang="fr-FR" sz="2000" dirty="0">
                <a:latin typeface="Aptos" panose="020B0004020202020204" pitchFamily="34" charset="0"/>
              </a:rPr>
              <a:t>Cette autorisation constitue la base légale de l'exploitation.</a:t>
            </a:r>
          </a:p>
        </p:txBody>
      </p:sp>
      <p:sp>
        <p:nvSpPr>
          <p:cNvPr id="15" name="ZoneTexte 14">
            <a:extLst>
              <a:ext uri="{FF2B5EF4-FFF2-40B4-BE49-F238E27FC236}">
                <a16:creationId xmlns:a16="http://schemas.microsoft.com/office/drawing/2014/main" id="{8337C902-96DE-4C9E-89D4-7850F67AF655}"/>
              </a:ext>
            </a:extLst>
          </p:cNvPr>
          <p:cNvSpPr txBox="1"/>
          <p:nvPr/>
        </p:nvSpPr>
        <p:spPr>
          <a:xfrm>
            <a:off x="751074" y="4226697"/>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Autorisation de création et d'exploitation</a:t>
            </a:r>
          </a:p>
        </p:txBody>
      </p:sp>
    </p:spTree>
    <p:extLst>
      <p:ext uri="{BB962C8B-B14F-4D97-AF65-F5344CB8AC3E}">
        <p14:creationId xmlns:p14="http://schemas.microsoft.com/office/powerpoint/2010/main" val="555195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autorisations et des renouvellements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autorisations d'officine au bénin</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751074" y="2551605"/>
            <a:ext cx="5344926" cy="224676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Création</a:t>
            </a:r>
          </a:p>
          <a:p>
            <a:pPr marL="342900" indent="-342900">
              <a:buFont typeface="Arial" panose="020B0604020202020204" pitchFamily="34" charset="0"/>
              <a:buChar char="•"/>
            </a:pPr>
            <a:r>
              <a:rPr lang="fr-FR" sz="2000" dirty="0">
                <a:latin typeface="Aptos" panose="020B0004020202020204" pitchFamily="34" charset="0"/>
              </a:rPr>
              <a:t>Déplacement</a:t>
            </a:r>
          </a:p>
          <a:p>
            <a:pPr marL="342900" indent="-342900">
              <a:buFont typeface="Arial" panose="020B0604020202020204" pitchFamily="34" charset="0"/>
              <a:buChar char="•"/>
            </a:pPr>
            <a:r>
              <a:rPr lang="fr-FR" sz="2000" dirty="0">
                <a:latin typeface="Aptos" panose="020B0004020202020204" pitchFamily="34" charset="0"/>
              </a:rPr>
              <a:t>Transfert</a:t>
            </a:r>
          </a:p>
          <a:p>
            <a:pPr marL="342900" indent="-342900">
              <a:buFont typeface="Arial" panose="020B0604020202020204" pitchFamily="34" charset="0"/>
              <a:buChar char="•"/>
            </a:pPr>
            <a:r>
              <a:rPr lang="fr-FR" sz="2000" dirty="0">
                <a:latin typeface="Aptos" panose="020B0004020202020204" pitchFamily="34" charset="0"/>
              </a:rPr>
              <a:t>Changement de titulaire</a:t>
            </a:r>
          </a:p>
          <a:p>
            <a:pPr marL="342900" indent="-342900">
              <a:buFont typeface="Arial" panose="020B0604020202020204" pitchFamily="34" charset="0"/>
              <a:buChar char="•"/>
            </a:pPr>
            <a:r>
              <a:rPr lang="fr-FR" sz="2000" dirty="0">
                <a:latin typeface="Aptos" panose="020B0004020202020204" pitchFamily="34" charset="0"/>
              </a:rPr>
              <a:t>Rachat</a:t>
            </a:r>
          </a:p>
          <a:p>
            <a:pPr marL="342900" indent="-342900">
              <a:buFont typeface="Arial" panose="020B0604020202020204" pitchFamily="34" charset="0"/>
              <a:buChar char="•"/>
            </a:pPr>
            <a:r>
              <a:rPr lang="fr-FR" sz="2000" dirty="0">
                <a:latin typeface="Aptos" panose="020B0004020202020204" pitchFamily="34" charset="0"/>
              </a:rPr>
              <a:t>Modification substantielle des locaux</a:t>
            </a:r>
          </a:p>
          <a:p>
            <a:pPr marL="342900" indent="-342900">
              <a:buFont typeface="Arial" panose="020B0604020202020204" pitchFamily="34" charset="0"/>
              <a:buChar char="•"/>
            </a:pPr>
            <a:r>
              <a:rPr lang="fr-FR" sz="2000" dirty="0">
                <a:latin typeface="Aptos" panose="020B0004020202020204" pitchFamily="34" charset="0"/>
              </a:rPr>
              <a:t>Modification de l'organisation juridique</a:t>
            </a:r>
          </a:p>
        </p:txBody>
      </p:sp>
      <p:sp>
        <p:nvSpPr>
          <p:cNvPr id="11" name="ZoneTexte 10">
            <a:extLst>
              <a:ext uri="{FF2B5EF4-FFF2-40B4-BE49-F238E27FC236}">
                <a16:creationId xmlns:a16="http://schemas.microsoft.com/office/drawing/2014/main" id="{54BA9029-32BF-4354-9112-CD17D790916C}"/>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Situations nécessitant une nouvelle démarche réglementaire</a:t>
            </a:r>
          </a:p>
        </p:txBody>
      </p:sp>
    </p:spTree>
    <p:extLst>
      <p:ext uri="{BB962C8B-B14F-4D97-AF65-F5344CB8AC3E}">
        <p14:creationId xmlns:p14="http://schemas.microsoft.com/office/powerpoint/2010/main" val="1422262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autorisations et des renouvellements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Inscription à l'ordre national des pharmaciens</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751073" y="2551605"/>
            <a:ext cx="9433162" cy="317009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L'inscription à l'Ordre constitue la reconnaissance officielle du droit d'exercer.</a:t>
            </a:r>
          </a:p>
          <a:p>
            <a:pPr marL="342900" indent="-342900">
              <a:buFont typeface="Arial" panose="020B0604020202020204" pitchFamily="34" charset="0"/>
              <a:buChar char="•"/>
            </a:pPr>
            <a:r>
              <a:rPr lang="fr-FR" sz="2000" dirty="0">
                <a:latin typeface="Aptos" panose="020B0004020202020204" pitchFamily="34" charset="0"/>
              </a:rPr>
              <a:t>Sans inscription régulière :</a:t>
            </a:r>
          </a:p>
          <a:p>
            <a:pPr marL="800100" lvl="1" indent="-342900">
              <a:buFont typeface="Courier New" panose="02070309020205020404" pitchFamily="49" charset="0"/>
              <a:buChar char="o"/>
            </a:pPr>
            <a:r>
              <a:rPr lang="fr-FR" sz="2000" dirty="0">
                <a:latin typeface="Aptos" panose="020B0004020202020204" pitchFamily="34" charset="0"/>
              </a:rPr>
              <a:t>Le pharmacien ne peut légalement exercer ;</a:t>
            </a:r>
          </a:p>
          <a:p>
            <a:pPr marL="800100" lvl="1" indent="-342900">
              <a:buFont typeface="Courier New" panose="02070309020205020404" pitchFamily="49" charset="0"/>
              <a:buChar char="o"/>
            </a:pPr>
            <a:r>
              <a:rPr lang="fr-FR" sz="2000" dirty="0">
                <a:latin typeface="Aptos" panose="020B0004020202020204" pitchFamily="34" charset="0"/>
              </a:rPr>
              <a:t>Certaines autorisations peuvent être remises en cause.</a:t>
            </a:r>
          </a:p>
          <a:p>
            <a:pPr marL="800100" lvl="1" indent="-342900">
              <a:buFont typeface="Courier New" panose="02070309020205020404" pitchFamily="49" charset="0"/>
              <a:buChar char="o"/>
            </a:pPr>
            <a:endParaRPr lang="fr-FR" sz="14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Documents à surveiller </a:t>
            </a:r>
            <a:r>
              <a:rPr lang="fr-FR" sz="2000" dirty="0">
                <a:latin typeface="Aptos" panose="020B0004020202020204" pitchFamily="34" charset="0"/>
              </a:rPr>
              <a:t>:</a:t>
            </a:r>
          </a:p>
          <a:p>
            <a:pPr marL="800100" lvl="1" indent="-342900">
              <a:buFont typeface="Courier New" panose="02070309020205020404" pitchFamily="49" charset="0"/>
              <a:buChar char="o"/>
            </a:pPr>
            <a:r>
              <a:rPr lang="fr-FR" sz="2000" dirty="0">
                <a:latin typeface="Aptos" panose="020B0004020202020204" pitchFamily="34" charset="0"/>
              </a:rPr>
              <a:t>Attestation d'inscription</a:t>
            </a:r>
          </a:p>
          <a:p>
            <a:pPr marL="800100" lvl="1" indent="-342900">
              <a:buFont typeface="Courier New" panose="02070309020205020404" pitchFamily="49" charset="0"/>
              <a:buChar char="o"/>
            </a:pPr>
            <a:r>
              <a:rPr lang="fr-FR" sz="2000" dirty="0">
                <a:latin typeface="Aptos" panose="020B0004020202020204" pitchFamily="34" charset="0"/>
              </a:rPr>
              <a:t>Cotisations ordinales</a:t>
            </a:r>
          </a:p>
          <a:p>
            <a:pPr marL="800100" lvl="1" indent="-342900">
              <a:buFont typeface="Courier New" panose="02070309020205020404" pitchFamily="49" charset="0"/>
              <a:buChar char="o"/>
            </a:pPr>
            <a:r>
              <a:rPr lang="fr-FR" sz="2000" dirty="0">
                <a:latin typeface="Aptos" panose="020B0004020202020204" pitchFamily="34" charset="0"/>
              </a:rPr>
              <a:t>Mise à jour des informations professionnelles</a:t>
            </a:r>
          </a:p>
          <a:p>
            <a:pPr marL="800100" lvl="1" indent="-342900">
              <a:buFont typeface="Courier New" panose="02070309020205020404" pitchFamily="49" charset="0"/>
              <a:buChar char="o"/>
            </a:pPr>
            <a:r>
              <a:rPr lang="fr-FR" sz="2000" dirty="0">
                <a:latin typeface="Aptos" panose="020B0004020202020204" pitchFamily="34" charset="0"/>
              </a:rPr>
              <a:t>Déclarations obligatoires</a:t>
            </a:r>
          </a:p>
        </p:txBody>
      </p:sp>
      <p:sp>
        <p:nvSpPr>
          <p:cNvPr id="11" name="ZoneTexte 10">
            <a:extLst>
              <a:ext uri="{FF2B5EF4-FFF2-40B4-BE49-F238E27FC236}">
                <a16:creationId xmlns:a16="http://schemas.microsoft.com/office/drawing/2014/main" id="{54BA9029-32BF-4354-9112-CD17D790916C}"/>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Pourquoi cette obligation est essentielle ?</a:t>
            </a:r>
          </a:p>
        </p:txBody>
      </p:sp>
      <p:sp>
        <p:nvSpPr>
          <p:cNvPr id="13" name="ZoneTexte 12">
            <a:extLst>
              <a:ext uri="{FF2B5EF4-FFF2-40B4-BE49-F238E27FC236}">
                <a16:creationId xmlns:a16="http://schemas.microsoft.com/office/drawing/2014/main" id="{447A7A85-43FA-4FA2-A05A-FE77F7DE9D60}"/>
              </a:ext>
            </a:extLst>
          </p:cNvPr>
          <p:cNvSpPr txBox="1"/>
          <p:nvPr/>
        </p:nvSpPr>
        <p:spPr>
          <a:xfrm>
            <a:off x="919730" y="5688813"/>
            <a:ext cx="10933913" cy="707886"/>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Le pharmacien doit maintenir une situation ordinale régulière et signaler toute modification importante de sa situation professionnelle.</a:t>
            </a:r>
          </a:p>
        </p:txBody>
      </p:sp>
    </p:spTree>
    <p:extLst>
      <p:ext uri="{BB962C8B-B14F-4D97-AF65-F5344CB8AC3E}">
        <p14:creationId xmlns:p14="http://schemas.microsoft.com/office/powerpoint/2010/main" val="1342255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autorisations et des renouvellements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Assurance responsabilité civile professionnelle</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751073" y="2551605"/>
            <a:ext cx="9433162" cy="3170099"/>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Elle protège :</a:t>
            </a:r>
          </a:p>
          <a:p>
            <a:pPr marL="800100" lvl="1" indent="-342900">
              <a:buFont typeface="Courier New" panose="02070309020205020404" pitchFamily="49" charset="0"/>
              <a:buChar char="o"/>
            </a:pPr>
            <a:r>
              <a:rPr lang="fr-FR" sz="2000" dirty="0">
                <a:latin typeface="Aptos" panose="020B0004020202020204" pitchFamily="34" charset="0"/>
              </a:rPr>
              <a:t>Le patient</a:t>
            </a:r>
          </a:p>
          <a:p>
            <a:pPr marL="800100" lvl="1" indent="-342900">
              <a:buFont typeface="Courier New" panose="02070309020205020404" pitchFamily="49" charset="0"/>
              <a:buChar char="o"/>
            </a:pPr>
            <a:r>
              <a:rPr lang="fr-FR" sz="2000" dirty="0">
                <a:latin typeface="Aptos" panose="020B0004020202020204" pitchFamily="34" charset="0"/>
              </a:rPr>
              <a:t>Le pharmacien</a:t>
            </a:r>
          </a:p>
          <a:p>
            <a:pPr marL="800100" lvl="1" indent="-342900">
              <a:buFont typeface="Courier New" panose="02070309020205020404" pitchFamily="49" charset="0"/>
              <a:buChar char="o"/>
            </a:pPr>
            <a:r>
              <a:rPr lang="fr-FR" sz="2000" dirty="0">
                <a:latin typeface="Aptos" panose="020B0004020202020204" pitchFamily="34" charset="0"/>
              </a:rPr>
              <a:t>L'officine</a:t>
            </a:r>
          </a:p>
          <a:p>
            <a:pPr marL="800100" lvl="1" indent="-342900">
              <a:buFont typeface="Courier New" panose="02070309020205020404" pitchFamily="49" charset="0"/>
              <a:buChar char="o"/>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Situations couvertes</a:t>
            </a:r>
          </a:p>
          <a:p>
            <a:pPr marL="800100" lvl="1" indent="-342900">
              <a:buFont typeface="Courier New" panose="02070309020205020404" pitchFamily="49" charset="0"/>
              <a:buChar char="o"/>
            </a:pPr>
            <a:r>
              <a:rPr lang="fr-FR" sz="2000" dirty="0">
                <a:latin typeface="Aptos" panose="020B0004020202020204" pitchFamily="34" charset="0"/>
              </a:rPr>
              <a:t>Erreur de dispensation</a:t>
            </a:r>
          </a:p>
          <a:p>
            <a:pPr marL="800100" lvl="1" indent="-342900">
              <a:buFont typeface="Courier New" panose="02070309020205020404" pitchFamily="49" charset="0"/>
              <a:buChar char="o"/>
            </a:pPr>
            <a:r>
              <a:rPr lang="fr-FR" sz="2000" dirty="0">
                <a:latin typeface="Aptos" panose="020B0004020202020204" pitchFamily="34" charset="0"/>
              </a:rPr>
              <a:t>Préjudice lié à un conseil</a:t>
            </a:r>
          </a:p>
          <a:p>
            <a:pPr marL="800100" lvl="1" indent="-342900">
              <a:buFont typeface="Courier New" panose="02070309020205020404" pitchFamily="49" charset="0"/>
              <a:buChar char="o"/>
            </a:pPr>
            <a:r>
              <a:rPr lang="fr-FR" sz="2000" dirty="0">
                <a:latin typeface="Aptos" panose="020B0004020202020204" pitchFamily="34" charset="0"/>
              </a:rPr>
              <a:t>Dommage professionnel</a:t>
            </a:r>
          </a:p>
          <a:p>
            <a:pPr marL="800100" lvl="1" indent="-342900">
              <a:buFont typeface="Courier New" panose="02070309020205020404" pitchFamily="49" charset="0"/>
              <a:buChar char="o"/>
            </a:pPr>
            <a:r>
              <a:rPr lang="fr-FR" sz="2000" dirty="0">
                <a:latin typeface="Aptos" panose="020B0004020202020204" pitchFamily="34" charset="0"/>
              </a:rPr>
              <a:t>Litige avec un patient</a:t>
            </a:r>
          </a:p>
        </p:txBody>
      </p:sp>
      <p:sp>
        <p:nvSpPr>
          <p:cNvPr id="11" name="ZoneTexte 10">
            <a:extLst>
              <a:ext uri="{FF2B5EF4-FFF2-40B4-BE49-F238E27FC236}">
                <a16:creationId xmlns:a16="http://schemas.microsoft.com/office/drawing/2014/main" id="{54BA9029-32BF-4354-9112-CD17D790916C}"/>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Pourquoi est-elle importante ?</a:t>
            </a:r>
          </a:p>
        </p:txBody>
      </p:sp>
    </p:spTree>
    <p:extLst>
      <p:ext uri="{BB962C8B-B14F-4D97-AF65-F5344CB8AC3E}">
        <p14:creationId xmlns:p14="http://schemas.microsoft.com/office/powerpoint/2010/main" val="94200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autorisations et des renouvellements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Gestion des autorisations spécifiques</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751073" y="2551605"/>
            <a:ext cx="5045720" cy="2862322"/>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Produits stupéfiants :</a:t>
            </a:r>
          </a:p>
          <a:p>
            <a:pPr marL="800100" lvl="1" indent="-342900">
              <a:buFont typeface="Courier New" panose="02070309020205020404" pitchFamily="49" charset="0"/>
              <a:buChar char="o"/>
            </a:pPr>
            <a:r>
              <a:rPr lang="fr-FR" sz="2000" dirty="0">
                <a:latin typeface="Aptos" panose="020B0004020202020204" pitchFamily="34" charset="0"/>
              </a:rPr>
              <a:t>Registres spécifiques</a:t>
            </a:r>
          </a:p>
          <a:p>
            <a:pPr marL="800100" lvl="1" indent="-342900">
              <a:buFont typeface="Courier New" panose="02070309020205020404" pitchFamily="49" charset="0"/>
              <a:buChar char="o"/>
            </a:pPr>
            <a:r>
              <a:rPr lang="fr-FR" sz="2000" dirty="0">
                <a:latin typeface="Aptos" panose="020B0004020202020204" pitchFamily="34" charset="0"/>
              </a:rPr>
              <a:t>Contrôles renforcés</a:t>
            </a:r>
          </a:p>
          <a:p>
            <a:pPr marL="800100" lvl="1" indent="-342900">
              <a:buFont typeface="Courier New" panose="02070309020205020404" pitchFamily="49" charset="0"/>
              <a:buChar char="o"/>
            </a:pPr>
            <a:r>
              <a:rPr lang="fr-FR" sz="2000" dirty="0">
                <a:latin typeface="Aptos" panose="020B0004020202020204" pitchFamily="34" charset="0"/>
              </a:rPr>
              <a:t>Gestion documentaire renforcée</a:t>
            </a:r>
          </a:p>
          <a:p>
            <a:pPr marL="800100" lvl="1" indent="-342900">
              <a:buFont typeface="Courier New" panose="02070309020205020404" pitchFamily="49" charset="0"/>
              <a:buChar char="o"/>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Produits psychotropes :</a:t>
            </a:r>
          </a:p>
          <a:p>
            <a:pPr marL="800100" lvl="1" indent="-342900">
              <a:buFont typeface="Courier New" panose="02070309020205020404" pitchFamily="49" charset="0"/>
              <a:buChar char="o"/>
            </a:pPr>
            <a:r>
              <a:rPr lang="fr-FR" sz="2000" dirty="0">
                <a:latin typeface="Aptos" panose="020B0004020202020204" pitchFamily="34" charset="0"/>
              </a:rPr>
              <a:t>Suivi des mouvements</a:t>
            </a:r>
          </a:p>
          <a:p>
            <a:pPr marL="800100" lvl="1" indent="-342900">
              <a:buFont typeface="Courier New" panose="02070309020205020404" pitchFamily="49" charset="0"/>
              <a:buChar char="o"/>
            </a:pPr>
            <a:r>
              <a:rPr lang="fr-FR" sz="2000" dirty="0">
                <a:latin typeface="Aptos" panose="020B0004020202020204" pitchFamily="34" charset="0"/>
              </a:rPr>
              <a:t>Conservation sécurisée</a:t>
            </a:r>
          </a:p>
          <a:p>
            <a:pPr marL="800100" lvl="1" indent="-342900">
              <a:buFont typeface="Courier New" panose="02070309020205020404" pitchFamily="49" charset="0"/>
              <a:buChar char="o"/>
            </a:pPr>
            <a:r>
              <a:rPr lang="fr-FR" sz="2000" dirty="0">
                <a:latin typeface="Aptos" panose="020B0004020202020204" pitchFamily="34" charset="0"/>
              </a:rPr>
              <a:t>Documentation obligatoire</a:t>
            </a:r>
          </a:p>
        </p:txBody>
      </p:sp>
      <p:sp>
        <p:nvSpPr>
          <p:cNvPr id="11" name="ZoneTexte 10">
            <a:extLst>
              <a:ext uri="{FF2B5EF4-FFF2-40B4-BE49-F238E27FC236}">
                <a16:creationId xmlns:a16="http://schemas.microsoft.com/office/drawing/2014/main" id="{54BA9029-32BF-4354-9112-CD17D790916C}"/>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Suivi particulier</a:t>
            </a:r>
          </a:p>
        </p:txBody>
      </p:sp>
      <p:sp>
        <p:nvSpPr>
          <p:cNvPr id="13" name="ZoneTexte 12">
            <a:extLst>
              <a:ext uri="{FF2B5EF4-FFF2-40B4-BE49-F238E27FC236}">
                <a16:creationId xmlns:a16="http://schemas.microsoft.com/office/drawing/2014/main" id="{AFF96EEF-742F-4BD9-A4E8-CF75BAE8974E}"/>
              </a:ext>
            </a:extLst>
          </p:cNvPr>
          <p:cNvSpPr txBox="1"/>
          <p:nvPr/>
        </p:nvSpPr>
        <p:spPr>
          <a:xfrm>
            <a:off x="5978813" y="2551605"/>
            <a:ext cx="5045720" cy="1015663"/>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Produits thermosensibles :</a:t>
            </a:r>
          </a:p>
          <a:p>
            <a:pPr marL="800100" lvl="1" indent="-342900">
              <a:buFont typeface="Courier New" panose="02070309020205020404" pitchFamily="49" charset="0"/>
              <a:buChar char="o"/>
            </a:pPr>
            <a:r>
              <a:rPr lang="fr-FR" sz="2000" dirty="0">
                <a:latin typeface="Aptos" panose="020B0004020202020204" pitchFamily="34" charset="0"/>
              </a:rPr>
              <a:t>Surveillance continue</a:t>
            </a:r>
          </a:p>
          <a:p>
            <a:pPr marL="800100" lvl="1" indent="-342900">
              <a:buFont typeface="Courier New" panose="02070309020205020404" pitchFamily="49" charset="0"/>
              <a:buChar char="o"/>
            </a:pPr>
            <a:r>
              <a:rPr lang="fr-FR" sz="2000" dirty="0">
                <a:latin typeface="Aptos" panose="020B0004020202020204" pitchFamily="34" charset="0"/>
              </a:rPr>
              <a:t>Documentation de conservation</a:t>
            </a:r>
          </a:p>
        </p:txBody>
      </p:sp>
      <p:sp>
        <p:nvSpPr>
          <p:cNvPr id="15" name="ZoneTexte 14">
            <a:extLst>
              <a:ext uri="{FF2B5EF4-FFF2-40B4-BE49-F238E27FC236}">
                <a16:creationId xmlns:a16="http://schemas.microsoft.com/office/drawing/2014/main" id="{F88BCC6B-8600-4715-8C46-09019BC85B25}"/>
              </a:ext>
            </a:extLst>
          </p:cNvPr>
          <p:cNvSpPr txBox="1"/>
          <p:nvPr/>
        </p:nvSpPr>
        <p:spPr>
          <a:xfrm>
            <a:off x="751073" y="5557811"/>
            <a:ext cx="11102569" cy="707886"/>
          </a:xfrm>
          <a:prstGeom prst="rect">
            <a:avLst/>
          </a:prstGeom>
          <a:noFill/>
        </p:spPr>
        <p:txBody>
          <a:bodyPr wrap="square">
            <a:spAutoFit/>
          </a:bodyPr>
          <a:lstStyle/>
          <a:p>
            <a:r>
              <a:rPr lang="fr-FR" sz="2000" dirty="0">
                <a:latin typeface="Aptos" panose="020B0004020202020204" pitchFamily="34" charset="0"/>
              </a:rPr>
              <a:t>Le pharmacien doit être capable de présenter immédiatement les documents exigés pour les produits soumis à un contrôle particulier.</a:t>
            </a:r>
          </a:p>
        </p:txBody>
      </p:sp>
    </p:spTree>
    <p:extLst>
      <p:ext uri="{BB962C8B-B14F-4D97-AF65-F5344CB8AC3E}">
        <p14:creationId xmlns:p14="http://schemas.microsoft.com/office/powerpoint/2010/main" val="211437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autorisations et des renouvellements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Suivi des échéances réglementaires</a:t>
            </a:r>
            <a:endParaRPr lang="en-US" sz="2400" b="1" dirty="0">
              <a:solidFill>
                <a:schemeClr val="bg1"/>
              </a:solidFill>
            </a:endParaRPr>
          </a:p>
        </p:txBody>
      </p:sp>
      <p:sp>
        <p:nvSpPr>
          <p:cNvPr id="11" name="ZoneTexte 10">
            <a:extLst>
              <a:ext uri="{FF2B5EF4-FFF2-40B4-BE49-F238E27FC236}">
                <a16:creationId xmlns:a16="http://schemas.microsoft.com/office/drawing/2014/main" id="{54BA9029-32BF-4354-9112-CD17D790916C}"/>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Outil recommandé : Calendrier réglementaire</a:t>
            </a:r>
          </a:p>
        </p:txBody>
      </p:sp>
      <p:graphicFrame>
        <p:nvGraphicFramePr>
          <p:cNvPr id="2" name="Tableau 1">
            <a:extLst>
              <a:ext uri="{FF2B5EF4-FFF2-40B4-BE49-F238E27FC236}">
                <a16:creationId xmlns:a16="http://schemas.microsoft.com/office/drawing/2014/main" id="{E9A45F10-D365-4EB8-9E32-2FD034352132}"/>
              </a:ext>
            </a:extLst>
          </p:cNvPr>
          <p:cNvGraphicFramePr>
            <a:graphicFrameLocks noGrp="1"/>
          </p:cNvGraphicFramePr>
          <p:nvPr>
            <p:extLst>
              <p:ext uri="{D42A27DB-BD31-4B8C-83A1-F6EECF244321}">
                <p14:modId xmlns:p14="http://schemas.microsoft.com/office/powerpoint/2010/main" val="2584643206"/>
              </p:ext>
            </p:extLst>
          </p:nvPr>
        </p:nvGraphicFramePr>
        <p:xfrm>
          <a:off x="838200" y="2766854"/>
          <a:ext cx="10515600" cy="2834640"/>
        </p:xfrm>
        <a:graphic>
          <a:graphicData uri="http://schemas.openxmlformats.org/drawingml/2006/table">
            <a:tbl>
              <a:tblPr/>
              <a:tblGrid>
                <a:gridCol w="2628900">
                  <a:extLst>
                    <a:ext uri="{9D8B030D-6E8A-4147-A177-3AD203B41FA5}">
                      <a16:colId xmlns:a16="http://schemas.microsoft.com/office/drawing/2014/main" val="2437652475"/>
                    </a:ext>
                  </a:extLst>
                </a:gridCol>
                <a:gridCol w="2628900">
                  <a:extLst>
                    <a:ext uri="{9D8B030D-6E8A-4147-A177-3AD203B41FA5}">
                      <a16:colId xmlns:a16="http://schemas.microsoft.com/office/drawing/2014/main" val="1934952752"/>
                    </a:ext>
                  </a:extLst>
                </a:gridCol>
                <a:gridCol w="2628900">
                  <a:extLst>
                    <a:ext uri="{9D8B030D-6E8A-4147-A177-3AD203B41FA5}">
                      <a16:colId xmlns:a16="http://schemas.microsoft.com/office/drawing/2014/main" val="1942446381"/>
                    </a:ext>
                  </a:extLst>
                </a:gridCol>
                <a:gridCol w="2628900">
                  <a:extLst>
                    <a:ext uri="{9D8B030D-6E8A-4147-A177-3AD203B41FA5}">
                      <a16:colId xmlns:a16="http://schemas.microsoft.com/office/drawing/2014/main" val="3977704322"/>
                    </a:ext>
                  </a:extLst>
                </a:gridCol>
              </a:tblGrid>
              <a:tr h="0">
                <a:tc>
                  <a:txBody>
                    <a:bodyPr/>
                    <a:lstStyle/>
                    <a:p>
                      <a:r>
                        <a:rPr lang="fr-FR" b="1" dirty="0">
                          <a:solidFill>
                            <a:schemeClr val="bg1"/>
                          </a:solidFill>
                          <a:latin typeface="Aptos" panose="020B0004020202020204" pitchFamily="34" charset="0"/>
                        </a:rPr>
                        <a:t>Document</a:t>
                      </a:r>
                    </a:p>
                  </a:txBody>
                  <a:tcPr anchor="ctr">
                    <a:lnL>
                      <a:noFill/>
                    </a:lnL>
                    <a:lnR>
                      <a:noFill/>
                    </a:lnR>
                    <a:lnT>
                      <a:noFill/>
                    </a:lnT>
                    <a:lnB>
                      <a:noFill/>
                    </a:lnB>
                    <a:solidFill>
                      <a:srgbClr val="F37504"/>
                    </a:solidFill>
                  </a:tcPr>
                </a:tc>
                <a:tc>
                  <a:txBody>
                    <a:bodyPr/>
                    <a:lstStyle/>
                    <a:p>
                      <a:r>
                        <a:rPr lang="fr-FR" b="1" dirty="0">
                          <a:solidFill>
                            <a:schemeClr val="bg1"/>
                          </a:solidFill>
                          <a:latin typeface="Aptos" panose="020B0004020202020204" pitchFamily="34" charset="0"/>
                        </a:rPr>
                        <a:t>Date d'émission</a:t>
                      </a:r>
                    </a:p>
                  </a:txBody>
                  <a:tcPr anchor="ctr">
                    <a:lnL>
                      <a:noFill/>
                    </a:lnL>
                    <a:lnR>
                      <a:noFill/>
                    </a:lnR>
                    <a:lnT>
                      <a:noFill/>
                    </a:lnT>
                    <a:lnB>
                      <a:noFill/>
                    </a:lnB>
                    <a:solidFill>
                      <a:srgbClr val="F37504"/>
                    </a:solidFill>
                  </a:tcPr>
                </a:tc>
                <a:tc>
                  <a:txBody>
                    <a:bodyPr/>
                    <a:lstStyle/>
                    <a:p>
                      <a:r>
                        <a:rPr lang="fr-FR" b="1" dirty="0">
                          <a:solidFill>
                            <a:schemeClr val="bg1"/>
                          </a:solidFill>
                          <a:latin typeface="Aptos" panose="020B0004020202020204" pitchFamily="34" charset="0"/>
                        </a:rPr>
                        <a:t>Date d'expiration</a:t>
                      </a:r>
                    </a:p>
                  </a:txBody>
                  <a:tcPr anchor="ctr">
                    <a:lnL>
                      <a:noFill/>
                    </a:lnL>
                    <a:lnR>
                      <a:noFill/>
                    </a:lnR>
                    <a:lnT>
                      <a:noFill/>
                    </a:lnT>
                    <a:lnB>
                      <a:noFill/>
                    </a:lnB>
                    <a:solidFill>
                      <a:srgbClr val="F37504"/>
                    </a:solidFill>
                  </a:tcPr>
                </a:tc>
                <a:tc>
                  <a:txBody>
                    <a:bodyPr/>
                    <a:lstStyle/>
                    <a:p>
                      <a:r>
                        <a:rPr lang="fr-FR" b="1" dirty="0">
                          <a:solidFill>
                            <a:schemeClr val="bg1"/>
                          </a:solidFill>
                          <a:latin typeface="Aptos" panose="020B0004020202020204" pitchFamily="34" charset="0"/>
                        </a:rPr>
                        <a:t>Responsable</a:t>
                      </a:r>
                    </a:p>
                  </a:txBody>
                  <a:tcPr anchor="ctr">
                    <a:lnL>
                      <a:noFill/>
                    </a:lnL>
                    <a:lnR>
                      <a:noFill/>
                    </a:lnR>
                    <a:lnT>
                      <a:noFill/>
                    </a:lnT>
                    <a:lnB>
                      <a:noFill/>
                    </a:lnB>
                    <a:solidFill>
                      <a:srgbClr val="F37504"/>
                    </a:solidFill>
                  </a:tcPr>
                </a:tc>
                <a:extLst>
                  <a:ext uri="{0D108BD9-81ED-4DB2-BD59-A6C34878D82A}">
                    <a16:rowId xmlns:a16="http://schemas.microsoft.com/office/drawing/2014/main" val="1168793684"/>
                  </a:ext>
                </a:extLst>
              </a:tr>
              <a:tr h="0">
                <a:tc>
                  <a:txBody>
                    <a:bodyPr/>
                    <a:lstStyle/>
                    <a:p>
                      <a:r>
                        <a:rPr lang="fr-FR">
                          <a:latin typeface="Aptos" panose="020B0004020202020204" pitchFamily="34" charset="0"/>
                        </a:rPr>
                        <a:t>Licence</a:t>
                      </a:r>
                    </a:p>
                  </a:txBody>
                  <a:tcPr anchor="ctr">
                    <a:lnL>
                      <a:noFill/>
                    </a:lnL>
                    <a:lnR>
                      <a:noFill/>
                    </a:lnR>
                    <a:lnT>
                      <a:noFill/>
                    </a:lnT>
                    <a:lnB>
                      <a:noFill/>
                    </a:lnB>
                  </a:tcPr>
                </a:tc>
                <a:tc>
                  <a:txBody>
                    <a:bodyPr/>
                    <a:lstStyle/>
                    <a:p>
                      <a:endParaRPr lang="fr-FR">
                        <a:latin typeface="Aptos" panose="020B0004020202020204" pitchFamily="34" charset="0"/>
                      </a:endParaRPr>
                    </a:p>
                  </a:txBody>
                  <a:tcPr anchor="ctr">
                    <a:lnL>
                      <a:noFill/>
                    </a:lnL>
                    <a:lnR>
                      <a:noFill/>
                    </a:lnR>
                    <a:lnT>
                      <a:noFill/>
                    </a:lnT>
                    <a:lnB>
                      <a:noFill/>
                    </a:lnB>
                  </a:tcPr>
                </a:tc>
                <a:tc>
                  <a:txBody>
                    <a:bodyPr/>
                    <a:lstStyle/>
                    <a:p>
                      <a:endParaRPr lang="fr-FR">
                        <a:latin typeface="Aptos" panose="020B0004020202020204" pitchFamily="34" charset="0"/>
                      </a:endParaRPr>
                    </a:p>
                  </a:txBody>
                  <a:tcPr anchor="ctr">
                    <a:lnL>
                      <a:noFill/>
                    </a:lnL>
                    <a:lnR>
                      <a:noFill/>
                    </a:lnR>
                    <a:lnT>
                      <a:noFill/>
                    </a:lnT>
                    <a:lnB>
                      <a:noFill/>
                    </a:lnB>
                  </a:tcPr>
                </a:tc>
                <a:tc>
                  <a:txBody>
                    <a:bodyPr/>
                    <a:lstStyle/>
                    <a:p>
                      <a:endParaRPr lang="fr-FR">
                        <a:latin typeface="Aptos" panose="020B0004020202020204" pitchFamily="34" charset="0"/>
                      </a:endParaRPr>
                    </a:p>
                  </a:txBody>
                  <a:tcPr anchor="ctr">
                    <a:lnL>
                      <a:noFill/>
                    </a:lnL>
                    <a:lnR>
                      <a:noFill/>
                    </a:lnR>
                    <a:lnT>
                      <a:noFill/>
                    </a:lnT>
                    <a:lnB>
                      <a:noFill/>
                    </a:lnB>
                  </a:tcPr>
                </a:tc>
                <a:extLst>
                  <a:ext uri="{0D108BD9-81ED-4DB2-BD59-A6C34878D82A}">
                    <a16:rowId xmlns:a16="http://schemas.microsoft.com/office/drawing/2014/main" val="148422656"/>
                  </a:ext>
                </a:extLst>
              </a:tr>
              <a:tr h="0">
                <a:tc>
                  <a:txBody>
                    <a:bodyPr/>
                    <a:lstStyle/>
                    <a:p>
                      <a:r>
                        <a:rPr lang="fr-FR" dirty="0">
                          <a:latin typeface="Aptos" panose="020B0004020202020204" pitchFamily="34" charset="0"/>
                        </a:rPr>
                        <a:t>Assurance</a:t>
                      </a:r>
                    </a:p>
                  </a:txBody>
                  <a:tcPr anchor="ctr">
                    <a:lnL>
                      <a:noFill/>
                    </a:lnL>
                    <a:lnR>
                      <a:noFill/>
                    </a:lnR>
                    <a:lnT>
                      <a:noFill/>
                    </a:lnT>
                    <a:lnB>
                      <a:noFill/>
                    </a:lnB>
                    <a:solidFill>
                      <a:schemeClr val="bg2">
                        <a:lumMod val="90000"/>
                      </a:schemeClr>
                    </a:solidFill>
                  </a:tcPr>
                </a:tc>
                <a:tc>
                  <a:txBody>
                    <a:bodyPr/>
                    <a:lstStyle/>
                    <a:p>
                      <a:endParaRPr lang="fr-FR">
                        <a:latin typeface="Aptos" panose="020B0004020202020204" pitchFamily="34" charset="0"/>
                      </a:endParaRPr>
                    </a:p>
                  </a:txBody>
                  <a:tcPr anchor="ctr">
                    <a:lnL>
                      <a:noFill/>
                    </a:lnL>
                    <a:lnR>
                      <a:noFill/>
                    </a:lnR>
                    <a:lnT>
                      <a:noFill/>
                    </a:lnT>
                    <a:lnB>
                      <a:noFill/>
                    </a:lnB>
                    <a:solidFill>
                      <a:schemeClr val="bg2">
                        <a:lumMod val="90000"/>
                      </a:schemeClr>
                    </a:solidFill>
                  </a:tcPr>
                </a:tc>
                <a:tc>
                  <a:txBody>
                    <a:bodyPr/>
                    <a:lstStyle/>
                    <a:p>
                      <a:endParaRPr lang="fr-FR" dirty="0">
                        <a:latin typeface="Aptos" panose="020B0004020202020204" pitchFamily="34" charset="0"/>
                      </a:endParaRPr>
                    </a:p>
                  </a:txBody>
                  <a:tcPr anchor="ctr">
                    <a:lnL>
                      <a:noFill/>
                    </a:lnL>
                    <a:lnR>
                      <a:noFill/>
                    </a:lnR>
                    <a:lnT>
                      <a:noFill/>
                    </a:lnT>
                    <a:lnB>
                      <a:noFill/>
                    </a:lnB>
                    <a:solidFill>
                      <a:schemeClr val="bg2">
                        <a:lumMod val="90000"/>
                      </a:schemeClr>
                    </a:solidFill>
                  </a:tcPr>
                </a:tc>
                <a:tc>
                  <a:txBody>
                    <a:bodyPr/>
                    <a:lstStyle/>
                    <a:p>
                      <a:endParaRPr lang="fr-FR" dirty="0">
                        <a:latin typeface="Aptos" panose="020B0004020202020204" pitchFamily="34" charset="0"/>
                      </a:endParaRP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271134396"/>
                  </a:ext>
                </a:extLst>
              </a:tr>
              <a:tr h="0">
                <a:tc>
                  <a:txBody>
                    <a:bodyPr/>
                    <a:lstStyle/>
                    <a:p>
                      <a:r>
                        <a:rPr lang="fr-FR">
                          <a:latin typeface="Aptos" panose="020B0004020202020204" pitchFamily="34" charset="0"/>
                        </a:rPr>
                        <a:t>Inscription Ordinale</a:t>
                      </a:r>
                    </a:p>
                  </a:txBody>
                  <a:tcPr anchor="ctr">
                    <a:lnL>
                      <a:noFill/>
                    </a:lnL>
                    <a:lnR>
                      <a:noFill/>
                    </a:lnR>
                    <a:lnT>
                      <a:noFill/>
                    </a:lnT>
                    <a:lnB>
                      <a:noFill/>
                    </a:lnB>
                  </a:tcPr>
                </a:tc>
                <a:tc>
                  <a:txBody>
                    <a:bodyPr/>
                    <a:lstStyle/>
                    <a:p>
                      <a:endParaRPr lang="fr-FR" dirty="0">
                        <a:latin typeface="Aptos" panose="020B0004020202020204" pitchFamily="34" charset="0"/>
                      </a:endParaRPr>
                    </a:p>
                  </a:txBody>
                  <a:tcPr anchor="ctr">
                    <a:lnL>
                      <a:noFill/>
                    </a:lnL>
                    <a:lnR>
                      <a:noFill/>
                    </a:lnR>
                    <a:lnT>
                      <a:noFill/>
                    </a:lnT>
                    <a:lnB>
                      <a:noFill/>
                    </a:lnB>
                  </a:tcPr>
                </a:tc>
                <a:tc>
                  <a:txBody>
                    <a:bodyPr/>
                    <a:lstStyle/>
                    <a:p>
                      <a:endParaRPr lang="fr-FR" dirty="0">
                        <a:latin typeface="Aptos" panose="020B0004020202020204" pitchFamily="34" charset="0"/>
                      </a:endParaRPr>
                    </a:p>
                  </a:txBody>
                  <a:tcPr anchor="ctr">
                    <a:lnL>
                      <a:noFill/>
                    </a:lnL>
                    <a:lnR>
                      <a:noFill/>
                    </a:lnR>
                    <a:lnT>
                      <a:noFill/>
                    </a:lnT>
                    <a:lnB>
                      <a:noFill/>
                    </a:lnB>
                  </a:tcPr>
                </a:tc>
                <a:tc>
                  <a:txBody>
                    <a:bodyPr/>
                    <a:lstStyle/>
                    <a:p>
                      <a:endParaRPr lang="fr-FR">
                        <a:latin typeface="Aptos" panose="020B0004020202020204" pitchFamily="34" charset="0"/>
                      </a:endParaRPr>
                    </a:p>
                  </a:txBody>
                  <a:tcPr anchor="ctr">
                    <a:lnL>
                      <a:noFill/>
                    </a:lnL>
                    <a:lnR>
                      <a:noFill/>
                    </a:lnR>
                    <a:lnT>
                      <a:noFill/>
                    </a:lnT>
                    <a:lnB>
                      <a:noFill/>
                    </a:lnB>
                  </a:tcPr>
                </a:tc>
                <a:extLst>
                  <a:ext uri="{0D108BD9-81ED-4DB2-BD59-A6C34878D82A}">
                    <a16:rowId xmlns:a16="http://schemas.microsoft.com/office/drawing/2014/main" val="1589729414"/>
                  </a:ext>
                </a:extLst>
              </a:tr>
              <a:tr h="0">
                <a:tc>
                  <a:txBody>
                    <a:bodyPr/>
                    <a:lstStyle/>
                    <a:p>
                      <a:r>
                        <a:rPr lang="fr-FR" dirty="0">
                          <a:latin typeface="Aptos" panose="020B0004020202020204" pitchFamily="34" charset="0"/>
                        </a:rPr>
                        <a:t>Contrat maintenance climatisation</a:t>
                      </a:r>
                    </a:p>
                  </a:txBody>
                  <a:tcPr anchor="ctr">
                    <a:lnL>
                      <a:noFill/>
                    </a:lnL>
                    <a:lnR>
                      <a:noFill/>
                    </a:lnR>
                    <a:lnT>
                      <a:noFill/>
                    </a:lnT>
                    <a:lnB>
                      <a:noFill/>
                    </a:lnB>
                    <a:solidFill>
                      <a:schemeClr val="bg2">
                        <a:lumMod val="90000"/>
                      </a:schemeClr>
                    </a:solidFill>
                  </a:tcPr>
                </a:tc>
                <a:tc>
                  <a:txBody>
                    <a:bodyPr/>
                    <a:lstStyle/>
                    <a:p>
                      <a:endParaRPr lang="fr-FR" dirty="0">
                        <a:latin typeface="Aptos" panose="020B0004020202020204" pitchFamily="34" charset="0"/>
                      </a:endParaRPr>
                    </a:p>
                  </a:txBody>
                  <a:tcPr anchor="ctr">
                    <a:lnL>
                      <a:noFill/>
                    </a:lnL>
                    <a:lnR>
                      <a:noFill/>
                    </a:lnR>
                    <a:lnT>
                      <a:noFill/>
                    </a:lnT>
                    <a:lnB>
                      <a:noFill/>
                    </a:lnB>
                    <a:solidFill>
                      <a:schemeClr val="bg2">
                        <a:lumMod val="90000"/>
                      </a:schemeClr>
                    </a:solidFill>
                  </a:tcPr>
                </a:tc>
                <a:tc>
                  <a:txBody>
                    <a:bodyPr/>
                    <a:lstStyle/>
                    <a:p>
                      <a:endParaRPr lang="fr-FR" dirty="0">
                        <a:latin typeface="Aptos" panose="020B0004020202020204" pitchFamily="34" charset="0"/>
                      </a:endParaRPr>
                    </a:p>
                  </a:txBody>
                  <a:tcPr anchor="ctr">
                    <a:lnL>
                      <a:noFill/>
                    </a:lnL>
                    <a:lnR>
                      <a:noFill/>
                    </a:lnR>
                    <a:lnT>
                      <a:noFill/>
                    </a:lnT>
                    <a:lnB>
                      <a:noFill/>
                    </a:lnB>
                    <a:solidFill>
                      <a:schemeClr val="bg2">
                        <a:lumMod val="90000"/>
                      </a:schemeClr>
                    </a:solidFill>
                  </a:tcPr>
                </a:tc>
                <a:tc>
                  <a:txBody>
                    <a:bodyPr/>
                    <a:lstStyle/>
                    <a:p>
                      <a:endParaRPr lang="fr-FR" dirty="0">
                        <a:latin typeface="Aptos" panose="020B0004020202020204" pitchFamily="34" charset="0"/>
                      </a:endParaRP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684314068"/>
                  </a:ext>
                </a:extLst>
              </a:tr>
              <a:tr h="0">
                <a:tc>
                  <a:txBody>
                    <a:bodyPr/>
                    <a:lstStyle/>
                    <a:p>
                      <a:r>
                        <a:rPr lang="fr-FR">
                          <a:latin typeface="Aptos" panose="020B0004020202020204" pitchFamily="34" charset="0"/>
                        </a:rPr>
                        <a:t>Vérification extincteurs</a:t>
                      </a:r>
                    </a:p>
                  </a:txBody>
                  <a:tcPr anchor="ctr">
                    <a:lnL>
                      <a:noFill/>
                    </a:lnL>
                    <a:lnR>
                      <a:noFill/>
                    </a:lnR>
                    <a:lnT>
                      <a:noFill/>
                    </a:lnT>
                    <a:lnB>
                      <a:noFill/>
                    </a:lnB>
                  </a:tcPr>
                </a:tc>
                <a:tc>
                  <a:txBody>
                    <a:bodyPr/>
                    <a:lstStyle/>
                    <a:p>
                      <a:endParaRPr lang="fr-FR">
                        <a:latin typeface="Aptos" panose="020B0004020202020204" pitchFamily="34" charset="0"/>
                      </a:endParaRPr>
                    </a:p>
                  </a:txBody>
                  <a:tcPr anchor="ctr">
                    <a:lnL>
                      <a:noFill/>
                    </a:lnL>
                    <a:lnR>
                      <a:noFill/>
                    </a:lnR>
                    <a:lnT>
                      <a:noFill/>
                    </a:lnT>
                    <a:lnB>
                      <a:noFill/>
                    </a:lnB>
                  </a:tcPr>
                </a:tc>
                <a:tc>
                  <a:txBody>
                    <a:bodyPr/>
                    <a:lstStyle/>
                    <a:p>
                      <a:endParaRPr lang="fr-FR">
                        <a:latin typeface="Aptos" panose="020B0004020202020204" pitchFamily="34" charset="0"/>
                      </a:endParaRPr>
                    </a:p>
                  </a:txBody>
                  <a:tcPr anchor="ctr">
                    <a:lnL>
                      <a:noFill/>
                    </a:lnL>
                    <a:lnR>
                      <a:noFill/>
                    </a:lnR>
                    <a:lnT>
                      <a:noFill/>
                    </a:lnT>
                    <a:lnB>
                      <a:noFill/>
                    </a:lnB>
                  </a:tcPr>
                </a:tc>
                <a:tc>
                  <a:txBody>
                    <a:bodyPr/>
                    <a:lstStyle/>
                    <a:p>
                      <a:endParaRPr lang="fr-FR" dirty="0">
                        <a:latin typeface="Aptos" panose="020B0004020202020204" pitchFamily="34" charset="0"/>
                      </a:endParaRPr>
                    </a:p>
                  </a:txBody>
                  <a:tcPr anchor="ctr">
                    <a:lnL>
                      <a:noFill/>
                    </a:lnL>
                    <a:lnR>
                      <a:noFill/>
                    </a:lnR>
                    <a:lnT>
                      <a:noFill/>
                    </a:lnT>
                    <a:lnB>
                      <a:noFill/>
                    </a:lnB>
                  </a:tcPr>
                </a:tc>
                <a:extLst>
                  <a:ext uri="{0D108BD9-81ED-4DB2-BD59-A6C34878D82A}">
                    <a16:rowId xmlns:a16="http://schemas.microsoft.com/office/drawing/2014/main" val="2140462427"/>
                  </a:ext>
                </a:extLst>
              </a:tr>
              <a:tr h="0">
                <a:tc>
                  <a:txBody>
                    <a:bodyPr/>
                    <a:lstStyle/>
                    <a:p>
                      <a:r>
                        <a:rPr lang="fr-FR" dirty="0">
                          <a:latin typeface="Aptos" panose="020B0004020202020204" pitchFamily="34" charset="0"/>
                        </a:rPr>
                        <a:t>…</a:t>
                      </a:r>
                    </a:p>
                  </a:txBody>
                  <a:tcPr anchor="ctr">
                    <a:lnL>
                      <a:noFill/>
                    </a:lnL>
                    <a:lnR>
                      <a:noFill/>
                    </a:lnR>
                    <a:lnT>
                      <a:noFill/>
                    </a:lnT>
                    <a:lnB>
                      <a:noFill/>
                    </a:lnB>
                    <a:solidFill>
                      <a:schemeClr val="bg2">
                        <a:lumMod val="90000"/>
                      </a:schemeClr>
                    </a:solidFill>
                  </a:tcPr>
                </a:tc>
                <a:tc>
                  <a:txBody>
                    <a:bodyPr/>
                    <a:lstStyle/>
                    <a:p>
                      <a:endParaRPr lang="fr-FR" dirty="0">
                        <a:latin typeface="Aptos" panose="020B0004020202020204" pitchFamily="34" charset="0"/>
                      </a:endParaRPr>
                    </a:p>
                  </a:txBody>
                  <a:tcPr anchor="ctr">
                    <a:lnL>
                      <a:noFill/>
                    </a:lnL>
                    <a:lnR>
                      <a:noFill/>
                    </a:lnR>
                    <a:lnT>
                      <a:noFill/>
                    </a:lnT>
                    <a:lnB>
                      <a:noFill/>
                    </a:lnB>
                    <a:solidFill>
                      <a:schemeClr val="bg2">
                        <a:lumMod val="90000"/>
                      </a:schemeClr>
                    </a:solidFill>
                  </a:tcPr>
                </a:tc>
                <a:tc>
                  <a:txBody>
                    <a:bodyPr/>
                    <a:lstStyle/>
                    <a:p>
                      <a:endParaRPr lang="fr-FR" dirty="0">
                        <a:latin typeface="Aptos" panose="020B0004020202020204" pitchFamily="34" charset="0"/>
                      </a:endParaRPr>
                    </a:p>
                  </a:txBody>
                  <a:tcPr anchor="ctr">
                    <a:lnL>
                      <a:noFill/>
                    </a:lnL>
                    <a:lnR>
                      <a:noFill/>
                    </a:lnR>
                    <a:lnT>
                      <a:noFill/>
                    </a:lnT>
                    <a:lnB>
                      <a:noFill/>
                    </a:lnB>
                    <a:solidFill>
                      <a:schemeClr val="bg2">
                        <a:lumMod val="90000"/>
                      </a:schemeClr>
                    </a:solidFill>
                  </a:tcPr>
                </a:tc>
                <a:tc>
                  <a:txBody>
                    <a:bodyPr/>
                    <a:lstStyle/>
                    <a:p>
                      <a:endParaRPr lang="fr-FR" dirty="0">
                        <a:latin typeface="Aptos" panose="020B0004020202020204" pitchFamily="34" charset="0"/>
                      </a:endParaRP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300414441"/>
                  </a:ext>
                </a:extLst>
              </a:tr>
            </a:tbl>
          </a:graphicData>
        </a:graphic>
      </p:graphicFrame>
    </p:spTree>
    <p:extLst>
      <p:ext uri="{BB962C8B-B14F-4D97-AF65-F5344CB8AC3E}">
        <p14:creationId xmlns:p14="http://schemas.microsoft.com/office/powerpoint/2010/main" val="696699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autorisations et des renouvellements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Gestion des inspections documentaires</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751073" y="2551605"/>
            <a:ext cx="5045720" cy="3477875"/>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Documents valides</a:t>
            </a:r>
          </a:p>
          <a:p>
            <a:pPr marL="800100" lvl="1" indent="-342900">
              <a:buFont typeface="Courier New" panose="02070309020205020404" pitchFamily="49" charset="0"/>
              <a:buChar char="o"/>
            </a:pPr>
            <a:r>
              <a:rPr lang="fr-FR" sz="2000" dirty="0">
                <a:latin typeface="Aptos" panose="020B0004020202020204" pitchFamily="34" charset="0"/>
              </a:rPr>
              <a:t>Cohérence des informations</a:t>
            </a:r>
          </a:p>
          <a:p>
            <a:pPr marL="800100" lvl="1" indent="-342900">
              <a:buFont typeface="Courier New" panose="02070309020205020404" pitchFamily="49" charset="0"/>
              <a:buChar char="o"/>
            </a:pPr>
            <a:r>
              <a:rPr lang="fr-FR" sz="2000" dirty="0">
                <a:latin typeface="Aptos" panose="020B0004020202020204" pitchFamily="34" charset="0"/>
              </a:rPr>
              <a:t>Traçabilité</a:t>
            </a:r>
          </a:p>
          <a:p>
            <a:pPr marL="800100" lvl="1" indent="-342900">
              <a:buFont typeface="Courier New" panose="02070309020205020404" pitchFamily="49" charset="0"/>
              <a:buChar char="o"/>
            </a:pPr>
            <a:r>
              <a:rPr lang="fr-FR" sz="2000" dirty="0">
                <a:latin typeface="Aptos" panose="020B0004020202020204" pitchFamily="34" charset="0"/>
              </a:rPr>
              <a:t>Archivage</a:t>
            </a:r>
          </a:p>
          <a:p>
            <a:pPr marL="800100" lvl="1" indent="-342900">
              <a:buFont typeface="Courier New" panose="02070309020205020404" pitchFamily="49" charset="0"/>
              <a:buChar char="o"/>
            </a:pPr>
            <a:r>
              <a:rPr lang="fr-FR" sz="2000" dirty="0">
                <a:latin typeface="Aptos" panose="020B0004020202020204" pitchFamily="34" charset="0"/>
              </a:rPr>
              <a:t>Conformité des registres</a:t>
            </a:r>
          </a:p>
          <a:p>
            <a:pPr marL="800100" lvl="1" indent="-342900">
              <a:buFont typeface="Courier New" panose="02070309020205020404" pitchFamily="49" charset="0"/>
              <a:buChar char="o"/>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Erreurs fréquemment observées :</a:t>
            </a:r>
          </a:p>
          <a:p>
            <a:pPr marL="800100" lvl="1" indent="-342900">
              <a:buFont typeface="Courier New" panose="02070309020205020404" pitchFamily="49" charset="0"/>
              <a:buChar char="o"/>
            </a:pPr>
            <a:r>
              <a:rPr lang="fr-FR" sz="2000" dirty="0">
                <a:latin typeface="Aptos" panose="020B0004020202020204" pitchFamily="34" charset="0"/>
              </a:rPr>
              <a:t>Documents expirés</a:t>
            </a:r>
          </a:p>
          <a:p>
            <a:pPr marL="800100" lvl="1" indent="-342900">
              <a:buFont typeface="Courier New" panose="02070309020205020404" pitchFamily="49" charset="0"/>
              <a:buChar char="o"/>
            </a:pPr>
            <a:r>
              <a:rPr lang="fr-FR" sz="2000" dirty="0">
                <a:latin typeface="Aptos" panose="020B0004020202020204" pitchFamily="34" charset="0"/>
              </a:rPr>
              <a:t>Registres incomplets</a:t>
            </a:r>
          </a:p>
          <a:p>
            <a:pPr marL="800100" lvl="1" indent="-342900">
              <a:buFont typeface="Courier New" panose="02070309020205020404" pitchFamily="49" charset="0"/>
              <a:buChar char="o"/>
            </a:pPr>
            <a:r>
              <a:rPr lang="fr-FR" sz="2000" dirty="0">
                <a:latin typeface="Aptos" panose="020B0004020202020204" pitchFamily="34" charset="0"/>
              </a:rPr>
              <a:t>Dossiers mal archivés</a:t>
            </a:r>
          </a:p>
          <a:p>
            <a:pPr marL="800100" lvl="1" indent="-342900">
              <a:buFont typeface="Courier New" panose="02070309020205020404" pitchFamily="49" charset="0"/>
              <a:buChar char="o"/>
            </a:pPr>
            <a:r>
              <a:rPr lang="fr-FR" sz="2000" dirty="0">
                <a:latin typeface="Aptos" panose="020B0004020202020204" pitchFamily="34" charset="0"/>
              </a:rPr>
              <a:t>Incohérences administratives</a:t>
            </a:r>
          </a:p>
        </p:txBody>
      </p:sp>
      <p:sp>
        <p:nvSpPr>
          <p:cNvPr id="11" name="ZoneTexte 10">
            <a:extLst>
              <a:ext uri="{FF2B5EF4-FFF2-40B4-BE49-F238E27FC236}">
                <a16:creationId xmlns:a16="http://schemas.microsoft.com/office/drawing/2014/main" id="{54BA9029-32BF-4354-9112-CD17D790916C}"/>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Ce que les inspecteurs recherchent</a:t>
            </a:r>
          </a:p>
        </p:txBody>
      </p:sp>
    </p:spTree>
    <p:extLst>
      <p:ext uri="{BB962C8B-B14F-4D97-AF65-F5344CB8AC3E}">
        <p14:creationId xmlns:p14="http://schemas.microsoft.com/office/powerpoint/2010/main" val="1713380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autorisations et des renouvellements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Digitalisation des procédures réglementaires</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751073" y="2551605"/>
            <a:ext cx="8350982" cy="1938992"/>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Les autorités réglementaires évoluent progressivement vers :</a:t>
            </a:r>
          </a:p>
          <a:p>
            <a:pPr marL="800100" lvl="1" indent="-342900">
              <a:buFont typeface="Courier New" panose="02070309020205020404" pitchFamily="49" charset="0"/>
              <a:buChar char="o"/>
            </a:pPr>
            <a:r>
              <a:rPr lang="fr-FR" sz="2000" dirty="0">
                <a:latin typeface="Aptos" panose="020B0004020202020204" pitchFamily="34" charset="0"/>
              </a:rPr>
              <a:t>Licences électroniques</a:t>
            </a:r>
          </a:p>
          <a:p>
            <a:pPr marL="800100" lvl="1" indent="-342900">
              <a:buFont typeface="Courier New" panose="02070309020205020404" pitchFamily="49" charset="0"/>
              <a:buChar char="o"/>
            </a:pPr>
            <a:r>
              <a:rPr lang="fr-FR" sz="2000" dirty="0">
                <a:latin typeface="Aptos" panose="020B0004020202020204" pitchFamily="34" charset="0"/>
              </a:rPr>
              <a:t>Déclarations électroniques</a:t>
            </a:r>
          </a:p>
          <a:p>
            <a:pPr marL="800100" lvl="1" indent="-342900">
              <a:buFont typeface="Courier New" panose="02070309020205020404" pitchFamily="49" charset="0"/>
              <a:buChar char="o"/>
            </a:pPr>
            <a:r>
              <a:rPr lang="fr-FR" sz="2000" dirty="0">
                <a:latin typeface="Aptos" panose="020B0004020202020204" pitchFamily="34" charset="0"/>
              </a:rPr>
              <a:t>Inspections numériques</a:t>
            </a:r>
          </a:p>
          <a:p>
            <a:pPr marL="800100" lvl="1" indent="-342900">
              <a:buFont typeface="Courier New" panose="02070309020205020404" pitchFamily="49" charset="0"/>
              <a:buChar char="o"/>
            </a:pPr>
            <a:r>
              <a:rPr lang="fr-FR" sz="2000" dirty="0">
                <a:latin typeface="Aptos" panose="020B0004020202020204" pitchFamily="34" charset="0"/>
              </a:rPr>
              <a:t>Pharmacovigilance digitale</a:t>
            </a:r>
          </a:p>
          <a:p>
            <a:pPr marL="800100" lvl="1" indent="-342900">
              <a:buFont typeface="Courier New" panose="02070309020205020404" pitchFamily="49" charset="0"/>
              <a:buChar char="o"/>
            </a:pPr>
            <a:r>
              <a:rPr lang="fr-FR" sz="2000" dirty="0">
                <a:latin typeface="Aptos" panose="020B0004020202020204" pitchFamily="34" charset="0"/>
              </a:rPr>
              <a:t>Portails réglementaires</a:t>
            </a:r>
          </a:p>
        </p:txBody>
      </p:sp>
      <p:sp>
        <p:nvSpPr>
          <p:cNvPr id="11" name="ZoneTexte 10">
            <a:extLst>
              <a:ext uri="{FF2B5EF4-FFF2-40B4-BE49-F238E27FC236}">
                <a16:creationId xmlns:a16="http://schemas.microsoft.com/office/drawing/2014/main" id="{54BA9029-32BF-4354-9112-CD17D790916C}"/>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Tendances</a:t>
            </a:r>
          </a:p>
        </p:txBody>
      </p:sp>
      <p:sp>
        <p:nvSpPr>
          <p:cNvPr id="13" name="ZoneTexte 12">
            <a:extLst>
              <a:ext uri="{FF2B5EF4-FFF2-40B4-BE49-F238E27FC236}">
                <a16:creationId xmlns:a16="http://schemas.microsoft.com/office/drawing/2014/main" id="{8AE64093-CE8B-4E24-94B5-B82B6F0C3886}"/>
              </a:ext>
            </a:extLst>
          </p:cNvPr>
          <p:cNvSpPr txBox="1"/>
          <p:nvPr/>
        </p:nvSpPr>
        <p:spPr>
          <a:xfrm>
            <a:off x="751073" y="4607579"/>
            <a:ext cx="11178072" cy="132343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L'évolution des systèmes de gestion réglementaire devrait conduire à une digitalisation croissante des interactions entre les établissements pharmaceutiques et les autorités sanitaires.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Le pharmacien doit anticiper cette transformation.</a:t>
            </a:r>
          </a:p>
        </p:txBody>
      </p:sp>
    </p:spTree>
    <p:extLst>
      <p:ext uri="{BB962C8B-B14F-4D97-AF65-F5344CB8AC3E}">
        <p14:creationId xmlns:p14="http://schemas.microsoft.com/office/powerpoint/2010/main" val="530850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autorisations et des renouvellements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Message clé à retenir</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753041" y="2172109"/>
            <a:ext cx="10890877" cy="2862322"/>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Une officine peut disposer d'excellents pharmaciens, d'un stock parfaitement géré et d'une clientèle fidèle.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Cependant, une seule autorisation expirée ou un document réglementaire manquant peut suffire à exposer l'établissement à une sanction administrative.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La gestion des autorisations et des renouvellements doit être considérée comme une fonction stratégique permanente de l'officine et non comme une simple tâche administrative ponctuelle.</a:t>
            </a:r>
          </a:p>
        </p:txBody>
      </p:sp>
    </p:spTree>
    <p:extLst>
      <p:ext uri="{BB962C8B-B14F-4D97-AF65-F5344CB8AC3E}">
        <p14:creationId xmlns:p14="http://schemas.microsoft.com/office/powerpoint/2010/main" val="369546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753041" y="2172109"/>
            <a:ext cx="6864163" cy="3785652"/>
          </a:xfrm>
          <a:prstGeom prst="rect">
            <a:avLst/>
          </a:prstGeom>
          <a:noFill/>
        </p:spPr>
        <p:txBody>
          <a:bodyPr wrap="square">
            <a:spAutoFit/>
          </a:bodyPr>
          <a:lstStyle/>
          <a:p>
            <a:r>
              <a:rPr lang="fr-FR" sz="2000" dirty="0">
                <a:latin typeface="Aptos" panose="020B0004020202020204" pitchFamily="34" charset="0"/>
              </a:rPr>
              <a:t>À l’issue de ce sous-module, le participant sera capable de :</a:t>
            </a:r>
          </a:p>
          <a:p>
            <a:pPr marL="800100" lvl="1" indent="-342900">
              <a:buFont typeface="Arial" panose="020B0604020202020204" pitchFamily="34" charset="0"/>
              <a:buChar char="•"/>
            </a:pPr>
            <a:r>
              <a:rPr lang="fr-FR" sz="2000" dirty="0">
                <a:latin typeface="Aptos" panose="020B0004020202020204" pitchFamily="34" charset="0"/>
              </a:rPr>
              <a:t>Comprendre les différentes formes de responsabilité applicables à l’exercice officinal ;</a:t>
            </a:r>
          </a:p>
          <a:p>
            <a:pPr marL="800100" lvl="1" indent="-342900">
              <a:buFont typeface="Arial" panose="020B0604020202020204" pitchFamily="34" charset="0"/>
              <a:buChar char="•"/>
            </a:pPr>
            <a:r>
              <a:rPr lang="fr-FR" sz="2000" dirty="0">
                <a:latin typeface="Aptos" panose="020B0004020202020204" pitchFamily="34" charset="0"/>
              </a:rPr>
              <a:t>Identifier les situations susceptibles d’engager sa responsabilité ;</a:t>
            </a:r>
          </a:p>
          <a:p>
            <a:pPr marL="800100" lvl="1" indent="-342900">
              <a:buFont typeface="Arial" panose="020B0604020202020204" pitchFamily="34" charset="0"/>
              <a:buChar char="•"/>
            </a:pPr>
            <a:r>
              <a:rPr lang="fr-FR" sz="2000" dirty="0">
                <a:latin typeface="Aptos" panose="020B0004020202020204" pitchFamily="34" charset="0"/>
              </a:rPr>
              <a:t>Prévenir les risques professionnels majeurs ;</a:t>
            </a:r>
          </a:p>
          <a:p>
            <a:pPr marL="800100" lvl="1" indent="-342900">
              <a:buFont typeface="Arial" panose="020B0604020202020204" pitchFamily="34" charset="0"/>
              <a:buChar char="•"/>
            </a:pPr>
            <a:r>
              <a:rPr lang="fr-FR" sz="2000" dirty="0">
                <a:latin typeface="Aptos" panose="020B0004020202020204" pitchFamily="34" charset="0"/>
              </a:rPr>
              <a:t>Réagir correctement face à un incident ou à une réclamation ;</a:t>
            </a:r>
          </a:p>
          <a:p>
            <a:pPr marL="800100" lvl="1" indent="-342900">
              <a:buFont typeface="Arial" panose="020B0604020202020204" pitchFamily="34" charset="0"/>
              <a:buChar char="•"/>
            </a:pPr>
            <a:r>
              <a:rPr lang="fr-FR" sz="2000" dirty="0">
                <a:latin typeface="Aptos" panose="020B0004020202020204" pitchFamily="34" charset="0"/>
              </a:rPr>
              <a:t>Mettre en place une stratégie de gestion des risques au sein de l’officine ;</a:t>
            </a:r>
          </a:p>
          <a:p>
            <a:pPr marL="800100" lvl="1" indent="-342900">
              <a:buFont typeface="Arial" panose="020B0604020202020204" pitchFamily="34" charset="0"/>
              <a:buChar char="•"/>
            </a:pPr>
            <a:r>
              <a:rPr lang="fr-FR" sz="2000" dirty="0">
                <a:latin typeface="Aptos" panose="020B0004020202020204" pitchFamily="34" charset="0"/>
              </a:rPr>
              <a:t>Renforcer la culture qualité et sécurité de son établissement.</a:t>
            </a:r>
          </a:p>
        </p:txBody>
      </p:sp>
    </p:spTree>
    <p:extLst>
      <p:ext uri="{BB962C8B-B14F-4D97-AF65-F5344CB8AC3E}">
        <p14:creationId xmlns:p14="http://schemas.microsoft.com/office/powerpoint/2010/main" val="3895488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10" name="ZoneTexte 9">
            <a:extLst>
              <a:ext uri="{FF2B5EF4-FFF2-40B4-BE49-F238E27FC236}">
                <a16:creationId xmlns:a16="http://schemas.microsoft.com/office/drawing/2014/main" id="{F83B063C-19D0-41A3-8436-52F472A77CBA}"/>
              </a:ext>
            </a:extLst>
          </p:cNvPr>
          <p:cNvSpPr txBox="1"/>
          <p:nvPr/>
        </p:nvSpPr>
        <p:spPr>
          <a:xfrm>
            <a:off x="586355" y="2176612"/>
            <a:ext cx="11267288" cy="3785652"/>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L’exercice pharmaceutique est une profession réglementée qui engage la responsabilité du pharmacien à plusieurs niveaux.</a:t>
            </a:r>
          </a:p>
          <a:p>
            <a:pPr marL="342900" indent="-342900">
              <a:buFont typeface="Arial" panose="020B0604020202020204" pitchFamily="34" charset="0"/>
              <a:buChar char="•"/>
            </a:pPr>
            <a:r>
              <a:rPr lang="fr-FR" sz="2000" dirty="0">
                <a:latin typeface="Aptos" panose="020B0004020202020204" pitchFamily="34" charset="0"/>
              </a:rPr>
              <a:t>Contrairement à d’autres activités commerciales, une erreur professionnelle en officine peut avoir des conséquences directes sur la santé, voire la vie des patients.</a:t>
            </a:r>
          </a:p>
          <a:p>
            <a:pPr marL="342900" indent="-342900">
              <a:buFont typeface="Arial" panose="020B0604020202020204" pitchFamily="34" charset="0"/>
              <a:buChar char="•"/>
            </a:pPr>
            <a:r>
              <a:rPr lang="fr-FR" sz="2000" dirty="0">
                <a:latin typeface="Aptos" panose="020B0004020202020204" pitchFamily="34" charset="0"/>
              </a:rPr>
              <a:t>Ainsi, le pharmacien peut voir sa responsabilité engagée :</a:t>
            </a:r>
          </a:p>
          <a:p>
            <a:pPr marL="800100" lvl="1" indent="-342900">
              <a:buFont typeface="Courier New" panose="02070309020205020404" pitchFamily="49" charset="0"/>
              <a:buChar char="o"/>
            </a:pPr>
            <a:r>
              <a:rPr lang="fr-FR" sz="2000" dirty="0">
                <a:latin typeface="Aptos" panose="020B0004020202020204" pitchFamily="34" charset="0"/>
              </a:rPr>
              <a:t>Devant l’administration ;</a:t>
            </a:r>
          </a:p>
          <a:p>
            <a:pPr marL="800100" lvl="1" indent="-342900">
              <a:buFont typeface="Courier New" panose="02070309020205020404" pitchFamily="49" charset="0"/>
              <a:buChar char="o"/>
            </a:pPr>
            <a:r>
              <a:rPr lang="fr-FR" sz="2000" dirty="0">
                <a:latin typeface="Aptos" panose="020B0004020202020204" pitchFamily="34" charset="0"/>
              </a:rPr>
              <a:t>Devant l’ordre des pharmaciens ;</a:t>
            </a:r>
          </a:p>
          <a:p>
            <a:pPr marL="800100" lvl="1" indent="-342900">
              <a:buFont typeface="Courier New" panose="02070309020205020404" pitchFamily="49" charset="0"/>
              <a:buChar char="o"/>
            </a:pPr>
            <a:r>
              <a:rPr lang="fr-FR" sz="2000" dirty="0">
                <a:latin typeface="Aptos" panose="020B0004020202020204" pitchFamily="34" charset="0"/>
              </a:rPr>
              <a:t>Devant les juridictions civiles ;</a:t>
            </a:r>
          </a:p>
          <a:p>
            <a:pPr marL="800100" lvl="1" indent="-342900">
              <a:buFont typeface="Courier New" panose="02070309020205020404" pitchFamily="49" charset="0"/>
              <a:buChar char="o"/>
            </a:pPr>
            <a:r>
              <a:rPr lang="fr-FR" sz="2000" dirty="0">
                <a:latin typeface="Aptos" panose="020B0004020202020204" pitchFamily="34" charset="0"/>
              </a:rPr>
              <a:t>Devant les juridictions pénales.</a:t>
            </a:r>
          </a:p>
          <a:p>
            <a:pPr marL="342900" indent="-342900">
              <a:buFont typeface="Arial" panose="020B0604020202020204" pitchFamily="34" charset="0"/>
              <a:buChar char="•"/>
            </a:pPr>
            <a:r>
              <a:rPr lang="fr-FR" sz="2000" dirty="0">
                <a:latin typeface="Aptos" panose="020B0004020202020204" pitchFamily="34" charset="0"/>
              </a:rPr>
              <a:t>Dans la plupart des pays africains, y compris au Bénin, les textes pharmaceutiques, les règles déontologiques et le droit commun peuvent être mobilisés simultanément à l’occasion d’un même incident.</a:t>
            </a:r>
          </a:p>
        </p:txBody>
      </p:sp>
    </p:spTree>
    <p:extLst>
      <p:ext uri="{BB962C8B-B14F-4D97-AF65-F5344CB8AC3E}">
        <p14:creationId xmlns:p14="http://schemas.microsoft.com/office/powerpoint/2010/main" val="3669325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quatre niveaux de responsabilité du pharmacien</a:t>
            </a:r>
            <a:endParaRPr lang="en-US" sz="2400" b="1" dirty="0">
              <a:solidFill>
                <a:schemeClr val="bg1"/>
              </a:solidFill>
            </a:endParaRPr>
          </a:p>
        </p:txBody>
      </p:sp>
      <p:graphicFrame>
        <p:nvGraphicFramePr>
          <p:cNvPr id="3" name="Tableau 2">
            <a:extLst>
              <a:ext uri="{FF2B5EF4-FFF2-40B4-BE49-F238E27FC236}">
                <a16:creationId xmlns:a16="http://schemas.microsoft.com/office/drawing/2014/main" id="{DD9B228C-5554-4D6B-B313-4BFE062DBD08}"/>
              </a:ext>
            </a:extLst>
          </p:cNvPr>
          <p:cNvGraphicFramePr>
            <a:graphicFrameLocks noGrp="1"/>
          </p:cNvGraphicFramePr>
          <p:nvPr>
            <p:extLst>
              <p:ext uri="{D42A27DB-BD31-4B8C-83A1-F6EECF244321}">
                <p14:modId xmlns:p14="http://schemas.microsoft.com/office/powerpoint/2010/main" val="3255157818"/>
              </p:ext>
            </p:extLst>
          </p:nvPr>
        </p:nvGraphicFramePr>
        <p:xfrm>
          <a:off x="753042" y="2607639"/>
          <a:ext cx="10515600" cy="1828800"/>
        </p:xfrm>
        <a:graphic>
          <a:graphicData uri="http://schemas.openxmlformats.org/drawingml/2006/table">
            <a:tbl>
              <a:tblPr/>
              <a:tblGrid>
                <a:gridCol w="5257800">
                  <a:extLst>
                    <a:ext uri="{9D8B030D-6E8A-4147-A177-3AD203B41FA5}">
                      <a16:colId xmlns:a16="http://schemas.microsoft.com/office/drawing/2014/main" val="2691057307"/>
                    </a:ext>
                  </a:extLst>
                </a:gridCol>
                <a:gridCol w="5257800">
                  <a:extLst>
                    <a:ext uri="{9D8B030D-6E8A-4147-A177-3AD203B41FA5}">
                      <a16:colId xmlns:a16="http://schemas.microsoft.com/office/drawing/2014/main" val="3781590737"/>
                    </a:ext>
                  </a:extLst>
                </a:gridCol>
              </a:tblGrid>
              <a:tr h="0">
                <a:tc>
                  <a:txBody>
                    <a:bodyPr/>
                    <a:lstStyle/>
                    <a:p>
                      <a:r>
                        <a:rPr lang="fr-FR" b="1" dirty="0">
                          <a:solidFill>
                            <a:schemeClr val="bg1"/>
                          </a:solidFill>
                          <a:latin typeface="Aptos" panose="020B0004020202020204" pitchFamily="34" charset="0"/>
                        </a:rPr>
                        <a:t>Type de responsabilité</a:t>
                      </a:r>
                    </a:p>
                  </a:txBody>
                  <a:tcPr anchor="ctr">
                    <a:lnL>
                      <a:noFill/>
                    </a:lnL>
                    <a:lnR>
                      <a:noFill/>
                    </a:lnR>
                    <a:lnT>
                      <a:noFill/>
                    </a:lnT>
                    <a:lnB>
                      <a:noFill/>
                    </a:lnB>
                    <a:solidFill>
                      <a:srgbClr val="F37504"/>
                    </a:solidFill>
                  </a:tcPr>
                </a:tc>
                <a:tc>
                  <a:txBody>
                    <a:bodyPr/>
                    <a:lstStyle/>
                    <a:p>
                      <a:r>
                        <a:rPr lang="fr-FR" b="1" dirty="0">
                          <a:solidFill>
                            <a:schemeClr val="bg1"/>
                          </a:solidFill>
                          <a:latin typeface="Aptos" panose="020B0004020202020204" pitchFamily="34" charset="0"/>
                        </a:rPr>
                        <a:t>Autorité compétente</a:t>
                      </a:r>
                    </a:p>
                  </a:txBody>
                  <a:tcPr anchor="ctr">
                    <a:lnL>
                      <a:noFill/>
                    </a:lnL>
                    <a:lnR>
                      <a:noFill/>
                    </a:lnR>
                    <a:lnT>
                      <a:noFill/>
                    </a:lnT>
                    <a:lnB>
                      <a:noFill/>
                    </a:lnB>
                    <a:solidFill>
                      <a:srgbClr val="F37504"/>
                    </a:solidFill>
                  </a:tcPr>
                </a:tc>
                <a:extLst>
                  <a:ext uri="{0D108BD9-81ED-4DB2-BD59-A6C34878D82A}">
                    <a16:rowId xmlns:a16="http://schemas.microsoft.com/office/drawing/2014/main" val="809216730"/>
                  </a:ext>
                </a:extLst>
              </a:tr>
              <a:tr h="0">
                <a:tc>
                  <a:txBody>
                    <a:bodyPr/>
                    <a:lstStyle/>
                    <a:p>
                      <a:r>
                        <a:rPr lang="fr-FR">
                          <a:latin typeface="Aptos" panose="020B0004020202020204" pitchFamily="34" charset="0"/>
                        </a:rPr>
                        <a:t>Administrative</a:t>
                      </a:r>
                    </a:p>
                  </a:txBody>
                  <a:tcPr anchor="ctr">
                    <a:lnL>
                      <a:noFill/>
                    </a:lnL>
                    <a:lnR>
                      <a:noFill/>
                    </a:lnR>
                    <a:lnT>
                      <a:noFill/>
                    </a:lnT>
                    <a:lnB>
                      <a:noFill/>
                    </a:lnB>
                  </a:tcPr>
                </a:tc>
                <a:tc>
                  <a:txBody>
                    <a:bodyPr/>
                    <a:lstStyle/>
                    <a:p>
                      <a:r>
                        <a:rPr lang="fr-FR">
                          <a:latin typeface="Aptos" panose="020B0004020202020204" pitchFamily="34" charset="0"/>
                        </a:rPr>
                        <a:t>Autorité de régulation / Ministère</a:t>
                      </a:r>
                    </a:p>
                  </a:txBody>
                  <a:tcPr anchor="ctr">
                    <a:lnL>
                      <a:noFill/>
                    </a:lnL>
                    <a:lnR>
                      <a:noFill/>
                    </a:lnR>
                    <a:lnT>
                      <a:noFill/>
                    </a:lnT>
                    <a:lnB>
                      <a:noFill/>
                    </a:lnB>
                  </a:tcPr>
                </a:tc>
                <a:extLst>
                  <a:ext uri="{0D108BD9-81ED-4DB2-BD59-A6C34878D82A}">
                    <a16:rowId xmlns:a16="http://schemas.microsoft.com/office/drawing/2014/main" val="3820495286"/>
                  </a:ext>
                </a:extLst>
              </a:tr>
              <a:tr h="0">
                <a:tc>
                  <a:txBody>
                    <a:bodyPr/>
                    <a:lstStyle/>
                    <a:p>
                      <a:r>
                        <a:rPr lang="fr-FR" dirty="0">
                          <a:latin typeface="Aptos" panose="020B0004020202020204" pitchFamily="34" charset="0"/>
                        </a:rPr>
                        <a:t>Disciplinaire</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Ordre des pharmaciens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226219953"/>
                  </a:ext>
                </a:extLst>
              </a:tr>
              <a:tr h="0">
                <a:tc>
                  <a:txBody>
                    <a:bodyPr/>
                    <a:lstStyle/>
                    <a:p>
                      <a:r>
                        <a:rPr lang="fr-FR">
                          <a:latin typeface="Aptos" panose="020B0004020202020204" pitchFamily="34" charset="0"/>
                        </a:rPr>
                        <a:t>Civile</a:t>
                      </a:r>
                    </a:p>
                  </a:txBody>
                  <a:tcPr anchor="ctr">
                    <a:lnL>
                      <a:noFill/>
                    </a:lnL>
                    <a:lnR>
                      <a:noFill/>
                    </a:lnR>
                    <a:lnT>
                      <a:noFill/>
                    </a:lnT>
                    <a:lnB>
                      <a:noFill/>
                    </a:lnB>
                  </a:tcPr>
                </a:tc>
                <a:tc>
                  <a:txBody>
                    <a:bodyPr/>
                    <a:lstStyle/>
                    <a:p>
                      <a:r>
                        <a:rPr lang="fr-FR" dirty="0">
                          <a:latin typeface="Aptos" panose="020B0004020202020204" pitchFamily="34" charset="0"/>
                        </a:rPr>
                        <a:t>Juridictions civiles</a:t>
                      </a:r>
                    </a:p>
                  </a:txBody>
                  <a:tcPr anchor="ctr">
                    <a:lnL>
                      <a:noFill/>
                    </a:lnL>
                    <a:lnR>
                      <a:noFill/>
                    </a:lnR>
                    <a:lnT>
                      <a:noFill/>
                    </a:lnT>
                    <a:lnB>
                      <a:noFill/>
                    </a:lnB>
                  </a:tcPr>
                </a:tc>
                <a:extLst>
                  <a:ext uri="{0D108BD9-81ED-4DB2-BD59-A6C34878D82A}">
                    <a16:rowId xmlns:a16="http://schemas.microsoft.com/office/drawing/2014/main" val="269758658"/>
                  </a:ext>
                </a:extLst>
              </a:tr>
              <a:tr h="0">
                <a:tc>
                  <a:txBody>
                    <a:bodyPr/>
                    <a:lstStyle/>
                    <a:p>
                      <a:r>
                        <a:rPr lang="fr-FR" dirty="0">
                          <a:latin typeface="Aptos" panose="020B0004020202020204" pitchFamily="34" charset="0"/>
                        </a:rPr>
                        <a:t>Pénale</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Juridictions pénales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070597008"/>
                  </a:ext>
                </a:extLst>
              </a:tr>
            </a:tbl>
          </a:graphicData>
        </a:graphic>
      </p:graphicFrame>
    </p:spTree>
    <p:extLst>
      <p:ext uri="{BB962C8B-B14F-4D97-AF65-F5344CB8AC3E}">
        <p14:creationId xmlns:p14="http://schemas.microsoft.com/office/powerpoint/2010/main" val="2754851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Responsabilité administrative</a:t>
            </a:r>
            <a:endParaRPr lang="en-US" sz="2400" b="1" dirty="0">
              <a:solidFill>
                <a:schemeClr val="bg1"/>
              </a:solidFill>
            </a:endParaRPr>
          </a:p>
        </p:txBody>
      </p:sp>
      <p:sp>
        <p:nvSpPr>
          <p:cNvPr id="10" name="ZoneTexte 9">
            <a:extLst>
              <a:ext uri="{FF2B5EF4-FFF2-40B4-BE49-F238E27FC236}">
                <a16:creationId xmlns:a16="http://schemas.microsoft.com/office/drawing/2014/main" id="{1099ED4B-40DF-47A5-B5C0-1ED02F038FC0}"/>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Définition</a:t>
            </a:r>
          </a:p>
        </p:txBody>
      </p:sp>
      <p:sp>
        <p:nvSpPr>
          <p:cNvPr id="11" name="ZoneTexte 10">
            <a:extLst>
              <a:ext uri="{FF2B5EF4-FFF2-40B4-BE49-F238E27FC236}">
                <a16:creationId xmlns:a16="http://schemas.microsoft.com/office/drawing/2014/main" id="{CEF52998-AB42-4DA1-BF27-DAA2F17602FF}"/>
              </a:ext>
            </a:extLst>
          </p:cNvPr>
          <p:cNvSpPr txBox="1"/>
          <p:nvPr/>
        </p:nvSpPr>
        <p:spPr>
          <a:xfrm>
            <a:off x="751073" y="2595439"/>
            <a:ext cx="11102569" cy="707886"/>
          </a:xfrm>
          <a:prstGeom prst="rect">
            <a:avLst/>
          </a:prstGeom>
          <a:noFill/>
        </p:spPr>
        <p:txBody>
          <a:bodyPr wrap="square">
            <a:spAutoFit/>
          </a:bodyPr>
          <a:lstStyle/>
          <a:p>
            <a:r>
              <a:rPr lang="fr-FR" sz="2000" dirty="0">
                <a:latin typeface="Aptos" panose="020B0004020202020204" pitchFamily="34" charset="0"/>
              </a:rPr>
              <a:t>La responsabilité administrative est engagée lorsqu’une officine ne respecte pas les exigences réglementaires applicables à son activité.</a:t>
            </a:r>
          </a:p>
        </p:txBody>
      </p:sp>
      <p:sp>
        <p:nvSpPr>
          <p:cNvPr id="15" name="ZoneTexte 14">
            <a:extLst>
              <a:ext uri="{FF2B5EF4-FFF2-40B4-BE49-F238E27FC236}">
                <a16:creationId xmlns:a16="http://schemas.microsoft.com/office/drawing/2014/main" id="{73540EDA-F24D-49F8-9ECD-00B5CC86EA25}"/>
              </a:ext>
            </a:extLst>
          </p:cNvPr>
          <p:cNvSpPr txBox="1"/>
          <p:nvPr/>
        </p:nvSpPr>
        <p:spPr>
          <a:xfrm>
            <a:off x="751073" y="3383001"/>
            <a:ext cx="11102568" cy="2554545"/>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Contexte africain</a:t>
            </a:r>
          </a:p>
          <a:p>
            <a:pPr lvl="1"/>
            <a:r>
              <a:rPr lang="fr-FR" sz="2000" dirty="0">
                <a:latin typeface="Aptos" panose="020B0004020202020204" pitchFamily="34" charset="0"/>
              </a:rPr>
              <a:t>Les autorités réglementaires disposent généralement de pouvoirs de contrôle et de sanction.</a:t>
            </a:r>
          </a:p>
          <a:p>
            <a:pPr lvl="1"/>
            <a:r>
              <a:rPr lang="fr-FR" sz="2000" dirty="0">
                <a:latin typeface="Aptos" panose="020B0004020202020204" pitchFamily="34" charset="0"/>
              </a:rPr>
              <a:t>Les sanctions peuvent être :</a:t>
            </a:r>
          </a:p>
          <a:p>
            <a:pPr marL="1257300" lvl="2" indent="-342900">
              <a:buFont typeface="Courier New" panose="02070309020205020404" pitchFamily="49" charset="0"/>
              <a:buChar char="o"/>
            </a:pPr>
            <a:r>
              <a:rPr lang="fr-FR" sz="2000" dirty="0">
                <a:latin typeface="Aptos" panose="020B0004020202020204" pitchFamily="34" charset="0"/>
              </a:rPr>
              <a:t>Observation</a:t>
            </a:r>
          </a:p>
          <a:p>
            <a:pPr marL="1257300" lvl="2" indent="-342900">
              <a:buFont typeface="Courier New" panose="02070309020205020404" pitchFamily="49" charset="0"/>
              <a:buChar char="o"/>
            </a:pPr>
            <a:r>
              <a:rPr lang="fr-FR" sz="2000" dirty="0">
                <a:latin typeface="Aptos" panose="020B0004020202020204" pitchFamily="34" charset="0"/>
              </a:rPr>
              <a:t>Mise en demeure</a:t>
            </a:r>
          </a:p>
          <a:p>
            <a:pPr marL="1257300" lvl="2" indent="-342900">
              <a:buFont typeface="Courier New" panose="02070309020205020404" pitchFamily="49" charset="0"/>
              <a:buChar char="o"/>
            </a:pPr>
            <a:r>
              <a:rPr lang="fr-FR" sz="2000" dirty="0">
                <a:latin typeface="Aptos" panose="020B0004020202020204" pitchFamily="34" charset="0"/>
              </a:rPr>
              <a:t>Suspension</a:t>
            </a:r>
          </a:p>
          <a:p>
            <a:pPr marL="1257300" lvl="2" indent="-342900">
              <a:buFont typeface="Courier New" panose="02070309020205020404" pitchFamily="49" charset="0"/>
              <a:buChar char="o"/>
            </a:pPr>
            <a:r>
              <a:rPr lang="fr-FR" sz="2000" dirty="0">
                <a:latin typeface="Aptos" panose="020B0004020202020204" pitchFamily="34" charset="0"/>
              </a:rPr>
              <a:t>Retrait d’autorisation</a:t>
            </a:r>
          </a:p>
          <a:p>
            <a:pPr marL="1257300" lvl="2" indent="-342900">
              <a:buFont typeface="Courier New" panose="02070309020205020404" pitchFamily="49" charset="0"/>
              <a:buChar char="o"/>
            </a:pPr>
            <a:r>
              <a:rPr lang="fr-FR" sz="2000" dirty="0">
                <a:latin typeface="Aptos" panose="020B0004020202020204" pitchFamily="34" charset="0"/>
              </a:rPr>
              <a:t>Fermeture administrative</a:t>
            </a:r>
          </a:p>
        </p:txBody>
      </p:sp>
    </p:spTree>
    <p:extLst>
      <p:ext uri="{BB962C8B-B14F-4D97-AF65-F5344CB8AC3E}">
        <p14:creationId xmlns:p14="http://schemas.microsoft.com/office/powerpoint/2010/main" val="781136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Responsabilité administrative</a:t>
            </a:r>
            <a:endParaRPr lang="en-US" sz="2400" b="1" dirty="0">
              <a:solidFill>
                <a:schemeClr val="bg1"/>
              </a:solidFill>
            </a:endParaRPr>
          </a:p>
        </p:txBody>
      </p:sp>
      <p:sp>
        <p:nvSpPr>
          <p:cNvPr id="10" name="ZoneTexte 9">
            <a:extLst>
              <a:ext uri="{FF2B5EF4-FFF2-40B4-BE49-F238E27FC236}">
                <a16:creationId xmlns:a16="http://schemas.microsoft.com/office/drawing/2014/main" id="{1099ED4B-40DF-47A5-B5C0-1ED02F038FC0}"/>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Application au Bénin</a:t>
            </a:r>
          </a:p>
        </p:txBody>
      </p:sp>
      <p:sp>
        <p:nvSpPr>
          <p:cNvPr id="11" name="ZoneTexte 10">
            <a:extLst>
              <a:ext uri="{FF2B5EF4-FFF2-40B4-BE49-F238E27FC236}">
                <a16:creationId xmlns:a16="http://schemas.microsoft.com/office/drawing/2014/main" id="{CEF52998-AB42-4DA1-BF27-DAA2F17602FF}"/>
              </a:ext>
            </a:extLst>
          </p:cNvPr>
          <p:cNvSpPr txBox="1"/>
          <p:nvPr/>
        </p:nvSpPr>
        <p:spPr>
          <a:xfrm>
            <a:off x="751073" y="2595439"/>
            <a:ext cx="11102569" cy="3785652"/>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L’ABMed est chargée de la surveillance du marché, des inspections pharmaceutiques et du contrôle de la conformité des établissements pharmaceutiques.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Dans le cadre de ses missions, elle peut constater des non-conformités et demander la mise en œuvre d’actions correctives.</a:t>
            </a:r>
          </a:p>
          <a:p>
            <a:pPr marL="342900" indent="-342900">
              <a:buFont typeface="Arial" panose="020B0604020202020204" pitchFamily="34" charset="0"/>
              <a:buChar char="•"/>
            </a:pPr>
            <a:r>
              <a:rPr lang="fr-FR" sz="2000" b="1" dirty="0">
                <a:latin typeface="Aptos" panose="020B0004020202020204" pitchFamily="34" charset="0"/>
              </a:rPr>
              <a:t>Exemples de non-conformités administratives :</a:t>
            </a:r>
          </a:p>
          <a:p>
            <a:pPr marL="800100" lvl="1" indent="-342900">
              <a:buFont typeface="Courier New" panose="02070309020205020404" pitchFamily="49" charset="0"/>
              <a:buChar char="o"/>
            </a:pPr>
            <a:r>
              <a:rPr lang="fr-FR" sz="2000" dirty="0">
                <a:latin typeface="Aptos" panose="020B0004020202020204" pitchFamily="34" charset="0"/>
              </a:rPr>
              <a:t>Licence expirée</a:t>
            </a:r>
          </a:p>
          <a:p>
            <a:pPr marL="800100" lvl="1" indent="-342900">
              <a:buFont typeface="Courier New" panose="02070309020205020404" pitchFamily="49" charset="0"/>
              <a:buChar char="o"/>
            </a:pPr>
            <a:r>
              <a:rPr lang="fr-FR" sz="2000" dirty="0">
                <a:latin typeface="Aptos" panose="020B0004020202020204" pitchFamily="34" charset="0"/>
              </a:rPr>
              <a:t>Registres non tenus</a:t>
            </a:r>
          </a:p>
          <a:p>
            <a:pPr marL="800100" lvl="1" indent="-342900">
              <a:buFont typeface="Courier New" panose="02070309020205020404" pitchFamily="49" charset="0"/>
              <a:buChar char="o"/>
            </a:pPr>
            <a:r>
              <a:rPr lang="fr-FR" sz="2000" dirty="0">
                <a:latin typeface="Aptos" panose="020B0004020202020204" pitchFamily="34" charset="0"/>
              </a:rPr>
              <a:t>Températures non documentées</a:t>
            </a:r>
          </a:p>
          <a:p>
            <a:pPr marL="800100" lvl="1" indent="-342900">
              <a:buFont typeface="Courier New" panose="02070309020205020404" pitchFamily="49" charset="0"/>
              <a:buChar char="o"/>
            </a:pPr>
            <a:r>
              <a:rPr lang="fr-FR" sz="2000" dirty="0">
                <a:latin typeface="Aptos" panose="020B0004020202020204" pitchFamily="34" charset="0"/>
              </a:rPr>
              <a:t>Produits périmés en rayon</a:t>
            </a:r>
          </a:p>
          <a:p>
            <a:pPr marL="800100" lvl="1" indent="-342900">
              <a:buFont typeface="Courier New" panose="02070309020205020404" pitchFamily="49" charset="0"/>
              <a:buChar char="o"/>
            </a:pPr>
            <a:r>
              <a:rPr lang="fr-FR" sz="2000" dirty="0">
                <a:latin typeface="Aptos" panose="020B0004020202020204" pitchFamily="34" charset="0"/>
              </a:rPr>
              <a:t>Fournisseurs non autorisés</a:t>
            </a:r>
          </a:p>
          <a:p>
            <a:pPr marL="800100" lvl="1" indent="-342900">
              <a:buFont typeface="Courier New" panose="02070309020205020404" pitchFamily="49" charset="0"/>
              <a:buChar char="o"/>
            </a:pPr>
            <a:r>
              <a:rPr lang="fr-FR" sz="2000" dirty="0">
                <a:latin typeface="Aptos" panose="020B0004020202020204" pitchFamily="34" charset="0"/>
              </a:rPr>
              <a:t>Défaut de pharmacovigilance</a:t>
            </a:r>
          </a:p>
        </p:txBody>
      </p:sp>
    </p:spTree>
    <p:extLst>
      <p:ext uri="{BB962C8B-B14F-4D97-AF65-F5344CB8AC3E}">
        <p14:creationId xmlns:p14="http://schemas.microsoft.com/office/powerpoint/2010/main" val="301436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Responsabilité disciplinaire</a:t>
            </a:r>
            <a:endParaRPr lang="en-US" sz="2400" b="1" dirty="0">
              <a:solidFill>
                <a:schemeClr val="bg1"/>
              </a:solidFill>
            </a:endParaRPr>
          </a:p>
        </p:txBody>
      </p:sp>
      <p:sp>
        <p:nvSpPr>
          <p:cNvPr id="10" name="ZoneTexte 9">
            <a:extLst>
              <a:ext uri="{FF2B5EF4-FFF2-40B4-BE49-F238E27FC236}">
                <a16:creationId xmlns:a16="http://schemas.microsoft.com/office/drawing/2014/main" id="{1099ED4B-40DF-47A5-B5C0-1ED02F038FC0}"/>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Définition</a:t>
            </a:r>
          </a:p>
        </p:txBody>
      </p:sp>
      <p:sp>
        <p:nvSpPr>
          <p:cNvPr id="11" name="ZoneTexte 10">
            <a:extLst>
              <a:ext uri="{FF2B5EF4-FFF2-40B4-BE49-F238E27FC236}">
                <a16:creationId xmlns:a16="http://schemas.microsoft.com/office/drawing/2014/main" id="{CEF52998-AB42-4DA1-BF27-DAA2F17602FF}"/>
              </a:ext>
            </a:extLst>
          </p:cNvPr>
          <p:cNvSpPr txBox="1"/>
          <p:nvPr/>
        </p:nvSpPr>
        <p:spPr>
          <a:xfrm>
            <a:off x="751074" y="2595439"/>
            <a:ext cx="6916464" cy="2862322"/>
          </a:xfrm>
          <a:prstGeom prst="rect">
            <a:avLst/>
          </a:prstGeom>
          <a:noFill/>
        </p:spPr>
        <p:txBody>
          <a:bodyPr wrap="square">
            <a:spAutoFit/>
          </a:bodyPr>
          <a:lstStyle/>
          <a:p>
            <a:r>
              <a:rPr lang="fr-FR" sz="2000" dirty="0">
                <a:latin typeface="Aptos" panose="020B0004020202020204" pitchFamily="34" charset="0"/>
              </a:rPr>
              <a:t>La responsabilité disciplinaire découle du non-respect des règles déontologiques et professionnelles.</a:t>
            </a:r>
          </a:p>
          <a:p>
            <a:r>
              <a:rPr lang="fr-FR" sz="2000" dirty="0">
                <a:latin typeface="Aptos" panose="020B0004020202020204" pitchFamily="34" charset="0"/>
              </a:rPr>
              <a:t>Elle est généralement examinée par les instances ordinales.</a:t>
            </a:r>
          </a:p>
          <a:p>
            <a:endParaRPr lang="fr-FR" sz="2000" dirty="0">
              <a:latin typeface="Aptos" panose="020B0004020202020204" pitchFamily="34" charset="0"/>
            </a:endParaRPr>
          </a:p>
          <a:p>
            <a:r>
              <a:rPr lang="fr-FR" sz="2000" b="1" dirty="0">
                <a:latin typeface="Aptos" panose="020B0004020202020204" pitchFamily="34" charset="0"/>
              </a:rPr>
              <a:t>Objectif</a:t>
            </a:r>
          </a:p>
          <a:p>
            <a:r>
              <a:rPr lang="fr-FR" sz="2000" dirty="0">
                <a:latin typeface="Aptos" panose="020B0004020202020204" pitchFamily="34" charset="0"/>
              </a:rPr>
              <a:t>Préserver :</a:t>
            </a:r>
          </a:p>
          <a:p>
            <a:pPr marL="800100" lvl="1" indent="-342900">
              <a:buFont typeface="Arial" panose="020B0604020202020204" pitchFamily="34" charset="0"/>
              <a:buChar char="•"/>
            </a:pPr>
            <a:r>
              <a:rPr lang="fr-FR" sz="2000" dirty="0">
                <a:latin typeface="Aptos" panose="020B0004020202020204" pitchFamily="34" charset="0"/>
              </a:rPr>
              <a:t>L’honneur de la profession ;</a:t>
            </a:r>
          </a:p>
          <a:p>
            <a:pPr marL="800100" lvl="1" indent="-342900">
              <a:buFont typeface="Arial" panose="020B0604020202020204" pitchFamily="34" charset="0"/>
              <a:buChar char="•"/>
            </a:pPr>
            <a:r>
              <a:rPr lang="fr-FR" sz="2000" dirty="0">
                <a:latin typeface="Aptos" panose="020B0004020202020204" pitchFamily="34" charset="0"/>
              </a:rPr>
              <a:t>La confiance du public ;</a:t>
            </a:r>
          </a:p>
          <a:p>
            <a:pPr marL="800100" lvl="1" indent="-342900">
              <a:buFont typeface="Arial" panose="020B0604020202020204" pitchFamily="34" charset="0"/>
              <a:buChar char="•"/>
            </a:pPr>
            <a:r>
              <a:rPr lang="fr-FR" sz="2000" dirty="0">
                <a:latin typeface="Aptos" panose="020B0004020202020204" pitchFamily="34" charset="0"/>
              </a:rPr>
              <a:t>La qualité de l’exercice professionnel.</a:t>
            </a:r>
          </a:p>
        </p:txBody>
      </p:sp>
    </p:spTree>
    <p:extLst>
      <p:ext uri="{BB962C8B-B14F-4D97-AF65-F5344CB8AC3E}">
        <p14:creationId xmlns:p14="http://schemas.microsoft.com/office/powerpoint/2010/main" val="7526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Responsabilité disciplinaire</a:t>
            </a:r>
            <a:endParaRPr lang="en-US" sz="2400" b="1" dirty="0">
              <a:solidFill>
                <a:schemeClr val="bg1"/>
              </a:solidFill>
            </a:endParaRPr>
          </a:p>
        </p:txBody>
      </p:sp>
      <p:sp>
        <p:nvSpPr>
          <p:cNvPr id="10" name="ZoneTexte 9">
            <a:extLst>
              <a:ext uri="{FF2B5EF4-FFF2-40B4-BE49-F238E27FC236}">
                <a16:creationId xmlns:a16="http://schemas.microsoft.com/office/drawing/2014/main" id="{1099ED4B-40DF-47A5-B5C0-1ED02F038FC0}"/>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Application au Bénin</a:t>
            </a:r>
          </a:p>
        </p:txBody>
      </p:sp>
      <p:sp>
        <p:nvSpPr>
          <p:cNvPr id="11" name="ZoneTexte 10">
            <a:extLst>
              <a:ext uri="{FF2B5EF4-FFF2-40B4-BE49-F238E27FC236}">
                <a16:creationId xmlns:a16="http://schemas.microsoft.com/office/drawing/2014/main" id="{CEF52998-AB42-4DA1-BF27-DAA2F17602FF}"/>
              </a:ext>
            </a:extLst>
          </p:cNvPr>
          <p:cNvSpPr txBox="1"/>
          <p:nvPr/>
        </p:nvSpPr>
        <p:spPr>
          <a:xfrm>
            <a:off x="751074" y="2595439"/>
            <a:ext cx="11102568" cy="707886"/>
          </a:xfrm>
          <a:prstGeom prst="rect">
            <a:avLst/>
          </a:prstGeom>
          <a:noFill/>
        </p:spPr>
        <p:txBody>
          <a:bodyPr wrap="square">
            <a:spAutoFit/>
          </a:bodyPr>
          <a:lstStyle/>
          <a:p>
            <a:r>
              <a:rPr lang="fr-FR" sz="2000" dirty="0">
                <a:latin typeface="Aptos" panose="020B0004020202020204" pitchFamily="34" charset="0"/>
              </a:rPr>
              <a:t>Le Code de déontologie des pharmaciens constitue la référence principale pour apprécier les manquements disciplinaires.</a:t>
            </a:r>
          </a:p>
        </p:txBody>
      </p:sp>
      <p:sp>
        <p:nvSpPr>
          <p:cNvPr id="13" name="ZoneTexte 12">
            <a:extLst>
              <a:ext uri="{FF2B5EF4-FFF2-40B4-BE49-F238E27FC236}">
                <a16:creationId xmlns:a16="http://schemas.microsoft.com/office/drawing/2014/main" id="{6A706937-268B-4687-A972-6DD0A57535AE}"/>
              </a:ext>
            </a:extLst>
          </p:cNvPr>
          <p:cNvSpPr txBox="1"/>
          <p:nvPr/>
        </p:nvSpPr>
        <p:spPr>
          <a:xfrm>
            <a:off x="751074" y="3431816"/>
            <a:ext cx="5578679" cy="1938992"/>
          </a:xfrm>
          <a:prstGeom prst="rect">
            <a:avLst/>
          </a:prstGeom>
          <a:noFill/>
        </p:spPr>
        <p:txBody>
          <a:bodyPr wrap="square">
            <a:spAutoFit/>
          </a:bodyPr>
          <a:lstStyle/>
          <a:p>
            <a:r>
              <a:rPr lang="fr-FR" sz="2000" b="1" dirty="0">
                <a:latin typeface="Aptos" panose="020B0004020202020204" pitchFamily="34" charset="0"/>
              </a:rPr>
              <a:t>Exemples fréquents</a:t>
            </a:r>
          </a:p>
          <a:p>
            <a:pPr marL="742950" lvl="1" indent="-285750">
              <a:buFont typeface="Arial" panose="020B0604020202020204" pitchFamily="34" charset="0"/>
              <a:buChar char="•"/>
            </a:pPr>
            <a:r>
              <a:rPr lang="fr-FR" sz="2000" dirty="0">
                <a:latin typeface="Aptos" panose="020B0004020202020204" pitchFamily="34" charset="0"/>
              </a:rPr>
              <a:t>Publicité trompeuse</a:t>
            </a:r>
          </a:p>
          <a:p>
            <a:pPr marL="742950" lvl="1" indent="-285750">
              <a:buFont typeface="Arial" panose="020B0604020202020204" pitchFamily="34" charset="0"/>
              <a:buChar char="•"/>
            </a:pPr>
            <a:r>
              <a:rPr lang="fr-FR" sz="2000" dirty="0">
                <a:latin typeface="Aptos" panose="020B0004020202020204" pitchFamily="34" charset="0"/>
              </a:rPr>
              <a:t>Concurrence déloyale</a:t>
            </a:r>
          </a:p>
          <a:p>
            <a:pPr marL="742950" lvl="1" indent="-285750">
              <a:buFont typeface="Arial" panose="020B0604020202020204" pitchFamily="34" charset="0"/>
              <a:buChar char="•"/>
            </a:pPr>
            <a:r>
              <a:rPr lang="fr-FR" sz="2000" dirty="0">
                <a:latin typeface="Aptos" panose="020B0004020202020204" pitchFamily="34" charset="0"/>
              </a:rPr>
              <a:t>Violation du secret professionnel</a:t>
            </a:r>
          </a:p>
          <a:p>
            <a:pPr marL="742950" lvl="1" indent="-285750">
              <a:buFont typeface="Arial" panose="020B0604020202020204" pitchFamily="34" charset="0"/>
              <a:buChar char="•"/>
            </a:pPr>
            <a:r>
              <a:rPr lang="fr-FR" sz="2000" dirty="0">
                <a:latin typeface="Aptos" panose="020B0004020202020204" pitchFamily="34" charset="0"/>
              </a:rPr>
              <a:t>Exercice sous prête-nom</a:t>
            </a:r>
          </a:p>
          <a:p>
            <a:pPr marL="742950" lvl="1" indent="-285750">
              <a:buFont typeface="Arial" panose="020B0604020202020204" pitchFamily="34" charset="0"/>
              <a:buChar char="•"/>
            </a:pPr>
            <a:r>
              <a:rPr lang="fr-FR" sz="2000" dirty="0">
                <a:latin typeface="Aptos" panose="020B0004020202020204" pitchFamily="34" charset="0"/>
              </a:rPr>
              <a:t>Comportement contraire à la déontologie</a:t>
            </a:r>
          </a:p>
        </p:txBody>
      </p:sp>
    </p:spTree>
    <p:extLst>
      <p:ext uri="{BB962C8B-B14F-4D97-AF65-F5344CB8AC3E}">
        <p14:creationId xmlns:p14="http://schemas.microsoft.com/office/powerpoint/2010/main" val="2265975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Responsabilité civile</a:t>
            </a:r>
            <a:endParaRPr lang="en-US" sz="2400" b="1" dirty="0">
              <a:solidFill>
                <a:schemeClr val="bg1"/>
              </a:solidFill>
            </a:endParaRPr>
          </a:p>
        </p:txBody>
      </p:sp>
      <p:sp>
        <p:nvSpPr>
          <p:cNvPr id="10" name="ZoneTexte 9">
            <a:extLst>
              <a:ext uri="{FF2B5EF4-FFF2-40B4-BE49-F238E27FC236}">
                <a16:creationId xmlns:a16="http://schemas.microsoft.com/office/drawing/2014/main" id="{1099ED4B-40DF-47A5-B5C0-1ED02F038FC0}"/>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Définition</a:t>
            </a:r>
          </a:p>
        </p:txBody>
      </p:sp>
      <p:sp>
        <p:nvSpPr>
          <p:cNvPr id="11" name="ZoneTexte 10">
            <a:extLst>
              <a:ext uri="{FF2B5EF4-FFF2-40B4-BE49-F238E27FC236}">
                <a16:creationId xmlns:a16="http://schemas.microsoft.com/office/drawing/2014/main" id="{CEF52998-AB42-4DA1-BF27-DAA2F17602FF}"/>
              </a:ext>
            </a:extLst>
          </p:cNvPr>
          <p:cNvSpPr txBox="1"/>
          <p:nvPr/>
        </p:nvSpPr>
        <p:spPr>
          <a:xfrm>
            <a:off x="751074" y="2595439"/>
            <a:ext cx="11102568" cy="400110"/>
          </a:xfrm>
          <a:prstGeom prst="rect">
            <a:avLst/>
          </a:prstGeom>
          <a:noFill/>
        </p:spPr>
        <p:txBody>
          <a:bodyPr wrap="square">
            <a:spAutoFit/>
          </a:bodyPr>
          <a:lstStyle/>
          <a:p>
            <a:r>
              <a:rPr lang="fr-FR" sz="2000" dirty="0">
                <a:latin typeface="Aptos" panose="020B0004020202020204" pitchFamily="34" charset="0"/>
              </a:rPr>
              <a:t>La responsabilité civile vise à réparer un dommage subi par une personne.</a:t>
            </a:r>
          </a:p>
        </p:txBody>
      </p:sp>
      <p:sp>
        <p:nvSpPr>
          <p:cNvPr id="13" name="ZoneTexte 12">
            <a:extLst>
              <a:ext uri="{FF2B5EF4-FFF2-40B4-BE49-F238E27FC236}">
                <a16:creationId xmlns:a16="http://schemas.microsoft.com/office/drawing/2014/main" id="{6A706937-268B-4687-A972-6DD0A57535AE}"/>
              </a:ext>
            </a:extLst>
          </p:cNvPr>
          <p:cNvSpPr txBox="1"/>
          <p:nvPr/>
        </p:nvSpPr>
        <p:spPr>
          <a:xfrm>
            <a:off x="751074" y="3164392"/>
            <a:ext cx="4886328" cy="1938992"/>
          </a:xfrm>
          <a:prstGeom prst="rect">
            <a:avLst/>
          </a:prstGeom>
          <a:noFill/>
        </p:spPr>
        <p:txBody>
          <a:bodyPr wrap="square">
            <a:spAutoFit/>
          </a:bodyPr>
          <a:lstStyle/>
          <a:p>
            <a:r>
              <a:rPr lang="fr-FR" sz="2000" b="1" dirty="0">
                <a:latin typeface="Aptos" panose="020B0004020202020204" pitchFamily="34" charset="0"/>
              </a:rPr>
              <a:t>Conditions générales</a:t>
            </a:r>
          </a:p>
          <a:p>
            <a:pPr marL="742950" lvl="1" indent="-285750">
              <a:buFont typeface="Arial" panose="020B0604020202020204" pitchFamily="34" charset="0"/>
              <a:buChar char="•"/>
            </a:pPr>
            <a:r>
              <a:rPr lang="fr-FR" sz="2000" dirty="0">
                <a:latin typeface="Aptos" panose="020B0004020202020204" pitchFamily="34" charset="0"/>
              </a:rPr>
              <a:t>Pour qu’elle soit engagée, il faut généralement :</a:t>
            </a:r>
          </a:p>
          <a:p>
            <a:pPr marL="1257300" lvl="2" indent="-342900">
              <a:buFont typeface="Courier New" panose="02070309020205020404" pitchFamily="49" charset="0"/>
              <a:buChar char="o"/>
            </a:pPr>
            <a:r>
              <a:rPr lang="fr-FR" sz="2000" dirty="0">
                <a:latin typeface="Aptos" panose="020B0004020202020204" pitchFamily="34" charset="0"/>
              </a:rPr>
              <a:t>Une faute</a:t>
            </a:r>
          </a:p>
          <a:p>
            <a:pPr marL="1257300" lvl="2" indent="-342900">
              <a:buFont typeface="Courier New" panose="02070309020205020404" pitchFamily="49" charset="0"/>
              <a:buChar char="o"/>
            </a:pPr>
            <a:r>
              <a:rPr lang="fr-FR" sz="2000" dirty="0">
                <a:latin typeface="Aptos" panose="020B0004020202020204" pitchFamily="34" charset="0"/>
              </a:rPr>
              <a:t>Un dommage</a:t>
            </a:r>
          </a:p>
          <a:p>
            <a:pPr marL="1257300" lvl="2" indent="-342900">
              <a:buFont typeface="Courier New" panose="02070309020205020404" pitchFamily="49" charset="0"/>
              <a:buChar char="o"/>
            </a:pPr>
            <a:r>
              <a:rPr lang="fr-FR" sz="2000" dirty="0">
                <a:latin typeface="Aptos" panose="020B0004020202020204" pitchFamily="34" charset="0"/>
              </a:rPr>
              <a:t>Un lien entre les deux</a:t>
            </a:r>
          </a:p>
        </p:txBody>
      </p:sp>
      <p:sp>
        <p:nvSpPr>
          <p:cNvPr id="15" name="ZoneTexte 14">
            <a:extLst>
              <a:ext uri="{FF2B5EF4-FFF2-40B4-BE49-F238E27FC236}">
                <a16:creationId xmlns:a16="http://schemas.microsoft.com/office/drawing/2014/main" id="{2883DCBB-0258-40ED-B51B-0A99A540F918}"/>
              </a:ext>
            </a:extLst>
          </p:cNvPr>
          <p:cNvSpPr txBox="1"/>
          <p:nvPr/>
        </p:nvSpPr>
        <p:spPr>
          <a:xfrm>
            <a:off x="6106886" y="3164392"/>
            <a:ext cx="4886328" cy="1631216"/>
          </a:xfrm>
          <a:prstGeom prst="rect">
            <a:avLst/>
          </a:prstGeom>
          <a:noFill/>
        </p:spPr>
        <p:txBody>
          <a:bodyPr wrap="square">
            <a:spAutoFit/>
          </a:bodyPr>
          <a:lstStyle/>
          <a:p>
            <a:r>
              <a:rPr lang="fr-FR" sz="2000" b="1" dirty="0">
                <a:latin typeface="Aptos" panose="020B0004020202020204" pitchFamily="34" charset="0"/>
              </a:rPr>
              <a:t>Exemples en officine</a:t>
            </a:r>
          </a:p>
          <a:p>
            <a:pPr marL="742950" lvl="1" indent="-285750">
              <a:buFont typeface="Arial" panose="020B0604020202020204" pitchFamily="34" charset="0"/>
              <a:buChar char="•"/>
            </a:pPr>
            <a:r>
              <a:rPr lang="fr-FR" sz="2000" dirty="0">
                <a:latin typeface="Aptos" panose="020B0004020202020204" pitchFamily="34" charset="0"/>
              </a:rPr>
              <a:t>Erreur de dispensation</a:t>
            </a:r>
          </a:p>
          <a:p>
            <a:pPr marL="742950" lvl="1" indent="-285750">
              <a:buFont typeface="Arial" panose="020B0604020202020204" pitchFamily="34" charset="0"/>
              <a:buChar char="•"/>
            </a:pPr>
            <a:r>
              <a:rPr lang="fr-FR" sz="2000" dirty="0">
                <a:latin typeface="Aptos" panose="020B0004020202020204" pitchFamily="34" charset="0"/>
              </a:rPr>
              <a:t>Conseil inapproprié</a:t>
            </a:r>
          </a:p>
          <a:p>
            <a:pPr marL="742950" lvl="1" indent="-285750">
              <a:buFont typeface="Arial" panose="020B0604020202020204" pitchFamily="34" charset="0"/>
              <a:buChar char="•"/>
            </a:pPr>
            <a:r>
              <a:rPr lang="fr-FR" sz="2000" dirty="0">
                <a:latin typeface="Aptos" panose="020B0004020202020204" pitchFamily="34" charset="0"/>
              </a:rPr>
              <a:t>Défaut d’information</a:t>
            </a:r>
          </a:p>
          <a:p>
            <a:pPr marL="742950" lvl="1" indent="-285750">
              <a:buFont typeface="Arial" panose="020B0604020202020204" pitchFamily="34" charset="0"/>
              <a:buChar char="•"/>
            </a:pPr>
            <a:r>
              <a:rPr lang="fr-FR" sz="2000" dirty="0">
                <a:latin typeface="Aptos" panose="020B0004020202020204" pitchFamily="34" charset="0"/>
              </a:rPr>
              <a:t>Produit mal conservé</a:t>
            </a:r>
          </a:p>
        </p:txBody>
      </p:sp>
    </p:spTree>
    <p:extLst>
      <p:ext uri="{BB962C8B-B14F-4D97-AF65-F5344CB8AC3E}">
        <p14:creationId xmlns:p14="http://schemas.microsoft.com/office/powerpoint/2010/main" val="2783334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Responsabilité pénale</a:t>
            </a:r>
            <a:endParaRPr lang="en-US" sz="2400" b="1" dirty="0">
              <a:solidFill>
                <a:schemeClr val="bg1"/>
              </a:solidFill>
            </a:endParaRPr>
          </a:p>
        </p:txBody>
      </p:sp>
      <p:sp>
        <p:nvSpPr>
          <p:cNvPr id="10" name="ZoneTexte 9">
            <a:extLst>
              <a:ext uri="{FF2B5EF4-FFF2-40B4-BE49-F238E27FC236}">
                <a16:creationId xmlns:a16="http://schemas.microsoft.com/office/drawing/2014/main" id="{1099ED4B-40DF-47A5-B5C0-1ED02F038FC0}"/>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Définition</a:t>
            </a:r>
          </a:p>
        </p:txBody>
      </p:sp>
      <p:sp>
        <p:nvSpPr>
          <p:cNvPr id="11" name="ZoneTexte 10">
            <a:extLst>
              <a:ext uri="{FF2B5EF4-FFF2-40B4-BE49-F238E27FC236}">
                <a16:creationId xmlns:a16="http://schemas.microsoft.com/office/drawing/2014/main" id="{CEF52998-AB42-4DA1-BF27-DAA2F17602FF}"/>
              </a:ext>
            </a:extLst>
          </p:cNvPr>
          <p:cNvSpPr txBox="1"/>
          <p:nvPr/>
        </p:nvSpPr>
        <p:spPr>
          <a:xfrm>
            <a:off x="751074" y="2595439"/>
            <a:ext cx="11102568" cy="400110"/>
          </a:xfrm>
          <a:prstGeom prst="rect">
            <a:avLst/>
          </a:prstGeom>
          <a:noFill/>
        </p:spPr>
        <p:txBody>
          <a:bodyPr wrap="square">
            <a:spAutoFit/>
          </a:bodyPr>
          <a:lstStyle/>
          <a:p>
            <a:r>
              <a:rPr lang="fr-FR" sz="2000" dirty="0">
                <a:latin typeface="Aptos" panose="020B0004020202020204" pitchFamily="34" charset="0"/>
              </a:rPr>
              <a:t>La responsabilité pénale vise à sanctionner les infractions prévues par la loi.</a:t>
            </a:r>
          </a:p>
        </p:txBody>
      </p:sp>
      <p:sp>
        <p:nvSpPr>
          <p:cNvPr id="13" name="ZoneTexte 12">
            <a:extLst>
              <a:ext uri="{FF2B5EF4-FFF2-40B4-BE49-F238E27FC236}">
                <a16:creationId xmlns:a16="http://schemas.microsoft.com/office/drawing/2014/main" id="{6A706937-268B-4687-A972-6DD0A57535AE}"/>
              </a:ext>
            </a:extLst>
          </p:cNvPr>
          <p:cNvSpPr txBox="1"/>
          <p:nvPr/>
        </p:nvSpPr>
        <p:spPr>
          <a:xfrm>
            <a:off x="751074" y="3164392"/>
            <a:ext cx="7780530" cy="2554545"/>
          </a:xfrm>
          <a:prstGeom prst="rect">
            <a:avLst/>
          </a:prstGeom>
          <a:noFill/>
        </p:spPr>
        <p:txBody>
          <a:bodyPr wrap="square">
            <a:spAutoFit/>
          </a:bodyPr>
          <a:lstStyle/>
          <a:p>
            <a:r>
              <a:rPr lang="fr-FR" sz="2000" b="1" dirty="0">
                <a:latin typeface="Aptos" panose="020B0004020202020204" pitchFamily="34" charset="0"/>
              </a:rPr>
              <a:t>Pourquoi est-elle particulièrement sensible ?</a:t>
            </a:r>
          </a:p>
          <a:p>
            <a:pPr marL="742950" lvl="1" indent="-285750">
              <a:buFont typeface="Arial" panose="020B0604020202020204" pitchFamily="34" charset="0"/>
              <a:buChar char="•"/>
            </a:pPr>
            <a:r>
              <a:rPr lang="fr-FR" sz="2000" dirty="0">
                <a:latin typeface="Aptos" panose="020B0004020202020204" pitchFamily="34" charset="0"/>
              </a:rPr>
              <a:t>Parce qu’elle peut entraîner :</a:t>
            </a:r>
          </a:p>
          <a:p>
            <a:pPr marL="1257300" lvl="2" indent="-342900">
              <a:buFont typeface="Courier New" panose="02070309020205020404" pitchFamily="49" charset="0"/>
              <a:buChar char="o"/>
            </a:pPr>
            <a:r>
              <a:rPr lang="fr-FR" sz="2000" dirty="0">
                <a:latin typeface="Aptos" panose="020B0004020202020204" pitchFamily="34" charset="0"/>
              </a:rPr>
              <a:t>Amendes</a:t>
            </a:r>
          </a:p>
          <a:p>
            <a:pPr marL="1257300" lvl="2" indent="-342900">
              <a:buFont typeface="Courier New" panose="02070309020205020404" pitchFamily="49" charset="0"/>
              <a:buChar char="o"/>
            </a:pPr>
            <a:r>
              <a:rPr lang="fr-FR" sz="2000" dirty="0">
                <a:latin typeface="Aptos" panose="020B0004020202020204" pitchFamily="34" charset="0"/>
              </a:rPr>
              <a:t>Condamnations</a:t>
            </a:r>
          </a:p>
          <a:p>
            <a:pPr marL="1257300" lvl="2" indent="-342900">
              <a:buFont typeface="Courier New" panose="02070309020205020404" pitchFamily="49" charset="0"/>
              <a:buChar char="o"/>
            </a:pPr>
            <a:r>
              <a:rPr lang="fr-FR" sz="2000" dirty="0">
                <a:latin typeface="Aptos" panose="020B0004020202020204" pitchFamily="34" charset="0"/>
              </a:rPr>
              <a:t>Interdictions d’exercer</a:t>
            </a:r>
          </a:p>
          <a:p>
            <a:pPr marL="1257300" lvl="2" indent="-342900">
              <a:buFont typeface="Courier New" panose="02070309020205020404" pitchFamily="49" charset="0"/>
              <a:buChar char="o"/>
            </a:pPr>
            <a:r>
              <a:rPr lang="fr-FR" sz="2000" dirty="0">
                <a:latin typeface="Aptos" panose="020B0004020202020204" pitchFamily="34" charset="0"/>
              </a:rPr>
              <a:t>Peines d’emprisonnement</a:t>
            </a:r>
          </a:p>
          <a:p>
            <a:pPr marL="1257300" lvl="2" indent="-342900">
              <a:buFont typeface="Courier New" panose="02070309020205020404" pitchFamily="49" charset="0"/>
              <a:buChar char="o"/>
            </a:pPr>
            <a:endParaRPr lang="fr-FR" sz="2000" dirty="0">
              <a:latin typeface="Aptos" panose="020B0004020202020204" pitchFamily="34" charset="0"/>
            </a:endParaRPr>
          </a:p>
          <a:p>
            <a:pPr lvl="1"/>
            <a:r>
              <a:rPr lang="fr-FR" sz="2000" dirty="0">
                <a:latin typeface="Aptos" panose="020B0004020202020204" pitchFamily="34" charset="0"/>
              </a:rPr>
              <a:t>Selon la gravité des faits et les textes applicables.</a:t>
            </a:r>
          </a:p>
        </p:txBody>
      </p:sp>
    </p:spTree>
    <p:extLst>
      <p:ext uri="{BB962C8B-B14F-4D97-AF65-F5344CB8AC3E}">
        <p14:creationId xmlns:p14="http://schemas.microsoft.com/office/powerpoint/2010/main" val="2152952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Responsabilité pénale</a:t>
            </a:r>
            <a:endParaRPr lang="en-US" sz="2400" b="1" dirty="0">
              <a:solidFill>
                <a:schemeClr val="bg1"/>
              </a:solidFill>
            </a:endParaRPr>
          </a:p>
        </p:txBody>
      </p:sp>
      <p:sp>
        <p:nvSpPr>
          <p:cNvPr id="10" name="ZoneTexte 9">
            <a:extLst>
              <a:ext uri="{FF2B5EF4-FFF2-40B4-BE49-F238E27FC236}">
                <a16:creationId xmlns:a16="http://schemas.microsoft.com/office/drawing/2014/main" id="{1099ED4B-40DF-47A5-B5C0-1ED02F038FC0}"/>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Situations à risque en Afrique</a:t>
            </a:r>
          </a:p>
        </p:txBody>
      </p:sp>
      <p:sp>
        <p:nvSpPr>
          <p:cNvPr id="11" name="ZoneTexte 10">
            <a:extLst>
              <a:ext uri="{FF2B5EF4-FFF2-40B4-BE49-F238E27FC236}">
                <a16:creationId xmlns:a16="http://schemas.microsoft.com/office/drawing/2014/main" id="{CEF52998-AB42-4DA1-BF27-DAA2F17602FF}"/>
              </a:ext>
            </a:extLst>
          </p:cNvPr>
          <p:cNvSpPr txBox="1"/>
          <p:nvPr/>
        </p:nvSpPr>
        <p:spPr>
          <a:xfrm>
            <a:off x="751074" y="2595439"/>
            <a:ext cx="4911495" cy="1938992"/>
          </a:xfrm>
          <a:prstGeom prst="rect">
            <a:avLst/>
          </a:prstGeom>
          <a:noFill/>
        </p:spPr>
        <p:txBody>
          <a:bodyPr wrap="square">
            <a:spAutoFit/>
          </a:bodyPr>
          <a:lstStyle/>
          <a:p>
            <a:pPr marL="800100" lvl="1" indent="-342900">
              <a:buFont typeface="Arial" panose="020B0604020202020204" pitchFamily="34" charset="0"/>
              <a:buChar char="•"/>
            </a:pPr>
            <a:r>
              <a:rPr lang="fr-FR" sz="2000" dirty="0">
                <a:latin typeface="Aptos" panose="020B0004020202020204" pitchFamily="34" charset="0"/>
              </a:rPr>
              <a:t>Vente de produits falsifiés</a:t>
            </a:r>
          </a:p>
          <a:p>
            <a:pPr marL="800100" lvl="1" indent="-342900">
              <a:buFont typeface="Arial" panose="020B0604020202020204" pitchFamily="34" charset="0"/>
              <a:buChar char="•"/>
            </a:pPr>
            <a:r>
              <a:rPr lang="fr-FR" sz="2000" dirty="0">
                <a:latin typeface="Aptos" panose="020B0004020202020204" pitchFamily="34" charset="0"/>
              </a:rPr>
              <a:t>Exercice illégal</a:t>
            </a:r>
          </a:p>
          <a:p>
            <a:pPr marL="800100" lvl="1" indent="-342900">
              <a:buFont typeface="Arial" panose="020B0604020202020204" pitchFamily="34" charset="0"/>
              <a:buChar char="•"/>
            </a:pPr>
            <a:r>
              <a:rPr lang="fr-FR" sz="2000" dirty="0">
                <a:latin typeface="Aptos" panose="020B0004020202020204" pitchFamily="34" charset="0"/>
              </a:rPr>
              <a:t>Détournement de stupéfiants</a:t>
            </a:r>
          </a:p>
          <a:p>
            <a:pPr marL="800100" lvl="1" indent="-342900">
              <a:buFont typeface="Arial" panose="020B0604020202020204" pitchFamily="34" charset="0"/>
              <a:buChar char="•"/>
            </a:pPr>
            <a:r>
              <a:rPr lang="fr-FR" sz="2000" dirty="0">
                <a:latin typeface="Aptos" panose="020B0004020202020204" pitchFamily="34" charset="0"/>
              </a:rPr>
              <a:t>Falsification documentaire</a:t>
            </a:r>
          </a:p>
          <a:p>
            <a:pPr marL="800100" lvl="1" indent="-342900">
              <a:buFont typeface="Arial" panose="020B0604020202020204" pitchFamily="34" charset="0"/>
              <a:buChar char="•"/>
            </a:pPr>
            <a:r>
              <a:rPr lang="fr-FR" sz="2000" dirty="0">
                <a:latin typeface="Aptos" panose="020B0004020202020204" pitchFamily="34" charset="0"/>
              </a:rPr>
              <a:t>Mise en danger du patient</a:t>
            </a:r>
          </a:p>
          <a:p>
            <a:pPr marL="800100" lvl="1" indent="-342900">
              <a:buFont typeface="Arial" panose="020B0604020202020204" pitchFamily="34" charset="0"/>
              <a:buChar char="•"/>
            </a:pPr>
            <a:r>
              <a:rPr lang="fr-FR" sz="2000" dirty="0">
                <a:latin typeface="Aptos" panose="020B0004020202020204" pitchFamily="34" charset="0"/>
              </a:rPr>
              <a:t>Importation illégale</a:t>
            </a:r>
          </a:p>
        </p:txBody>
      </p:sp>
      <p:sp>
        <p:nvSpPr>
          <p:cNvPr id="15" name="ZoneTexte 14">
            <a:extLst>
              <a:ext uri="{FF2B5EF4-FFF2-40B4-BE49-F238E27FC236}">
                <a16:creationId xmlns:a16="http://schemas.microsoft.com/office/drawing/2014/main" id="{16F408FE-87BD-4F8C-84BD-2DBC8C2AFCAF}"/>
              </a:ext>
            </a:extLst>
          </p:cNvPr>
          <p:cNvSpPr txBox="1"/>
          <p:nvPr/>
        </p:nvSpPr>
        <p:spPr>
          <a:xfrm>
            <a:off x="809493" y="4750029"/>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Application au Bénin</a:t>
            </a:r>
          </a:p>
        </p:txBody>
      </p:sp>
      <p:sp>
        <p:nvSpPr>
          <p:cNvPr id="16" name="ZoneTexte 15">
            <a:extLst>
              <a:ext uri="{FF2B5EF4-FFF2-40B4-BE49-F238E27FC236}">
                <a16:creationId xmlns:a16="http://schemas.microsoft.com/office/drawing/2014/main" id="{7560BAB8-5D48-4446-A6AD-D7BEFA1705EA}"/>
              </a:ext>
            </a:extLst>
          </p:cNvPr>
          <p:cNvSpPr txBox="1"/>
          <p:nvPr/>
        </p:nvSpPr>
        <p:spPr>
          <a:xfrm>
            <a:off x="751074" y="5118309"/>
            <a:ext cx="11102569" cy="707886"/>
          </a:xfrm>
          <a:prstGeom prst="rect">
            <a:avLst/>
          </a:prstGeom>
          <a:noFill/>
        </p:spPr>
        <p:txBody>
          <a:bodyPr wrap="square">
            <a:spAutoFit/>
          </a:bodyPr>
          <a:lstStyle/>
          <a:p>
            <a:pPr marL="800100" lvl="1" indent="-342900">
              <a:buFont typeface="Arial" panose="020B0604020202020204" pitchFamily="34" charset="0"/>
              <a:buChar char="•"/>
            </a:pPr>
            <a:r>
              <a:rPr lang="fr-FR" sz="2000" dirty="0">
                <a:latin typeface="Aptos" panose="020B0004020202020204" pitchFamily="34" charset="0"/>
              </a:rPr>
              <a:t>La Loi n°2021-03 prévoit des infractions et sanctions applicables aux activités pharmaceutiques lorsque certaines obligations légales ne sont pas respectées.</a:t>
            </a:r>
          </a:p>
        </p:txBody>
      </p:sp>
    </p:spTree>
    <p:extLst>
      <p:ext uri="{BB962C8B-B14F-4D97-AF65-F5344CB8AC3E}">
        <p14:creationId xmlns:p14="http://schemas.microsoft.com/office/powerpoint/2010/main" val="2060208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Responsabilité liée au personnel de l’officine</a:t>
            </a:r>
            <a:endParaRPr lang="en-US" sz="2400" b="1" dirty="0">
              <a:solidFill>
                <a:schemeClr val="bg1"/>
              </a:solidFill>
            </a:endParaRPr>
          </a:p>
        </p:txBody>
      </p:sp>
      <p:sp>
        <p:nvSpPr>
          <p:cNvPr id="10" name="ZoneTexte 9">
            <a:extLst>
              <a:ext uri="{FF2B5EF4-FFF2-40B4-BE49-F238E27FC236}">
                <a16:creationId xmlns:a16="http://schemas.microsoft.com/office/drawing/2014/main" id="{1099ED4B-40DF-47A5-B5C0-1ED02F038FC0}"/>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Principe</a:t>
            </a:r>
          </a:p>
        </p:txBody>
      </p:sp>
      <p:sp>
        <p:nvSpPr>
          <p:cNvPr id="11" name="ZoneTexte 10">
            <a:extLst>
              <a:ext uri="{FF2B5EF4-FFF2-40B4-BE49-F238E27FC236}">
                <a16:creationId xmlns:a16="http://schemas.microsoft.com/office/drawing/2014/main" id="{CEF52998-AB42-4DA1-BF27-DAA2F17602FF}"/>
              </a:ext>
            </a:extLst>
          </p:cNvPr>
          <p:cNvSpPr txBox="1"/>
          <p:nvPr/>
        </p:nvSpPr>
        <p:spPr>
          <a:xfrm>
            <a:off x="809493" y="2582362"/>
            <a:ext cx="10859289" cy="2246769"/>
          </a:xfrm>
          <a:prstGeom prst="rect">
            <a:avLst/>
          </a:prstGeom>
          <a:noFill/>
        </p:spPr>
        <p:txBody>
          <a:bodyPr wrap="square">
            <a:spAutoFit/>
          </a:bodyPr>
          <a:lstStyle/>
          <a:p>
            <a:r>
              <a:rPr lang="fr-FR" sz="2000" dirty="0">
                <a:latin typeface="Aptos" panose="020B0004020202020204" pitchFamily="34" charset="0"/>
              </a:rPr>
              <a:t>Le pharmacien titulaire demeure responsable de l’organisation générale de l’officine.</a:t>
            </a:r>
          </a:p>
          <a:p>
            <a:endParaRPr lang="fr-FR" sz="2000" dirty="0">
              <a:latin typeface="Aptos" panose="020B0004020202020204" pitchFamily="34" charset="0"/>
            </a:endParaRPr>
          </a:p>
          <a:p>
            <a:r>
              <a:rPr lang="fr-FR" sz="2000" b="1" dirty="0">
                <a:latin typeface="Aptos" panose="020B0004020202020204" pitchFamily="34" charset="0"/>
              </a:rPr>
              <a:t>Situations fréquentes : </a:t>
            </a:r>
          </a:p>
          <a:p>
            <a:pPr marL="800100" lvl="1" indent="-342900">
              <a:buFont typeface="Arial" panose="020B0604020202020204" pitchFamily="34" charset="0"/>
              <a:buChar char="•"/>
            </a:pPr>
            <a:r>
              <a:rPr lang="fr-FR" sz="2000" dirty="0">
                <a:latin typeface="Aptos" panose="020B0004020202020204" pitchFamily="34" charset="0"/>
              </a:rPr>
              <a:t>Erreur commise par un préparateur</a:t>
            </a:r>
          </a:p>
          <a:p>
            <a:pPr marL="800100" lvl="1" indent="-342900">
              <a:buFont typeface="Arial" panose="020B0604020202020204" pitchFamily="34" charset="0"/>
              <a:buChar char="•"/>
            </a:pPr>
            <a:r>
              <a:rPr lang="fr-FR" sz="2000" dirty="0">
                <a:latin typeface="Aptos" panose="020B0004020202020204" pitchFamily="34" charset="0"/>
              </a:rPr>
              <a:t>Erreur commise par un assistant</a:t>
            </a:r>
          </a:p>
          <a:p>
            <a:pPr marL="800100" lvl="1" indent="-342900">
              <a:buFont typeface="Arial" panose="020B0604020202020204" pitchFamily="34" charset="0"/>
              <a:buChar char="•"/>
            </a:pPr>
            <a:r>
              <a:rPr lang="fr-FR" sz="2000" dirty="0">
                <a:latin typeface="Aptos" panose="020B0004020202020204" pitchFamily="34" charset="0"/>
              </a:rPr>
              <a:t>Mauvaise délivrance par un stagiaire</a:t>
            </a:r>
          </a:p>
          <a:p>
            <a:pPr marL="800100" lvl="1" indent="-342900">
              <a:buFont typeface="Arial" panose="020B0604020202020204" pitchFamily="34" charset="0"/>
              <a:buChar char="•"/>
            </a:pPr>
            <a:r>
              <a:rPr lang="fr-FR" sz="2000" dirty="0">
                <a:latin typeface="Aptos" panose="020B0004020202020204" pitchFamily="34" charset="0"/>
              </a:rPr>
              <a:t>Défaut de supervision</a:t>
            </a:r>
          </a:p>
        </p:txBody>
      </p:sp>
    </p:spTree>
    <p:extLst>
      <p:ext uri="{BB962C8B-B14F-4D97-AF65-F5344CB8AC3E}">
        <p14:creationId xmlns:p14="http://schemas.microsoft.com/office/powerpoint/2010/main" val="3798384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Gestion des réclamations et des incidents</a:t>
            </a:r>
            <a:endParaRPr lang="en-US" sz="2400" b="1" dirty="0">
              <a:solidFill>
                <a:schemeClr val="bg1"/>
              </a:solidFill>
            </a:endParaRPr>
          </a:p>
        </p:txBody>
      </p:sp>
      <p:sp>
        <p:nvSpPr>
          <p:cNvPr id="10" name="ZoneTexte 9">
            <a:extLst>
              <a:ext uri="{FF2B5EF4-FFF2-40B4-BE49-F238E27FC236}">
                <a16:creationId xmlns:a16="http://schemas.microsoft.com/office/drawing/2014/main" id="{1099ED4B-40DF-47A5-B5C0-1ED02F038FC0}"/>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Pourquoi documenter ?</a:t>
            </a:r>
          </a:p>
        </p:txBody>
      </p:sp>
      <p:sp>
        <p:nvSpPr>
          <p:cNvPr id="11" name="ZoneTexte 10">
            <a:extLst>
              <a:ext uri="{FF2B5EF4-FFF2-40B4-BE49-F238E27FC236}">
                <a16:creationId xmlns:a16="http://schemas.microsoft.com/office/drawing/2014/main" id="{CEF52998-AB42-4DA1-BF27-DAA2F17602FF}"/>
              </a:ext>
            </a:extLst>
          </p:cNvPr>
          <p:cNvSpPr txBox="1"/>
          <p:nvPr/>
        </p:nvSpPr>
        <p:spPr>
          <a:xfrm>
            <a:off x="751074" y="2521994"/>
            <a:ext cx="5037634" cy="1323439"/>
          </a:xfrm>
          <a:prstGeom prst="rect">
            <a:avLst/>
          </a:prstGeom>
          <a:noFill/>
        </p:spPr>
        <p:txBody>
          <a:bodyPr wrap="square">
            <a:spAutoFit/>
          </a:bodyPr>
          <a:lstStyle/>
          <a:p>
            <a:r>
              <a:rPr lang="fr-FR" sz="2000" dirty="0">
                <a:latin typeface="Aptos" panose="020B0004020202020204" pitchFamily="34" charset="0"/>
              </a:rPr>
              <a:t>Lorsqu’un incident survient :</a:t>
            </a:r>
          </a:p>
          <a:p>
            <a:pPr marL="800100" lvl="1" indent="-342900">
              <a:buFont typeface="Arial" panose="020B0604020202020204" pitchFamily="34" charset="0"/>
              <a:buChar char="•"/>
            </a:pPr>
            <a:r>
              <a:rPr lang="fr-FR" sz="2000" dirty="0">
                <a:latin typeface="Aptos" panose="020B0004020202020204" pitchFamily="34" charset="0"/>
              </a:rPr>
              <a:t>les souvenirs s’altèrent ;</a:t>
            </a:r>
          </a:p>
          <a:p>
            <a:pPr marL="800100" lvl="1" indent="-342900">
              <a:buFont typeface="Arial" panose="020B0604020202020204" pitchFamily="34" charset="0"/>
              <a:buChar char="•"/>
            </a:pPr>
            <a:r>
              <a:rPr lang="fr-FR" sz="2000" dirty="0">
                <a:latin typeface="Aptos" panose="020B0004020202020204" pitchFamily="34" charset="0"/>
              </a:rPr>
              <a:t>les versions divergent ;</a:t>
            </a:r>
          </a:p>
          <a:p>
            <a:pPr marL="800100" lvl="1" indent="-342900">
              <a:buFont typeface="Arial" panose="020B0604020202020204" pitchFamily="34" charset="0"/>
              <a:buChar char="•"/>
            </a:pPr>
            <a:r>
              <a:rPr lang="fr-FR" sz="2000" dirty="0">
                <a:latin typeface="Aptos" panose="020B0004020202020204" pitchFamily="34" charset="0"/>
              </a:rPr>
              <a:t>les preuves disparaissent.</a:t>
            </a:r>
          </a:p>
        </p:txBody>
      </p:sp>
      <p:sp>
        <p:nvSpPr>
          <p:cNvPr id="15" name="ZoneTexte 14">
            <a:extLst>
              <a:ext uri="{FF2B5EF4-FFF2-40B4-BE49-F238E27FC236}">
                <a16:creationId xmlns:a16="http://schemas.microsoft.com/office/drawing/2014/main" id="{152C586F-EE55-4A5E-A08E-64272FE35083}"/>
              </a:ext>
            </a:extLst>
          </p:cNvPr>
          <p:cNvSpPr txBox="1"/>
          <p:nvPr/>
        </p:nvSpPr>
        <p:spPr>
          <a:xfrm>
            <a:off x="751074" y="389050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Procédure recommandée</a:t>
            </a:r>
          </a:p>
        </p:txBody>
      </p:sp>
      <p:sp>
        <p:nvSpPr>
          <p:cNvPr id="16" name="ZoneTexte 15">
            <a:extLst>
              <a:ext uri="{FF2B5EF4-FFF2-40B4-BE49-F238E27FC236}">
                <a16:creationId xmlns:a16="http://schemas.microsoft.com/office/drawing/2014/main" id="{CF104F33-4270-41BB-AE8A-58EABB00E1E9}"/>
              </a:ext>
            </a:extLst>
          </p:cNvPr>
          <p:cNvSpPr txBox="1"/>
          <p:nvPr/>
        </p:nvSpPr>
        <p:spPr>
          <a:xfrm>
            <a:off x="751074" y="4220204"/>
            <a:ext cx="5037634" cy="2246769"/>
          </a:xfrm>
          <a:prstGeom prst="rect">
            <a:avLst/>
          </a:prstGeom>
          <a:noFill/>
        </p:spPr>
        <p:txBody>
          <a:bodyPr wrap="square">
            <a:spAutoFit/>
          </a:bodyPr>
          <a:lstStyle/>
          <a:p>
            <a:pPr marL="800100" lvl="1" indent="-342900">
              <a:buFont typeface="Arial" panose="020B0604020202020204" pitchFamily="34" charset="0"/>
              <a:buChar char="•"/>
            </a:pPr>
            <a:r>
              <a:rPr lang="fr-FR" sz="2000" dirty="0">
                <a:latin typeface="Aptos" panose="020B0004020202020204" pitchFamily="34" charset="0"/>
              </a:rPr>
              <a:t>Identifier l’incident</a:t>
            </a:r>
          </a:p>
          <a:p>
            <a:pPr marL="800100" lvl="1" indent="-342900">
              <a:buFont typeface="Arial" panose="020B0604020202020204" pitchFamily="34" charset="0"/>
              <a:buChar char="•"/>
            </a:pPr>
            <a:r>
              <a:rPr lang="fr-FR" sz="2000" dirty="0">
                <a:latin typeface="Aptos" panose="020B0004020202020204" pitchFamily="34" charset="0"/>
              </a:rPr>
              <a:t>Sécuriser le patient</a:t>
            </a:r>
          </a:p>
          <a:p>
            <a:pPr marL="800100" lvl="1" indent="-342900">
              <a:buFont typeface="Arial" panose="020B0604020202020204" pitchFamily="34" charset="0"/>
              <a:buChar char="•"/>
            </a:pPr>
            <a:r>
              <a:rPr lang="fr-FR" sz="2000" dirty="0">
                <a:latin typeface="Aptos" panose="020B0004020202020204" pitchFamily="34" charset="0"/>
              </a:rPr>
              <a:t>Informer le pharmacien responsable</a:t>
            </a:r>
          </a:p>
          <a:p>
            <a:pPr marL="800100" lvl="1" indent="-342900">
              <a:buFont typeface="Arial" panose="020B0604020202020204" pitchFamily="34" charset="0"/>
              <a:buChar char="•"/>
            </a:pPr>
            <a:r>
              <a:rPr lang="fr-FR" sz="2000" dirty="0">
                <a:latin typeface="Aptos" panose="020B0004020202020204" pitchFamily="34" charset="0"/>
              </a:rPr>
              <a:t>Documenter les faits</a:t>
            </a:r>
          </a:p>
          <a:p>
            <a:pPr marL="800100" lvl="1" indent="-342900">
              <a:buFont typeface="Arial" panose="020B0604020202020204" pitchFamily="34" charset="0"/>
              <a:buChar char="•"/>
            </a:pPr>
            <a:r>
              <a:rPr lang="fr-FR" sz="2000" dirty="0">
                <a:latin typeface="Aptos" panose="020B0004020202020204" pitchFamily="34" charset="0"/>
              </a:rPr>
              <a:t>Mettre en œuvre des actions correctives</a:t>
            </a:r>
          </a:p>
          <a:p>
            <a:pPr marL="800100" lvl="1" indent="-342900">
              <a:buFont typeface="Arial" panose="020B0604020202020204" pitchFamily="34" charset="0"/>
              <a:buChar char="•"/>
            </a:pPr>
            <a:r>
              <a:rPr lang="fr-FR" sz="2000" dirty="0">
                <a:latin typeface="Aptos" panose="020B0004020202020204" pitchFamily="34" charset="0"/>
              </a:rPr>
              <a:t>Suivre l’évolution</a:t>
            </a:r>
          </a:p>
        </p:txBody>
      </p:sp>
    </p:spTree>
    <p:extLst>
      <p:ext uri="{BB962C8B-B14F-4D97-AF65-F5344CB8AC3E}">
        <p14:creationId xmlns:p14="http://schemas.microsoft.com/office/powerpoint/2010/main" val="585891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Gestion des risques en officine</a:t>
            </a:r>
            <a:endParaRPr lang="en-US" sz="2400" b="1" dirty="0">
              <a:solidFill>
                <a:schemeClr val="bg1"/>
              </a:solidFill>
            </a:endParaRPr>
          </a:p>
        </p:txBody>
      </p:sp>
      <p:sp>
        <p:nvSpPr>
          <p:cNvPr id="10" name="ZoneTexte 9">
            <a:extLst>
              <a:ext uri="{FF2B5EF4-FFF2-40B4-BE49-F238E27FC236}">
                <a16:creationId xmlns:a16="http://schemas.microsoft.com/office/drawing/2014/main" id="{1099ED4B-40DF-47A5-B5C0-1ED02F038FC0}"/>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Concept</a:t>
            </a:r>
          </a:p>
        </p:txBody>
      </p:sp>
      <p:sp>
        <p:nvSpPr>
          <p:cNvPr id="11" name="ZoneTexte 10">
            <a:extLst>
              <a:ext uri="{FF2B5EF4-FFF2-40B4-BE49-F238E27FC236}">
                <a16:creationId xmlns:a16="http://schemas.microsoft.com/office/drawing/2014/main" id="{CEF52998-AB42-4DA1-BF27-DAA2F17602FF}"/>
              </a:ext>
            </a:extLst>
          </p:cNvPr>
          <p:cNvSpPr txBox="1"/>
          <p:nvPr/>
        </p:nvSpPr>
        <p:spPr>
          <a:xfrm>
            <a:off x="751074" y="2521994"/>
            <a:ext cx="11102568" cy="400110"/>
          </a:xfrm>
          <a:prstGeom prst="rect">
            <a:avLst/>
          </a:prstGeom>
          <a:noFill/>
        </p:spPr>
        <p:txBody>
          <a:bodyPr wrap="square">
            <a:spAutoFit/>
          </a:bodyPr>
          <a:lstStyle/>
          <a:p>
            <a:r>
              <a:rPr lang="fr-FR" sz="2000" dirty="0">
                <a:latin typeface="Aptos" panose="020B0004020202020204" pitchFamily="34" charset="0"/>
              </a:rPr>
              <a:t>La meilleure stratégie consiste à prévenir les incidents avant qu’ils ne surviennent.</a:t>
            </a:r>
          </a:p>
        </p:txBody>
      </p:sp>
      <p:sp>
        <p:nvSpPr>
          <p:cNvPr id="15" name="ZoneTexte 14">
            <a:extLst>
              <a:ext uri="{FF2B5EF4-FFF2-40B4-BE49-F238E27FC236}">
                <a16:creationId xmlns:a16="http://schemas.microsoft.com/office/drawing/2014/main" id="{152C586F-EE55-4A5E-A08E-64272FE35083}"/>
              </a:ext>
            </a:extLst>
          </p:cNvPr>
          <p:cNvSpPr txBox="1"/>
          <p:nvPr/>
        </p:nvSpPr>
        <p:spPr>
          <a:xfrm>
            <a:off x="751074" y="3190967"/>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Sources fréquentes de risques</a:t>
            </a:r>
          </a:p>
        </p:txBody>
      </p:sp>
      <p:sp>
        <p:nvSpPr>
          <p:cNvPr id="16" name="ZoneTexte 15">
            <a:extLst>
              <a:ext uri="{FF2B5EF4-FFF2-40B4-BE49-F238E27FC236}">
                <a16:creationId xmlns:a16="http://schemas.microsoft.com/office/drawing/2014/main" id="{CF104F33-4270-41BB-AE8A-58EABB00E1E9}"/>
              </a:ext>
            </a:extLst>
          </p:cNvPr>
          <p:cNvSpPr txBox="1"/>
          <p:nvPr/>
        </p:nvSpPr>
        <p:spPr>
          <a:xfrm>
            <a:off x="751074" y="3592828"/>
            <a:ext cx="5037634" cy="2246769"/>
          </a:xfrm>
          <a:prstGeom prst="rect">
            <a:avLst/>
          </a:prstGeom>
          <a:noFill/>
        </p:spPr>
        <p:txBody>
          <a:bodyPr wrap="square">
            <a:spAutoFit/>
          </a:bodyPr>
          <a:lstStyle/>
          <a:p>
            <a:pPr marL="800100" lvl="1" indent="-342900">
              <a:buFont typeface="Arial" panose="020B0604020202020204" pitchFamily="34" charset="0"/>
              <a:buChar char="•"/>
            </a:pPr>
            <a:r>
              <a:rPr lang="fr-FR" sz="2000" dirty="0">
                <a:latin typeface="Aptos" panose="020B0004020202020204" pitchFamily="34" charset="0"/>
              </a:rPr>
              <a:t>Dispensation</a:t>
            </a:r>
          </a:p>
          <a:p>
            <a:pPr marL="800100" lvl="1" indent="-342900">
              <a:buFont typeface="Arial" panose="020B0604020202020204" pitchFamily="34" charset="0"/>
              <a:buChar char="•"/>
            </a:pPr>
            <a:r>
              <a:rPr lang="fr-FR" sz="2000" dirty="0">
                <a:latin typeface="Aptos" panose="020B0004020202020204" pitchFamily="34" charset="0"/>
              </a:rPr>
              <a:t>Stockage</a:t>
            </a:r>
          </a:p>
          <a:p>
            <a:pPr marL="800100" lvl="1" indent="-342900">
              <a:buFont typeface="Arial" panose="020B0604020202020204" pitchFamily="34" charset="0"/>
              <a:buChar char="•"/>
            </a:pPr>
            <a:r>
              <a:rPr lang="fr-FR" sz="2000" dirty="0">
                <a:latin typeface="Aptos" panose="020B0004020202020204" pitchFamily="34" charset="0"/>
              </a:rPr>
              <a:t>Chaîne du froid</a:t>
            </a:r>
          </a:p>
          <a:p>
            <a:pPr marL="800100" lvl="1" indent="-342900">
              <a:buFont typeface="Arial" panose="020B0604020202020204" pitchFamily="34" charset="0"/>
              <a:buChar char="•"/>
            </a:pPr>
            <a:r>
              <a:rPr lang="fr-FR" sz="2000" dirty="0">
                <a:latin typeface="Aptos" panose="020B0004020202020204" pitchFamily="34" charset="0"/>
              </a:rPr>
              <a:t>Ordonnances</a:t>
            </a:r>
          </a:p>
          <a:p>
            <a:pPr marL="800100" lvl="1" indent="-342900">
              <a:buFont typeface="Arial" panose="020B0604020202020204" pitchFamily="34" charset="0"/>
              <a:buChar char="•"/>
            </a:pPr>
            <a:r>
              <a:rPr lang="fr-FR" sz="2000" dirty="0">
                <a:latin typeface="Aptos" panose="020B0004020202020204" pitchFamily="34" charset="0"/>
              </a:rPr>
              <a:t>Produits à haut risque</a:t>
            </a:r>
          </a:p>
          <a:p>
            <a:pPr marL="800100" lvl="1" indent="-342900">
              <a:buFont typeface="Arial" panose="020B0604020202020204" pitchFamily="34" charset="0"/>
              <a:buChar char="•"/>
            </a:pPr>
            <a:r>
              <a:rPr lang="fr-FR" sz="2000" dirty="0">
                <a:latin typeface="Aptos" panose="020B0004020202020204" pitchFamily="34" charset="0"/>
              </a:rPr>
              <a:t>Confidentialité</a:t>
            </a:r>
          </a:p>
          <a:p>
            <a:pPr marL="800100" lvl="1" indent="-342900">
              <a:buFont typeface="Arial" panose="020B0604020202020204" pitchFamily="34" charset="0"/>
              <a:buChar char="•"/>
            </a:pPr>
            <a:r>
              <a:rPr lang="fr-FR" sz="2000" dirty="0">
                <a:latin typeface="Aptos" panose="020B0004020202020204" pitchFamily="34" charset="0"/>
              </a:rPr>
              <a:t>Cybersécurité</a:t>
            </a:r>
          </a:p>
        </p:txBody>
      </p:sp>
    </p:spTree>
    <p:extLst>
      <p:ext uri="{BB962C8B-B14F-4D97-AF65-F5344CB8AC3E}">
        <p14:creationId xmlns:p14="http://schemas.microsoft.com/office/powerpoint/2010/main" val="1371089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Matrice simple des risques</a:t>
            </a:r>
            <a:endParaRPr lang="en-US" sz="2400" b="1" dirty="0">
              <a:solidFill>
                <a:schemeClr val="bg1"/>
              </a:solidFill>
            </a:endParaRPr>
          </a:p>
        </p:txBody>
      </p:sp>
      <p:graphicFrame>
        <p:nvGraphicFramePr>
          <p:cNvPr id="2" name="Tableau 1">
            <a:extLst>
              <a:ext uri="{FF2B5EF4-FFF2-40B4-BE49-F238E27FC236}">
                <a16:creationId xmlns:a16="http://schemas.microsoft.com/office/drawing/2014/main" id="{EBB129B1-B1AE-4A63-9069-2F99D756E329}"/>
              </a:ext>
            </a:extLst>
          </p:cNvPr>
          <p:cNvGraphicFramePr>
            <a:graphicFrameLocks noGrp="1"/>
          </p:cNvGraphicFramePr>
          <p:nvPr>
            <p:extLst>
              <p:ext uri="{D42A27DB-BD31-4B8C-83A1-F6EECF244321}">
                <p14:modId xmlns:p14="http://schemas.microsoft.com/office/powerpoint/2010/main" val="2734970744"/>
              </p:ext>
            </p:extLst>
          </p:nvPr>
        </p:nvGraphicFramePr>
        <p:xfrm>
          <a:off x="849086" y="2290612"/>
          <a:ext cx="10515600" cy="1828800"/>
        </p:xfrm>
        <a:graphic>
          <a:graphicData uri="http://schemas.openxmlformats.org/drawingml/2006/table">
            <a:tbl>
              <a:tblPr/>
              <a:tblGrid>
                <a:gridCol w="3505200">
                  <a:extLst>
                    <a:ext uri="{9D8B030D-6E8A-4147-A177-3AD203B41FA5}">
                      <a16:colId xmlns:a16="http://schemas.microsoft.com/office/drawing/2014/main" val="1901012013"/>
                    </a:ext>
                  </a:extLst>
                </a:gridCol>
                <a:gridCol w="3505200">
                  <a:extLst>
                    <a:ext uri="{9D8B030D-6E8A-4147-A177-3AD203B41FA5}">
                      <a16:colId xmlns:a16="http://schemas.microsoft.com/office/drawing/2014/main" val="3433210309"/>
                    </a:ext>
                  </a:extLst>
                </a:gridCol>
                <a:gridCol w="3505200">
                  <a:extLst>
                    <a:ext uri="{9D8B030D-6E8A-4147-A177-3AD203B41FA5}">
                      <a16:colId xmlns:a16="http://schemas.microsoft.com/office/drawing/2014/main" val="2802412347"/>
                    </a:ext>
                  </a:extLst>
                </a:gridCol>
              </a:tblGrid>
              <a:tr h="0">
                <a:tc>
                  <a:txBody>
                    <a:bodyPr/>
                    <a:lstStyle/>
                    <a:p>
                      <a:r>
                        <a:rPr lang="fr-FR" b="1" dirty="0">
                          <a:solidFill>
                            <a:schemeClr val="bg1"/>
                          </a:solidFill>
                          <a:latin typeface="Aptos" panose="020B0004020202020204" pitchFamily="34" charset="0"/>
                        </a:rPr>
                        <a:t>Risque</a:t>
                      </a:r>
                    </a:p>
                  </a:txBody>
                  <a:tcPr anchor="ctr">
                    <a:lnL>
                      <a:noFill/>
                    </a:lnL>
                    <a:lnR>
                      <a:noFill/>
                    </a:lnR>
                    <a:lnT>
                      <a:noFill/>
                    </a:lnT>
                    <a:lnB>
                      <a:noFill/>
                    </a:lnB>
                    <a:solidFill>
                      <a:srgbClr val="F37504"/>
                    </a:solidFill>
                  </a:tcPr>
                </a:tc>
                <a:tc>
                  <a:txBody>
                    <a:bodyPr/>
                    <a:lstStyle/>
                    <a:p>
                      <a:r>
                        <a:rPr lang="fr-FR" b="1" dirty="0">
                          <a:solidFill>
                            <a:schemeClr val="bg1"/>
                          </a:solidFill>
                          <a:latin typeface="Aptos" panose="020B0004020202020204" pitchFamily="34" charset="0"/>
                        </a:rPr>
                        <a:t>Probabilité</a:t>
                      </a:r>
                    </a:p>
                  </a:txBody>
                  <a:tcPr anchor="ctr">
                    <a:lnL>
                      <a:noFill/>
                    </a:lnL>
                    <a:lnR>
                      <a:noFill/>
                    </a:lnR>
                    <a:lnT>
                      <a:noFill/>
                    </a:lnT>
                    <a:lnB>
                      <a:noFill/>
                    </a:lnB>
                    <a:solidFill>
                      <a:srgbClr val="F37504"/>
                    </a:solidFill>
                  </a:tcPr>
                </a:tc>
                <a:tc>
                  <a:txBody>
                    <a:bodyPr/>
                    <a:lstStyle/>
                    <a:p>
                      <a:r>
                        <a:rPr lang="fr-FR" b="1" dirty="0">
                          <a:solidFill>
                            <a:schemeClr val="bg1"/>
                          </a:solidFill>
                          <a:latin typeface="Aptos" panose="020B0004020202020204" pitchFamily="34" charset="0"/>
                        </a:rPr>
                        <a:t>Impact</a:t>
                      </a:r>
                    </a:p>
                  </a:txBody>
                  <a:tcPr anchor="ctr">
                    <a:lnL>
                      <a:noFill/>
                    </a:lnL>
                    <a:lnR>
                      <a:noFill/>
                    </a:lnR>
                    <a:lnT>
                      <a:noFill/>
                    </a:lnT>
                    <a:lnB>
                      <a:noFill/>
                    </a:lnB>
                    <a:solidFill>
                      <a:srgbClr val="F37504"/>
                    </a:solidFill>
                  </a:tcPr>
                </a:tc>
                <a:extLst>
                  <a:ext uri="{0D108BD9-81ED-4DB2-BD59-A6C34878D82A}">
                    <a16:rowId xmlns:a16="http://schemas.microsoft.com/office/drawing/2014/main" val="505006621"/>
                  </a:ext>
                </a:extLst>
              </a:tr>
              <a:tr h="0">
                <a:tc>
                  <a:txBody>
                    <a:bodyPr/>
                    <a:lstStyle/>
                    <a:p>
                      <a:r>
                        <a:rPr lang="fr-FR" dirty="0">
                          <a:latin typeface="Aptos" panose="020B0004020202020204" pitchFamily="34" charset="0"/>
                        </a:rPr>
                        <a:t>Erreur de dosage</a:t>
                      </a:r>
                    </a:p>
                  </a:txBody>
                  <a:tcPr anchor="ctr">
                    <a:lnL>
                      <a:noFill/>
                    </a:lnL>
                    <a:lnR>
                      <a:noFill/>
                    </a:lnR>
                    <a:lnT>
                      <a:noFill/>
                    </a:lnT>
                    <a:lnB>
                      <a:noFill/>
                    </a:lnB>
                  </a:tcPr>
                </a:tc>
                <a:tc>
                  <a:txBody>
                    <a:bodyPr/>
                    <a:lstStyle/>
                    <a:p>
                      <a:r>
                        <a:rPr lang="fr-FR" dirty="0">
                          <a:latin typeface="Aptos" panose="020B0004020202020204" pitchFamily="34" charset="0"/>
                        </a:rPr>
                        <a:t>Élevée</a:t>
                      </a:r>
                    </a:p>
                  </a:txBody>
                  <a:tcPr anchor="ctr">
                    <a:lnL>
                      <a:noFill/>
                    </a:lnL>
                    <a:lnR>
                      <a:noFill/>
                    </a:lnR>
                    <a:lnT>
                      <a:noFill/>
                    </a:lnT>
                    <a:lnB>
                      <a:noFill/>
                    </a:lnB>
                  </a:tcPr>
                </a:tc>
                <a:tc>
                  <a:txBody>
                    <a:bodyPr/>
                    <a:lstStyle/>
                    <a:p>
                      <a:r>
                        <a:rPr lang="fr-FR">
                          <a:latin typeface="Aptos" panose="020B0004020202020204" pitchFamily="34" charset="0"/>
                        </a:rPr>
                        <a:t>Élevé</a:t>
                      </a:r>
                    </a:p>
                  </a:txBody>
                  <a:tcPr anchor="ctr">
                    <a:lnL>
                      <a:noFill/>
                    </a:lnL>
                    <a:lnR>
                      <a:noFill/>
                    </a:lnR>
                    <a:lnT>
                      <a:noFill/>
                    </a:lnT>
                    <a:lnB>
                      <a:noFill/>
                    </a:lnB>
                  </a:tcPr>
                </a:tc>
                <a:extLst>
                  <a:ext uri="{0D108BD9-81ED-4DB2-BD59-A6C34878D82A}">
                    <a16:rowId xmlns:a16="http://schemas.microsoft.com/office/drawing/2014/main" val="4177454584"/>
                  </a:ext>
                </a:extLst>
              </a:tr>
              <a:tr h="0">
                <a:tc>
                  <a:txBody>
                    <a:bodyPr/>
                    <a:lstStyle/>
                    <a:p>
                      <a:r>
                        <a:rPr lang="fr-FR" dirty="0">
                          <a:latin typeface="Aptos" panose="020B0004020202020204" pitchFamily="34" charset="0"/>
                        </a:rPr>
                        <a:t>Rupture de chaîne du froid</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Moyenne</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Élevé</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648399437"/>
                  </a:ext>
                </a:extLst>
              </a:tr>
              <a:tr h="0">
                <a:tc>
                  <a:txBody>
                    <a:bodyPr/>
                    <a:lstStyle/>
                    <a:p>
                      <a:r>
                        <a:rPr lang="fr-FR">
                          <a:latin typeface="Aptos" panose="020B0004020202020204" pitchFamily="34" charset="0"/>
                        </a:rPr>
                        <a:t>Publicité trompeuse</a:t>
                      </a:r>
                    </a:p>
                  </a:txBody>
                  <a:tcPr anchor="ctr">
                    <a:lnL>
                      <a:noFill/>
                    </a:lnL>
                    <a:lnR>
                      <a:noFill/>
                    </a:lnR>
                    <a:lnT>
                      <a:noFill/>
                    </a:lnT>
                    <a:lnB>
                      <a:noFill/>
                    </a:lnB>
                  </a:tcPr>
                </a:tc>
                <a:tc>
                  <a:txBody>
                    <a:bodyPr/>
                    <a:lstStyle/>
                    <a:p>
                      <a:r>
                        <a:rPr lang="fr-FR">
                          <a:latin typeface="Aptos" panose="020B0004020202020204" pitchFamily="34" charset="0"/>
                        </a:rPr>
                        <a:t>Faible</a:t>
                      </a:r>
                    </a:p>
                  </a:txBody>
                  <a:tcPr anchor="ctr">
                    <a:lnL>
                      <a:noFill/>
                    </a:lnL>
                    <a:lnR>
                      <a:noFill/>
                    </a:lnR>
                    <a:lnT>
                      <a:noFill/>
                    </a:lnT>
                    <a:lnB>
                      <a:noFill/>
                    </a:lnB>
                  </a:tcPr>
                </a:tc>
                <a:tc>
                  <a:txBody>
                    <a:bodyPr/>
                    <a:lstStyle/>
                    <a:p>
                      <a:r>
                        <a:rPr lang="fr-FR">
                          <a:latin typeface="Aptos" panose="020B0004020202020204" pitchFamily="34" charset="0"/>
                        </a:rPr>
                        <a:t>Moyen</a:t>
                      </a:r>
                    </a:p>
                  </a:txBody>
                  <a:tcPr anchor="ctr">
                    <a:lnL>
                      <a:noFill/>
                    </a:lnL>
                    <a:lnR>
                      <a:noFill/>
                    </a:lnR>
                    <a:lnT>
                      <a:noFill/>
                    </a:lnT>
                    <a:lnB>
                      <a:noFill/>
                    </a:lnB>
                  </a:tcPr>
                </a:tc>
                <a:extLst>
                  <a:ext uri="{0D108BD9-81ED-4DB2-BD59-A6C34878D82A}">
                    <a16:rowId xmlns:a16="http://schemas.microsoft.com/office/drawing/2014/main" val="3913366245"/>
                  </a:ext>
                </a:extLst>
              </a:tr>
              <a:tr h="0">
                <a:tc>
                  <a:txBody>
                    <a:bodyPr/>
                    <a:lstStyle/>
                    <a:p>
                      <a:r>
                        <a:rPr lang="fr-FR" dirty="0">
                          <a:latin typeface="Aptos" panose="020B0004020202020204" pitchFamily="34" charset="0"/>
                        </a:rPr>
                        <a:t>Produit périmé délivré</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Faible</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Élevé</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441957276"/>
                  </a:ext>
                </a:extLst>
              </a:tr>
            </a:tbl>
          </a:graphicData>
        </a:graphic>
      </p:graphicFrame>
    </p:spTree>
    <p:extLst>
      <p:ext uri="{BB962C8B-B14F-4D97-AF65-F5344CB8AC3E}">
        <p14:creationId xmlns:p14="http://schemas.microsoft.com/office/powerpoint/2010/main" val="3742881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Assurance responsabilité professionnelle</a:t>
            </a:r>
            <a:endParaRPr lang="en-US" sz="2400" b="1" dirty="0">
              <a:solidFill>
                <a:schemeClr val="bg1"/>
              </a:solidFill>
            </a:endParaRPr>
          </a:p>
        </p:txBody>
      </p:sp>
      <p:sp>
        <p:nvSpPr>
          <p:cNvPr id="10" name="ZoneTexte 9">
            <a:extLst>
              <a:ext uri="{FF2B5EF4-FFF2-40B4-BE49-F238E27FC236}">
                <a16:creationId xmlns:a16="http://schemas.microsoft.com/office/drawing/2014/main" id="{0E95ECA8-44BD-4404-9FBC-602285E61C66}"/>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Pourquoi est-elle indispensable ?</a:t>
            </a:r>
          </a:p>
        </p:txBody>
      </p:sp>
      <p:sp>
        <p:nvSpPr>
          <p:cNvPr id="11" name="ZoneTexte 10">
            <a:extLst>
              <a:ext uri="{FF2B5EF4-FFF2-40B4-BE49-F238E27FC236}">
                <a16:creationId xmlns:a16="http://schemas.microsoft.com/office/drawing/2014/main" id="{E368C0A9-D643-4F38-B930-0EA0700E48BA}"/>
              </a:ext>
            </a:extLst>
          </p:cNvPr>
          <p:cNvSpPr txBox="1"/>
          <p:nvPr/>
        </p:nvSpPr>
        <p:spPr>
          <a:xfrm>
            <a:off x="751075" y="2585512"/>
            <a:ext cx="11102568" cy="1323439"/>
          </a:xfrm>
          <a:prstGeom prst="rect">
            <a:avLst/>
          </a:prstGeom>
          <a:noFill/>
        </p:spPr>
        <p:txBody>
          <a:bodyPr wrap="square">
            <a:spAutoFit/>
          </a:bodyPr>
          <a:lstStyle/>
          <a:p>
            <a:r>
              <a:rPr lang="fr-FR" sz="2000" dirty="0">
                <a:latin typeface="Aptos" panose="020B0004020202020204" pitchFamily="34" charset="0"/>
              </a:rPr>
              <a:t>Même une officine bien gérée peut être confrontée à :</a:t>
            </a:r>
          </a:p>
          <a:p>
            <a:pPr marL="800100" lvl="1" indent="-342900">
              <a:buFont typeface="Arial" panose="020B0604020202020204" pitchFamily="34" charset="0"/>
              <a:buChar char="•"/>
            </a:pPr>
            <a:r>
              <a:rPr lang="fr-FR" sz="2000" dirty="0">
                <a:latin typeface="Aptos" panose="020B0004020202020204" pitchFamily="34" charset="0"/>
              </a:rPr>
              <a:t>Une erreur humaine ;</a:t>
            </a:r>
          </a:p>
          <a:p>
            <a:pPr marL="800100" lvl="1" indent="-342900">
              <a:buFont typeface="Arial" panose="020B0604020202020204" pitchFamily="34" charset="0"/>
              <a:buChar char="•"/>
            </a:pPr>
            <a:r>
              <a:rPr lang="fr-FR" sz="2000" dirty="0">
                <a:latin typeface="Aptos" panose="020B0004020202020204" pitchFamily="34" charset="0"/>
              </a:rPr>
              <a:t>Une plainte ;</a:t>
            </a:r>
          </a:p>
          <a:p>
            <a:pPr marL="800100" lvl="1" indent="-342900">
              <a:buFont typeface="Arial" panose="020B0604020202020204" pitchFamily="34" charset="0"/>
              <a:buChar char="•"/>
            </a:pPr>
            <a:r>
              <a:rPr lang="fr-FR" sz="2000" dirty="0">
                <a:latin typeface="Aptos" panose="020B0004020202020204" pitchFamily="34" charset="0"/>
              </a:rPr>
              <a:t>Un litige.</a:t>
            </a:r>
          </a:p>
        </p:txBody>
      </p:sp>
      <p:sp>
        <p:nvSpPr>
          <p:cNvPr id="13" name="ZoneTexte 12">
            <a:extLst>
              <a:ext uri="{FF2B5EF4-FFF2-40B4-BE49-F238E27FC236}">
                <a16:creationId xmlns:a16="http://schemas.microsoft.com/office/drawing/2014/main" id="{F6EB98EF-8B54-4563-9957-55304113464B}"/>
              </a:ext>
            </a:extLst>
          </p:cNvPr>
          <p:cNvSpPr txBox="1"/>
          <p:nvPr/>
        </p:nvSpPr>
        <p:spPr>
          <a:xfrm>
            <a:off x="751074" y="3967008"/>
            <a:ext cx="6107184" cy="1631216"/>
          </a:xfrm>
          <a:prstGeom prst="rect">
            <a:avLst/>
          </a:prstGeom>
          <a:noFill/>
        </p:spPr>
        <p:txBody>
          <a:bodyPr wrap="square">
            <a:spAutoFit/>
          </a:bodyPr>
          <a:lstStyle/>
          <a:p>
            <a:r>
              <a:rPr lang="fr-FR" sz="2000" b="1" dirty="0">
                <a:latin typeface="Aptos" panose="020B0004020202020204" pitchFamily="34" charset="0"/>
              </a:rPr>
              <a:t>Avantages</a:t>
            </a:r>
          </a:p>
          <a:p>
            <a:pPr marL="742950" lvl="1" indent="-285750">
              <a:buFont typeface="Arial" panose="020B0604020202020204" pitchFamily="34" charset="0"/>
              <a:buChar char="•"/>
            </a:pPr>
            <a:r>
              <a:rPr lang="fr-FR" sz="2000" dirty="0">
                <a:latin typeface="Aptos" panose="020B0004020202020204" pitchFamily="34" charset="0"/>
              </a:rPr>
              <a:t>Protection financière</a:t>
            </a:r>
          </a:p>
          <a:p>
            <a:pPr marL="742950" lvl="1" indent="-285750">
              <a:buFont typeface="Arial" panose="020B0604020202020204" pitchFamily="34" charset="0"/>
              <a:buChar char="•"/>
            </a:pPr>
            <a:r>
              <a:rPr lang="fr-FR" sz="2000" dirty="0">
                <a:latin typeface="Aptos" panose="020B0004020202020204" pitchFamily="34" charset="0"/>
              </a:rPr>
              <a:t>Assistance juridique</a:t>
            </a:r>
          </a:p>
          <a:p>
            <a:pPr marL="742950" lvl="1" indent="-285750">
              <a:buFont typeface="Arial" panose="020B0604020202020204" pitchFamily="34" charset="0"/>
              <a:buChar char="•"/>
            </a:pPr>
            <a:r>
              <a:rPr lang="fr-FR" sz="2000" dirty="0">
                <a:latin typeface="Aptos" panose="020B0004020202020204" pitchFamily="34" charset="0"/>
              </a:rPr>
              <a:t>Gestion des réclamations</a:t>
            </a:r>
          </a:p>
          <a:p>
            <a:pPr marL="742950" lvl="1" indent="-285750">
              <a:buFont typeface="Arial" panose="020B0604020202020204" pitchFamily="34" charset="0"/>
              <a:buChar char="•"/>
            </a:pPr>
            <a:r>
              <a:rPr lang="fr-FR" sz="2000" dirty="0">
                <a:latin typeface="Aptos" panose="020B0004020202020204" pitchFamily="34" charset="0"/>
              </a:rPr>
              <a:t>Couverture des dommages</a:t>
            </a:r>
          </a:p>
        </p:txBody>
      </p:sp>
    </p:spTree>
    <p:extLst>
      <p:ext uri="{BB962C8B-B14F-4D97-AF65-F5344CB8AC3E}">
        <p14:creationId xmlns:p14="http://schemas.microsoft.com/office/powerpoint/2010/main" val="2683302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Culture qualité et sécurité du patient</a:t>
            </a:r>
            <a:endParaRPr lang="en-US" sz="2400" b="1" dirty="0">
              <a:solidFill>
                <a:schemeClr val="bg1"/>
              </a:solidFill>
            </a:endParaRPr>
          </a:p>
        </p:txBody>
      </p:sp>
      <p:sp>
        <p:nvSpPr>
          <p:cNvPr id="10" name="ZoneTexte 9">
            <a:extLst>
              <a:ext uri="{FF2B5EF4-FFF2-40B4-BE49-F238E27FC236}">
                <a16:creationId xmlns:a16="http://schemas.microsoft.com/office/drawing/2014/main" id="{0E95ECA8-44BD-4404-9FBC-602285E61C66}"/>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Tendance</a:t>
            </a:r>
          </a:p>
        </p:txBody>
      </p:sp>
      <p:sp>
        <p:nvSpPr>
          <p:cNvPr id="11" name="ZoneTexte 10">
            <a:extLst>
              <a:ext uri="{FF2B5EF4-FFF2-40B4-BE49-F238E27FC236}">
                <a16:creationId xmlns:a16="http://schemas.microsoft.com/office/drawing/2014/main" id="{E368C0A9-D643-4F38-B930-0EA0700E48BA}"/>
              </a:ext>
            </a:extLst>
          </p:cNvPr>
          <p:cNvSpPr txBox="1"/>
          <p:nvPr/>
        </p:nvSpPr>
        <p:spPr>
          <a:xfrm>
            <a:off x="751075" y="2585512"/>
            <a:ext cx="11102568" cy="224676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Les officines modernes ne se limitent plus à corriger les erreurs.</a:t>
            </a:r>
          </a:p>
          <a:p>
            <a:pPr marL="342900" indent="-342900">
              <a:buFont typeface="Arial" panose="020B0604020202020204" pitchFamily="34" charset="0"/>
              <a:buChar char="•"/>
            </a:pPr>
            <a:r>
              <a:rPr lang="fr-FR" sz="2000" dirty="0">
                <a:latin typeface="Aptos" panose="020B0004020202020204" pitchFamily="34" charset="0"/>
              </a:rPr>
              <a:t>Elles développent une culture qualité fondée sur :</a:t>
            </a:r>
          </a:p>
          <a:p>
            <a:pPr marL="800100" lvl="1" indent="-342900">
              <a:buFont typeface="Courier New" panose="02070309020205020404" pitchFamily="49" charset="0"/>
              <a:buChar char="o"/>
            </a:pPr>
            <a:r>
              <a:rPr lang="fr-FR" sz="2000" dirty="0">
                <a:latin typeface="Aptos" panose="020B0004020202020204" pitchFamily="34" charset="0"/>
              </a:rPr>
              <a:t>Prévention</a:t>
            </a:r>
          </a:p>
          <a:p>
            <a:pPr marL="800100" lvl="1" indent="-342900">
              <a:buFont typeface="Courier New" panose="02070309020205020404" pitchFamily="49" charset="0"/>
              <a:buChar char="o"/>
            </a:pPr>
            <a:r>
              <a:rPr lang="fr-FR" sz="2000" dirty="0">
                <a:latin typeface="Aptos" panose="020B0004020202020204" pitchFamily="34" charset="0"/>
              </a:rPr>
              <a:t>Documentation</a:t>
            </a:r>
          </a:p>
          <a:p>
            <a:pPr marL="800100" lvl="1" indent="-342900">
              <a:buFont typeface="Courier New" panose="02070309020205020404" pitchFamily="49" charset="0"/>
              <a:buChar char="o"/>
            </a:pPr>
            <a:r>
              <a:rPr lang="fr-FR" sz="2000" dirty="0">
                <a:latin typeface="Aptos" panose="020B0004020202020204" pitchFamily="34" charset="0"/>
              </a:rPr>
              <a:t>Formation</a:t>
            </a:r>
          </a:p>
          <a:p>
            <a:pPr marL="800100" lvl="1" indent="-342900">
              <a:buFont typeface="Courier New" panose="02070309020205020404" pitchFamily="49" charset="0"/>
              <a:buChar char="o"/>
            </a:pPr>
            <a:r>
              <a:rPr lang="fr-FR" sz="2000" dirty="0">
                <a:latin typeface="Aptos" panose="020B0004020202020204" pitchFamily="34" charset="0"/>
              </a:rPr>
              <a:t>Amélioration continue</a:t>
            </a:r>
          </a:p>
          <a:p>
            <a:pPr marL="800100" lvl="1" indent="-342900">
              <a:buFont typeface="Courier New" panose="02070309020205020404" pitchFamily="49" charset="0"/>
              <a:buChar char="o"/>
            </a:pPr>
            <a:r>
              <a:rPr lang="fr-FR" sz="2000" dirty="0">
                <a:latin typeface="Aptos" panose="020B0004020202020204" pitchFamily="34" charset="0"/>
              </a:rPr>
              <a:t>Gestion des risques</a:t>
            </a:r>
          </a:p>
        </p:txBody>
      </p:sp>
    </p:spTree>
    <p:extLst>
      <p:ext uri="{BB962C8B-B14F-4D97-AF65-F5344CB8AC3E}">
        <p14:creationId xmlns:p14="http://schemas.microsoft.com/office/powerpoint/2010/main" val="2753514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Responsabilité professionnelle du pharmacien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Message clé à retenir</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1075" y="2290612"/>
            <a:ext cx="11102568" cy="2554545"/>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Le pharmacien titulaire n’est pas seulement responsable des médicaments qu’il dispense.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Il est responsable de l’ensemble du système de gestion de l’officine : personnel, stocks, documentation, conformité réglementaire, qualité et sécurité des patients.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La meilleure protection contre les sanctions et les litiges n’est pas la réaction après un incident, mais la mise en place d’une culture permanente de conformité, de qualité et de gestion des risques.</a:t>
            </a:r>
          </a:p>
        </p:txBody>
      </p:sp>
    </p:spTree>
    <p:extLst>
      <p:ext uri="{BB962C8B-B14F-4D97-AF65-F5344CB8AC3E}">
        <p14:creationId xmlns:p14="http://schemas.microsoft.com/office/powerpoint/2010/main" val="2148220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5604B0-EF89-4CCD-9A70-88801B695330}"/>
              </a:ext>
            </a:extLst>
          </p:cNvPr>
          <p:cNvSpPr/>
          <p:nvPr/>
        </p:nvSpPr>
        <p:spPr>
          <a:xfrm>
            <a:off x="233266" y="205274"/>
            <a:ext cx="11747240" cy="5057192"/>
          </a:xfrm>
          <a:prstGeom prst="rect">
            <a:avLst/>
          </a:prstGeom>
          <a:solidFill>
            <a:srgbClr val="FD7B0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59298" y="1948057"/>
            <a:ext cx="481069" cy="1571625"/>
          </a:xfrm>
          <a:prstGeom prst="roundRect">
            <a:avLst>
              <a:gd name="adj" fmla="val 50000"/>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40366" y="2447698"/>
            <a:ext cx="10343495" cy="584775"/>
          </a:xfrm>
          <a:prstGeom prst="rect">
            <a:avLst/>
          </a:prstGeom>
          <a:noFill/>
        </p:spPr>
        <p:txBody>
          <a:bodyPr wrap="square">
            <a:spAutoFit/>
          </a:bodyPr>
          <a:lstStyle/>
          <a:p>
            <a:r>
              <a:rPr lang="fr-FR" sz="3200" b="1" dirty="0">
                <a:solidFill>
                  <a:schemeClr val="bg1"/>
                </a:solidFill>
                <a:latin typeface="Aptos" panose="020B0004020202020204" pitchFamily="34" charset="0"/>
                <a:ea typeface="Calibri" panose="020F0502020204030204" pitchFamily="34" charset="0"/>
                <a:cs typeface="Calibri" panose="020F0502020204030204" pitchFamily="34" charset="0"/>
              </a:rPr>
              <a:t>Gestion des stocks et approvisionnements officinaux </a:t>
            </a:r>
          </a:p>
        </p:txBody>
      </p:sp>
      <p:pic>
        <p:nvPicPr>
          <p:cNvPr id="7" name="Image 6">
            <a:extLst>
              <a:ext uri="{FF2B5EF4-FFF2-40B4-BE49-F238E27FC236}">
                <a16:creationId xmlns:a16="http://schemas.microsoft.com/office/drawing/2014/main" id="{E2F6D796-76F1-49E6-8701-619808DA4C96}"/>
              </a:ext>
            </a:extLst>
          </p:cNvPr>
          <p:cNvPicPr>
            <a:picLocks noChangeAspect="1"/>
          </p:cNvPicPr>
          <p:nvPr/>
        </p:nvPicPr>
        <p:blipFill rotWithShape="1">
          <a:blip r:embed="rId2">
            <a:extLst>
              <a:ext uri="{28A0092B-C50C-407E-A947-70E740481C1C}">
                <a14:useLocalDpi xmlns:a14="http://schemas.microsoft.com/office/drawing/2010/main" val="0"/>
              </a:ext>
            </a:extLst>
          </a:blip>
          <a:srcRect t="21545" b="12625"/>
          <a:stretch/>
        </p:blipFill>
        <p:spPr>
          <a:xfrm>
            <a:off x="8709840" y="221037"/>
            <a:ext cx="1944000" cy="592467"/>
          </a:xfrm>
          <a:prstGeom prst="rect">
            <a:avLst/>
          </a:prstGeom>
        </p:spPr>
      </p:pic>
      <p:sp>
        <p:nvSpPr>
          <p:cNvPr id="9" name="ZoneTexte 8">
            <a:extLst>
              <a:ext uri="{FF2B5EF4-FFF2-40B4-BE49-F238E27FC236}">
                <a16:creationId xmlns:a16="http://schemas.microsoft.com/office/drawing/2014/main" id="{4A6EF384-4FA4-47D7-961A-157F9FFD1774}"/>
              </a:ext>
            </a:extLst>
          </p:cNvPr>
          <p:cNvSpPr txBox="1"/>
          <p:nvPr/>
        </p:nvSpPr>
        <p:spPr>
          <a:xfrm>
            <a:off x="7404946" y="813504"/>
            <a:ext cx="4553788" cy="307777"/>
          </a:xfrm>
          <a:prstGeom prst="rect">
            <a:avLst/>
          </a:prstGeom>
          <a:noFill/>
        </p:spPr>
        <p:txBody>
          <a:bodyPr wrap="square">
            <a:spAutoFit/>
          </a:bodyPr>
          <a:lstStyle/>
          <a:p>
            <a:pPr algn="ctr"/>
            <a:r>
              <a:rPr lang="fr-FR" sz="1400" dirty="0">
                <a:solidFill>
                  <a:schemeClr val="bg1"/>
                </a:solidFill>
                <a:latin typeface="Aptos" panose="020B0004020202020204" pitchFamily="34" charset="0"/>
                <a:ea typeface="Calibri" panose="020F0502020204030204" pitchFamily="34" charset="0"/>
                <a:cs typeface="Calibri" panose="020F0502020204030204" pitchFamily="34" charset="0"/>
              </a:rPr>
              <a:t>GESTION D’UNE OFFICINE MODERNE </a:t>
            </a:r>
          </a:p>
        </p:txBody>
      </p:sp>
      <p:pic>
        <p:nvPicPr>
          <p:cNvPr id="13" name="Image 12">
            <a:extLst>
              <a:ext uri="{FF2B5EF4-FFF2-40B4-BE49-F238E27FC236}">
                <a16:creationId xmlns:a16="http://schemas.microsoft.com/office/drawing/2014/main" id="{5FC12CEA-3333-4B55-A99F-80B86F71D5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4" name="Connecteur droit 13">
            <a:extLst>
              <a:ext uri="{FF2B5EF4-FFF2-40B4-BE49-F238E27FC236}">
                <a16:creationId xmlns:a16="http://schemas.microsoft.com/office/drawing/2014/main" id="{96CFDAD8-C39D-4C4B-AED8-A6D929694CED}"/>
              </a:ext>
            </a:extLst>
          </p:cNvPr>
          <p:cNvCxnSpPr>
            <a:cxnSpLocks/>
            <a:stCxn id="13"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5" name="Image 14">
            <a:extLst>
              <a:ext uri="{FF2B5EF4-FFF2-40B4-BE49-F238E27FC236}">
                <a16:creationId xmlns:a16="http://schemas.microsoft.com/office/drawing/2014/main" id="{1D7E960A-1BE1-48DA-96CC-0E811CE310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297" y="2493333"/>
            <a:ext cx="481069" cy="481069"/>
          </a:xfrm>
          <a:prstGeom prst="rect">
            <a:avLst/>
          </a:prstGeom>
        </p:spPr>
      </p:pic>
    </p:spTree>
    <p:extLst>
      <p:ext uri="{BB962C8B-B14F-4D97-AF65-F5344CB8AC3E}">
        <p14:creationId xmlns:p14="http://schemas.microsoft.com/office/powerpoint/2010/main" val="1064288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82384" y="2410703"/>
            <a:ext cx="10049004" cy="646331"/>
          </a:xfrm>
          <a:prstGeom prst="rect">
            <a:avLst/>
          </a:prstGeom>
          <a:noFill/>
        </p:spPr>
        <p:txBody>
          <a:bodyPr wrap="square">
            <a:spAutoFit/>
          </a:bodyPr>
          <a:lstStyle/>
          <a:p>
            <a:r>
              <a:rPr lang="fr-FR" sz="3600" b="1" dirty="0">
                <a:solidFill>
                  <a:schemeClr val="bg1"/>
                </a:solidFill>
                <a:effectLst/>
                <a:latin typeface="Aptos" panose="020B0004020202020204" pitchFamily="34" charset="0"/>
                <a:ea typeface="Calibri" panose="020F0502020204030204" pitchFamily="34" charset="0"/>
                <a:cs typeface="Calibri" panose="020F0502020204030204" pitchFamily="34" charset="0"/>
              </a:rPr>
              <a:t>Gestion des approvisionnements et des stocks</a:t>
            </a:r>
            <a:r>
              <a:rPr lang="fr-FR" sz="3600" dirty="0">
                <a:solidFill>
                  <a:schemeClr val="bg1"/>
                </a:solidFill>
                <a:effectLst/>
                <a:latin typeface="Aptos" panose="020B0004020202020204" pitchFamily="34" charset="0"/>
                <a:ea typeface="Calibri" panose="020F0502020204030204" pitchFamily="34" charset="0"/>
                <a:cs typeface="Calibri" panose="020F0502020204030204" pitchFamily="34" charset="0"/>
              </a:rPr>
              <a:t> </a:t>
            </a:r>
            <a:endParaRPr lang="en-US" sz="3600" dirty="0">
              <a:solidFill>
                <a:schemeClr val="bg1"/>
              </a:solidFill>
              <a:latin typeface="Aptos" panose="020B0004020202020204" pitchFamily="34" charset="0"/>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Plan</a:t>
            </a:r>
            <a:endParaRPr lang="en-US" sz="2800" dirty="0">
              <a:solidFill>
                <a:schemeClr val="tx1">
                  <a:lumMod val="75000"/>
                  <a:lumOff val="25000"/>
                </a:schemeClr>
              </a:solidFill>
              <a:latin typeface="Aptos" panose="020B0004020202020204" pitchFamily="34" charset="0"/>
            </a:endParaRPr>
          </a:p>
        </p:txBody>
      </p:sp>
      <p:sp>
        <p:nvSpPr>
          <p:cNvPr id="13" name="Content Placeholder 3">
            <a:extLst>
              <a:ext uri="{FF2B5EF4-FFF2-40B4-BE49-F238E27FC236}">
                <a16:creationId xmlns:a16="http://schemas.microsoft.com/office/drawing/2014/main" id="{94B8DB2E-A3E6-45FB-A31A-70487A5468F3}"/>
              </a:ext>
            </a:extLst>
          </p:cNvPr>
          <p:cNvSpPr txBox="1">
            <a:spLocks/>
          </p:cNvSpPr>
          <p:nvPr/>
        </p:nvSpPr>
        <p:spPr>
          <a:xfrm>
            <a:off x="617220" y="1584961"/>
            <a:ext cx="10965180" cy="249174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200"/>
              </a:spcBef>
              <a:buClr>
                <a:srgbClr val="6C6463"/>
              </a:buClr>
              <a:buFont typeface="Arial" panose="020B0604020202020204" pitchFamily="34" charset="0"/>
              <a:buChar char="•"/>
              <a:defRPr sz="2800" kern="1200">
                <a:solidFill>
                  <a:srgbClr val="6C6463"/>
                </a:solidFill>
                <a:latin typeface="+mn-lt"/>
                <a:ea typeface="+mn-ea"/>
                <a:cs typeface="+mn-cs"/>
              </a:defRPr>
            </a:lvl1pPr>
            <a:lvl2pPr marL="457200" indent="0" algn="l" defTabSz="914400" rtl="0" eaLnBrk="1" latinLnBrk="0" hangingPunct="1">
              <a:lnSpc>
                <a:spcPct val="100000"/>
              </a:lnSpc>
              <a:spcBef>
                <a:spcPts val="300"/>
              </a:spcBef>
              <a:buClr>
                <a:srgbClr val="6C6463"/>
              </a:buClr>
              <a:buSzPct val="80000"/>
              <a:buFont typeface="Courier New" panose="02070309020205020404" pitchFamily="49" charset="0"/>
              <a:buNone/>
              <a:defRPr sz="2400" kern="1200">
                <a:solidFill>
                  <a:srgbClr val="6C6463"/>
                </a:solidFill>
                <a:latin typeface="+mn-lt"/>
                <a:ea typeface="+mn-ea"/>
                <a:cs typeface="+mn-cs"/>
              </a:defRPr>
            </a:lvl2pPr>
            <a:lvl3pPr marL="1143000" indent="-228600" algn="l" defTabSz="914400" rtl="0" eaLnBrk="1" latinLnBrk="0" hangingPunct="1">
              <a:lnSpc>
                <a:spcPct val="100000"/>
              </a:lnSpc>
              <a:spcBef>
                <a:spcPts val="300"/>
              </a:spcBef>
              <a:buClr>
                <a:srgbClr val="6C6463"/>
              </a:buClr>
              <a:buFont typeface="Gill Sans MT" panose="020B0502020104020203" pitchFamily="34" charset="0"/>
              <a:buChar char="–"/>
              <a:defRPr sz="2000" kern="1200">
                <a:solidFill>
                  <a:srgbClr val="6C6463"/>
                </a:solidFill>
                <a:latin typeface="+mn-lt"/>
                <a:ea typeface="+mn-ea"/>
                <a:cs typeface="+mn-cs"/>
              </a:defRPr>
            </a:lvl3pPr>
            <a:lvl4pPr marL="16002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4pPr>
            <a:lvl5pPr marL="20574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5pPr>
            <a:lvl6pPr marL="25146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6pPr>
            <a:lvl7pPr marL="29718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7pPr>
            <a:lvl8pPr marL="34290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Sélection des fournisseurs et grossistes répartiteurs</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Gestion des commandes et des niveaux de stock</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Méthodes d'inventaire et gestion des périmés</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119ADA14-3019-42A4-A2F9-8053E29963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Tree>
    <p:extLst>
      <p:ext uri="{BB962C8B-B14F-4D97-AF65-F5344CB8AC3E}">
        <p14:creationId xmlns:p14="http://schemas.microsoft.com/office/powerpoint/2010/main" val="3869103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Sélection des fournisseurs et grossistes répartiteurs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1075" y="2290612"/>
            <a:ext cx="11102568" cy="1938992"/>
          </a:xfrm>
          <a:prstGeom prst="rect">
            <a:avLst/>
          </a:prstGeom>
          <a:noFill/>
        </p:spPr>
        <p:txBody>
          <a:bodyPr wrap="square">
            <a:spAutoFit/>
          </a:bodyPr>
          <a:lstStyle/>
          <a:p>
            <a:r>
              <a:rPr lang="fr-FR" sz="2000" dirty="0">
                <a:latin typeface="Aptos" panose="020B0004020202020204" pitchFamily="34" charset="0"/>
              </a:rPr>
              <a:t>À l’issue de ce sous-module, le participant sera capable de :</a:t>
            </a:r>
          </a:p>
          <a:p>
            <a:pPr marL="800100" lvl="1" indent="-342900">
              <a:buFont typeface="Arial" panose="020B0604020202020204" pitchFamily="34" charset="0"/>
              <a:buChar char="•"/>
            </a:pPr>
            <a:r>
              <a:rPr lang="fr-FR" sz="2000" dirty="0">
                <a:latin typeface="Aptos" panose="020B0004020202020204" pitchFamily="34" charset="0"/>
              </a:rPr>
              <a:t>Identifier les fournisseurs conformes à la réglementation ;</a:t>
            </a:r>
          </a:p>
          <a:p>
            <a:pPr marL="800100" lvl="1" indent="-342900">
              <a:buFont typeface="Arial" panose="020B0604020202020204" pitchFamily="34" charset="0"/>
              <a:buChar char="•"/>
            </a:pPr>
            <a:r>
              <a:rPr lang="fr-FR" sz="2000" dirty="0">
                <a:latin typeface="Aptos" panose="020B0004020202020204" pitchFamily="34" charset="0"/>
              </a:rPr>
              <a:t>Sécuriser sa chaîne d’approvisionnement ;</a:t>
            </a:r>
          </a:p>
          <a:p>
            <a:pPr marL="800100" lvl="1" indent="-342900">
              <a:buFont typeface="Arial" panose="020B0604020202020204" pitchFamily="34" charset="0"/>
              <a:buChar char="•"/>
            </a:pPr>
            <a:r>
              <a:rPr lang="fr-FR" sz="2000" dirty="0">
                <a:latin typeface="Aptos" panose="020B0004020202020204" pitchFamily="34" charset="0"/>
              </a:rPr>
              <a:t>Évaluer la performance de ses fournisseurs ;</a:t>
            </a:r>
          </a:p>
          <a:p>
            <a:pPr marL="800100" lvl="1" indent="-342900">
              <a:buFont typeface="Arial" panose="020B0604020202020204" pitchFamily="34" charset="0"/>
              <a:buChar char="•"/>
            </a:pPr>
            <a:r>
              <a:rPr lang="fr-FR" sz="2000" dirty="0">
                <a:latin typeface="Aptos" panose="020B0004020202020204" pitchFamily="34" charset="0"/>
              </a:rPr>
              <a:t>Prévenir les risques liés aux médicaments falsifiés ;</a:t>
            </a:r>
          </a:p>
          <a:p>
            <a:pPr marL="800100" lvl="1" indent="-342900">
              <a:buFont typeface="Arial" panose="020B0604020202020204" pitchFamily="34" charset="0"/>
              <a:buChar char="•"/>
            </a:pPr>
            <a:r>
              <a:rPr lang="fr-FR" sz="2000" dirty="0">
                <a:latin typeface="Aptos" panose="020B0004020202020204" pitchFamily="34" charset="0"/>
              </a:rPr>
              <a:t>Mettre en place un système d’homologation des fournisseurs.</a:t>
            </a:r>
          </a:p>
        </p:txBody>
      </p:sp>
    </p:spTree>
    <p:extLst>
      <p:ext uri="{BB962C8B-B14F-4D97-AF65-F5344CB8AC3E}">
        <p14:creationId xmlns:p14="http://schemas.microsoft.com/office/powerpoint/2010/main" val="2381998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Sélection des fournisseurs et grossistes répartiteurs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1075" y="2290612"/>
            <a:ext cx="11102568" cy="317009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L'approvisionnement est l'un des processus les plus critiques d'une officine.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Une mauvaise décision d'achat peut entraîner :</a:t>
            </a:r>
          </a:p>
          <a:p>
            <a:pPr marL="800100" lvl="1" indent="-342900">
              <a:buFont typeface="Courier New" panose="02070309020205020404" pitchFamily="49" charset="0"/>
              <a:buChar char="o"/>
            </a:pPr>
            <a:r>
              <a:rPr lang="fr-FR" sz="2000" dirty="0">
                <a:latin typeface="Aptos" panose="020B0004020202020204" pitchFamily="34" charset="0"/>
              </a:rPr>
              <a:t>des pertes financières ;</a:t>
            </a:r>
          </a:p>
          <a:p>
            <a:pPr marL="800100" lvl="1" indent="-342900">
              <a:buFont typeface="Courier New" panose="02070309020205020404" pitchFamily="49" charset="0"/>
              <a:buChar char="o"/>
            </a:pPr>
            <a:r>
              <a:rPr lang="fr-FR" sz="2000" dirty="0">
                <a:latin typeface="Aptos" panose="020B0004020202020204" pitchFamily="34" charset="0"/>
              </a:rPr>
              <a:t>des ruptures ;</a:t>
            </a:r>
          </a:p>
          <a:p>
            <a:pPr marL="800100" lvl="1" indent="-342900">
              <a:buFont typeface="Courier New" panose="02070309020205020404" pitchFamily="49" charset="0"/>
              <a:buChar char="o"/>
            </a:pPr>
            <a:r>
              <a:rPr lang="fr-FR" sz="2000" dirty="0">
                <a:latin typeface="Aptos" panose="020B0004020202020204" pitchFamily="34" charset="0"/>
              </a:rPr>
              <a:t>des produits falsifiés ;</a:t>
            </a:r>
          </a:p>
          <a:p>
            <a:pPr marL="800100" lvl="1" indent="-342900">
              <a:buFont typeface="Courier New" panose="02070309020205020404" pitchFamily="49" charset="0"/>
              <a:buChar char="o"/>
            </a:pPr>
            <a:r>
              <a:rPr lang="fr-FR" sz="2000" dirty="0">
                <a:latin typeface="Aptos" panose="020B0004020202020204" pitchFamily="34" charset="0"/>
              </a:rPr>
              <a:t>des sanctions réglementaires ;</a:t>
            </a:r>
          </a:p>
          <a:p>
            <a:pPr marL="800100" lvl="1" indent="-342900">
              <a:buFont typeface="Courier New" panose="02070309020205020404" pitchFamily="49" charset="0"/>
              <a:buChar char="o"/>
            </a:pPr>
            <a:r>
              <a:rPr lang="fr-FR" sz="2000" dirty="0">
                <a:latin typeface="Aptos" panose="020B0004020202020204" pitchFamily="34" charset="0"/>
              </a:rPr>
              <a:t>des risques pour les patients.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Le pharmacien est responsable de la qualité des produits qu'il introduit dans son officine.</a:t>
            </a:r>
          </a:p>
        </p:txBody>
      </p:sp>
    </p:spTree>
    <p:extLst>
      <p:ext uri="{BB962C8B-B14F-4D97-AF65-F5344CB8AC3E}">
        <p14:creationId xmlns:p14="http://schemas.microsoft.com/office/powerpoint/2010/main" val="3808128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Sélection des fournisseurs et grossistes répartiteurs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Chaîne d'approvisionnement pharmaceutique</a:t>
            </a:r>
            <a:endParaRPr lang="en-US" sz="2400" b="1" dirty="0">
              <a:solidFill>
                <a:schemeClr val="bg1"/>
              </a:solidFill>
            </a:endParaRPr>
          </a:p>
        </p:txBody>
      </p:sp>
      <p:sp>
        <p:nvSpPr>
          <p:cNvPr id="10" name="ZoneTexte 9">
            <a:extLst>
              <a:ext uri="{FF2B5EF4-FFF2-40B4-BE49-F238E27FC236}">
                <a16:creationId xmlns:a16="http://schemas.microsoft.com/office/drawing/2014/main" id="{E1A7B0E7-6D60-4048-8453-F8FE16901033}"/>
              </a:ext>
            </a:extLst>
          </p:cNvPr>
          <p:cNvSpPr txBox="1"/>
          <p:nvPr/>
        </p:nvSpPr>
        <p:spPr>
          <a:xfrm>
            <a:off x="751074" y="2517227"/>
            <a:ext cx="5465168" cy="3785652"/>
          </a:xfrm>
          <a:prstGeom prst="rect">
            <a:avLst/>
          </a:prstGeom>
          <a:noFill/>
        </p:spPr>
        <p:txBody>
          <a:bodyPr wrap="square">
            <a:spAutoFit/>
          </a:bodyPr>
          <a:lstStyle/>
          <a:p>
            <a:pPr algn="ctr"/>
            <a:r>
              <a:rPr lang="fr-FR" sz="2000" dirty="0">
                <a:latin typeface="Aptos" panose="020B0004020202020204" pitchFamily="34" charset="0"/>
              </a:rPr>
              <a:t>La qualité d'un médicament doit être garantie tout au long de son parcours :</a:t>
            </a:r>
          </a:p>
          <a:p>
            <a:pPr algn="ctr"/>
            <a:endParaRPr lang="fr-FR" sz="2000" b="1" dirty="0">
              <a:latin typeface="Aptos" panose="020B0004020202020204" pitchFamily="34" charset="0"/>
            </a:endParaRPr>
          </a:p>
          <a:p>
            <a:pPr algn="ctr"/>
            <a:r>
              <a:rPr lang="fr-FR" sz="2000" b="1" dirty="0">
                <a:latin typeface="Aptos" panose="020B0004020202020204" pitchFamily="34" charset="0"/>
              </a:rPr>
              <a:t>Fabricant</a:t>
            </a:r>
            <a:br>
              <a:rPr lang="fr-FR" sz="2000" dirty="0">
                <a:latin typeface="Aptos" panose="020B0004020202020204" pitchFamily="34" charset="0"/>
              </a:rPr>
            </a:br>
            <a:r>
              <a:rPr lang="fr-FR" sz="2000" dirty="0">
                <a:latin typeface="Aptos" panose="020B0004020202020204" pitchFamily="34" charset="0"/>
              </a:rPr>
              <a:t>↓</a:t>
            </a:r>
            <a:br>
              <a:rPr lang="fr-FR" sz="2000" dirty="0">
                <a:latin typeface="Aptos" panose="020B0004020202020204" pitchFamily="34" charset="0"/>
              </a:rPr>
            </a:br>
            <a:r>
              <a:rPr lang="fr-FR" sz="2000" b="1" dirty="0">
                <a:latin typeface="Aptos" panose="020B0004020202020204" pitchFamily="34" charset="0"/>
              </a:rPr>
              <a:t>Importateur</a:t>
            </a:r>
            <a:br>
              <a:rPr lang="fr-FR" sz="2000" dirty="0">
                <a:latin typeface="Aptos" panose="020B0004020202020204" pitchFamily="34" charset="0"/>
              </a:rPr>
            </a:br>
            <a:r>
              <a:rPr lang="fr-FR" sz="2000" dirty="0">
                <a:latin typeface="Aptos" panose="020B0004020202020204" pitchFamily="34" charset="0"/>
              </a:rPr>
              <a:t>↓</a:t>
            </a:r>
            <a:br>
              <a:rPr lang="fr-FR" sz="2000" dirty="0">
                <a:latin typeface="Aptos" panose="020B0004020202020204" pitchFamily="34" charset="0"/>
              </a:rPr>
            </a:br>
            <a:r>
              <a:rPr lang="fr-FR" sz="2000" b="1" dirty="0">
                <a:latin typeface="Aptos" panose="020B0004020202020204" pitchFamily="34" charset="0"/>
              </a:rPr>
              <a:t>Grossiste répartiteur</a:t>
            </a:r>
            <a:br>
              <a:rPr lang="fr-FR" sz="2000" dirty="0">
                <a:latin typeface="Aptos" panose="020B0004020202020204" pitchFamily="34" charset="0"/>
              </a:rPr>
            </a:br>
            <a:r>
              <a:rPr lang="fr-FR" sz="2000" dirty="0">
                <a:latin typeface="Aptos" panose="020B0004020202020204" pitchFamily="34" charset="0"/>
              </a:rPr>
              <a:t>↓</a:t>
            </a:r>
            <a:br>
              <a:rPr lang="fr-FR" sz="2000" dirty="0">
                <a:latin typeface="Aptos" panose="020B0004020202020204" pitchFamily="34" charset="0"/>
              </a:rPr>
            </a:br>
            <a:r>
              <a:rPr lang="fr-FR" sz="2000" b="1" dirty="0">
                <a:latin typeface="Aptos" panose="020B0004020202020204" pitchFamily="34" charset="0"/>
              </a:rPr>
              <a:t>Officine</a:t>
            </a:r>
            <a:br>
              <a:rPr lang="fr-FR" sz="2000" dirty="0">
                <a:latin typeface="Aptos" panose="020B0004020202020204" pitchFamily="34" charset="0"/>
              </a:rPr>
            </a:br>
            <a:r>
              <a:rPr lang="fr-FR" sz="2000" dirty="0">
                <a:latin typeface="Aptos" panose="020B0004020202020204" pitchFamily="34" charset="0"/>
              </a:rPr>
              <a:t>↓</a:t>
            </a:r>
            <a:br>
              <a:rPr lang="fr-FR" sz="2000" dirty="0">
                <a:latin typeface="Aptos" panose="020B0004020202020204" pitchFamily="34" charset="0"/>
              </a:rPr>
            </a:br>
            <a:r>
              <a:rPr lang="fr-FR" sz="2000" b="1" dirty="0">
                <a:solidFill>
                  <a:srgbClr val="F37504"/>
                </a:solidFill>
                <a:latin typeface="Aptos" panose="020B0004020202020204" pitchFamily="34" charset="0"/>
              </a:rPr>
              <a:t>Patient</a:t>
            </a: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Vision OMS</a:t>
            </a:r>
          </a:p>
        </p:txBody>
      </p:sp>
      <p:sp>
        <p:nvSpPr>
          <p:cNvPr id="13" name="ZoneTexte 12">
            <a:extLst>
              <a:ext uri="{FF2B5EF4-FFF2-40B4-BE49-F238E27FC236}">
                <a16:creationId xmlns:a16="http://schemas.microsoft.com/office/drawing/2014/main" id="{93D38CD3-85C8-4384-AAC1-177375A330FA}"/>
              </a:ext>
            </a:extLst>
          </p:cNvPr>
          <p:cNvSpPr txBox="1"/>
          <p:nvPr/>
        </p:nvSpPr>
        <p:spPr>
          <a:xfrm>
            <a:off x="6302358" y="3813420"/>
            <a:ext cx="5465168" cy="1631216"/>
          </a:xfrm>
          <a:prstGeom prst="rect">
            <a:avLst/>
          </a:prstGeom>
          <a:noFill/>
        </p:spPr>
        <p:txBody>
          <a:bodyPr wrap="square">
            <a:spAutoFit/>
          </a:bodyPr>
          <a:lstStyle/>
          <a:p>
            <a:r>
              <a:rPr lang="fr-FR" sz="2000" b="1" dirty="0">
                <a:latin typeface="Aptos" panose="020B0004020202020204" pitchFamily="34" charset="0"/>
              </a:rPr>
              <a:t>Pourquoi cette chaîne est-elle importante ?</a:t>
            </a:r>
          </a:p>
          <a:p>
            <a:r>
              <a:rPr lang="fr-FR" sz="2000" dirty="0">
                <a:latin typeface="Aptos" panose="020B0004020202020204" pitchFamily="34" charset="0"/>
              </a:rPr>
              <a:t>Chaque maillon :</a:t>
            </a:r>
          </a:p>
          <a:p>
            <a:pPr marL="800100" lvl="1" indent="-342900">
              <a:buFont typeface="Arial" panose="020B0604020202020204" pitchFamily="34" charset="0"/>
              <a:buChar char="•"/>
            </a:pPr>
            <a:r>
              <a:rPr lang="fr-FR" sz="2000" dirty="0">
                <a:latin typeface="Aptos" panose="020B0004020202020204" pitchFamily="34" charset="0"/>
              </a:rPr>
              <a:t>Garantit la traçabilité ; </a:t>
            </a:r>
          </a:p>
          <a:p>
            <a:pPr marL="800100" lvl="1" indent="-342900">
              <a:buFont typeface="Arial" panose="020B0604020202020204" pitchFamily="34" charset="0"/>
              <a:buChar char="•"/>
            </a:pPr>
            <a:r>
              <a:rPr lang="fr-FR" sz="2000" dirty="0">
                <a:latin typeface="Aptos" panose="020B0004020202020204" pitchFamily="34" charset="0"/>
              </a:rPr>
              <a:t>Préserve la qualité ; </a:t>
            </a:r>
          </a:p>
          <a:p>
            <a:pPr marL="800100" lvl="1" indent="-342900">
              <a:buFont typeface="Arial" panose="020B0604020202020204" pitchFamily="34" charset="0"/>
              <a:buChar char="•"/>
            </a:pPr>
            <a:r>
              <a:rPr lang="fr-FR" sz="2000" dirty="0">
                <a:latin typeface="Aptos" panose="020B0004020202020204" pitchFamily="34" charset="0"/>
              </a:rPr>
              <a:t>Réduit le risque de falsification.</a:t>
            </a:r>
          </a:p>
        </p:txBody>
      </p:sp>
    </p:spTree>
    <p:extLst>
      <p:ext uri="{BB962C8B-B14F-4D97-AF65-F5344CB8AC3E}">
        <p14:creationId xmlns:p14="http://schemas.microsoft.com/office/powerpoint/2010/main" val="1666051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Sélection des fournisseurs et grossistes répartiteurs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fournisseurs pharmaceutiques en Afrique</a:t>
            </a:r>
            <a:endParaRPr lang="en-US" sz="2400" b="1" dirty="0">
              <a:solidFill>
                <a:schemeClr val="bg1"/>
              </a:solidFill>
            </a:endParaRPr>
          </a:p>
        </p:txBody>
      </p:sp>
      <p:sp>
        <p:nvSpPr>
          <p:cNvPr id="10" name="ZoneTexte 9">
            <a:extLst>
              <a:ext uri="{FF2B5EF4-FFF2-40B4-BE49-F238E27FC236}">
                <a16:creationId xmlns:a16="http://schemas.microsoft.com/office/drawing/2014/main" id="{E1A7B0E7-6D60-4048-8453-F8FE16901033}"/>
              </a:ext>
            </a:extLst>
          </p:cNvPr>
          <p:cNvSpPr txBox="1"/>
          <p:nvPr/>
        </p:nvSpPr>
        <p:spPr>
          <a:xfrm>
            <a:off x="751074" y="2650902"/>
            <a:ext cx="5465168" cy="1631216"/>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Grossistes-répartiteurs</a:t>
            </a:r>
          </a:p>
          <a:p>
            <a:pPr marL="342900" indent="-342900">
              <a:buFont typeface="Arial" panose="020B0604020202020204" pitchFamily="34" charset="0"/>
              <a:buChar char="•"/>
            </a:pPr>
            <a:r>
              <a:rPr lang="fr-FR" sz="2000" dirty="0">
                <a:latin typeface="Aptos" panose="020B0004020202020204" pitchFamily="34" charset="0"/>
              </a:rPr>
              <a:t>Centrales d’achat</a:t>
            </a:r>
          </a:p>
          <a:p>
            <a:pPr marL="342900" indent="-342900">
              <a:buFont typeface="Arial" panose="020B0604020202020204" pitchFamily="34" charset="0"/>
              <a:buChar char="•"/>
            </a:pPr>
            <a:r>
              <a:rPr lang="fr-FR" sz="2000" dirty="0">
                <a:latin typeface="Aptos" panose="020B0004020202020204" pitchFamily="34" charset="0"/>
              </a:rPr>
              <a:t>Importateurs agréés</a:t>
            </a:r>
          </a:p>
          <a:p>
            <a:pPr marL="342900" indent="-342900">
              <a:buFont typeface="Arial" panose="020B0604020202020204" pitchFamily="34" charset="0"/>
              <a:buChar char="•"/>
            </a:pPr>
            <a:r>
              <a:rPr lang="fr-FR" sz="2000" dirty="0">
                <a:latin typeface="Aptos" panose="020B0004020202020204" pitchFamily="34" charset="0"/>
              </a:rPr>
              <a:t>Fabricants locaux</a:t>
            </a:r>
          </a:p>
          <a:p>
            <a:pPr marL="342900" indent="-342900">
              <a:buFont typeface="Arial" panose="020B0604020202020204" pitchFamily="34" charset="0"/>
              <a:buChar char="•"/>
            </a:pPr>
            <a:r>
              <a:rPr lang="fr-FR" sz="2000" dirty="0">
                <a:latin typeface="Aptos" panose="020B0004020202020204" pitchFamily="34" charset="0"/>
              </a:rPr>
              <a:t>Représentants pharmaceutiques</a:t>
            </a:r>
            <a:endParaRPr lang="fr-FR" sz="2000" b="1" dirty="0">
              <a:solidFill>
                <a:srgbClr val="F37504"/>
              </a:solidFill>
              <a:latin typeface="Aptos" panose="020B0004020202020204" pitchFamily="34" charset="0"/>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Typologie des fournisseurs</a:t>
            </a:r>
          </a:p>
        </p:txBody>
      </p:sp>
    </p:spTree>
    <p:extLst>
      <p:ext uri="{BB962C8B-B14F-4D97-AF65-F5344CB8AC3E}">
        <p14:creationId xmlns:p14="http://schemas.microsoft.com/office/powerpoint/2010/main" val="102357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Sélection des fournisseurs et grossistes répartiteurs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fournisseurs pharmaceutiques en Afrique</a:t>
            </a: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92290"/>
            <a:ext cx="11102569"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Au Bénin</a:t>
            </a:r>
          </a:p>
        </p:txBody>
      </p:sp>
      <p:sp>
        <p:nvSpPr>
          <p:cNvPr id="15" name="Rectangle : coins arrondis 14">
            <a:extLst>
              <a:ext uri="{FF2B5EF4-FFF2-40B4-BE49-F238E27FC236}">
                <a16:creationId xmlns:a16="http://schemas.microsoft.com/office/drawing/2014/main" id="{3193EF7A-CA9F-46C1-B299-466BD7268CBF}"/>
              </a:ext>
            </a:extLst>
          </p:cNvPr>
          <p:cNvSpPr/>
          <p:nvPr/>
        </p:nvSpPr>
        <p:spPr>
          <a:xfrm>
            <a:off x="938784" y="2668356"/>
            <a:ext cx="3126597" cy="1725168"/>
          </a:xfrm>
          <a:prstGeom prst="roundRect">
            <a:avLst>
              <a:gd name="adj" fmla="val 16838"/>
            </a:avLst>
          </a:prstGeom>
          <a:solidFill>
            <a:srgbClr val="0150A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dirty="0">
              <a:ln>
                <a:noFill/>
              </a:ln>
              <a:solidFill>
                <a:srgbClr val="FFFFFF"/>
              </a:solidFill>
              <a:effectLst/>
              <a:uLnTx/>
              <a:uFillTx/>
              <a:latin typeface="Aptos" panose="020B0004020202020204" pitchFamily="34" charset="0"/>
              <a:ea typeface="+mn-ea"/>
              <a:cs typeface="+mn-cs"/>
            </a:endParaRPr>
          </a:p>
        </p:txBody>
      </p:sp>
      <p:sp>
        <p:nvSpPr>
          <p:cNvPr id="16" name="Rectangle : coins arrondis 15">
            <a:extLst>
              <a:ext uri="{FF2B5EF4-FFF2-40B4-BE49-F238E27FC236}">
                <a16:creationId xmlns:a16="http://schemas.microsoft.com/office/drawing/2014/main" id="{896B829A-A5F6-40B8-A4F2-BCA1E827A1AA}"/>
              </a:ext>
            </a:extLst>
          </p:cNvPr>
          <p:cNvSpPr/>
          <p:nvPr/>
        </p:nvSpPr>
        <p:spPr>
          <a:xfrm>
            <a:off x="1780683" y="2806271"/>
            <a:ext cx="1984248" cy="484568"/>
          </a:xfrm>
          <a:prstGeom prst="roundRect">
            <a:avLst>
              <a:gd name="adj" fmla="val 37097"/>
            </a:avLst>
          </a:prstGeom>
          <a:solidFill>
            <a:srgbClr val="FFFFFF"/>
          </a:solidFill>
          <a:ln w="381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dirty="0">
                <a:ln>
                  <a:noFill/>
                </a:ln>
                <a:solidFill>
                  <a:srgbClr val="002060"/>
                </a:solidFill>
                <a:effectLst/>
                <a:uLnTx/>
                <a:uFillTx/>
                <a:latin typeface="Aptos" panose="020B0004020202020204" pitchFamily="34" charset="0"/>
                <a:ea typeface="+mn-ea"/>
                <a:cs typeface="+mn-cs"/>
              </a:rPr>
              <a:t>Entrepôt Central</a:t>
            </a:r>
          </a:p>
        </p:txBody>
      </p:sp>
      <p:sp>
        <p:nvSpPr>
          <p:cNvPr id="17" name="Rectangle : coins arrondis 16">
            <a:extLst>
              <a:ext uri="{FF2B5EF4-FFF2-40B4-BE49-F238E27FC236}">
                <a16:creationId xmlns:a16="http://schemas.microsoft.com/office/drawing/2014/main" id="{CA98ACB7-0227-4384-A0F8-6CE9F577D01F}"/>
              </a:ext>
            </a:extLst>
          </p:cNvPr>
          <p:cNvSpPr/>
          <p:nvPr/>
        </p:nvSpPr>
        <p:spPr>
          <a:xfrm>
            <a:off x="1780683" y="3705310"/>
            <a:ext cx="1984248" cy="484568"/>
          </a:xfrm>
          <a:prstGeom prst="roundRect">
            <a:avLst>
              <a:gd name="adj" fmla="val 37097"/>
            </a:avLst>
          </a:prstGeom>
          <a:solidFill>
            <a:srgbClr val="FFFFFF"/>
          </a:solidFill>
          <a:ln w="381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dirty="0">
                <a:ln>
                  <a:noFill/>
                </a:ln>
                <a:solidFill>
                  <a:srgbClr val="002060"/>
                </a:solidFill>
                <a:effectLst/>
                <a:uLnTx/>
                <a:uFillTx/>
                <a:latin typeface="Aptos" panose="020B0004020202020204" pitchFamily="34" charset="0"/>
                <a:ea typeface="+mn-ea"/>
                <a:cs typeface="+mn-cs"/>
              </a:rPr>
              <a:t>Entrepôt Régional</a:t>
            </a:r>
          </a:p>
        </p:txBody>
      </p:sp>
      <p:sp>
        <p:nvSpPr>
          <p:cNvPr id="18" name="Rectangle : coins arrondis 17">
            <a:extLst>
              <a:ext uri="{FF2B5EF4-FFF2-40B4-BE49-F238E27FC236}">
                <a16:creationId xmlns:a16="http://schemas.microsoft.com/office/drawing/2014/main" id="{7FA40BDA-B5DE-4761-97DD-F8BFC489D5AB}"/>
              </a:ext>
            </a:extLst>
          </p:cNvPr>
          <p:cNvSpPr/>
          <p:nvPr/>
        </p:nvSpPr>
        <p:spPr>
          <a:xfrm>
            <a:off x="187789" y="3288656"/>
            <a:ext cx="1525398" cy="484568"/>
          </a:xfrm>
          <a:prstGeom prst="roundRect">
            <a:avLst>
              <a:gd name="adj" fmla="val 37097"/>
            </a:avLst>
          </a:prstGeom>
          <a:solidFill>
            <a:schemeClr val="accent2"/>
          </a:solidFill>
          <a:ln w="381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600" b="1" i="0" u="none" strike="noStrike" kern="0" cap="none" spc="0" normalizeH="0" baseline="0" noProof="0" dirty="0">
                <a:ln>
                  <a:noFill/>
                </a:ln>
                <a:solidFill>
                  <a:srgbClr val="FFFFFF"/>
                </a:solidFill>
                <a:effectLst/>
                <a:uLnTx/>
                <a:uFillTx/>
                <a:latin typeface="Aptos" panose="020B0004020202020204" pitchFamily="34" charset="0"/>
                <a:ea typeface="+mn-ea"/>
                <a:cs typeface="+mn-cs"/>
              </a:rPr>
              <a:t>SoBAPS SA</a:t>
            </a:r>
          </a:p>
        </p:txBody>
      </p:sp>
      <p:sp>
        <p:nvSpPr>
          <p:cNvPr id="19" name="Rectangle : coins arrondis 18">
            <a:extLst>
              <a:ext uri="{FF2B5EF4-FFF2-40B4-BE49-F238E27FC236}">
                <a16:creationId xmlns:a16="http://schemas.microsoft.com/office/drawing/2014/main" id="{C270FB3D-1B16-444E-AF70-2313B1D6778C}"/>
              </a:ext>
            </a:extLst>
          </p:cNvPr>
          <p:cNvSpPr/>
          <p:nvPr/>
        </p:nvSpPr>
        <p:spPr>
          <a:xfrm>
            <a:off x="1517578" y="4733849"/>
            <a:ext cx="1984248" cy="484568"/>
          </a:xfrm>
          <a:prstGeom prst="roundRect">
            <a:avLst>
              <a:gd name="adj" fmla="val 37097"/>
            </a:avLst>
          </a:prstGeom>
          <a:solidFill>
            <a:srgbClr val="339933"/>
          </a:solidFill>
          <a:ln w="381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dirty="0">
                <a:ln>
                  <a:noFill/>
                </a:ln>
                <a:solidFill>
                  <a:srgbClr val="FFFFFF"/>
                </a:solidFill>
                <a:effectLst/>
                <a:uLnTx/>
                <a:uFillTx/>
                <a:latin typeface="Aptos" panose="020B0004020202020204" pitchFamily="34" charset="0"/>
                <a:ea typeface="+mn-ea"/>
                <a:cs typeface="+mn-cs"/>
              </a:rPr>
              <a:t>DRZS</a:t>
            </a:r>
          </a:p>
        </p:txBody>
      </p:sp>
      <p:sp>
        <p:nvSpPr>
          <p:cNvPr id="20" name="Rectangle : coins arrondis 19">
            <a:extLst>
              <a:ext uri="{FF2B5EF4-FFF2-40B4-BE49-F238E27FC236}">
                <a16:creationId xmlns:a16="http://schemas.microsoft.com/office/drawing/2014/main" id="{440CA9FB-B6CB-4576-9E96-00609A0D0E06}"/>
              </a:ext>
            </a:extLst>
          </p:cNvPr>
          <p:cNvSpPr/>
          <p:nvPr/>
        </p:nvSpPr>
        <p:spPr>
          <a:xfrm>
            <a:off x="7345307" y="2668356"/>
            <a:ext cx="3126597" cy="1725168"/>
          </a:xfrm>
          <a:prstGeom prst="roundRect">
            <a:avLst>
              <a:gd name="adj" fmla="val 16838"/>
            </a:avLst>
          </a:prstGeom>
          <a:solidFill>
            <a:srgbClr val="0150A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dirty="0">
              <a:ln>
                <a:noFill/>
              </a:ln>
              <a:solidFill>
                <a:srgbClr val="FFFFFF"/>
              </a:solidFill>
              <a:effectLst/>
              <a:uLnTx/>
              <a:uFillTx/>
              <a:latin typeface="Aptos" panose="020B0004020202020204" pitchFamily="34" charset="0"/>
              <a:ea typeface="+mn-ea"/>
              <a:cs typeface="+mn-cs"/>
            </a:endParaRPr>
          </a:p>
        </p:txBody>
      </p:sp>
      <p:sp>
        <p:nvSpPr>
          <p:cNvPr id="21" name="Rectangle : coins arrondis 20">
            <a:extLst>
              <a:ext uri="{FF2B5EF4-FFF2-40B4-BE49-F238E27FC236}">
                <a16:creationId xmlns:a16="http://schemas.microsoft.com/office/drawing/2014/main" id="{59C5A0F1-7DC9-4F35-A4FA-FAA8929765A9}"/>
              </a:ext>
            </a:extLst>
          </p:cNvPr>
          <p:cNvSpPr/>
          <p:nvPr/>
        </p:nvSpPr>
        <p:spPr>
          <a:xfrm>
            <a:off x="7528560" y="2806271"/>
            <a:ext cx="1984248" cy="484568"/>
          </a:xfrm>
          <a:prstGeom prst="roundRect">
            <a:avLst>
              <a:gd name="adj" fmla="val 37097"/>
            </a:avLst>
          </a:prstGeom>
          <a:solidFill>
            <a:srgbClr val="FFFFFF"/>
          </a:solidFill>
          <a:ln w="381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dirty="0">
                <a:ln>
                  <a:noFill/>
                </a:ln>
                <a:solidFill>
                  <a:srgbClr val="002060"/>
                </a:solidFill>
                <a:effectLst/>
                <a:uLnTx/>
                <a:uFillTx/>
                <a:latin typeface="Aptos" panose="020B0004020202020204" pitchFamily="34" charset="0"/>
                <a:ea typeface="+mn-ea"/>
                <a:cs typeface="+mn-cs"/>
              </a:rPr>
              <a:t>Entrepôt Central</a:t>
            </a:r>
          </a:p>
        </p:txBody>
      </p:sp>
      <p:sp>
        <p:nvSpPr>
          <p:cNvPr id="22" name="Rectangle : coins arrondis 21">
            <a:extLst>
              <a:ext uri="{FF2B5EF4-FFF2-40B4-BE49-F238E27FC236}">
                <a16:creationId xmlns:a16="http://schemas.microsoft.com/office/drawing/2014/main" id="{9D453E59-9009-4FAD-ADD9-7E3303A624F5}"/>
              </a:ext>
            </a:extLst>
          </p:cNvPr>
          <p:cNvSpPr/>
          <p:nvPr/>
        </p:nvSpPr>
        <p:spPr>
          <a:xfrm>
            <a:off x="7528560" y="3705310"/>
            <a:ext cx="1984248" cy="484568"/>
          </a:xfrm>
          <a:prstGeom prst="roundRect">
            <a:avLst>
              <a:gd name="adj" fmla="val 37097"/>
            </a:avLst>
          </a:prstGeom>
          <a:solidFill>
            <a:srgbClr val="FFFFFF"/>
          </a:solidFill>
          <a:ln w="381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dirty="0">
                <a:ln>
                  <a:noFill/>
                </a:ln>
                <a:solidFill>
                  <a:srgbClr val="002060"/>
                </a:solidFill>
                <a:effectLst/>
                <a:uLnTx/>
                <a:uFillTx/>
                <a:latin typeface="Aptos" panose="020B0004020202020204" pitchFamily="34" charset="0"/>
                <a:ea typeface="+mn-ea"/>
                <a:cs typeface="+mn-cs"/>
              </a:rPr>
              <a:t>Entrepôt Régional</a:t>
            </a:r>
          </a:p>
        </p:txBody>
      </p:sp>
      <p:sp>
        <p:nvSpPr>
          <p:cNvPr id="23" name="Rectangle : coins arrondis 22">
            <a:extLst>
              <a:ext uri="{FF2B5EF4-FFF2-40B4-BE49-F238E27FC236}">
                <a16:creationId xmlns:a16="http://schemas.microsoft.com/office/drawing/2014/main" id="{E845A1BA-5FD2-43DE-9FEA-1076ADB4D65B}"/>
              </a:ext>
            </a:extLst>
          </p:cNvPr>
          <p:cNvSpPr/>
          <p:nvPr/>
        </p:nvSpPr>
        <p:spPr>
          <a:xfrm>
            <a:off x="9709205" y="3288656"/>
            <a:ext cx="1525398" cy="484568"/>
          </a:xfrm>
          <a:prstGeom prst="roundRect">
            <a:avLst>
              <a:gd name="adj" fmla="val 37097"/>
            </a:avLst>
          </a:prstGeom>
          <a:solidFill>
            <a:schemeClr val="accent2"/>
          </a:solidFill>
          <a:ln w="381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600" b="1" i="0" u="none" strike="noStrike" kern="0" cap="none" spc="0" normalizeH="0" baseline="0" noProof="0" dirty="0">
                <a:ln>
                  <a:noFill/>
                </a:ln>
                <a:solidFill>
                  <a:srgbClr val="FFFFFF"/>
                </a:solidFill>
                <a:effectLst/>
                <a:uLnTx/>
                <a:uFillTx/>
                <a:latin typeface="Aptos" panose="020B0004020202020204" pitchFamily="34" charset="0"/>
                <a:ea typeface="+mn-ea"/>
                <a:cs typeface="+mn-cs"/>
              </a:rPr>
              <a:t>Gros. Privé</a:t>
            </a:r>
          </a:p>
        </p:txBody>
      </p:sp>
      <p:sp>
        <p:nvSpPr>
          <p:cNvPr id="25" name="Rectangle : coins arrondis 24">
            <a:extLst>
              <a:ext uri="{FF2B5EF4-FFF2-40B4-BE49-F238E27FC236}">
                <a16:creationId xmlns:a16="http://schemas.microsoft.com/office/drawing/2014/main" id="{0AE41E54-22E5-4CC6-A3F1-C5315527B170}"/>
              </a:ext>
            </a:extLst>
          </p:cNvPr>
          <p:cNvSpPr/>
          <p:nvPr/>
        </p:nvSpPr>
        <p:spPr>
          <a:xfrm>
            <a:off x="1509957" y="5814658"/>
            <a:ext cx="1984248" cy="484568"/>
          </a:xfrm>
          <a:prstGeom prst="roundRect">
            <a:avLst>
              <a:gd name="adj" fmla="val 37097"/>
            </a:avLst>
          </a:prstGeom>
          <a:solidFill>
            <a:srgbClr val="F37504"/>
          </a:solidFill>
          <a:ln w="381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dirty="0">
                <a:ln>
                  <a:noFill/>
                </a:ln>
                <a:solidFill>
                  <a:srgbClr val="FFFFFF"/>
                </a:solidFill>
                <a:effectLst/>
                <a:uLnTx/>
                <a:uFillTx/>
                <a:latin typeface="Aptos" panose="020B0004020202020204" pitchFamily="34" charset="0"/>
                <a:ea typeface="+mn-ea"/>
                <a:cs typeface="+mn-cs"/>
              </a:rPr>
              <a:t>PUI ES Public</a:t>
            </a:r>
          </a:p>
        </p:txBody>
      </p:sp>
      <p:sp>
        <p:nvSpPr>
          <p:cNvPr id="26" name="Rectangle : coins arrondis 25">
            <a:extLst>
              <a:ext uri="{FF2B5EF4-FFF2-40B4-BE49-F238E27FC236}">
                <a16:creationId xmlns:a16="http://schemas.microsoft.com/office/drawing/2014/main" id="{E3845923-E245-4EF2-ACF1-D0CB59033F26}"/>
              </a:ext>
            </a:extLst>
          </p:cNvPr>
          <p:cNvSpPr/>
          <p:nvPr/>
        </p:nvSpPr>
        <p:spPr>
          <a:xfrm>
            <a:off x="7576629" y="4733849"/>
            <a:ext cx="2663952" cy="484568"/>
          </a:xfrm>
          <a:prstGeom prst="roundRect">
            <a:avLst>
              <a:gd name="adj" fmla="val 37097"/>
            </a:avLst>
          </a:prstGeom>
          <a:solidFill>
            <a:srgbClr val="339933"/>
          </a:solidFill>
          <a:ln w="381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dirty="0">
                <a:ln>
                  <a:noFill/>
                </a:ln>
                <a:solidFill>
                  <a:srgbClr val="FFFFFF"/>
                </a:solidFill>
                <a:effectLst/>
                <a:uLnTx/>
                <a:uFillTx/>
                <a:latin typeface="Aptos" panose="020B0004020202020204" pitchFamily="34" charset="0"/>
                <a:ea typeface="+mn-ea"/>
                <a:cs typeface="+mn-cs"/>
              </a:rPr>
              <a:t>Officines de Pharmacie</a:t>
            </a:r>
          </a:p>
        </p:txBody>
      </p:sp>
      <p:sp>
        <p:nvSpPr>
          <p:cNvPr id="27" name="Rectangle : coins arrondis 26">
            <a:extLst>
              <a:ext uri="{FF2B5EF4-FFF2-40B4-BE49-F238E27FC236}">
                <a16:creationId xmlns:a16="http://schemas.microsoft.com/office/drawing/2014/main" id="{445275B7-25D2-47B9-A7F3-53B79E9734B4}"/>
              </a:ext>
            </a:extLst>
          </p:cNvPr>
          <p:cNvSpPr/>
          <p:nvPr/>
        </p:nvSpPr>
        <p:spPr>
          <a:xfrm>
            <a:off x="5706403" y="5814658"/>
            <a:ext cx="2663952" cy="484568"/>
          </a:xfrm>
          <a:prstGeom prst="roundRect">
            <a:avLst>
              <a:gd name="adj" fmla="val 37097"/>
            </a:avLst>
          </a:prstGeom>
          <a:solidFill>
            <a:srgbClr val="F37504"/>
          </a:solidFill>
          <a:ln w="381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dirty="0">
                <a:ln>
                  <a:noFill/>
                </a:ln>
                <a:solidFill>
                  <a:srgbClr val="FFFFFF"/>
                </a:solidFill>
                <a:effectLst/>
                <a:uLnTx/>
                <a:uFillTx/>
                <a:latin typeface="Aptos" panose="020B0004020202020204" pitchFamily="34" charset="0"/>
                <a:ea typeface="+mn-ea"/>
                <a:cs typeface="+mn-cs"/>
              </a:rPr>
              <a:t>PUI ES Privé</a:t>
            </a:r>
          </a:p>
        </p:txBody>
      </p:sp>
      <p:sp>
        <p:nvSpPr>
          <p:cNvPr id="28" name="Rectangle : coins arrondis 27">
            <a:extLst>
              <a:ext uri="{FF2B5EF4-FFF2-40B4-BE49-F238E27FC236}">
                <a16:creationId xmlns:a16="http://schemas.microsoft.com/office/drawing/2014/main" id="{6A6241BE-3E28-4EE9-8775-BD11BE3D9549}"/>
              </a:ext>
            </a:extLst>
          </p:cNvPr>
          <p:cNvSpPr/>
          <p:nvPr/>
        </p:nvSpPr>
        <p:spPr>
          <a:xfrm>
            <a:off x="9399055" y="5813634"/>
            <a:ext cx="2663952" cy="484568"/>
          </a:xfrm>
          <a:prstGeom prst="roundRect">
            <a:avLst>
              <a:gd name="adj" fmla="val 37097"/>
            </a:avLst>
          </a:prstGeom>
          <a:solidFill>
            <a:srgbClr val="F37504"/>
          </a:solidFill>
          <a:ln w="381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dirty="0">
                <a:ln>
                  <a:noFill/>
                </a:ln>
                <a:solidFill>
                  <a:srgbClr val="FFFFFF"/>
                </a:solidFill>
                <a:effectLst/>
                <a:uLnTx/>
                <a:uFillTx/>
                <a:latin typeface="Aptos" panose="020B0004020202020204" pitchFamily="34" charset="0"/>
                <a:ea typeface="+mn-ea"/>
                <a:cs typeface="+mn-cs"/>
              </a:rPr>
              <a:t>Dépôt pharmaceutique</a:t>
            </a:r>
          </a:p>
        </p:txBody>
      </p:sp>
      <p:cxnSp>
        <p:nvCxnSpPr>
          <p:cNvPr id="29" name="Connecteur droit avec flèche 28">
            <a:extLst>
              <a:ext uri="{FF2B5EF4-FFF2-40B4-BE49-F238E27FC236}">
                <a16:creationId xmlns:a16="http://schemas.microsoft.com/office/drawing/2014/main" id="{FD31B484-855C-439F-A6F9-D8B6B03306F3}"/>
              </a:ext>
            </a:extLst>
          </p:cNvPr>
          <p:cNvCxnSpPr>
            <a:stCxn id="15" idx="2"/>
            <a:endCxn id="19" idx="0"/>
          </p:cNvCxnSpPr>
          <p:nvPr/>
        </p:nvCxnSpPr>
        <p:spPr>
          <a:xfrm>
            <a:off x="2502083" y="4393524"/>
            <a:ext cx="7619" cy="340325"/>
          </a:xfrm>
          <a:prstGeom prst="straightConnector1">
            <a:avLst/>
          </a:prstGeom>
          <a:noFill/>
          <a:ln w="28575" cap="flat" cmpd="sng" algn="ctr">
            <a:solidFill>
              <a:srgbClr val="002F6C"/>
            </a:solidFill>
            <a:prstDash val="solid"/>
            <a:miter lim="800000"/>
            <a:tailEnd type="triangle"/>
          </a:ln>
          <a:effectLst/>
        </p:spPr>
      </p:cxnSp>
      <p:cxnSp>
        <p:nvCxnSpPr>
          <p:cNvPr id="30" name="Connecteur droit avec flèche 29">
            <a:extLst>
              <a:ext uri="{FF2B5EF4-FFF2-40B4-BE49-F238E27FC236}">
                <a16:creationId xmlns:a16="http://schemas.microsoft.com/office/drawing/2014/main" id="{51DCC881-68F3-4DE0-A803-A355E964F2D1}"/>
              </a:ext>
            </a:extLst>
          </p:cNvPr>
          <p:cNvCxnSpPr>
            <a:stCxn id="19" idx="2"/>
            <a:endCxn id="25" idx="0"/>
          </p:cNvCxnSpPr>
          <p:nvPr/>
        </p:nvCxnSpPr>
        <p:spPr>
          <a:xfrm flipH="1">
            <a:off x="2502081" y="5218417"/>
            <a:ext cx="7621" cy="596241"/>
          </a:xfrm>
          <a:prstGeom prst="straightConnector1">
            <a:avLst/>
          </a:prstGeom>
          <a:noFill/>
          <a:ln w="28575" cap="flat" cmpd="sng" algn="ctr">
            <a:solidFill>
              <a:srgbClr val="002F6C"/>
            </a:solidFill>
            <a:prstDash val="solid"/>
            <a:miter lim="800000"/>
            <a:tailEnd type="triangle"/>
          </a:ln>
          <a:effectLst/>
        </p:spPr>
      </p:cxnSp>
      <p:cxnSp>
        <p:nvCxnSpPr>
          <p:cNvPr id="31" name="Connecteur droit avec flèche 30">
            <a:extLst>
              <a:ext uri="{FF2B5EF4-FFF2-40B4-BE49-F238E27FC236}">
                <a16:creationId xmlns:a16="http://schemas.microsoft.com/office/drawing/2014/main" id="{69EE5EA3-1A1F-4B67-B6BC-D33BFF3CEC55}"/>
              </a:ext>
            </a:extLst>
          </p:cNvPr>
          <p:cNvCxnSpPr>
            <a:stCxn id="20" idx="2"/>
            <a:endCxn id="26" idx="0"/>
          </p:cNvCxnSpPr>
          <p:nvPr/>
        </p:nvCxnSpPr>
        <p:spPr>
          <a:xfrm flipH="1">
            <a:off x="8908605" y="4393524"/>
            <a:ext cx="1" cy="340325"/>
          </a:xfrm>
          <a:prstGeom prst="straightConnector1">
            <a:avLst/>
          </a:prstGeom>
          <a:noFill/>
          <a:ln w="28575" cap="flat" cmpd="sng" algn="ctr">
            <a:solidFill>
              <a:srgbClr val="002F6C"/>
            </a:solidFill>
            <a:prstDash val="solid"/>
            <a:miter lim="800000"/>
            <a:tailEnd type="triangle"/>
          </a:ln>
          <a:effectLst/>
        </p:spPr>
      </p:cxnSp>
      <p:cxnSp>
        <p:nvCxnSpPr>
          <p:cNvPr id="32" name="Connecteur : en angle 31">
            <a:extLst>
              <a:ext uri="{FF2B5EF4-FFF2-40B4-BE49-F238E27FC236}">
                <a16:creationId xmlns:a16="http://schemas.microsoft.com/office/drawing/2014/main" id="{A71303EB-6C8C-47F7-99A0-DCA26881283B}"/>
              </a:ext>
            </a:extLst>
          </p:cNvPr>
          <p:cNvCxnSpPr>
            <a:stCxn id="26" idx="1"/>
            <a:endCxn id="27" idx="0"/>
          </p:cNvCxnSpPr>
          <p:nvPr/>
        </p:nvCxnSpPr>
        <p:spPr>
          <a:xfrm rot="10800000" flipV="1">
            <a:off x="7038379" y="4976132"/>
            <a:ext cx="538250" cy="838525"/>
          </a:xfrm>
          <a:prstGeom prst="bentConnector2">
            <a:avLst/>
          </a:prstGeom>
          <a:noFill/>
          <a:ln w="28575" cap="flat" cmpd="sng" algn="ctr">
            <a:solidFill>
              <a:srgbClr val="002F6C"/>
            </a:solidFill>
            <a:prstDash val="solid"/>
            <a:miter lim="800000"/>
            <a:tailEnd type="triangle"/>
          </a:ln>
          <a:effectLst/>
        </p:spPr>
      </p:cxnSp>
      <p:cxnSp>
        <p:nvCxnSpPr>
          <p:cNvPr id="33" name="Connecteur : en angle 32">
            <a:extLst>
              <a:ext uri="{FF2B5EF4-FFF2-40B4-BE49-F238E27FC236}">
                <a16:creationId xmlns:a16="http://schemas.microsoft.com/office/drawing/2014/main" id="{9A0B3717-6813-4E51-A3B3-0F5D83B539AC}"/>
              </a:ext>
            </a:extLst>
          </p:cNvPr>
          <p:cNvCxnSpPr>
            <a:stCxn id="26" idx="3"/>
            <a:endCxn id="28" idx="0"/>
          </p:cNvCxnSpPr>
          <p:nvPr/>
        </p:nvCxnSpPr>
        <p:spPr>
          <a:xfrm>
            <a:off x="10240581" y="4976133"/>
            <a:ext cx="490450" cy="837501"/>
          </a:xfrm>
          <a:prstGeom prst="bentConnector2">
            <a:avLst/>
          </a:prstGeom>
          <a:noFill/>
          <a:ln w="28575" cap="flat" cmpd="sng" algn="ctr">
            <a:solidFill>
              <a:srgbClr val="002F6C"/>
            </a:solidFill>
            <a:prstDash val="solid"/>
            <a:miter lim="800000"/>
            <a:tailEnd type="triangle"/>
          </a:ln>
          <a:effectLst/>
        </p:spPr>
      </p:cxnSp>
      <p:cxnSp>
        <p:nvCxnSpPr>
          <p:cNvPr id="34" name="Connecteur : en angle 33">
            <a:extLst>
              <a:ext uri="{FF2B5EF4-FFF2-40B4-BE49-F238E27FC236}">
                <a16:creationId xmlns:a16="http://schemas.microsoft.com/office/drawing/2014/main" id="{4F889593-5971-4600-89F4-6BF2FC3B6819}"/>
              </a:ext>
            </a:extLst>
          </p:cNvPr>
          <p:cNvCxnSpPr>
            <a:stCxn id="20" idx="1"/>
            <a:endCxn id="27" idx="1"/>
          </p:cNvCxnSpPr>
          <p:nvPr/>
        </p:nvCxnSpPr>
        <p:spPr>
          <a:xfrm rot="10800000" flipV="1">
            <a:off x="5706403" y="3530940"/>
            <a:ext cx="1638904" cy="2526002"/>
          </a:xfrm>
          <a:prstGeom prst="bentConnector3">
            <a:avLst>
              <a:gd name="adj1" fmla="val 113948"/>
            </a:avLst>
          </a:prstGeom>
          <a:noFill/>
          <a:ln w="28575" cap="flat" cmpd="sng" algn="ctr">
            <a:solidFill>
              <a:srgbClr val="002F6C"/>
            </a:solidFill>
            <a:prstDash val="solid"/>
            <a:miter lim="800000"/>
            <a:tailEnd type="triangle"/>
          </a:ln>
          <a:effectLst/>
        </p:spPr>
      </p:cxnSp>
      <p:cxnSp>
        <p:nvCxnSpPr>
          <p:cNvPr id="35" name="Connecteur : en angle 34">
            <a:extLst>
              <a:ext uri="{FF2B5EF4-FFF2-40B4-BE49-F238E27FC236}">
                <a16:creationId xmlns:a16="http://schemas.microsoft.com/office/drawing/2014/main" id="{30ADDBD7-374B-4503-BE0F-42272FA4F9C7}"/>
              </a:ext>
            </a:extLst>
          </p:cNvPr>
          <p:cNvCxnSpPr>
            <a:stCxn id="15" idx="3"/>
            <a:endCxn id="27" idx="1"/>
          </p:cNvCxnSpPr>
          <p:nvPr/>
        </p:nvCxnSpPr>
        <p:spPr>
          <a:xfrm>
            <a:off x="4065381" y="3530940"/>
            <a:ext cx="1641022" cy="2526002"/>
          </a:xfrm>
          <a:prstGeom prst="bentConnector3">
            <a:avLst>
              <a:gd name="adj1" fmla="val 85662"/>
            </a:avLst>
          </a:prstGeom>
          <a:noFill/>
          <a:ln w="28575" cap="flat" cmpd="sng" algn="ctr">
            <a:solidFill>
              <a:srgbClr val="002F6C"/>
            </a:solidFill>
            <a:prstDash val="solid"/>
            <a:miter lim="800000"/>
            <a:tailEnd type="triangle"/>
          </a:ln>
          <a:effectLst/>
        </p:spPr>
      </p:cxnSp>
      <p:sp>
        <p:nvSpPr>
          <p:cNvPr id="36" name="ZoneTexte 35">
            <a:extLst>
              <a:ext uri="{FF2B5EF4-FFF2-40B4-BE49-F238E27FC236}">
                <a16:creationId xmlns:a16="http://schemas.microsoft.com/office/drawing/2014/main" id="{3A914D04-B145-45C2-831A-3DE13A8C2DB1}"/>
              </a:ext>
            </a:extLst>
          </p:cNvPr>
          <p:cNvSpPr txBox="1"/>
          <p:nvPr/>
        </p:nvSpPr>
        <p:spPr>
          <a:xfrm>
            <a:off x="3960000" y="6295910"/>
            <a:ext cx="6097143" cy="307777"/>
          </a:xfrm>
          <a:prstGeom prst="rect">
            <a:avLst/>
          </a:prstGeom>
          <a:noFill/>
        </p:spPr>
        <p:txBody>
          <a:bodyPr wrap="square">
            <a:spAutoFit/>
          </a:bodyPr>
          <a:lstStyle/>
          <a:p>
            <a:r>
              <a:rPr lang="fr-FR" sz="1400" dirty="0">
                <a:solidFill>
                  <a:prstClr val="black"/>
                </a:solidFill>
                <a:latin typeface="Aptos" panose="020B0004020202020204" pitchFamily="34" charset="0"/>
              </a:rPr>
              <a:t>Particularité : Vaccins, ARV PEC, Produits sanguins</a:t>
            </a:r>
          </a:p>
        </p:txBody>
      </p:sp>
      <p:cxnSp>
        <p:nvCxnSpPr>
          <p:cNvPr id="37" name="Connecteur droit avec flèche 36">
            <a:extLst>
              <a:ext uri="{FF2B5EF4-FFF2-40B4-BE49-F238E27FC236}">
                <a16:creationId xmlns:a16="http://schemas.microsoft.com/office/drawing/2014/main" id="{57D2D3ED-1A24-487D-8867-5F8365D8C982}"/>
              </a:ext>
            </a:extLst>
          </p:cNvPr>
          <p:cNvCxnSpPr/>
          <p:nvPr/>
        </p:nvCxnSpPr>
        <p:spPr>
          <a:xfrm>
            <a:off x="4065381" y="3195660"/>
            <a:ext cx="3279926" cy="0"/>
          </a:xfrm>
          <a:prstGeom prst="straightConnector1">
            <a:avLst/>
          </a:prstGeom>
          <a:noFill/>
          <a:ln w="28575" cap="flat" cmpd="sng" algn="ctr">
            <a:solidFill>
              <a:srgbClr val="002F6C"/>
            </a:solidFill>
            <a:prstDash val="solid"/>
            <a:miter lim="800000"/>
            <a:headEnd type="triangle"/>
            <a:tailEnd type="triangle"/>
          </a:ln>
          <a:effectLst/>
        </p:spPr>
      </p:cxnSp>
      <p:sp>
        <p:nvSpPr>
          <p:cNvPr id="38" name="ZoneTexte 37">
            <a:extLst>
              <a:ext uri="{FF2B5EF4-FFF2-40B4-BE49-F238E27FC236}">
                <a16:creationId xmlns:a16="http://schemas.microsoft.com/office/drawing/2014/main" id="{FBA615BB-51F0-4B35-B008-A17AA4A4B047}"/>
              </a:ext>
            </a:extLst>
          </p:cNvPr>
          <p:cNvSpPr txBox="1"/>
          <p:nvPr/>
        </p:nvSpPr>
        <p:spPr>
          <a:xfrm>
            <a:off x="3320951" y="2156176"/>
            <a:ext cx="5346800" cy="461665"/>
          </a:xfrm>
          <a:prstGeom prst="rect">
            <a:avLst/>
          </a:prstGeom>
          <a:noFill/>
        </p:spPr>
        <p:txBody>
          <a:bodyPr wrap="square">
            <a:spAutoFit/>
          </a:bodyPr>
          <a:lstStyle/>
          <a:p>
            <a:r>
              <a:rPr lang="fr-FR" sz="1200" dirty="0">
                <a:latin typeface="Aptos" panose="020B0004020202020204" pitchFamily="34" charset="0"/>
              </a:rPr>
              <a:t>La Loi n°2021-03 portant organisation des activités pharmaceutiques impose que les produits pharmaceutiques circulent dans des circuits autorisés.</a:t>
            </a:r>
          </a:p>
        </p:txBody>
      </p:sp>
    </p:spTree>
    <p:extLst>
      <p:ext uri="{BB962C8B-B14F-4D97-AF65-F5344CB8AC3E}">
        <p14:creationId xmlns:p14="http://schemas.microsoft.com/office/powerpoint/2010/main" val="1382273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Sélection des fournisseurs et grossistes répartiteurs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Critères de sélection d’un fournisseur</a:t>
            </a:r>
            <a:endParaRPr lang="en-US" sz="2400" b="1" dirty="0">
              <a:solidFill>
                <a:schemeClr val="bg1"/>
              </a:solidFill>
            </a:endParaRPr>
          </a:p>
        </p:txBody>
      </p:sp>
      <p:sp>
        <p:nvSpPr>
          <p:cNvPr id="10" name="ZoneTexte 9">
            <a:extLst>
              <a:ext uri="{FF2B5EF4-FFF2-40B4-BE49-F238E27FC236}">
                <a16:creationId xmlns:a16="http://schemas.microsoft.com/office/drawing/2014/main" id="{E1A7B0E7-6D60-4048-8453-F8FE16901033}"/>
              </a:ext>
            </a:extLst>
          </p:cNvPr>
          <p:cNvSpPr txBox="1"/>
          <p:nvPr/>
        </p:nvSpPr>
        <p:spPr>
          <a:xfrm>
            <a:off x="751074" y="3259392"/>
            <a:ext cx="5465168" cy="1323439"/>
          </a:xfrm>
          <a:prstGeom prst="rect">
            <a:avLst/>
          </a:prstGeom>
          <a:noFill/>
        </p:spPr>
        <p:txBody>
          <a:bodyPr wrap="square">
            <a:spAutoFit/>
          </a:bodyPr>
          <a:lstStyle/>
          <a:p>
            <a:r>
              <a:rPr lang="fr-FR" sz="2000" b="1" dirty="0">
                <a:latin typeface="Aptos" panose="020B0004020202020204" pitchFamily="34" charset="0"/>
              </a:rPr>
              <a:t>Questions</a:t>
            </a:r>
            <a:r>
              <a:rPr lang="fr-FR" sz="2000" dirty="0">
                <a:latin typeface="Aptos" panose="020B0004020202020204" pitchFamily="34" charset="0"/>
              </a:rPr>
              <a:t> :</a:t>
            </a:r>
          </a:p>
          <a:p>
            <a:pPr marL="342900" indent="-342900">
              <a:buFont typeface="Arial" panose="020B0604020202020204" pitchFamily="34" charset="0"/>
              <a:buChar char="•"/>
            </a:pPr>
            <a:r>
              <a:rPr lang="fr-FR" sz="2000" dirty="0">
                <a:latin typeface="Aptos" panose="020B0004020202020204" pitchFamily="34" charset="0"/>
              </a:rPr>
              <a:t>Dispose-t-il d'une autorisation ?</a:t>
            </a:r>
          </a:p>
          <a:p>
            <a:pPr marL="342900" indent="-342900">
              <a:buFont typeface="Arial" panose="020B0604020202020204" pitchFamily="34" charset="0"/>
              <a:buChar char="•"/>
            </a:pPr>
            <a:r>
              <a:rPr lang="fr-FR" sz="2000" dirty="0">
                <a:latin typeface="Aptos" panose="020B0004020202020204" pitchFamily="34" charset="0"/>
              </a:rPr>
              <a:t>Est-il agréé ?</a:t>
            </a:r>
          </a:p>
          <a:p>
            <a:pPr marL="342900" indent="-342900">
              <a:buFont typeface="Arial" panose="020B0604020202020204" pitchFamily="34" charset="0"/>
              <a:buChar char="•"/>
            </a:pPr>
            <a:r>
              <a:rPr lang="fr-FR" sz="2000" dirty="0">
                <a:latin typeface="Aptos" panose="020B0004020202020204" pitchFamily="34" charset="0"/>
              </a:rPr>
              <a:t>Est-il enregistré ?</a:t>
            </a:r>
            <a:endParaRPr lang="fr-FR" sz="2000" b="1" dirty="0">
              <a:solidFill>
                <a:srgbClr val="F37504"/>
              </a:solidFill>
              <a:latin typeface="Aptos" panose="020B0004020202020204" pitchFamily="34" charset="0"/>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5" y="2800780"/>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Critère 1 : Conformité réglementaire</a:t>
            </a:r>
          </a:p>
        </p:txBody>
      </p:sp>
      <p:sp>
        <p:nvSpPr>
          <p:cNvPr id="13" name="ZoneTexte 12">
            <a:extLst>
              <a:ext uri="{FF2B5EF4-FFF2-40B4-BE49-F238E27FC236}">
                <a16:creationId xmlns:a16="http://schemas.microsoft.com/office/drawing/2014/main" id="{94F83423-DA9F-42EF-8159-00730B30DBFE}"/>
              </a:ext>
            </a:extLst>
          </p:cNvPr>
          <p:cNvSpPr txBox="1"/>
          <p:nvPr/>
        </p:nvSpPr>
        <p:spPr>
          <a:xfrm>
            <a:off x="751073" y="2310834"/>
            <a:ext cx="7011801" cy="400110"/>
          </a:xfrm>
          <a:prstGeom prst="rect">
            <a:avLst/>
          </a:prstGeom>
          <a:noFill/>
        </p:spPr>
        <p:txBody>
          <a:bodyPr wrap="square">
            <a:spAutoFit/>
          </a:bodyPr>
          <a:lstStyle/>
          <a:p>
            <a:r>
              <a:rPr lang="fr-FR" sz="2000" dirty="0">
                <a:latin typeface="Aptos" panose="020B0004020202020204" pitchFamily="34" charset="0"/>
              </a:rPr>
              <a:t>Un bon fournisseur ne se choisit pas uniquement sur le prix.</a:t>
            </a:r>
          </a:p>
        </p:txBody>
      </p:sp>
      <p:sp>
        <p:nvSpPr>
          <p:cNvPr id="15" name="ZoneTexte 14">
            <a:extLst>
              <a:ext uri="{FF2B5EF4-FFF2-40B4-BE49-F238E27FC236}">
                <a16:creationId xmlns:a16="http://schemas.microsoft.com/office/drawing/2014/main" id="{9E2AC156-27F6-4B67-AE9B-7F13EB6FD789}"/>
              </a:ext>
            </a:extLst>
          </p:cNvPr>
          <p:cNvSpPr txBox="1"/>
          <p:nvPr/>
        </p:nvSpPr>
        <p:spPr>
          <a:xfrm>
            <a:off x="751074" y="5041443"/>
            <a:ext cx="5465168" cy="1323439"/>
          </a:xfrm>
          <a:prstGeom prst="rect">
            <a:avLst/>
          </a:prstGeom>
          <a:noFill/>
        </p:spPr>
        <p:txBody>
          <a:bodyPr wrap="square">
            <a:spAutoFit/>
          </a:bodyPr>
          <a:lstStyle/>
          <a:p>
            <a:r>
              <a:rPr lang="fr-FR" sz="2000" b="1" dirty="0">
                <a:latin typeface="Aptos" panose="020B0004020202020204" pitchFamily="34" charset="0"/>
              </a:rPr>
              <a:t>Questions</a:t>
            </a:r>
            <a:r>
              <a:rPr lang="fr-FR" sz="2000" dirty="0">
                <a:latin typeface="Aptos" panose="020B0004020202020204" pitchFamily="34" charset="0"/>
              </a:rPr>
              <a:t> :</a:t>
            </a:r>
          </a:p>
          <a:p>
            <a:pPr marL="342900" indent="-342900">
              <a:buFont typeface="Arial" panose="020B0604020202020204" pitchFamily="34" charset="0"/>
              <a:buChar char="•"/>
            </a:pPr>
            <a:r>
              <a:rPr lang="fr-FR" sz="2000" dirty="0">
                <a:latin typeface="Aptos" panose="020B0004020202020204" pitchFamily="34" charset="0"/>
              </a:rPr>
              <a:t>Respect de la chaîne du froid ?</a:t>
            </a:r>
          </a:p>
          <a:p>
            <a:pPr marL="342900" indent="-342900">
              <a:buFont typeface="Arial" panose="020B0604020202020204" pitchFamily="34" charset="0"/>
              <a:buChar char="•"/>
            </a:pPr>
            <a:r>
              <a:rPr lang="fr-FR" sz="2000" dirty="0">
                <a:latin typeface="Aptos" panose="020B0004020202020204" pitchFamily="34" charset="0"/>
              </a:rPr>
              <a:t>Produits autorisés ?</a:t>
            </a:r>
          </a:p>
          <a:p>
            <a:pPr marL="342900" indent="-342900">
              <a:buFont typeface="Arial" panose="020B0604020202020204" pitchFamily="34" charset="0"/>
              <a:buChar char="•"/>
            </a:pPr>
            <a:r>
              <a:rPr lang="fr-FR" sz="2000" dirty="0">
                <a:latin typeface="Aptos" panose="020B0004020202020204" pitchFamily="34" charset="0"/>
              </a:rPr>
              <a:t>Documentation disponible ?</a:t>
            </a:r>
            <a:endParaRPr lang="fr-FR" sz="2000" b="1" dirty="0">
              <a:solidFill>
                <a:srgbClr val="F37504"/>
              </a:solidFill>
              <a:latin typeface="Aptos" panose="020B0004020202020204" pitchFamily="34" charset="0"/>
            </a:endParaRPr>
          </a:p>
        </p:txBody>
      </p:sp>
      <p:sp>
        <p:nvSpPr>
          <p:cNvPr id="16" name="ZoneTexte 15">
            <a:extLst>
              <a:ext uri="{FF2B5EF4-FFF2-40B4-BE49-F238E27FC236}">
                <a16:creationId xmlns:a16="http://schemas.microsoft.com/office/drawing/2014/main" id="{340886ED-821A-46B6-BF45-48F6A54CA9DA}"/>
              </a:ext>
            </a:extLst>
          </p:cNvPr>
          <p:cNvSpPr txBox="1"/>
          <p:nvPr/>
        </p:nvSpPr>
        <p:spPr>
          <a:xfrm>
            <a:off x="751075" y="4582831"/>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Critère 2 : Qualité des produits</a:t>
            </a:r>
          </a:p>
        </p:txBody>
      </p:sp>
    </p:spTree>
    <p:extLst>
      <p:ext uri="{BB962C8B-B14F-4D97-AF65-F5344CB8AC3E}">
        <p14:creationId xmlns:p14="http://schemas.microsoft.com/office/powerpoint/2010/main" val="3123061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Sélection des fournisseurs et grossistes répartiteurs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Critères de sélection d’un fournisseur</a:t>
            </a:r>
            <a:endParaRPr lang="en-US" sz="2400" b="1" dirty="0">
              <a:solidFill>
                <a:schemeClr val="bg1"/>
              </a:solidFill>
            </a:endParaRPr>
          </a:p>
        </p:txBody>
      </p:sp>
      <p:sp>
        <p:nvSpPr>
          <p:cNvPr id="10" name="ZoneTexte 9">
            <a:extLst>
              <a:ext uri="{FF2B5EF4-FFF2-40B4-BE49-F238E27FC236}">
                <a16:creationId xmlns:a16="http://schemas.microsoft.com/office/drawing/2014/main" id="{E1A7B0E7-6D60-4048-8453-F8FE16901033}"/>
              </a:ext>
            </a:extLst>
          </p:cNvPr>
          <p:cNvSpPr txBox="1"/>
          <p:nvPr/>
        </p:nvSpPr>
        <p:spPr>
          <a:xfrm>
            <a:off x="751074" y="3259392"/>
            <a:ext cx="5465168" cy="1323439"/>
          </a:xfrm>
          <a:prstGeom prst="rect">
            <a:avLst/>
          </a:prstGeom>
          <a:noFill/>
        </p:spPr>
        <p:txBody>
          <a:bodyPr wrap="square">
            <a:spAutoFit/>
          </a:bodyPr>
          <a:lstStyle/>
          <a:p>
            <a:r>
              <a:rPr lang="fr-FR" sz="2000" b="1" dirty="0">
                <a:latin typeface="Aptos" panose="020B0004020202020204" pitchFamily="34" charset="0"/>
              </a:rPr>
              <a:t>Questions</a:t>
            </a:r>
            <a:r>
              <a:rPr lang="fr-FR" sz="2000" dirty="0">
                <a:latin typeface="Aptos" panose="020B0004020202020204" pitchFamily="34" charset="0"/>
              </a:rPr>
              <a:t> :</a:t>
            </a:r>
          </a:p>
          <a:p>
            <a:pPr marL="342900" indent="-342900">
              <a:buFont typeface="Arial" panose="020B0604020202020204" pitchFamily="34" charset="0"/>
              <a:buChar char="•"/>
            </a:pPr>
            <a:r>
              <a:rPr lang="fr-FR" sz="2000" dirty="0">
                <a:latin typeface="Aptos" panose="020B0004020202020204" pitchFamily="34" charset="0"/>
              </a:rPr>
              <a:t>Taux de service ?</a:t>
            </a:r>
          </a:p>
          <a:p>
            <a:pPr marL="342900" indent="-342900">
              <a:buFont typeface="Arial" panose="020B0604020202020204" pitchFamily="34" charset="0"/>
              <a:buChar char="•"/>
            </a:pPr>
            <a:r>
              <a:rPr lang="fr-FR" sz="2000" dirty="0">
                <a:latin typeface="Aptos" panose="020B0004020202020204" pitchFamily="34" charset="0"/>
              </a:rPr>
              <a:t>Délais de livraison ?</a:t>
            </a:r>
          </a:p>
          <a:p>
            <a:pPr marL="342900" indent="-342900">
              <a:buFont typeface="Arial" panose="020B0604020202020204" pitchFamily="34" charset="0"/>
              <a:buChar char="•"/>
            </a:pPr>
            <a:r>
              <a:rPr lang="fr-FR" sz="2000" dirty="0">
                <a:latin typeface="Aptos" panose="020B0004020202020204" pitchFamily="34" charset="0"/>
              </a:rPr>
              <a:t>Gestion des ruptures ?</a:t>
            </a:r>
            <a:endParaRPr lang="fr-FR" sz="2000" b="1" dirty="0">
              <a:solidFill>
                <a:srgbClr val="F37504"/>
              </a:solidFill>
              <a:latin typeface="Aptos" panose="020B0004020202020204" pitchFamily="34" charset="0"/>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5" y="2800780"/>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Critère 3 : Disponibilité</a:t>
            </a:r>
          </a:p>
        </p:txBody>
      </p:sp>
      <p:sp>
        <p:nvSpPr>
          <p:cNvPr id="13" name="ZoneTexte 12">
            <a:extLst>
              <a:ext uri="{FF2B5EF4-FFF2-40B4-BE49-F238E27FC236}">
                <a16:creationId xmlns:a16="http://schemas.microsoft.com/office/drawing/2014/main" id="{94F83423-DA9F-42EF-8159-00730B30DBFE}"/>
              </a:ext>
            </a:extLst>
          </p:cNvPr>
          <p:cNvSpPr txBox="1"/>
          <p:nvPr/>
        </p:nvSpPr>
        <p:spPr>
          <a:xfrm>
            <a:off x="751073" y="2310834"/>
            <a:ext cx="7011801" cy="400110"/>
          </a:xfrm>
          <a:prstGeom prst="rect">
            <a:avLst/>
          </a:prstGeom>
          <a:noFill/>
        </p:spPr>
        <p:txBody>
          <a:bodyPr wrap="square">
            <a:spAutoFit/>
          </a:bodyPr>
          <a:lstStyle/>
          <a:p>
            <a:r>
              <a:rPr lang="fr-FR" sz="2000" dirty="0">
                <a:latin typeface="Aptos" panose="020B0004020202020204" pitchFamily="34" charset="0"/>
              </a:rPr>
              <a:t>Un bon fournisseur ne se choisit pas uniquement sur le prix.</a:t>
            </a:r>
          </a:p>
        </p:txBody>
      </p:sp>
      <p:sp>
        <p:nvSpPr>
          <p:cNvPr id="15" name="ZoneTexte 14">
            <a:extLst>
              <a:ext uri="{FF2B5EF4-FFF2-40B4-BE49-F238E27FC236}">
                <a16:creationId xmlns:a16="http://schemas.microsoft.com/office/drawing/2014/main" id="{9E2AC156-27F6-4B67-AE9B-7F13EB6FD789}"/>
              </a:ext>
            </a:extLst>
          </p:cNvPr>
          <p:cNvSpPr txBox="1"/>
          <p:nvPr/>
        </p:nvSpPr>
        <p:spPr>
          <a:xfrm>
            <a:off x="6508716" y="4688090"/>
            <a:ext cx="5465168" cy="1631216"/>
          </a:xfrm>
          <a:prstGeom prst="rect">
            <a:avLst/>
          </a:prstGeom>
          <a:noFill/>
        </p:spPr>
        <p:txBody>
          <a:bodyPr wrap="square">
            <a:spAutoFit/>
          </a:bodyPr>
          <a:lstStyle/>
          <a:p>
            <a:r>
              <a:rPr lang="fr-FR" sz="2000" b="1" dirty="0">
                <a:latin typeface="Aptos" panose="020B0004020202020204" pitchFamily="34" charset="0"/>
              </a:rPr>
              <a:t>Questions</a:t>
            </a:r>
            <a:r>
              <a:rPr lang="fr-FR" sz="2000" dirty="0">
                <a:latin typeface="Aptos" panose="020B0004020202020204" pitchFamily="34" charset="0"/>
              </a:rPr>
              <a:t> :</a:t>
            </a:r>
          </a:p>
          <a:p>
            <a:pPr marL="342900" indent="-342900">
              <a:buFont typeface="Arial" panose="020B0604020202020204" pitchFamily="34" charset="0"/>
              <a:buChar char="•"/>
            </a:pPr>
            <a:r>
              <a:rPr lang="fr-FR" sz="2000" dirty="0">
                <a:latin typeface="Aptos" panose="020B0004020202020204" pitchFamily="34" charset="0"/>
              </a:rPr>
              <a:t>Prix ?</a:t>
            </a:r>
          </a:p>
          <a:p>
            <a:pPr marL="342900" indent="-342900">
              <a:buFont typeface="Arial" panose="020B0604020202020204" pitchFamily="34" charset="0"/>
              <a:buChar char="•"/>
            </a:pPr>
            <a:r>
              <a:rPr lang="fr-FR" sz="2000" dirty="0">
                <a:latin typeface="Aptos" panose="020B0004020202020204" pitchFamily="34" charset="0"/>
              </a:rPr>
              <a:t>Délais de paiement ?</a:t>
            </a:r>
          </a:p>
          <a:p>
            <a:pPr marL="342900" indent="-342900">
              <a:buFont typeface="Arial" panose="020B0604020202020204" pitchFamily="34" charset="0"/>
              <a:buChar char="•"/>
            </a:pPr>
            <a:r>
              <a:rPr lang="fr-FR" sz="2000" dirty="0">
                <a:latin typeface="Aptos" panose="020B0004020202020204" pitchFamily="34" charset="0"/>
              </a:rPr>
              <a:t>Remises ?</a:t>
            </a:r>
          </a:p>
          <a:p>
            <a:pPr marL="342900" indent="-342900">
              <a:buFont typeface="Arial" panose="020B0604020202020204" pitchFamily="34" charset="0"/>
              <a:buChar char="•"/>
            </a:pPr>
            <a:r>
              <a:rPr lang="fr-FR" sz="2000" dirty="0">
                <a:latin typeface="Aptos" panose="020B0004020202020204" pitchFamily="34" charset="0"/>
              </a:rPr>
              <a:t>Conditions de retour ?</a:t>
            </a:r>
            <a:endParaRPr lang="fr-FR" sz="2000" b="1" dirty="0">
              <a:solidFill>
                <a:srgbClr val="F37504"/>
              </a:solidFill>
              <a:latin typeface="Aptos" panose="020B0004020202020204" pitchFamily="34" charset="0"/>
            </a:endParaRPr>
          </a:p>
        </p:txBody>
      </p:sp>
      <p:sp>
        <p:nvSpPr>
          <p:cNvPr id="16" name="ZoneTexte 15">
            <a:extLst>
              <a:ext uri="{FF2B5EF4-FFF2-40B4-BE49-F238E27FC236}">
                <a16:creationId xmlns:a16="http://schemas.microsoft.com/office/drawing/2014/main" id="{340886ED-821A-46B6-BF45-48F6A54CA9DA}"/>
              </a:ext>
            </a:extLst>
          </p:cNvPr>
          <p:cNvSpPr txBox="1"/>
          <p:nvPr/>
        </p:nvSpPr>
        <p:spPr>
          <a:xfrm>
            <a:off x="6508717" y="4229478"/>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Critère 4 : Conditions commerciales</a:t>
            </a:r>
          </a:p>
        </p:txBody>
      </p:sp>
    </p:spTree>
    <p:extLst>
      <p:ext uri="{BB962C8B-B14F-4D97-AF65-F5344CB8AC3E}">
        <p14:creationId xmlns:p14="http://schemas.microsoft.com/office/powerpoint/2010/main" val="404848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Sélection des fournisseurs et grossistes répartiteurs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Critères de sélection d’un fournisseur</a:t>
            </a:r>
            <a:endParaRPr lang="en-US" sz="2400" b="1" dirty="0">
              <a:solidFill>
                <a:schemeClr val="bg1"/>
              </a:solidFill>
            </a:endParaRPr>
          </a:p>
        </p:txBody>
      </p:sp>
      <p:sp>
        <p:nvSpPr>
          <p:cNvPr id="10" name="ZoneTexte 9">
            <a:extLst>
              <a:ext uri="{FF2B5EF4-FFF2-40B4-BE49-F238E27FC236}">
                <a16:creationId xmlns:a16="http://schemas.microsoft.com/office/drawing/2014/main" id="{E1A7B0E7-6D60-4048-8453-F8FE16901033}"/>
              </a:ext>
            </a:extLst>
          </p:cNvPr>
          <p:cNvSpPr txBox="1"/>
          <p:nvPr/>
        </p:nvSpPr>
        <p:spPr>
          <a:xfrm>
            <a:off x="751074" y="3259392"/>
            <a:ext cx="5465168" cy="1323439"/>
          </a:xfrm>
          <a:prstGeom prst="rect">
            <a:avLst/>
          </a:prstGeom>
          <a:noFill/>
        </p:spPr>
        <p:txBody>
          <a:bodyPr wrap="square">
            <a:spAutoFit/>
          </a:bodyPr>
          <a:lstStyle/>
          <a:p>
            <a:r>
              <a:rPr lang="fr-FR" sz="2000" b="1" dirty="0">
                <a:latin typeface="Aptos" panose="020B0004020202020204" pitchFamily="34" charset="0"/>
              </a:rPr>
              <a:t>Questions</a:t>
            </a:r>
            <a:r>
              <a:rPr lang="fr-FR" sz="2000" dirty="0">
                <a:latin typeface="Aptos" panose="020B0004020202020204" pitchFamily="34" charset="0"/>
              </a:rPr>
              <a:t> :</a:t>
            </a:r>
          </a:p>
          <a:p>
            <a:pPr marL="342900" indent="-342900">
              <a:buFont typeface="Arial" panose="020B0604020202020204" pitchFamily="34" charset="0"/>
              <a:buChar char="•"/>
            </a:pPr>
            <a:r>
              <a:rPr lang="fr-FR" sz="2000" dirty="0">
                <a:latin typeface="Aptos" panose="020B0004020202020204" pitchFamily="34" charset="0"/>
              </a:rPr>
              <a:t>Réponse aux réclamations ?</a:t>
            </a:r>
          </a:p>
          <a:p>
            <a:pPr marL="342900" indent="-342900">
              <a:buFont typeface="Arial" panose="020B0604020202020204" pitchFamily="34" charset="0"/>
              <a:buChar char="•"/>
            </a:pPr>
            <a:r>
              <a:rPr lang="fr-FR" sz="2000" dirty="0">
                <a:latin typeface="Aptos" panose="020B0004020202020204" pitchFamily="34" charset="0"/>
              </a:rPr>
              <a:t>Gestion des rappels de lots ?</a:t>
            </a:r>
          </a:p>
          <a:p>
            <a:pPr marL="342900" indent="-342900">
              <a:buFont typeface="Arial" panose="020B0604020202020204" pitchFamily="34" charset="0"/>
              <a:buChar char="•"/>
            </a:pPr>
            <a:r>
              <a:rPr lang="fr-FR" sz="2000" dirty="0">
                <a:latin typeface="Aptos" panose="020B0004020202020204" pitchFamily="34" charset="0"/>
              </a:rPr>
              <a:t>Support technique ?</a:t>
            </a:r>
            <a:endParaRPr lang="fr-FR" sz="2000" b="1" dirty="0">
              <a:solidFill>
                <a:srgbClr val="F37504"/>
              </a:solidFill>
              <a:latin typeface="Aptos" panose="020B0004020202020204" pitchFamily="34" charset="0"/>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5" y="2800780"/>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Critère 5 : Réactivité</a:t>
            </a:r>
          </a:p>
        </p:txBody>
      </p:sp>
      <p:sp>
        <p:nvSpPr>
          <p:cNvPr id="13" name="ZoneTexte 12">
            <a:extLst>
              <a:ext uri="{FF2B5EF4-FFF2-40B4-BE49-F238E27FC236}">
                <a16:creationId xmlns:a16="http://schemas.microsoft.com/office/drawing/2014/main" id="{94F83423-DA9F-42EF-8159-00730B30DBFE}"/>
              </a:ext>
            </a:extLst>
          </p:cNvPr>
          <p:cNvSpPr txBox="1"/>
          <p:nvPr/>
        </p:nvSpPr>
        <p:spPr>
          <a:xfrm>
            <a:off x="751073" y="2310834"/>
            <a:ext cx="7011801" cy="400110"/>
          </a:xfrm>
          <a:prstGeom prst="rect">
            <a:avLst/>
          </a:prstGeom>
          <a:noFill/>
        </p:spPr>
        <p:txBody>
          <a:bodyPr wrap="square">
            <a:spAutoFit/>
          </a:bodyPr>
          <a:lstStyle/>
          <a:p>
            <a:r>
              <a:rPr lang="fr-FR" sz="2000" dirty="0">
                <a:latin typeface="Aptos" panose="020B0004020202020204" pitchFamily="34" charset="0"/>
              </a:rPr>
              <a:t>Un bon fournisseur ne se choisit pas uniquement sur le prix.</a:t>
            </a:r>
          </a:p>
        </p:txBody>
      </p:sp>
    </p:spTree>
    <p:extLst>
      <p:ext uri="{BB962C8B-B14F-4D97-AF65-F5344CB8AC3E}">
        <p14:creationId xmlns:p14="http://schemas.microsoft.com/office/powerpoint/2010/main" val="3682850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Sélection des fournisseurs et grossistes répartiteurs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Critères de sélection d’un fournisseur</a:t>
            </a:r>
            <a:endParaRPr lang="en-US" sz="2400" b="1" dirty="0">
              <a:solidFill>
                <a:schemeClr val="bg1"/>
              </a:solidFill>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74097"/>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Grille d’évaluation fournisseur</a:t>
            </a:r>
          </a:p>
        </p:txBody>
      </p:sp>
      <p:graphicFrame>
        <p:nvGraphicFramePr>
          <p:cNvPr id="2" name="Tableau 1">
            <a:extLst>
              <a:ext uri="{FF2B5EF4-FFF2-40B4-BE49-F238E27FC236}">
                <a16:creationId xmlns:a16="http://schemas.microsoft.com/office/drawing/2014/main" id="{CC9B0CEB-EF0B-4F25-84E0-FF39174F3826}"/>
              </a:ext>
            </a:extLst>
          </p:cNvPr>
          <p:cNvGraphicFramePr>
            <a:graphicFrameLocks noGrp="1"/>
          </p:cNvGraphicFramePr>
          <p:nvPr>
            <p:extLst>
              <p:ext uri="{D42A27DB-BD31-4B8C-83A1-F6EECF244321}">
                <p14:modId xmlns:p14="http://schemas.microsoft.com/office/powerpoint/2010/main" val="1348556212"/>
              </p:ext>
            </p:extLst>
          </p:nvPr>
        </p:nvGraphicFramePr>
        <p:xfrm>
          <a:off x="2680947" y="2755077"/>
          <a:ext cx="6851877" cy="2194560"/>
        </p:xfrm>
        <a:graphic>
          <a:graphicData uri="http://schemas.openxmlformats.org/drawingml/2006/table">
            <a:tbl>
              <a:tblPr/>
              <a:tblGrid>
                <a:gridCol w="2543175">
                  <a:extLst>
                    <a:ext uri="{9D8B030D-6E8A-4147-A177-3AD203B41FA5}">
                      <a16:colId xmlns:a16="http://schemas.microsoft.com/office/drawing/2014/main" val="3753385689"/>
                    </a:ext>
                  </a:extLst>
                </a:gridCol>
                <a:gridCol w="2070327">
                  <a:extLst>
                    <a:ext uri="{9D8B030D-6E8A-4147-A177-3AD203B41FA5}">
                      <a16:colId xmlns:a16="http://schemas.microsoft.com/office/drawing/2014/main" val="2150753944"/>
                    </a:ext>
                  </a:extLst>
                </a:gridCol>
                <a:gridCol w="2238375">
                  <a:extLst>
                    <a:ext uri="{9D8B030D-6E8A-4147-A177-3AD203B41FA5}">
                      <a16:colId xmlns:a16="http://schemas.microsoft.com/office/drawing/2014/main" val="3410701057"/>
                    </a:ext>
                  </a:extLst>
                </a:gridCol>
              </a:tblGrid>
              <a:tr h="0">
                <a:tc>
                  <a:txBody>
                    <a:bodyPr/>
                    <a:lstStyle/>
                    <a:p>
                      <a:r>
                        <a:rPr lang="fr-FR" b="1" dirty="0">
                          <a:solidFill>
                            <a:schemeClr val="bg1"/>
                          </a:solidFill>
                          <a:latin typeface="Aptos" panose="020B0004020202020204" pitchFamily="34" charset="0"/>
                        </a:rPr>
                        <a:t>Critère</a:t>
                      </a:r>
                    </a:p>
                  </a:txBody>
                  <a:tcPr anchor="ctr">
                    <a:lnL>
                      <a:noFill/>
                    </a:lnL>
                    <a:lnR>
                      <a:noFill/>
                    </a:lnR>
                    <a:lnT>
                      <a:noFill/>
                    </a:lnT>
                    <a:lnB>
                      <a:noFill/>
                    </a:lnB>
                    <a:solidFill>
                      <a:srgbClr val="F37504"/>
                    </a:solidFill>
                  </a:tcPr>
                </a:tc>
                <a:tc>
                  <a:txBody>
                    <a:bodyPr/>
                    <a:lstStyle/>
                    <a:p>
                      <a:r>
                        <a:rPr lang="fr-FR" b="1" dirty="0">
                          <a:solidFill>
                            <a:schemeClr val="bg1"/>
                          </a:solidFill>
                          <a:latin typeface="Aptos" panose="020B0004020202020204" pitchFamily="34" charset="0"/>
                        </a:rPr>
                        <a:t>Pondération</a:t>
                      </a:r>
                    </a:p>
                  </a:txBody>
                  <a:tcPr anchor="ctr">
                    <a:lnL>
                      <a:noFill/>
                    </a:lnL>
                    <a:lnR>
                      <a:noFill/>
                    </a:lnR>
                    <a:lnT>
                      <a:noFill/>
                    </a:lnT>
                    <a:lnB>
                      <a:noFill/>
                    </a:lnB>
                    <a:solidFill>
                      <a:srgbClr val="F37504"/>
                    </a:solidFill>
                  </a:tcPr>
                </a:tc>
                <a:tc>
                  <a:txBody>
                    <a:bodyPr/>
                    <a:lstStyle/>
                    <a:p>
                      <a:r>
                        <a:rPr lang="fr-FR" b="1" dirty="0">
                          <a:solidFill>
                            <a:schemeClr val="bg1"/>
                          </a:solidFill>
                          <a:latin typeface="Aptos" panose="020B0004020202020204" pitchFamily="34" charset="0"/>
                        </a:rPr>
                        <a:t>Score</a:t>
                      </a:r>
                    </a:p>
                  </a:txBody>
                  <a:tcPr anchor="ctr">
                    <a:lnL>
                      <a:noFill/>
                    </a:lnL>
                    <a:lnR>
                      <a:noFill/>
                    </a:lnR>
                    <a:lnT>
                      <a:noFill/>
                    </a:lnT>
                    <a:lnB>
                      <a:noFill/>
                    </a:lnB>
                    <a:solidFill>
                      <a:srgbClr val="F37504"/>
                    </a:solidFill>
                  </a:tcPr>
                </a:tc>
                <a:extLst>
                  <a:ext uri="{0D108BD9-81ED-4DB2-BD59-A6C34878D82A}">
                    <a16:rowId xmlns:a16="http://schemas.microsoft.com/office/drawing/2014/main" val="1330441169"/>
                  </a:ext>
                </a:extLst>
              </a:tr>
              <a:tr h="0">
                <a:tc>
                  <a:txBody>
                    <a:bodyPr/>
                    <a:lstStyle/>
                    <a:p>
                      <a:r>
                        <a:rPr lang="fr-FR">
                          <a:latin typeface="Aptos" panose="020B0004020202020204" pitchFamily="34" charset="0"/>
                        </a:rPr>
                        <a:t>Réglementation</a:t>
                      </a:r>
                    </a:p>
                  </a:txBody>
                  <a:tcPr anchor="ctr">
                    <a:lnL>
                      <a:noFill/>
                    </a:lnL>
                    <a:lnR>
                      <a:noFill/>
                    </a:lnR>
                    <a:lnT>
                      <a:noFill/>
                    </a:lnT>
                    <a:lnB>
                      <a:noFill/>
                    </a:lnB>
                  </a:tcPr>
                </a:tc>
                <a:tc>
                  <a:txBody>
                    <a:bodyPr/>
                    <a:lstStyle/>
                    <a:p>
                      <a:r>
                        <a:rPr lang="fr-FR">
                          <a:latin typeface="Aptos" panose="020B0004020202020204" pitchFamily="34" charset="0"/>
                        </a:rPr>
                        <a:t>30%</a:t>
                      </a:r>
                    </a:p>
                  </a:txBody>
                  <a:tcPr anchor="ctr">
                    <a:lnL>
                      <a:noFill/>
                    </a:lnL>
                    <a:lnR>
                      <a:noFill/>
                    </a:lnR>
                    <a:lnT>
                      <a:noFill/>
                    </a:lnT>
                    <a:lnB>
                      <a:noFill/>
                    </a:lnB>
                  </a:tcPr>
                </a:tc>
                <a:tc>
                  <a:txBody>
                    <a:bodyPr/>
                    <a:lstStyle/>
                    <a:p>
                      <a:endParaRPr lang="fr-FR" dirty="0">
                        <a:latin typeface="Aptos" panose="020B0004020202020204" pitchFamily="34" charset="0"/>
                      </a:endParaRPr>
                    </a:p>
                  </a:txBody>
                  <a:tcPr anchor="ctr">
                    <a:lnL>
                      <a:noFill/>
                    </a:lnL>
                    <a:lnR>
                      <a:noFill/>
                    </a:lnR>
                    <a:lnT>
                      <a:noFill/>
                    </a:lnT>
                    <a:lnB>
                      <a:noFill/>
                    </a:lnB>
                  </a:tcPr>
                </a:tc>
                <a:extLst>
                  <a:ext uri="{0D108BD9-81ED-4DB2-BD59-A6C34878D82A}">
                    <a16:rowId xmlns:a16="http://schemas.microsoft.com/office/drawing/2014/main" val="171570460"/>
                  </a:ext>
                </a:extLst>
              </a:tr>
              <a:tr h="0">
                <a:tc>
                  <a:txBody>
                    <a:bodyPr/>
                    <a:lstStyle/>
                    <a:p>
                      <a:r>
                        <a:rPr lang="fr-FR" dirty="0">
                          <a:latin typeface="Aptos" panose="020B0004020202020204" pitchFamily="34" charset="0"/>
                        </a:rPr>
                        <a:t>Qualité</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25%</a:t>
                      </a:r>
                    </a:p>
                  </a:txBody>
                  <a:tcPr anchor="ctr">
                    <a:lnL>
                      <a:noFill/>
                    </a:lnL>
                    <a:lnR>
                      <a:noFill/>
                    </a:lnR>
                    <a:lnT>
                      <a:noFill/>
                    </a:lnT>
                    <a:lnB>
                      <a:noFill/>
                    </a:lnB>
                    <a:solidFill>
                      <a:schemeClr val="bg2">
                        <a:lumMod val="90000"/>
                      </a:schemeClr>
                    </a:solidFill>
                  </a:tcPr>
                </a:tc>
                <a:tc>
                  <a:txBody>
                    <a:bodyPr/>
                    <a:lstStyle/>
                    <a:p>
                      <a:endParaRPr lang="fr-FR" dirty="0">
                        <a:latin typeface="Aptos" panose="020B0004020202020204" pitchFamily="34" charset="0"/>
                      </a:endParaRP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617743219"/>
                  </a:ext>
                </a:extLst>
              </a:tr>
              <a:tr h="0">
                <a:tc>
                  <a:txBody>
                    <a:bodyPr/>
                    <a:lstStyle/>
                    <a:p>
                      <a:r>
                        <a:rPr lang="fr-FR">
                          <a:latin typeface="Aptos" panose="020B0004020202020204" pitchFamily="34" charset="0"/>
                        </a:rPr>
                        <a:t>Disponibilité</a:t>
                      </a:r>
                    </a:p>
                  </a:txBody>
                  <a:tcPr anchor="ctr">
                    <a:lnL>
                      <a:noFill/>
                    </a:lnL>
                    <a:lnR>
                      <a:noFill/>
                    </a:lnR>
                    <a:lnT>
                      <a:noFill/>
                    </a:lnT>
                    <a:lnB>
                      <a:noFill/>
                    </a:lnB>
                  </a:tcPr>
                </a:tc>
                <a:tc>
                  <a:txBody>
                    <a:bodyPr/>
                    <a:lstStyle/>
                    <a:p>
                      <a:r>
                        <a:rPr lang="fr-FR">
                          <a:latin typeface="Aptos" panose="020B0004020202020204" pitchFamily="34" charset="0"/>
                        </a:rPr>
                        <a:t>20%</a:t>
                      </a:r>
                    </a:p>
                  </a:txBody>
                  <a:tcPr anchor="ctr">
                    <a:lnL>
                      <a:noFill/>
                    </a:lnL>
                    <a:lnR>
                      <a:noFill/>
                    </a:lnR>
                    <a:lnT>
                      <a:noFill/>
                    </a:lnT>
                    <a:lnB>
                      <a:noFill/>
                    </a:lnB>
                  </a:tcPr>
                </a:tc>
                <a:tc>
                  <a:txBody>
                    <a:bodyPr/>
                    <a:lstStyle/>
                    <a:p>
                      <a:endParaRPr lang="fr-FR">
                        <a:latin typeface="Aptos" panose="020B0004020202020204" pitchFamily="34" charset="0"/>
                      </a:endParaRPr>
                    </a:p>
                  </a:txBody>
                  <a:tcPr anchor="ctr">
                    <a:lnL>
                      <a:noFill/>
                    </a:lnL>
                    <a:lnR>
                      <a:noFill/>
                    </a:lnR>
                    <a:lnT>
                      <a:noFill/>
                    </a:lnT>
                    <a:lnB>
                      <a:noFill/>
                    </a:lnB>
                  </a:tcPr>
                </a:tc>
                <a:extLst>
                  <a:ext uri="{0D108BD9-81ED-4DB2-BD59-A6C34878D82A}">
                    <a16:rowId xmlns:a16="http://schemas.microsoft.com/office/drawing/2014/main" val="3322594742"/>
                  </a:ext>
                </a:extLst>
              </a:tr>
              <a:tr h="0">
                <a:tc>
                  <a:txBody>
                    <a:bodyPr/>
                    <a:lstStyle/>
                    <a:p>
                      <a:r>
                        <a:rPr lang="fr-FR" dirty="0">
                          <a:latin typeface="Aptos" panose="020B0004020202020204" pitchFamily="34" charset="0"/>
                        </a:rPr>
                        <a:t>Prix</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15%</a:t>
                      </a:r>
                    </a:p>
                  </a:txBody>
                  <a:tcPr anchor="ctr">
                    <a:lnL>
                      <a:noFill/>
                    </a:lnL>
                    <a:lnR>
                      <a:noFill/>
                    </a:lnR>
                    <a:lnT>
                      <a:noFill/>
                    </a:lnT>
                    <a:lnB>
                      <a:noFill/>
                    </a:lnB>
                    <a:solidFill>
                      <a:schemeClr val="bg2">
                        <a:lumMod val="90000"/>
                      </a:schemeClr>
                    </a:solidFill>
                  </a:tcPr>
                </a:tc>
                <a:tc>
                  <a:txBody>
                    <a:bodyPr/>
                    <a:lstStyle/>
                    <a:p>
                      <a:endParaRPr lang="fr-FR" dirty="0">
                        <a:latin typeface="Aptos" panose="020B0004020202020204" pitchFamily="34" charset="0"/>
                      </a:endParaRP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915963131"/>
                  </a:ext>
                </a:extLst>
              </a:tr>
              <a:tr h="0">
                <a:tc>
                  <a:txBody>
                    <a:bodyPr/>
                    <a:lstStyle/>
                    <a:p>
                      <a:r>
                        <a:rPr lang="fr-FR">
                          <a:latin typeface="Aptos" panose="020B0004020202020204" pitchFamily="34" charset="0"/>
                        </a:rPr>
                        <a:t>Service</a:t>
                      </a:r>
                    </a:p>
                  </a:txBody>
                  <a:tcPr anchor="ctr">
                    <a:lnL>
                      <a:noFill/>
                    </a:lnL>
                    <a:lnR>
                      <a:noFill/>
                    </a:lnR>
                    <a:lnT>
                      <a:noFill/>
                    </a:lnT>
                    <a:lnB>
                      <a:noFill/>
                    </a:lnB>
                  </a:tcPr>
                </a:tc>
                <a:tc>
                  <a:txBody>
                    <a:bodyPr/>
                    <a:lstStyle/>
                    <a:p>
                      <a:r>
                        <a:rPr lang="fr-FR">
                          <a:latin typeface="Aptos" panose="020B0004020202020204" pitchFamily="34" charset="0"/>
                        </a:rPr>
                        <a:t>10%</a:t>
                      </a:r>
                    </a:p>
                  </a:txBody>
                  <a:tcPr anchor="ctr">
                    <a:lnL>
                      <a:noFill/>
                    </a:lnL>
                    <a:lnR>
                      <a:noFill/>
                    </a:lnR>
                    <a:lnT>
                      <a:noFill/>
                    </a:lnT>
                    <a:lnB>
                      <a:noFill/>
                    </a:lnB>
                  </a:tcPr>
                </a:tc>
                <a:tc>
                  <a:txBody>
                    <a:bodyPr/>
                    <a:lstStyle/>
                    <a:p>
                      <a:endParaRPr lang="fr-FR" dirty="0">
                        <a:latin typeface="Aptos" panose="020B0004020202020204" pitchFamily="34" charset="0"/>
                      </a:endParaRPr>
                    </a:p>
                  </a:txBody>
                  <a:tcPr anchor="ctr">
                    <a:lnL>
                      <a:noFill/>
                    </a:lnL>
                    <a:lnR>
                      <a:noFill/>
                    </a:lnR>
                    <a:lnT>
                      <a:noFill/>
                    </a:lnT>
                    <a:lnB>
                      <a:noFill/>
                    </a:lnB>
                  </a:tcPr>
                </a:tc>
                <a:extLst>
                  <a:ext uri="{0D108BD9-81ED-4DB2-BD59-A6C34878D82A}">
                    <a16:rowId xmlns:a16="http://schemas.microsoft.com/office/drawing/2014/main" val="3715078998"/>
                  </a:ext>
                </a:extLst>
              </a:tr>
            </a:tbl>
          </a:graphicData>
        </a:graphic>
      </p:graphicFrame>
    </p:spTree>
    <p:extLst>
      <p:ext uri="{BB962C8B-B14F-4D97-AF65-F5344CB8AC3E}">
        <p14:creationId xmlns:p14="http://schemas.microsoft.com/office/powerpoint/2010/main" val="2645874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Sélection des fournisseurs et grossistes répartiteurs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Homologation des fournisseurs</a:t>
            </a:r>
            <a:endParaRPr lang="en-US" sz="2400" b="1" dirty="0">
              <a:solidFill>
                <a:schemeClr val="bg1"/>
              </a:solidFill>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74097"/>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Pourquoi homologuer ?</a:t>
            </a:r>
          </a:p>
        </p:txBody>
      </p:sp>
      <p:sp>
        <p:nvSpPr>
          <p:cNvPr id="10" name="ZoneTexte 9">
            <a:extLst>
              <a:ext uri="{FF2B5EF4-FFF2-40B4-BE49-F238E27FC236}">
                <a16:creationId xmlns:a16="http://schemas.microsoft.com/office/drawing/2014/main" id="{8925F612-8AA9-4B9D-A625-3CC07196C7B8}"/>
              </a:ext>
            </a:extLst>
          </p:cNvPr>
          <p:cNvSpPr txBox="1"/>
          <p:nvPr/>
        </p:nvSpPr>
        <p:spPr>
          <a:xfrm>
            <a:off x="751074" y="2610650"/>
            <a:ext cx="8564376" cy="400110"/>
          </a:xfrm>
          <a:prstGeom prst="rect">
            <a:avLst/>
          </a:prstGeom>
          <a:noFill/>
        </p:spPr>
        <p:txBody>
          <a:bodyPr wrap="square">
            <a:spAutoFit/>
          </a:bodyPr>
          <a:lstStyle/>
          <a:p>
            <a:r>
              <a:rPr lang="fr-FR" sz="2000" dirty="0">
                <a:latin typeface="Aptos" panose="020B0004020202020204" pitchFamily="34" charset="0"/>
              </a:rPr>
              <a:t>Tous les fournisseurs ne présentent pas le même niveau de risque.</a:t>
            </a:r>
            <a:endParaRPr lang="fr-FR" sz="2000" b="1" dirty="0">
              <a:solidFill>
                <a:srgbClr val="F37504"/>
              </a:solidFill>
              <a:latin typeface="Aptos" panose="020B0004020202020204" pitchFamily="34" charset="0"/>
            </a:endParaRPr>
          </a:p>
        </p:txBody>
      </p:sp>
      <p:sp>
        <p:nvSpPr>
          <p:cNvPr id="13" name="ZoneTexte 12">
            <a:extLst>
              <a:ext uri="{FF2B5EF4-FFF2-40B4-BE49-F238E27FC236}">
                <a16:creationId xmlns:a16="http://schemas.microsoft.com/office/drawing/2014/main" id="{68F3A9BA-4EF1-4625-A8CA-77BF73764DAE}"/>
              </a:ext>
            </a:extLst>
          </p:cNvPr>
          <p:cNvSpPr txBox="1"/>
          <p:nvPr/>
        </p:nvSpPr>
        <p:spPr>
          <a:xfrm>
            <a:off x="751074" y="3157143"/>
            <a:ext cx="4763901" cy="1938992"/>
          </a:xfrm>
          <a:prstGeom prst="rect">
            <a:avLst/>
          </a:prstGeom>
          <a:noFill/>
        </p:spPr>
        <p:txBody>
          <a:bodyPr wrap="square">
            <a:spAutoFit/>
          </a:bodyPr>
          <a:lstStyle/>
          <a:p>
            <a:r>
              <a:rPr lang="fr-FR" sz="2000" b="1" dirty="0">
                <a:latin typeface="Aptos" panose="020B0004020202020204" pitchFamily="34" charset="0"/>
              </a:rPr>
              <a:t>Étapes recommandées : </a:t>
            </a:r>
          </a:p>
          <a:p>
            <a:pPr marL="800100" lvl="1" indent="-342900">
              <a:buFont typeface="Arial" panose="020B0604020202020204" pitchFamily="34" charset="0"/>
              <a:buChar char="•"/>
            </a:pPr>
            <a:r>
              <a:rPr lang="fr-FR" sz="2000" dirty="0">
                <a:latin typeface="Aptos" panose="020B0004020202020204" pitchFamily="34" charset="0"/>
              </a:rPr>
              <a:t>Identification</a:t>
            </a:r>
          </a:p>
          <a:p>
            <a:pPr marL="800100" lvl="1" indent="-342900">
              <a:buFont typeface="Arial" panose="020B0604020202020204" pitchFamily="34" charset="0"/>
              <a:buChar char="•"/>
            </a:pPr>
            <a:r>
              <a:rPr lang="fr-FR" sz="2000" dirty="0">
                <a:latin typeface="Aptos" panose="020B0004020202020204" pitchFamily="34" charset="0"/>
              </a:rPr>
              <a:t>Vérification réglementaire</a:t>
            </a:r>
          </a:p>
          <a:p>
            <a:pPr marL="800100" lvl="1" indent="-342900">
              <a:buFont typeface="Arial" panose="020B0604020202020204" pitchFamily="34" charset="0"/>
              <a:buChar char="•"/>
            </a:pPr>
            <a:r>
              <a:rPr lang="fr-FR" sz="2000" dirty="0">
                <a:latin typeface="Aptos" panose="020B0004020202020204" pitchFamily="34" charset="0"/>
              </a:rPr>
              <a:t>Évaluation</a:t>
            </a:r>
          </a:p>
          <a:p>
            <a:pPr marL="800100" lvl="1" indent="-342900">
              <a:buFont typeface="Arial" panose="020B0604020202020204" pitchFamily="34" charset="0"/>
              <a:buChar char="•"/>
            </a:pPr>
            <a:r>
              <a:rPr lang="fr-FR" sz="2000" dirty="0">
                <a:latin typeface="Aptos" panose="020B0004020202020204" pitchFamily="34" charset="0"/>
              </a:rPr>
              <a:t>Validation</a:t>
            </a:r>
          </a:p>
          <a:p>
            <a:pPr marL="800100" lvl="1" indent="-342900">
              <a:buFont typeface="Arial" panose="020B0604020202020204" pitchFamily="34" charset="0"/>
              <a:buChar char="•"/>
            </a:pPr>
            <a:r>
              <a:rPr lang="fr-FR" sz="2000" dirty="0">
                <a:latin typeface="Aptos" panose="020B0004020202020204" pitchFamily="34" charset="0"/>
              </a:rPr>
              <a:t>Suivi périodique</a:t>
            </a:r>
          </a:p>
        </p:txBody>
      </p:sp>
      <p:sp>
        <p:nvSpPr>
          <p:cNvPr id="15" name="ZoneTexte 14">
            <a:extLst>
              <a:ext uri="{FF2B5EF4-FFF2-40B4-BE49-F238E27FC236}">
                <a16:creationId xmlns:a16="http://schemas.microsoft.com/office/drawing/2014/main" id="{1005C82A-7C95-4C75-9AA5-C160DE9560D4}"/>
              </a:ext>
            </a:extLst>
          </p:cNvPr>
          <p:cNvSpPr txBox="1"/>
          <p:nvPr/>
        </p:nvSpPr>
        <p:spPr>
          <a:xfrm>
            <a:off x="6106886" y="3157143"/>
            <a:ext cx="4479131" cy="1631216"/>
          </a:xfrm>
          <a:prstGeom prst="rect">
            <a:avLst/>
          </a:prstGeom>
          <a:noFill/>
        </p:spPr>
        <p:txBody>
          <a:bodyPr wrap="square">
            <a:spAutoFit/>
          </a:bodyPr>
          <a:lstStyle/>
          <a:p>
            <a:r>
              <a:rPr lang="fr-FR" sz="2000" b="1" dirty="0">
                <a:latin typeface="Aptos" panose="020B0004020202020204" pitchFamily="34" charset="0"/>
              </a:rPr>
              <a:t>Catégorisation</a:t>
            </a:r>
          </a:p>
          <a:p>
            <a:pPr marL="800100" lvl="1" indent="-342900">
              <a:buFont typeface="Arial" panose="020B0604020202020204" pitchFamily="34" charset="0"/>
              <a:buChar char="•"/>
            </a:pPr>
            <a:r>
              <a:rPr lang="fr-FR" sz="2000" dirty="0">
                <a:latin typeface="Aptos" panose="020B0004020202020204" pitchFamily="34" charset="0"/>
              </a:rPr>
              <a:t>Fournisseur approuvé</a:t>
            </a:r>
          </a:p>
          <a:p>
            <a:pPr marL="800100" lvl="1" indent="-342900">
              <a:buFont typeface="Arial" panose="020B0604020202020204" pitchFamily="34" charset="0"/>
              <a:buChar char="•"/>
            </a:pPr>
            <a:r>
              <a:rPr lang="fr-FR" sz="2000" dirty="0">
                <a:latin typeface="Aptos" panose="020B0004020202020204" pitchFamily="34" charset="0"/>
              </a:rPr>
              <a:t>Fournisseur sous surveillance</a:t>
            </a:r>
          </a:p>
          <a:p>
            <a:pPr marL="800100" lvl="1" indent="-342900">
              <a:buFont typeface="Arial" panose="020B0604020202020204" pitchFamily="34" charset="0"/>
              <a:buChar char="•"/>
            </a:pPr>
            <a:r>
              <a:rPr lang="fr-FR" sz="2000" dirty="0">
                <a:latin typeface="Aptos" panose="020B0004020202020204" pitchFamily="34" charset="0"/>
              </a:rPr>
              <a:t>Fournisseur suspendu</a:t>
            </a:r>
          </a:p>
          <a:p>
            <a:pPr marL="800100" lvl="1" indent="-342900">
              <a:buFont typeface="Arial" panose="020B0604020202020204" pitchFamily="34" charset="0"/>
              <a:buChar char="•"/>
            </a:pPr>
            <a:r>
              <a:rPr lang="fr-FR" sz="2000" dirty="0">
                <a:latin typeface="Aptos" panose="020B0004020202020204" pitchFamily="34" charset="0"/>
              </a:rPr>
              <a:t>Fournisseur rejeté</a:t>
            </a:r>
          </a:p>
        </p:txBody>
      </p:sp>
    </p:spTree>
    <p:extLst>
      <p:ext uri="{BB962C8B-B14F-4D97-AF65-F5344CB8AC3E}">
        <p14:creationId xmlns:p14="http://schemas.microsoft.com/office/powerpoint/2010/main" val="981451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Sélection des fournisseurs et grossistes répartiteurs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Gestion des ruptures d’approvisionnement</a:t>
            </a:r>
            <a:endParaRPr lang="en-US" sz="2400" b="1" dirty="0">
              <a:solidFill>
                <a:schemeClr val="bg1"/>
              </a:solidFill>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74097"/>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Causes fréquentes en Afrique</a:t>
            </a:r>
          </a:p>
        </p:txBody>
      </p:sp>
      <p:sp>
        <p:nvSpPr>
          <p:cNvPr id="10" name="ZoneTexte 9">
            <a:extLst>
              <a:ext uri="{FF2B5EF4-FFF2-40B4-BE49-F238E27FC236}">
                <a16:creationId xmlns:a16="http://schemas.microsoft.com/office/drawing/2014/main" id="{8925F612-8AA9-4B9D-A625-3CC07196C7B8}"/>
              </a:ext>
            </a:extLst>
          </p:cNvPr>
          <p:cNvSpPr txBox="1"/>
          <p:nvPr/>
        </p:nvSpPr>
        <p:spPr>
          <a:xfrm>
            <a:off x="751074" y="2610650"/>
            <a:ext cx="8564376" cy="1631216"/>
          </a:xfrm>
          <a:prstGeom prst="rect">
            <a:avLst/>
          </a:prstGeom>
          <a:noFill/>
        </p:spPr>
        <p:txBody>
          <a:bodyPr wrap="square">
            <a:spAutoFit/>
          </a:bodyPr>
          <a:lstStyle/>
          <a:p>
            <a:pPr marL="800100" lvl="1" indent="-342900">
              <a:buFont typeface="Arial" panose="020B0604020202020204" pitchFamily="34" charset="0"/>
              <a:buChar char="•"/>
            </a:pPr>
            <a:r>
              <a:rPr lang="fr-FR" sz="2000" dirty="0">
                <a:latin typeface="Aptos" panose="020B0004020202020204" pitchFamily="34" charset="0"/>
              </a:rPr>
              <a:t>Retards d'importation</a:t>
            </a:r>
          </a:p>
          <a:p>
            <a:pPr marL="800100" lvl="1" indent="-342900">
              <a:buFont typeface="Arial" panose="020B0604020202020204" pitchFamily="34" charset="0"/>
              <a:buChar char="•"/>
            </a:pPr>
            <a:r>
              <a:rPr lang="fr-FR" sz="2000" dirty="0">
                <a:latin typeface="Aptos" panose="020B0004020202020204" pitchFamily="34" charset="0"/>
              </a:rPr>
              <a:t>Problèmes douaniers</a:t>
            </a:r>
          </a:p>
          <a:p>
            <a:pPr marL="800100" lvl="1" indent="-342900">
              <a:buFont typeface="Arial" panose="020B0604020202020204" pitchFamily="34" charset="0"/>
              <a:buChar char="•"/>
            </a:pPr>
            <a:r>
              <a:rPr lang="fr-FR" sz="2000" dirty="0">
                <a:latin typeface="Aptos" panose="020B0004020202020204" pitchFamily="34" charset="0"/>
              </a:rPr>
              <a:t>Difficultés logistiques</a:t>
            </a:r>
          </a:p>
          <a:p>
            <a:pPr marL="800100" lvl="1" indent="-342900">
              <a:buFont typeface="Arial" panose="020B0604020202020204" pitchFamily="34" charset="0"/>
              <a:buChar char="•"/>
            </a:pPr>
            <a:r>
              <a:rPr lang="fr-FR" sz="2000" dirty="0">
                <a:latin typeface="Aptos" panose="020B0004020202020204" pitchFamily="34" charset="0"/>
              </a:rPr>
              <a:t>Ruptures fabricants</a:t>
            </a:r>
          </a:p>
          <a:p>
            <a:pPr marL="800100" lvl="1" indent="-342900">
              <a:buFont typeface="Arial" panose="020B0604020202020204" pitchFamily="34" charset="0"/>
              <a:buChar char="•"/>
            </a:pPr>
            <a:r>
              <a:rPr lang="fr-FR" sz="2000" dirty="0">
                <a:latin typeface="Aptos" panose="020B0004020202020204" pitchFamily="34" charset="0"/>
              </a:rPr>
              <a:t>Fluctuation des devises</a:t>
            </a:r>
            <a:endParaRPr lang="fr-FR" sz="2000" b="1" dirty="0">
              <a:solidFill>
                <a:srgbClr val="F37504"/>
              </a:solidFill>
              <a:latin typeface="Aptos" panose="020B0004020202020204" pitchFamily="34" charset="0"/>
            </a:endParaRPr>
          </a:p>
        </p:txBody>
      </p:sp>
      <p:sp>
        <p:nvSpPr>
          <p:cNvPr id="16" name="ZoneTexte 15">
            <a:extLst>
              <a:ext uri="{FF2B5EF4-FFF2-40B4-BE49-F238E27FC236}">
                <a16:creationId xmlns:a16="http://schemas.microsoft.com/office/drawing/2014/main" id="{8CEC4882-3382-4381-ADB8-D96162CAD9BF}"/>
              </a:ext>
            </a:extLst>
          </p:cNvPr>
          <p:cNvSpPr txBox="1"/>
          <p:nvPr/>
        </p:nvSpPr>
        <p:spPr>
          <a:xfrm>
            <a:off x="586355" y="4305951"/>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Conséquences</a:t>
            </a:r>
          </a:p>
        </p:txBody>
      </p:sp>
      <p:sp>
        <p:nvSpPr>
          <p:cNvPr id="17" name="ZoneTexte 16">
            <a:extLst>
              <a:ext uri="{FF2B5EF4-FFF2-40B4-BE49-F238E27FC236}">
                <a16:creationId xmlns:a16="http://schemas.microsoft.com/office/drawing/2014/main" id="{334311FF-83AC-4DE4-8CEF-1B7916C24B1D}"/>
              </a:ext>
            </a:extLst>
          </p:cNvPr>
          <p:cNvSpPr txBox="1"/>
          <p:nvPr/>
        </p:nvSpPr>
        <p:spPr>
          <a:xfrm>
            <a:off x="586355" y="4742504"/>
            <a:ext cx="4461895" cy="1015663"/>
          </a:xfrm>
          <a:prstGeom prst="rect">
            <a:avLst/>
          </a:prstGeom>
          <a:noFill/>
        </p:spPr>
        <p:txBody>
          <a:bodyPr wrap="square">
            <a:spAutoFit/>
          </a:bodyPr>
          <a:lstStyle/>
          <a:p>
            <a:pPr marL="800100" lvl="1" indent="-342900">
              <a:buFont typeface="Arial" panose="020B0604020202020204" pitchFamily="34" charset="0"/>
              <a:buChar char="•"/>
            </a:pPr>
            <a:r>
              <a:rPr lang="fr-FR" sz="2000" dirty="0">
                <a:latin typeface="Aptos" panose="020B0004020202020204" pitchFamily="34" charset="0"/>
              </a:rPr>
              <a:t>Perte de clients</a:t>
            </a:r>
          </a:p>
          <a:p>
            <a:pPr marL="800100" lvl="1" indent="-342900">
              <a:buFont typeface="Arial" panose="020B0604020202020204" pitchFamily="34" charset="0"/>
              <a:buChar char="•"/>
            </a:pPr>
            <a:r>
              <a:rPr lang="fr-FR" sz="2000" dirty="0">
                <a:latin typeface="Aptos" panose="020B0004020202020204" pitchFamily="34" charset="0"/>
              </a:rPr>
              <a:t>Perte de revenus</a:t>
            </a:r>
          </a:p>
          <a:p>
            <a:pPr marL="800100" lvl="1" indent="-342900">
              <a:buFont typeface="Arial" panose="020B0604020202020204" pitchFamily="34" charset="0"/>
              <a:buChar char="•"/>
            </a:pPr>
            <a:r>
              <a:rPr lang="fr-FR" sz="2000" dirty="0">
                <a:latin typeface="Aptos" panose="020B0004020202020204" pitchFamily="34" charset="0"/>
              </a:rPr>
              <a:t>Risque thérapeutique</a:t>
            </a:r>
            <a:endParaRPr lang="fr-FR" sz="2000" b="1" dirty="0">
              <a:solidFill>
                <a:srgbClr val="F37504"/>
              </a:solidFill>
              <a:latin typeface="Aptos" panose="020B0004020202020204" pitchFamily="34" charset="0"/>
            </a:endParaRPr>
          </a:p>
        </p:txBody>
      </p:sp>
      <p:sp>
        <p:nvSpPr>
          <p:cNvPr id="20" name="ZoneTexte 19">
            <a:extLst>
              <a:ext uri="{FF2B5EF4-FFF2-40B4-BE49-F238E27FC236}">
                <a16:creationId xmlns:a16="http://schemas.microsoft.com/office/drawing/2014/main" id="{64B01C7E-3710-4FBC-9697-1A3D1717C7D4}"/>
              </a:ext>
            </a:extLst>
          </p:cNvPr>
          <p:cNvSpPr txBox="1"/>
          <p:nvPr/>
        </p:nvSpPr>
        <p:spPr>
          <a:xfrm>
            <a:off x="6669493" y="3744440"/>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Mesures préventives</a:t>
            </a:r>
          </a:p>
        </p:txBody>
      </p:sp>
      <p:sp>
        <p:nvSpPr>
          <p:cNvPr id="21" name="ZoneTexte 20">
            <a:extLst>
              <a:ext uri="{FF2B5EF4-FFF2-40B4-BE49-F238E27FC236}">
                <a16:creationId xmlns:a16="http://schemas.microsoft.com/office/drawing/2014/main" id="{FB1CB745-0C2B-4FA4-978D-0259C586875E}"/>
              </a:ext>
            </a:extLst>
          </p:cNvPr>
          <p:cNvSpPr txBox="1"/>
          <p:nvPr/>
        </p:nvSpPr>
        <p:spPr>
          <a:xfrm>
            <a:off x="6669493" y="4180993"/>
            <a:ext cx="4461895" cy="1015663"/>
          </a:xfrm>
          <a:prstGeom prst="rect">
            <a:avLst/>
          </a:prstGeom>
          <a:noFill/>
        </p:spPr>
        <p:txBody>
          <a:bodyPr wrap="square">
            <a:spAutoFit/>
          </a:bodyPr>
          <a:lstStyle/>
          <a:p>
            <a:pPr marL="800100" lvl="1" indent="-342900">
              <a:buFont typeface="Arial" panose="020B0604020202020204" pitchFamily="34" charset="0"/>
              <a:buChar char="•"/>
            </a:pPr>
            <a:r>
              <a:rPr lang="fr-FR" sz="2000" dirty="0">
                <a:latin typeface="Aptos" panose="020B0004020202020204" pitchFamily="34" charset="0"/>
              </a:rPr>
              <a:t>Diversification des fournisseurs</a:t>
            </a:r>
          </a:p>
          <a:p>
            <a:pPr marL="800100" lvl="1" indent="-342900">
              <a:buFont typeface="Arial" panose="020B0604020202020204" pitchFamily="34" charset="0"/>
              <a:buChar char="•"/>
            </a:pPr>
            <a:r>
              <a:rPr lang="fr-FR" sz="2000" dirty="0">
                <a:latin typeface="Aptos" panose="020B0004020202020204" pitchFamily="34" charset="0"/>
              </a:rPr>
              <a:t>Stock de sécurité</a:t>
            </a:r>
          </a:p>
          <a:p>
            <a:pPr marL="800100" lvl="1" indent="-342900">
              <a:buFont typeface="Arial" panose="020B0604020202020204" pitchFamily="34" charset="0"/>
              <a:buChar char="•"/>
            </a:pPr>
            <a:r>
              <a:rPr lang="fr-FR" sz="2000" dirty="0">
                <a:latin typeface="Aptos" panose="020B0004020202020204" pitchFamily="34" charset="0"/>
              </a:rPr>
              <a:t>Veille du marché</a:t>
            </a:r>
            <a:endParaRPr lang="fr-FR" sz="2000" b="1" dirty="0">
              <a:solidFill>
                <a:srgbClr val="F37504"/>
              </a:solidFill>
              <a:latin typeface="Aptos" panose="020B0004020202020204" pitchFamily="34" charset="0"/>
            </a:endParaRPr>
          </a:p>
        </p:txBody>
      </p:sp>
    </p:spTree>
    <p:extLst>
      <p:ext uri="{BB962C8B-B14F-4D97-AF65-F5344CB8AC3E}">
        <p14:creationId xmlns:p14="http://schemas.microsoft.com/office/powerpoint/2010/main" val="1770923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Sélection des fournisseurs et grossistes répartiteurs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Lutte contre les médicaments falsifiés</a:t>
            </a:r>
            <a:endParaRPr lang="en-US" sz="2400" b="1" dirty="0">
              <a:solidFill>
                <a:schemeClr val="bg1"/>
              </a:solidFill>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74097"/>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Signaux d’alerte</a:t>
            </a:r>
          </a:p>
        </p:txBody>
      </p:sp>
      <p:sp>
        <p:nvSpPr>
          <p:cNvPr id="10" name="ZoneTexte 9">
            <a:extLst>
              <a:ext uri="{FF2B5EF4-FFF2-40B4-BE49-F238E27FC236}">
                <a16:creationId xmlns:a16="http://schemas.microsoft.com/office/drawing/2014/main" id="{8925F612-8AA9-4B9D-A625-3CC07196C7B8}"/>
              </a:ext>
            </a:extLst>
          </p:cNvPr>
          <p:cNvSpPr txBox="1"/>
          <p:nvPr/>
        </p:nvSpPr>
        <p:spPr>
          <a:xfrm>
            <a:off x="751074" y="2610650"/>
            <a:ext cx="8564376" cy="1631216"/>
          </a:xfrm>
          <a:prstGeom prst="rect">
            <a:avLst/>
          </a:prstGeom>
          <a:noFill/>
        </p:spPr>
        <p:txBody>
          <a:bodyPr wrap="square">
            <a:spAutoFit/>
          </a:bodyPr>
          <a:lstStyle/>
          <a:p>
            <a:pPr marL="800100" lvl="1" indent="-342900">
              <a:buFont typeface="Arial" panose="020B0604020202020204" pitchFamily="34" charset="0"/>
              <a:buChar char="•"/>
            </a:pPr>
            <a:r>
              <a:rPr lang="fr-FR" sz="2000" dirty="0">
                <a:latin typeface="Aptos" panose="020B0004020202020204" pitchFamily="34" charset="0"/>
              </a:rPr>
              <a:t>Prix anormalement bas</a:t>
            </a:r>
          </a:p>
          <a:p>
            <a:pPr marL="800100" lvl="1" indent="-342900">
              <a:buFont typeface="Arial" panose="020B0604020202020204" pitchFamily="34" charset="0"/>
              <a:buChar char="•"/>
            </a:pPr>
            <a:r>
              <a:rPr lang="fr-FR" sz="2000" dirty="0">
                <a:latin typeface="Aptos" panose="020B0004020202020204" pitchFamily="34" charset="0"/>
              </a:rPr>
              <a:t>Emballage inhabituel</a:t>
            </a:r>
          </a:p>
          <a:p>
            <a:pPr marL="800100" lvl="1" indent="-342900">
              <a:buFont typeface="Arial" panose="020B0604020202020204" pitchFamily="34" charset="0"/>
              <a:buChar char="•"/>
            </a:pPr>
            <a:r>
              <a:rPr lang="fr-FR" sz="2000" dirty="0">
                <a:latin typeface="Aptos" panose="020B0004020202020204" pitchFamily="34" charset="0"/>
              </a:rPr>
              <a:t>Fournisseur inconnu</a:t>
            </a:r>
          </a:p>
          <a:p>
            <a:pPr marL="800100" lvl="1" indent="-342900">
              <a:buFont typeface="Arial" panose="020B0604020202020204" pitchFamily="34" charset="0"/>
              <a:buChar char="•"/>
            </a:pPr>
            <a:r>
              <a:rPr lang="fr-FR" sz="2000" dirty="0">
                <a:latin typeface="Aptos" panose="020B0004020202020204" pitchFamily="34" charset="0"/>
              </a:rPr>
              <a:t>Documentation absente</a:t>
            </a:r>
          </a:p>
          <a:p>
            <a:pPr marL="800100" lvl="1" indent="-342900">
              <a:buFont typeface="Arial" panose="020B0604020202020204" pitchFamily="34" charset="0"/>
              <a:buChar char="•"/>
            </a:pPr>
            <a:r>
              <a:rPr lang="fr-FR" sz="2000" dirty="0">
                <a:latin typeface="Aptos" panose="020B0004020202020204" pitchFamily="34" charset="0"/>
              </a:rPr>
              <a:t>Provenance douteuse</a:t>
            </a:r>
            <a:endParaRPr lang="fr-FR" sz="2000" b="1" dirty="0">
              <a:solidFill>
                <a:srgbClr val="F37504"/>
              </a:solidFill>
              <a:latin typeface="Aptos" panose="020B0004020202020204" pitchFamily="34" charset="0"/>
            </a:endParaRPr>
          </a:p>
        </p:txBody>
      </p:sp>
      <p:sp>
        <p:nvSpPr>
          <p:cNvPr id="16" name="ZoneTexte 15">
            <a:extLst>
              <a:ext uri="{FF2B5EF4-FFF2-40B4-BE49-F238E27FC236}">
                <a16:creationId xmlns:a16="http://schemas.microsoft.com/office/drawing/2014/main" id="{8CEC4882-3382-4381-ADB8-D96162CAD9BF}"/>
              </a:ext>
            </a:extLst>
          </p:cNvPr>
          <p:cNvSpPr txBox="1"/>
          <p:nvPr/>
        </p:nvSpPr>
        <p:spPr>
          <a:xfrm>
            <a:off x="586355" y="4305951"/>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Réaction du pharmacien</a:t>
            </a:r>
          </a:p>
        </p:txBody>
      </p:sp>
      <p:sp>
        <p:nvSpPr>
          <p:cNvPr id="17" name="ZoneTexte 16">
            <a:extLst>
              <a:ext uri="{FF2B5EF4-FFF2-40B4-BE49-F238E27FC236}">
                <a16:creationId xmlns:a16="http://schemas.microsoft.com/office/drawing/2014/main" id="{334311FF-83AC-4DE4-8CEF-1B7916C24B1D}"/>
              </a:ext>
            </a:extLst>
          </p:cNvPr>
          <p:cNvSpPr txBox="1"/>
          <p:nvPr/>
        </p:nvSpPr>
        <p:spPr>
          <a:xfrm>
            <a:off x="586355" y="4742504"/>
            <a:ext cx="5119120" cy="1323439"/>
          </a:xfrm>
          <a:prstGeom prst="rect">
            <a:avLst/>
          </a:prstGeom>
          <a:noFill/>
        </p:spPr>
        <p:txBody>
          <a:bodyPr wrap="square">
            <a:spAutoFit/>
          </a:bodyPr>
          <a:lstStyle/>
          <a:p>
            <a:pPr marL="800100" lvl="1" indent="-342900">
              <a:buFont typeface="Arial" panose="020B0604020202020204" pitchFamily="34" charset="0"/>
              <a:buChar char="•"/>
            </a:pPr>
            <a:r>
              <a:rPr lang="fr-FR" sz="2000" dirty="0">
                <a:latin typeface="Aptos" panose="020B0004020202020204" pitchFamily="34" charset="0"/>
              </a:rPr>
              <a:t>Isoler le produit</a:t>
            </a:r>
          </a:p>
          <a:p>
            <a:pPr marL="800100" lvl="1" indent="-342900">
              <a:buFont typeface="Arial" panose="020B0604020202020204" pitchFamily="34" charset="0"/>
              <a:buChar char="•"/>
            </a:pPr>
            <a:r>
              <a:rPr lang="fr-FR" sz="2000" dirty="0">
                <a:latin typeface="Aptos" panose="020B0004020202020204" pitchFamily="34" charset="0"/>
              </a:rPr>
              <a:t>Suspendre la vente</a:t>
            </a:r>
          </a:p>
          <a:p>
            <a:pPr marL="800100" lvl="1" indent="-342900">
              <a:buFont typeface="Arial" panose="020B0604020202020204" pitchFamily="34" charset="0"/>
              <a:buChar char="•"/>
            </a:pPr>
            <a:r>
              <a:rPr lang="fr-FR" sz="2000" dirty="0">
                <a:latin typeface="Aptos" panose="020B0004020202020204" pitchFamily="34" charset="0"/>
              </a:rPr>
              <a:t>Informer les autorités compétentes</a:t>
            </a:r>
          </a:p>
          <a:p>
            <a:pPr marL="800100" lvl="1" indent="-342900">
              <a:buFont typeface="Arial" panose="020B0604020202020204" pitchFamily="34" charset="0"/>
              <a:buChar char="•"/>
            </a:pPr>
            <a:r>
              <a:rPr lang="fr-FR" sz="2000" dirty="0">
                <a:latin typeface="Aptos" panose="020B0004020202020204" pitchFamily="34" charset="0"/>
              </a:rPr>
              <a:t>Documenter le cas</a:t>
            </a:r>
            <a:endParaRPr lang="fr-FR" sz="2000" b="1" dirty="0">
              <a:solidFill>
                <a:srgbClr val="F37504"/>
              </a:solidFill>
              <a:latin typeface="Aptos" panose="020B0004020202020204" pitchFamily="34" charset="0"/>
            </a:endParaRPr>
          </a:p>
        </p:txBody>
      </p:sp>
    </p:spTree>
    <p:extLst>
      <p:ext uri="{BB962C8B-B14F-4D97-AF65-F5344CB8AC3E}">
        <p14:creationId xmlns:p14="http://schemas.microsoft.com/office/powerpoint/2010/main" val="3501347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Sélection des fournisseurs et grossistes répartiteurs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Évaluation de la performance des fournisseurs</a:t>
            </a:r>
            <a:endParaRPr lang="en-US" sz="2400" b="1" dirty="0">
              <a:solidFill>
                <a:schemeClr val="bg1"/>
              </a:solidFill>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74097"/>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Indicateurs recommandés</a:t>
            </a:r>
          </a:p>
        </p:txBody>
      </p:sp>
      <p:sp>
        <p:nvSpPr>
          <p:cNvPr id="10" name="ZoneTexte 9">
            <a:extLst>
              <a:ext uri="{FF2B5EF4-FFF2-40B4-BE49-F238E27FC236}">
                <a16:creationId xmlns:a16="http://schemas.microsoft.com/office/drawing/2014/main" id="{8925F612-8AA9-4B9D-A625-3CC07196C7B8}"/>
              </a:ext>
            </a:extLst>
          </p:cNvPr>
          <p:cNvSpPr txBox="1"/>
          <p:nvPr/>
        </p:nvSpPr>
        <p:spPr>
          <a:xfrm>
            <a:off x="751074" y="2610650"/>
            <a:ext cx="8564376" cy="1631216"/>
          </a:xfrm>
          <a:prstGeom prst="rect">
            <a:avLst/>
          </a:prstGeom>
          <a:noFill/>
        </p:spPr>
        <p:txBody>
          <a:bodyPr wrap="square">
            <a:spAutoFit/>
          </a:bodyPr>
          <a:lstStyle/>
          <a:p>
            <a:pPr marL="800100" lvl="1" indent="-342900">
              <a:buFont typeface="Arial" panose="020B0604020202020204" pitchFamily="34" charset="0"/>
              <a:buChar char="•"/>
            </a:pPr>
            <a:r>
              <a:rPr lang="fr-FR" sz="2000" dirty="0">
                <a:latin typeface="Aptos" panose="020B0004020202020204" pitchFamily="34" charset="0"/>
              </a:rPr>
              <a:t>Taux de service</a:t>
            </a:r>
          </a:p>
          <a:p>
            <a:pPr marL="800100" lvl="1" indent="-342900">
              <a:buFont typeface="Arial" panose="020B0604020202020204" pitchFamily="34" charset="0"/>
              <a:buChar char="•"/>
            </a:pPr>
            <a:r>
              <a:rPr lang="fr-FR" sz="2000" dirty="0">
                <a:latin typeface="Aptos" panose="020B0004020202020204" pitchFamily="34" charset="0"/>
              </a:rPr>
              <a:t>Respect des délais</a:t>
            </a:r>
          </a:p>
          <a:p>
            <a:pPr marL="800100" lvl="1" indent="-342900">
              <a:buFont typeface="Arial" panose="020B0604020202020204" pitchFamily="34" charset="0"/>
              <a:buChar char="•"/>
            </a:pPr>
            <a:r>
              <a:rPr lang="fr-FR" sz="2000" dirty="0">
                <a:latin typeface="Aptos" panose="020B0004020202020204" pitchFamily="34" charset="0"/>
              </a:rPr>
              <a:t>Taux de conformité</a:t>
            </a:r>
          </a:p>
          <a:p>
            <a:pPr marL="800100" lvl="1" indent="-342900">
              <a:buFont typeface="Arial" panose="020B0604020202020204" pitchFamily="34" charset="0"/>
              <a:buChar char="•"/>
            </a:pPr>
            <a:r>
              <a:rPr lang="fr-FR" sz="2000" dirty="0">
                <a:latin typeface="Aptos" panose="020B0004020202020204" pitchFamily="34" charset="0"/>
              </a:rPr>
              <a:t>Taux de rupture</a:t>
            </a:r>
          </a:p>
          <a:p>
            <a:pPr marL="800100" lvl="1" indent="-342900">
              <a:buFont typeface="Arial" panose="020B0604020202020204" pitchFamily="34" charset="0"/>
              <a:buChar char="•"/>
            </a:pPr>
            <a:r>
              <a:rPr lang="fr-FR" sz="2000" dirty="0">
                <a:latin typeface="Aptos" panose="020B0004020202020204" pitchFamily="34" charset="0"/>
              </a:rPr>
              <a:t>Taux de retours</a:t>
            </a:r>
            <a:endParaRPr lang="fr-FR" sz="2000" b="1" dirty="0">
              <a:solidFill>
                <a:srgbClr val="F37504"/>
              </a:solidFill>
              <a:latin typeface="Aptos" panose="020B0004020202020204" pitchFamily="34" charset="0"/>
            </a:endParaRPr>
          </a:p>
        </p:txBody>
      </p:sp>
    </p:spTree>
    <p:extLst>
      <p:ext uri="{BB962C8B-B14F-4D97-AF65-F5344CB8AC3E}">
        <p14:creationId xmlns:p14="http://schemas.microsoft.com/office/powerpoint/2010/main" val="4260007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Sélection des fournisseurs et grossistes répartiteurs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Message clé à retenir</a:t>
            </a:r>
            <a:endParaRPr lang="en-US" sz="2400" b="1" dirty="0">
              <a:solidFill>
                <a:schemeClr val="bg1"/>
              </a:solidFill>
            </a:endParaRPr>
          </a:p>
        </p:txBody>
      </p:sp>
      <p:sp>
        <p:nvSpPr>
          <p:cNvPr id="10" name="ZoneTexte 9">
            <a:extLst>
              <a:ext uri="{FF2B5EF4-FFF2-40B4-BE49-F238E27FC236}">
                <a16:creationId xmlns:a16="http://schemas.microsoft.com/office/drawing/2014/main" id="{8925F612-8AA9-4B9D-A625-3CC07196C7B8}"/>
              </a:ext>
            </a:extLst>
          </p:cNvPr>
          <p:cNvSpPr txBox="1"/>
          <p:nvPr/>
        </p:nvSpPr>
        <p:spPr>
          <a:xfrm>
            <a:off x="586355" y="2223201"/>
            <a:ext cx="10834120" cy="3046988"/>
          </a:xfrm>
          <a:prstGeom prst="rect">
            <a:avLst/>
          </a:prstGeom>
          <a:noFill/>
        </p:spPr>
        <p:txBody>
          <a:bodyPr wrap="square">
            <a:spAutoFit/>
          </a:bodyPr>
          <a:lstStyle/>
          <a:p>
            <a:pPr marL="800100" lvl="1" indent="-342900">
              <a:buFont typeface="Arial" panose="020B0604020202020204" pitchFamily="34" charset="0"/>
              <a:buChar char="•"/>
            </a:pPr>
            <a:r>
              <a:rPr lang="fr-FR" sz="2400" dirty="0">
                <a:latin typeface="Aptos" panose="020B0004020202020204" pitchFamily="34" charset="0"/>
              </a:rPr>
              <a:t>Le meilleur fournisseur n’est pas forcément le moins cher.</a:t>
            </a:r>
          </a:p>
          <a:p>
            <a:pPr marL="800100" lvl="1" indent="-342900">
              <a:buFont typeface="Arial" panose="020B0604020202020204" pitchFamily="34" charset="0"/>
              <a:buChar char="•"/>
            </a:pPr>
            <a:endParaRPr lang="fr-FR" sz="2400" dirty="0">
              <a:latin typeface="Aptos" panose="020B0004020202020204" pitchFamily="34" charset="0"/>
            </a:endParaRPr>
          </a:p>
          <a:p>
            <a:pPr marL="800100" lvl="1" indent="-342900">
              <a:buFont typeface="Arial" panose="020B0604020202020204" pitchFamily="34" charset="0"/>
              <a:buChar char="•"/>
            </a:pPr>
            <a:r>
              <a:rPr lang="fr-FR" sz="2400" dirty="0">
                <a:latin typeface="Aptos" panose="020B0004020202020204" pitchFamily="34" charset="0"/>
              </a:rPr>
              <a:t>Pour une officine, le fournisseur idéal est celui qui garantit simultanément :</a:t>
            </a:r>
          </a:p>
          <a:p>
            <a:pPr marL="1257300" lvl="2" indent="-342900">
              <a:buFont typeface="Courier New" panose="02070309020205020404" pitchFamily="49" charset="0"/>
              <a:buChar char="o"/>
            </a:pPr>
            <a:r>
              <a:rPr lang="fr-FR" sz="2400" dirty="0">
                <a:latin typeface="Aptos" panose="020B0004020202020204" pitchFamily="34" charset="0"/>
              </a:rPr>
              <a:t>la conformité réglementaire ;</a:t>
            </a:r>
          </a:p>
          <a:p>
            <a:pPr marL="1257300" lvl="2" indent="-342900">
              <a:buFont typeface="Courier New" panose="02070309020205020404" pitchFamily="49" charset="0"/>
              <a:buChar char="o"/>
            </a:pPr>
            <a:r>
              <a:rPr lang="fr-FR" sz="2400" dirty="0">
                <a:latin typeface="Aptos" panose="020B0004020202020204" pitchFamily="34" charset="0"/>
              </a:rPr>
              <a:t>la qualité des produits ;</a:t>
            </a:r>
          </a:p>
          <a:p>
            <a:pPr marL="1257300" lvl="2" indent="-342900">
              <a:buFont typeface="Courier New" panose="02070309020205020404" pitchFamily="49" charset="0"/>
              <a:buChar char="o"/>
            </a:pPr>
            <a:r>
              <a:rPr lang="fr-FR" sz="2400" dirty="0">
                <a:latin typeface="Aptos" panose="020B0004020202020204" pitchFamily="34" charset="0"/>
              </a:rPr>
              <a:t>la disponibilité ;</a:t>
            </a:r>
          </a:p>
          <a:p>
            <a:pPr marL="1257300" lvl="2" indent="-342900">
              <a:buFont typeface="Courier New" panose="02070309020205020404" pitchFamily="49" charset="0"/>
              <a:buChar char="o"/>
            </a:pPr>
            <a:r>
              <a:rPr lang="fr-FR" sz="2400" dirty="0">
                <a:latin typeface="Aptos" panose="020B0004020202020204" pitchFamily="34" charset="0"/>
              </a:rPr>
              <a:t>la traçabilité ;</a:t>
            </a:r>
          </a:p>
          <a:p>
            <a:pPr marL="1257300" lvl="2" indent="-342900">
              <a:buFont typeface="Courier New" panose="02070309020205020404" pitchFamily="49" charset="0"/>
              <a:buChar char="o"/>
            </a:pPr>
            <a:r>
              <a:rPr lang="fr-FR" sz="2400" dirty="0">
                <a:latin typeface="Aptos" panose="020B0004020202020204" pitchFamily="34" charset="0"/>
              </a:rPr>
              <a:t>la continuité de l’approvisionnement.</a:t>
            </a:r>
            <a:endParaRPr lang="fr-FR" sz="2400" b="1" dirty="0">
              <a:solidFill>
                <a:srgbClr val="F37504"/>
              </a:solidFill>
              <a:latin typeface="Aptos" panose="020B0004020202020204" pitchFamily="34" charset="0"/>
            </a:endParaRPr>
          </a:p>
        </p:txBody>
      </p:sp>
    </p:spTree>
    <p:extLst>
      <p:ext uri="{BB962C8B-B14F-4D97-AF65-F5344CB8AC3E}">
        <p14:creationId xmlns:p14="http://schemas.microsoft.com/office/powerpoint/2010/main" val="341901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commandes et des niveaux de stock</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0" name="ZoneTexte 9">
            <a:extLst>
              <a:ext uri="{FF2B5EF4-FFF2-40B4-BE49-F238E27FC236}">
                <a16:creationId xmlns:a16="http://schemas.microsoft.com/office/drawing/2014/main" id="{8925F612-8AA9-4B9D-A625-3CC07196C7B8}"/>
              </a:ext>
            </a:extLst>
          </p:cNvPr>
          <p:cNvSpPr txBox="1"/>
          <p:nvPr/>
        </p:nvSpPr>
        <p:spPr>
          <a:xfrm>
            <a:off x="753042" y="2130868"/>
            <a:ext cx="10378346" cy="2677656"/>
          </a:xfrm>
          <a:prstGeom prst="rect">
            <a:avLst/>
          </a:prstGeom>
          <a:noFill/>
        </p:spPr>
        <p:txBody>
          <a:bodyPr wrap="square">
            <a:spAutoFit/>
          </a:bodyPr>
          <a:lstStyle/>
          <a:p>
            <a:r>
              <a:rPr lang="fr-FR" sz="2400" dirty="0">
                <a:latin typeface="Aptos" panose="020B0004020202020204" pitchFamily="34" charset="0"/>
              </a:rPr>
              <a:t>À l'issue de ce sous-module, le participant sera capable de :</a:t>
            </a:r>
          </a:p>
          <a:p>
            <a:pPr marL="800100" lvl="1" indent="-342900">
              <a:buFont typeface="Arial" panose="020B0604020202020204" pitchFamily="34" charset="0"/>
              <a:buChar char="•"/>
            </a:pPr>
            <a:r>
              <a:rPr lang="fr-FR" sz="2400" dirty="0">
                <a:latin typeface="Aptos" panose="020B0004020202020204" pitchFamily="34" charset="0"/>
              </a:rPr>
              <a:t>Déterminer les quantités optimales à commander ;</a:t>
            </a:r>
          </a:p>
          <a:p>
            <a:pPr marL="800100" lvl="1" indent="-342900">
              <a:buFont typeface="Arial" panose="020B0604020202020204" pitchFamily="34" charset="0"/>
              <a:buChar char="•"/>
            </a:pPr>
            <a:r>
              <a:rPr lang="fr-FR" sz="2400" dirty="0">
                <a:latin typeface="Aptos" panose="020B0004020202020204" pitchFamily="34" charset="0"/>
              </a:rPr>
              <a:t>Calculer les niveaux de stock appropriés ;</a:t>
            </a:r>
          </a:p>
          <a:p>
            <a:pPr marL="800100" lvl="1" indent="-342900">
              <a:buFont typeface="Arial" panose="020B0604020202020204" pitchFamily="34" charset="0"/>
              <a:buChar char="•"/>
            </a:pPr>
            <a:r>
              <a:rPr lang="fr-FR" sz="2400" dirty="0">
                <a:latin typeface="Aptos" panose="020B0004020202020204" pitchFamily="34" charset="0"/>
              </a:rPr>
              <a:t>Éviter les ruptures ;</a:t>
            </a:r>
          </a:p>
          <a:p>
            <a:pPr marL="800100" lvl="1" indent="-342900">
              <a:buFont typeface="Arial" panose="020B0604020202020204" pitchFamily="34" charset="0"/>
              <a:buChar char="•"/>
            </a:pPr>
            <a:r>
              <a:rPr lang="fr-FR" sz="2400" dirty="0">
                <a:latin typeface="Aptos" panose="020B0004020202020204" pitchFamily="34" charset="0"/>
              </a:rPr>
              <a:t>Réduire les surstocks ;</a:t>
            </a:r>
          </a:p>
          <a:p>
            <a:pPr marL="800100" lvl="1" indent="-342900">
              <a:buFont typeface="Arial" panose="020B0604020202020204" pitchFamily="34" charset="0"/>
              <a:buChar char="•"/>
            </a:pPr>
            <a:r>
              <a:rPr lang="fr-FR" sz="2400" dirty="0">
                <a:latin typeface="Aptos" panose="020B0004020202020204" pitchFamily="34" charset="0"/>
              </a:rPr>
              <a:t>Optimiser sa trésorerie ;</a:t>
            </a:r>
          </a:p>
          <a:p>
            <a:pPr marL="800100" lvl="1" indent="-342900">
              <a:buFont typeface="Arial" panose="020B0604020202020204" pitchFamily="34" charset="0"/>
              <a:buChar char="•"/>
            </a:pPr>
            <a:r>
              <a:rPr lang="fr-FR" sz="2400" dirty="0">
                <a:latin typeface="Aptos" panose="020B0004020202020204" pitchFamily="34" charset="0"/>
              </a:rPr>
              <a:t>Construire un système de réapprovisionnement basé sur les données.</a:t>
            </a:r>
            <a:endParaRPr lang="fr-FR" sz="2400" b="1" dirty="0">
              <a:solidFill>
                <a:srgbClr val="F37504"/>
              </a:solidFill>
              <a:latin typeface="Aptos" panose="020B0004020202020204" pitchFamily="34" charset="0"/>
            </a:endParaRPr>
          </a:p>
        </p:txBody>
      </p:sp>
    </p:spTree>
    <p:extLst>
      <p:ext uri="{BB962C8B-B14F-4D97-AF65-F5344CB8AC3E}">
        <p14:creationId xmlns:p14="http://schemas.microsoft.com/office/powerpoint/2010/main" val="1994622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commandes et des niveaux de stock</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13" name="ZoneTexte 12">
            <a:extLst>
              <a:ext uri="{FF2B5EF4-FFF2-40B4-BE49-F238E27FC236}">
                <a16:creationId xmlns:a16="http://schemas.microsoft.com/office/drawing/2014/main" id="{14907CDC-776C-49FD-BA78-4428EE0E956D}"/>
              </a:ext>
            </a:extLst>
          </p:cNvPr>
          <p:cNvSpPr txBox="1"/>
          <p:nvPr/>
        </p:nvSpPr>
        <p:spPr>
          <a:xfrm>
            <a:off x="753041" y="2130868"/>
            <a:ext cx="11100601" cy="4093428"/>
          </a:xfrm>
          <a:prstGeom prst="rect">
            <a:avLst/>
          </a:prstGeom>
          <a:noFill/>
        </p:spPr>
        <p:txBody>
          <a:bodyPr wrap="square">
            <a:spAutoFit/>
          </a:bodyPr>
          <a:lstStyle/>
          <a:p>
            <a:pPr marL="342900" indent="-342900">
              <a:buFont typeface="Arial" panose="020B0604020202020204" pitchFamily="34" charset="0"/>
              <a:buChar char="•"/>
            </a:pPr>
            <a:r>
              <a:rPr lang="fr-FR" sz="2400" dirty="0">
                <a:latin typeface="Aptos" panose="020B0004020202020204" pitchFamily="34" charset="0"/>
              </a:rPr>
              <a:t>Dans une officine, le stock représente généralement :</a:t>
            </a:r>
          </a:p>
          <a:p>
            <a:pPr marL="800100" lvl="1" indent="-342900">
              <a:buFont typeface="Courier New" panose="02070309020205020404" pitchFamily="49" charset="0"/>
              <a:buChar char="o"/>
            </a:pPr>
            <a:r>
              <a:rPr lang="fr-FR" sz="2400" dirty="0">
                <a:latin typeface="Aptos" panose="020B0004020202020204" pitchFamily="34" charset="0"/>
              </a:rPr>
              <a:t>50 à 80 % des actifs de l'entreprise ;</a:t>
            </a:r>
          </a:p>
          <a:p>
            <a:pPr marL="800100" lvl="1" indent="-342900">
              <a:buFont typeface="Courier New" panose="02070309020205020404" pitchFamily="49" charset="0"/>
              <a:buChar char="o"/>
            </a:pPr>
            <a:r>
              <a:rPr lang="fr-FR" sz="2400" dirty="0">
                <a:latin typeface="Aptos" panose="020B0004020202020204" pitchFamily="34" charset="0"/>
              </a:rPr>
              <a:t>le principal poste d'investissement ;</a:t>
            </a:r>
          </a:p>
          <a:p>
            <a:pPr marL="800100" lvl="1" indent="-342900">
              <a:buFont typeface="Courier New" panose="02070309020205020404" pitchFamily="49" charset="0"/>
              <a:buChar char="o"/>
            </a:pPr>
            <a:r>
              <a:rPr lang="fr-FR" sz="2400" dirty="0">
                <a:latin typeface="Aptos" panose="020B0004020202020204" pitchFamily="34" charset="0"/>
              </a:rPr>
              <a:t>la principale source de revenus.</a:t>
            </a:r>
          </a:p>
          <a:p>
            <a:pPr marL="342900" indent="-342900">
              <a:buFont typeface="Arial" panose="020B0604020202020204" pitchFamily="34" charset="0"/>
              <a:buChar char="•"/>
            </a:pPr>
            <a:endParaRPr lang="fr-FR" sz="2400" dirty="0">
              <a:latin typeface="Aptos" panose="020B0004020202020204" pitchFamily="34" charset="0"/>
            </a:endParaRPr>
          </a:p>
          <a:p>
            <a:pPr marL="342900" indent="-342900">
              <a:buFont typeface="Arial" panose="020B0604020202020204" pitchFamily="34" charset="0"/>
              <a:buChar char="•"/>
            </a:pPr>
            <a:r>
              <a:rPr lang="fr-FR" sz="2400" dirty="0">
                <a:latin typeface="Aptos" panose="020B0004020202020204" pitchFamily="34" charset="0"/>
              </a:rPr>
              <a:t>Un stock mal géré peut entraîner :</a:t>
            </a:r>
          </a:p>
          <a:p>
            <a:pPr marL="800100" lvl="1" indent="-342900">
              <a:buFont typeface="Courier New" panose="02070309020205020404" pitchFamily="49" charset="0"/>
              <a:buChar char="o"/>
            </a:pPr>
            <a:r>
              <a:rPr lang="fr-FR" sz="2400" dirty="0">
                <a:latin typeface="Aptos" panose="020B0004020202020204" pitchFamily="34" charset="0"/>
              </a:rPr>
              <a:t>Trop peu de stock </a:t>
            </a:r>
            <a:r>
              <a:rPr lang="fr-FR" sz="2000" dirty="0">
                <a:latin typeface="Aptos" panose="020B0004020202020204" pitchFamily="34" charset="0"/>
              </a:rPr>
              <a:t>: Ruptures→ Patients perdus→ Perte de chiffre d'affaires</a:t>
            </a:r>
          </a:p>
          <a:p>
            <a:pPr marL="800100" lvl="1" indent="-342900">
              <a:buFont typeface="Courier New" panose="02070309020205020404" pitchFamily="49" charset="0"/>
              <a:buChar char="o"/>
            </a:pPr>
            <a:r>
              <a:rPr lang="fr-FR" sz="2400" dirty="0">
                <a:latin typeface="Aptos" panose="020B0004020202020204" pitchFamily="34" charset="0"/>
              </a:rPr>
              <a:t>Trop de stock </a:t>
            </a:r>
            <a:r>
              <a:rPr lang="fr-FR" sz="2000" dirty="0">
                <a:latin typeface="Aptos" panose="020B0004020202020204" pitchFamily="34" charset="0"/>
              </a:rPr>
              <a:t>: Immobilisation de trésorerie→ Produits périmés→ Baisse de rentabilité</a:t>
            </a:r>
          </a:p>
          <a:p>
            <a:pPr marL="800100" lvl="1" indent="-342900">
              <a:buFont typeface="Courier New" panose="02070309020205020404" pitchFamily="49" charset="0"/>
              <a:buChar char="o"/>
            </a:pPr>
            <a:endParaRPr lang="fr-FR" sz="2000" dirty="0">
              <a:latin typeface="Aptos" panose="020B0004020202020204" pitchFamily="34" charset="0"/>
            </a:endParaRPr>
          </a:p>
          <a:p>
            <a:pPr marL="342900" indent="-342900">
              <a:buFont typeface="Arial" panose="020B0604020202020204" pitchFamily="34" charset="0"/>
              <a:buChar char="•"/>
            </a:pPr>
            <a:r>
              <a:rPr lang="fr-FR" sz="2400" b="1" dirty="0">
                <a:latin typeface="Aptos" panose="020B0004020202020204" pitchFamily="34" charset="0"/>
              </a:rPr>
              <a:t>L'objectif du pharmacien </a:t>
            </a:r>
            <a:r>
              <a:rPr lang="fr-FR" sz="2400" dirty="0">
                <a:latin typeface="Aptos" panose="020B0004020202020204" pitchFamily="34" charset="0"/>
              </a:rPr>
              <a:t>est donc de disposer du bon produit, dans la bonne quantité, au bon moment et au coût optimal.</a:t>
            </a:r>
          </a:p>
        </p:txBody>
      </p:sp>
    </p:spTree>
    <p:extLst>
      <p:ext uri="{BB962C8B-B14F-4D97-AF65-F5344CB8AC3E}">
        <p14:creationId xmlns:p14="http://schemas.microsoft.com/office/powerpoint/2010/main" val="2447688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commandes et des niveaux de stock</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principes fondamentaux de gestion des stocks</a:t>
            </a:r>
            <a:endParaRPr lang="en-US" sz="2400" b="1" dirty="0">
              <a:solidFill>
                <a:schemeClr val="bg1"/>
              </a:solidFill>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74097"/>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Définition du stock</a:t>
            </a:r>
          </a:p>
        </p:txBody>
      </p:sp>
      <p:sp>
        <p:nvSpPr>
          <p:cNvPr id="10" name="ZoneTexte 9">
            <a:extLst>
              <a:ext uri="{FF2B5EF4-FFF2-40B4-BE49-F238E27FC236}">
                <a16:creationId xmlns:a16="http://schemas.microsoft.com/office/drawing/2014/main" id="{8925F612-8AA9-4B9D-A625-3CC07196C7B8}"/>
              </a:ext>
            </a:extLst>
          </p:cNvPr>
          <p:cNvSpPr txBox="1"/>
          <p:nvPr/>
        </p:nvSpPr>
        <p:spPr>
          <a:xfrm>
            <a:off x="751073" y="2610650"/>
            <a:ext cx="10116951" cy="400110"/>
          </a:xfrm>
          <a:prstGeom prst="rect">
            <a:avLst/>
          </a:prstGeom>
          <a:noFill/>
        </p:spPr>
        <p:txBody>
          <a:bodyPr wrap="square">
            <a:spAutoFit/>
          </a:bodyPr>
          <a:lstStyle/>
          <a:p>
            <a:r>
              <a:rPr lang="fr-FR" sz="2000" dirty="0">
                <a:latin typeface="Aptos" panose="020B0004020202020204" pitchFamily="34" charset="0"/>
              </a:rPr>
              <a:t>Le stock représente l'ensemble des produits détenus pour satisfaire la demande future.</a:t>
            </a:r>
            <a:endParaRPr lang="fr-FR" sz="2000" b="1" dirty="0">
              <a:solidFill>
                <a:srgbClr val="F37504"/>
              </a:solidFill>
              <a:latin typeface="Aptos" panose="020B0004020202020204" pitchFamily="34" charset="0"/>
            </a:endParaRPr>
          </a:p>
        </p:txBody>
      </p:sp>
      <p:sp>
        <p:nvSpPr>
          <p:cNvPr id="13" name="ZoneTexte 12">
            <a:extLst>
              <a:ext uri="{FF2B5EF4-FFF2-40B4-BE49-F238E27FC236}">
                <a16:creationId xmlns:a16="http://schemas.microsoft.com/office/drawing/2014/main" id="{15CA4B80-71DD-469A-AE3D-21282C33360D}"/>
              </a:ext>
            </a:extLst>
          </p:cNvPr>
          <p:cNvSpPr txBox="1"/>
          <p:nvPr/>
        </p:nvSpPr>
        <p:spPr>
          <a:xfrm>
            <a:off x="751074" y="3274386"/>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sz="2000" dirty="0">
                <a:solidFill>
                  <a:srgbClr val="014C9B"/>
                </a:solidFill>
              </a:rPr>
              <a:t>Objectifs du stock</a:t>
            </a:r>
          </a:p>
        </p:txBody>
      </p:sp>
      <p:sp>
        <p:nvSpPr>
          <p:cNvPr id="15" name="ZoneTexte 14">
            <a:extLst>
              <a:ext uri="{FF2B5EF4-FFF2-40B4-BE49-F238E27FC236}">
                <a16:creationId xmlns:a16="http://schemas.microsoft.com/office/drawing/2014/main" id="{8D2A6DD4-25B5-4513-BDC3-3DFB0B86358F}"/>
              </a:ext>
            </a:extLst>
          </p:cNvPr>
          <p:cNvSpPr txBox="1"/>
          <p:nvPr/>
        </p:nvSpPr>
        <p:spPr>
          <a:xfrm>
            <a:off x="751073" y="3710939"/>
            <a:ext cx="10116951" cy="1323439"/>
          </a:xfrm>
          <a:prstGeom prst="rect">
            <a:avLst/>
          </a:prstGeom>
          <a:noFill/>
        </p:spPr>
        <p:txBody>
          <a:bodyPr wrap="square">
            <a:spAutoFit/>
          </a:bodyPr>
          <a:lstStyle/>
          <a:p>
            <a:pPr marL="800100" lvl="1" indent="-342900">
              <a:buFont typeface="Arial" panose="020B0604020202020204" pitchFamily="34" charset="0"/>
              <a:buChar char="•"/>
            </a:pPr>
            <a:r>
              <a:rPr lang="fr-FR" sz="2000" dirty="0">
                <a:latin typeface="Aptos" panose="020B0004020202020204" pitchFamily="34" charset="0"/>
              </a:rPr>
              <a:t>Assurer la disponibilité</a:t>
            </a:r>
          </a:p>
          <a:p>
            <a:pPr marL="800100" lvl="1" indent="-342900">
              <a:buFont typeface="Arial" panose="020B0604020202020204" pitchFamily="34" charset="0"/>
              <a:buChar char="•"/>
            </a:pPr>
            <a:r>
              <a:rPr lang="fr-FR" sz="2000" dirty="0">
                <a:latin typeface="Aptos" panose="020B0004020202020204" pitchFamily="34" charset="0"/>
              </a:rPr>
              <a:t>Éviter les ruptures</a:t>
            </a:r>
          </a:p>
          <a:p>
            <a:pPr marL="800100" lvl="1" indent="-342900">
              <a:buFont typeface="Arial" panose="020B0604020202020204" pitchFamily="34" charset="0"/>
              <a:buChar char="•"/>
            </a:pPr>
            <a:r>
              <a:rPr lang="fr-FR" sz="2000" dirty="0">
                <a:latin typeface="Aptos" panose="020B0004020202020204" pitchFamily="34" charset="0"/>
              </a:rPr>
              <a:t>Réduire les coûts</a:t>
            </a:r>
          </a:p>
          <a:p>
            <a:pPr marL="800100" lvl="1" indent="-342900">
              <a:buFont typeface="Arial" panose="020B0604020202020204" pitchFamily="34" charset="0"/>
              <a:buChar char="•"/>
            </a:pPr>
            <a:r>
              <a:rPr lang="fr-FR" sz="2000" dirty="0">
                <a:latin typeface="Aptos" panose="020B0004020202020204" pitchFamily="34" charset="0"/>
              </a:rPr>
              <a:t>Garantir la continuité thérapeutique</a:t>
            </a:r>
            <a:endParaRPr lang="fr-FR" sz="2000" b="1" dirty="0">
              <a:solidFill>
                <a:srgbClr val="F37504"/>
              </a:solidFill>
              <a:latin typeface="Aptos" panose="020B0004020202020204" pitchFamily="34" charset="0"/>
            </a:endParaRPr>
          </a:p>
        </p:txBody>
      </p:sp>
    </p:spTree>
    <p:extLst>
      <p:ext uri="{BB962C8B-B14F-4D97-AF65-F5344CB8AC3E}">
        <p14:creationId xmlns:p14="http://schemas.microsoft.com/office/powerpoint/2010/main" val="2659860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commandes et des niveaux de stock</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principes fondamentaux de gestion des stocks</a:t>
            </a:r>
            <a:endParaRPr lang="en-US" sz="2400" b="1" dirty="0">
              <a:solidFill>
                <a:schemeClr val="bg1"/>
              </a:solidFill>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74097"/>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Les catégories de stock</a:t>
            </a:r>
          </a:p>
        </p:txBody>
      </p:sp>
      <p:sp>
        <p:nvSpPr>
          <p:cNvPr id="10" name="ZoneTexte 9">
            <a:extLst>
              <a:ext uri="{FF2B5EF4-FFF2-40B4-BE49-F238E27FC236}">
                <a16:creationId xmlns:a16="http://schemas.microsoft.com/office/drawing/2014/main" id="{8925F612-8AA9-4B9D-A625-3CC07196C7B8}"/>
              </a:ext>
            </a:extLst>
          </p:cNvPr>
          <p:cNvSpPr txBox="1"/>
          <p:nvPr/>
        </p:nvSpPr>
        <p:spPr>
          <a:xfrm>
            <a:off x="751074" y="2650163"/>
            <a:ext cx="10116951" cy="3170099"/>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Stock disponible </a:t>
            </a:r>
            <a:r>
              <a:rPr lang="fr-FR" sz="2000" dirty="0">
                <a:latin typeface="Aptos" panose="020B0004020202020204" pitchFamily="34" charset="0"/>
              </a:rPr>
              <a:t>: </a:t>
            </a:r>
          </a:p>
          <a:p>
            <a:pPr marL="800100" lvl="1" indent="-342900">
              <a:buFont typeface="Courier New" panose="02070309020205020404" pitchFamily="49" charset="0"/>
              <a:buChar char="o"/>
            </a:pPr>
            <a:r>
              <a:rPr lang="fr-FR" sz="2000" dirty="0">
                <a:latin typeface="Aptos" panose="020B0004020202020204" pitchFamily="34" charset="0"/>
              </a:rPr>
              <a:t>Quantité physiquement disponible.</a:t>
            </a:r>
          </a:p>
          <a:p>
            <a:pPr marL="342900" indent="-342900">
              <a:buFont typeface="Arial" panose="020B0604020202020204" pitchFamily="34" charset="0"/>
              <a:buChar char="•"/>
            </a:pPr>
            <a:r>
              <a:rPr lang="fr-FR" sz="2000" b="1" dirty="0">
                <a:latin typeface="Aptos" panose="020B0004020202020204" pitchFamily="34" charset="0"/>
              </a:rPr>
              <a:t>Stock réservé :  </a:t>
            </a:r>
          </a:p>
          <a:p>
            <a:pPr marL="800100" lvl="1" indent="-342900">
              <a:buFont typeface="Courier New" panose="02070309020205020404" pitchFamily="49" charset="0"/>
              <a:buChar char="o"/>
            </a:pPr>
            <a:r>
              <a:rPr lang="fr-FR" sz="2000" dirty="0">
                <a:latin typeface="Aptos" panose="020B0004020202020204" pitchFamily="34" charset="0"/>
              </a:rPr>
              <a:t>Déjà affecté à une commande ou un patient.</a:t>
            </a:r>
          </a:p>
          <a:p>
            <a:pPr marL="342900" indent="-342900">
              <a:buFont typeface="Arial" panose="020B0604020202020204" pitchFamily="34" charset="0"/>
              <a:buChar char="•"/>
            </a:pPr>
            <a:r>
              <a:rPr lang="fr-FR" sz="2000" b="1" dirty="0">
                <a:latin typeface="Aptos" panose="020B0004020202020204" pitchFamily="34" charset="0"/>
              </a:rPr>
              <a:t>Stock en commande </a:t>
            </a:r>
            <a:r>
              <a:rPr lang="fr-FR" sz="2000" dirty="0">
                <a:latin typeface="Aptos" panose="020B0004020202020204" pitchFamily="34" charset="0"/>
              </a:rPr>
              <a:t>: </a:t>
            </a:r>
          </a:p>
          <a:p>
            <a:pPr marL="800100" lvl="1" indent="-342900">
              <a:buFont typeface="Courier New" panose="02070309020205020404" pitchFamily="49" charset="0"/>
              <a:buChar char="o"/>
            </a:pPr>
            <a:r>
              <a:rPr lang="fr-FR" sz="2000" dirty="0">
                <a:latin typeface="Aptos" panose="020B0004020202020204" pitchFamily="34" charset="0"/>
              </a:rPr>
              <a:t>Produits commandés mais non encore reçus.</a:t>
            </a:r>
          </a:p>
          <a:p>
            <a:pPr marL="342900" indent="-342900">
              <a:buFont typeface="Arial" panose="020B0604020202020204" pitchFamily="34" charset="0"/>
              <a:buChar char="•"/>
            </a:pPr>
            <a:r>
              <a:rPr lang="fr-FR" sz="2000" dirty="0">
                <a:latin typeface="Aptos" panose="020B0004020202020204" pitchFamily="34" charset="0"/>
              </a:rPr>
              <a:t> </a:t>
            </a:r>
            <a:r>
              <a:rPr lang="fr-FR" sz="2000" b="1" dirty="0">
                <a:latin typeface="Aptos" panose="020B0004020202020204" pitchFamily="34" charset="0"/>
              </a:rPr>
              <a:t>Stock périmé </a:t>
            </a:r>
            <a:r>
              <a:rPr lang="fr-FR" sz="2000" dirty="0">
                <a:latin typeface="Aptos" panose="020B0004020202020204" pitchFamily="34" charset="0"/>
              </a:rPr>
              <a:t>: </a:t>
            </a:r>
          </a:p>
          <a:p>
            <a:pPr marL="800100" lvl="1" indent="-342900">
              <a:buFont typeface="Courier New" panose="02070309020205020404" pitchFamily="49" charset="0"/>
              <a:buChar char="o"/>
            </a:pPr>
            <a:r>
              <a:rPr lang="fr-FR" sz="2000" dirty="0">
                <a:latin typeface="Aptos" panose="020B0004020202020204" pitchFamily="34" charset="0"/>
              </a:rPr>
              <a:t>Produits impropres à la vente.</a:t>
            </a:r>
          </a:p>
          <a:p>
            <a:pPr marL="342900" indent="-342900">
              <a:buFont typeface="Arial" panose="020B0604020202020204" pitchFamily="34" charset="0"/>
              <a:buChar char="•"/>
            </a:pPr>
            <a:r>
              <a:rPr lang="fr-FR" sz="2000" b="1" dirty="0">
                <a:latin typeface="Aptos" panose="020B0004020202020204" pitchFamily="34" charset="0"/>
              </a:rPr>
              <a:t>Stock de sécurité </a:t>
            </a:r>
            <a:r>
              <a:rPr lang="fr-FR" sz="2000" dirty="0">
                <a:latin typeface="Aptos" panose="020B0004020202020204" pitchFamily="34" charset="0"/>
              </a:rPr>
              <a:t>: </a:t>
            </a:r>
          </a:p>
          <a:p>
            <a:pPr marL="800100" lvl="1" indent="-342900">
              <a:buFont typeface="Courier New" panose="02070309020205020404" pitchFamily="49" charset="0"/>
              <a:buChar char="o"/>
            </a:pPr>
            <a:r>
              <a:rPr lang="fr-FR" sz="2000" dirty="0">
                <a:latin typeface="Aptos" panose="020B0004020202020204" pitchFamily="34" charset="0"/>
              </a:rPr>
              <a:t>Stock conservé pour faire face aux imprévus.</a:t>
            </a:r>
          </a:p>
        </p:txBody>
      </p:sp>
    </p:spTree>
    <p:extLst>
      <p:ext uri="{BB962C8B-B14F-4D97-AF65-F5344CB8AC3E}">
        <p14:creationId xmlns:p14="http://schemas.microsoft.com/office/powerpoint/2010/main" val="1822915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commandes et des niveaux de stock</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principes fondamentaux de gestion des stocks</a:t>
            </a:r>
            <a:endParaRPr lang="en-US" sz="2400" b="1" dirty="0">
              <a:solidFill>
                <a:schemeClr val="bg1"/>
              </a:solidFill>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74097"/>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Les indicateurs de gestion des stocks</a:t>
            </a:r>
          </a:p>
        </p:txBody>
      </p:sp>
      <p:sp>
        <p:nvSpPr>
          <p:cNvPr id="10" name="ZoneTexte 9">
            <a:extLst>
              <a:ext uri="{FF2B5EF4-FFF2-40B4-BE49-F238E27FC236}">
                <a16:creationId xmlns:a16="http://schemas.microsoft.com/office/drawing/2014/main" id="{8925F612-8AA9-4B9D-A625-3CC07196C7B8}"/>
              </a:ext>
            </a:extLst>
          </p:cNvPr>
          <p:cNvSpPr txBox="1"/>
          <p:nvPr/>
        </p:nvSpPr>
        <p:spPr>
          <a:xfrm>
            <a:off x="751074" y="2650163"/>
            <a:ext cx="10116951" cy="1323439"/>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Consommation Moyenne Mensuelle (CMM) </a:t>
            </a:r>
            <a:r>
              <a:rPr lang="fr-FR" sz="2000" dirty="0">
                <a:latin typeface="Aptos" panose="020B0004020202020204" pitchFamily="34" charset="0"/>
              </a:rPr>
              <a:t>: </a:t>
            </a:r>
          </a:p>
          <a:p>
            <a:pPr marL="800100" lvl="1" indent="-342900">
              <a:buFont typeface="Courier New" panose="02070309020205020404" pitchFamily="49" charset="0"/>
              <a:buChar char="o"/>
            </a:pPr>
            <a:r>
              <a:rPr lang="fr-FR" sz="2000" dirty="0">
                <a:latin typeface="Aptos" panose="020B0004020202020204" pitchFamily="34" charset="0"/>
              </a:rPr>
              <a:t>C'est l'indicateur le plus important.</a:t>
            </a:r>
          </a:p>
          <a:p>
            <a:pPr marL="800100" lvl="1" indent="-342900">
              <a:buFont typeface="Courier New" panose="02070309020205020404" pitchFamily="49" charset="0"/>
              <a:buChar char="o"/>
            </a:pPr>
            <a:r>
              <a:rPr lang="fr-FR" sz="2000" b="1" dirty="0">
                <a:latin typeface="Aptos" panose="020B0004020202020204" pitchFamily="34" charset="0"/>
              </a:rPr>
              <a:t>Formule</a:t>
            </a:r>
            <a:r>
              <a:rPr lang="fr-FR" sz="2000" dirty="0">
                <a:latin typeface="Aptos" panose="020B0004020202020204" pitchFamily="34" charset="0"/>
              </a:rPr>
              <a:t> : CMM = Quantité distribuée ÷ Nombre de mois</a:t>
            </a:r>
          </a:p>
          <a:p>
            <a:pPr marL="800100" lvl="1" indent="-342900">
              <a:buFont typeface="Courier New" panose="02070309020205020404" pitchFamily="49" charset="0"/>
              <a:buChar char="o"/>
            </a:pPr>
            <a:r>
              <a:rPr lang="fr-FR" sz="2000" b="1" dirty="0">
                <a:latin typeface="Aptos" panose="020B0004020202020204" pitchFamily="34" charset="0"/>
              </a:rPr>
              <a:t>Interprétation</a:t>
            </a:r>
            <a:r>
              <a:rPr lang="fr-FR" sz="2000" dirty="0">
                <a:latin typeface="Aptos" panose="020B0004020202020204" pitchFamily="34" charset="0"/>
              </a:rPr>
              <a:t> : L'officine vend en moyenne : CMM boîtes/mois</a:t>
            </a:r>
          </a:p>
        </p:txBody>
      </p:sp>
    </p:spTree>
    <p:extLst>
      <p:ext uri="{BB962C8B-B14F-4D97-AF65-F5344CB8AC3E}">
        <p14:creationId xmlns:p14="http://schemas.microsoft.com/office/powerpoint/2010/main" val="3003194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commandes et des niveaux de stock</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principes fondamentaux de gestion des stocks</a:t>
            </a:r>
            <a:endParaRPr lang="en-US" sz="2400" b="1" dirty="0">
              <a:solidFill>
                <a:schemeClr val="bg1"/>
              </a:solidFill>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74097"/>
            <a:ext cx="5344926"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Le stock de sécurité</a:t>
            </a:r>
          </a:p>
        </p:txBody>
      </p:sp>
      <p:sp>
        <p:nvSpPr>
          <p:cNvPr id="10" name="ZoneTexte 9">
            <a:extLst>
              <a:ext uri="{FF2B5EF4-FFF2-40B4-BE49-F238E27FC236}">
                <a16:creationId xmlns:a16="http://schemas.microsoft.com/office/drawing/2014/main" id="{8925F612-8AA9-4B9D-A625-3CC07196C7B8}"/>
              </a:ext>
            </a:extLst>
          </p:cNvPr>
          <p:cNvSpPr txBox="1"/>
          <p:nvPr/>
        </p:nvSpPr>
        <p:spPr>
          <a:xfrm>
            <a:off x="751075" y="2650163"/>
            <a:ext cx="6392676" cy="3785652"/>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Définition</a:t>
            </a:r>
          </a:p>
          <a:p>
            <a:pPr lvl="1"/>
            <a:r>
              <a:rPr lang="fr-FR" sz="2000" dirty="0">
                <a:latin typeface="Aptos" panose="020B0004020202020204" pitchFamily="34" charset="0"/>
              </a:rPr>
              <a:t>Quantité conservée pour faire face :</a:t>
            </a:r>
          </a:p>
          <a:p>
            <a:pPr marL="1257300" lvl="2" indent="-342900">
              <a:buFont typeface="Courier New" panose="02070309020205020404" pitchFamily="49" charset="0"/>
              <a:buChar char="o"/>
            </a:pPr>
            <a:r>
              <a:rPr lang="fr-FR" sz="2000" dirty="0">
                <a:latin typeface="Aptos" panose="020B0004020202020204" pitchFamily="34" charset="0"/>
              </a:rPr>
              <a:t>aux retards de livraison ;</a:t>
            </a:r>
          </a:p>
          <a:p>
            <a:pPr marL="1257300" lvl="2" indent="-342900">
              <a:buFont typeface="Courier New" panose="02070309020205020404" pitchFamily="49" charset="0"/>
              <a:buChar char="o"/>
            </a:pPr>
            <a:r>
              <a:rPr lang="fr-FR" sz="2000" dirty="0">
                <a:latin typeface="Aptos" panose="020B0004020202020204" pitchFamily="34" charset="0"/>
              </a:rPr>
              <a:t>aux hausses imprévues de consommation ;</a:t>
            </a:r>
          </a:p>
          <a:p>
            <a:pPr marL="1257300" lvl="2" indent="-342900">
              <a:buFont typeface="Courier New" panose="02070309020205020404" pitchFamily="49" charset="0"/>
              <a:buChar char="o"/>
            </a:pPr>
            <a:r>
              <a:rPr lang="fr-FR" sz="2000" dirty="0">
                <a:latin typeface="Aptos" panose="020B0004020202020204" pitchFamily="34" charset="0"/>
              </a:rPr>
              <a:t>aux ruptures fournisseurs.</a:t>
            </a:r>
          </a:p>
          <a:p>
            <a:pPr marL="800100" lvl="1" indent="-342900">
              <a:buFont typeface="Courier New" panose="02070309020205020404" pitchFamily="49" charset="0"/>
              <a:buChar char="o"/>
            </a:pPr>
            <a:endParaRPr lang="fr-FR" sz="2000" dirty="0">
              <a:latin typeface="Aptos" panose="020B0004020202020204" pitchFamily="34" charset="0"/>
            </a:endParaRPr>
          </a:p>
          <a:p>
            <a:pPr lvl="1"/>
            <a:r>
              <a:rPr lang="fr-FR" sz="2000" b="1" dirty="0">
                <a:latin typeface="Aptos" panose="020B0004020202020204" pitchFamily="34" charset="0"/>
              </a:rPr>
              <a:t>Pourquoi est-il indispensable en Afrique ?</a:t>
            </a:r>
          </a:p>
          <a:p>
            <a:pPr lvl="1"/>
            <a:r>
              <a:rPr lang="fr-FR" sz="2000" dirty="0">
                <a:latin typeface="Aptos" panose="020B0004020202020204" pitchFamily="34" charset="0"/>
              </a:rPr>
              <a:t>Les chaînes logistiques sont souvent affectées par :</a:t>
            </a:r>
          </a:p>
          <a:p>
            <a:pPr marL="1257300" lvl="2" indent="-342900">
              <a:buFont typeface="Courier New" panose="02070309020205020404" pitchFamily="49" charset="0"/>
              <a:buChar char="o"/>
            </a:pPr>
            <a:r>
              <a:rPr lang="fr-FR" sz="2000" dirty="0">
                <a:latin typeface="Aptos" panose="020B0004020202020204" pitchFamily="34" charset="0"/>
              </a:rPr>
              <a:t>retards douaniers ;</a:t>
            </a:r>
          </a:p>
          <a:p>
            <a:pPr marL="1257300" lvl="2" indent="-342900">
              <a:buFont typeface="Courier New" panose="02070309020205020404" pitchFamily="49" charset="0"/>
              <a:buChar char="o"/>
            </a:pPr>
            <a:r>
              <a:rPr lang="fr-FR" sz="2000" dirty="0">
                <a:latin typeface="Aptos" panose="020B0004020202020204" pitchFamily="34" charset="0"/>
              </a:rPr>
              <a:t>congestion portuaire ;</a:t>
            </a:r>
          </a:p>
          <a:p>
            <a:pPr marL="1257300" lvl="2" indent="-342900">
              <a:buFont typeface="Courier New" panose="02070309020205020404" pitchFamily="49" charset="0"/>
              <a:buChar char="o"/>
            </a:pPr>
            <a:r>
              <a:rPr lang="fr-FR" sz="2000" dirty="0">
                <a:latin typeface="Aptos" panose="020B0004020202020204" pitchFamily="34" charset="0"/>
              </a:rPr>
              <a:t>fluctuations du marché ;</a:t>
            </a:r>
          </a:p>
          <a:p>
            <a:pPr marL="1257300" lvl="2" indent="-342900">
              <a:buFont typeface="Courier New" panose="02070309020205020404" pitchFamily="49" charset="0"/>
              <a:buChar char="o"/>
            </a:pPr>
            <a:r>
              <a:rPr lang="fr-FR" sz="2000" dirty="0">
                <a:latin typeface="Aptos" panose="020B0004020202020204" pitchFamily="34" charset="0"/>
              </a:rPr>
              <a:t>ruptures fournisseurs.</a:t>
            </a:r>
          </a:p>
        </p:txBody>
      </p:sp>
      <p:sp>
        <p:nvSpPr>
          <p:cNvPr id="13" name="ZoneTexte 12">
            <a:extLst>
              <a:ext uri="{FF2B5EF4-FFF2-40B4-BE49-F238E27FC236}">
                <a16:creationId xmlns:a16="http://schemas.microsoft.com/office/drawing/2014/main" id="{C79EA09F-E8D2-4A08-9D49-8E0079FDAE34}"/>
              </a:ext>
            </a:extLst>
          </p:cNvPr>
          <p:cNvSpPr txBox="1"/>
          <p:nvPr/>
        </p:nvSpPr>
        <p:spPr>
          <a:xfrm>
            <a:off x="7684294" y="3881269"/>
            <a:ext cx="4061432" cy="1323439"/>
          </a:xfrm>
          <a:prstGeom prst="rect">
            <a:avLst/>
          </a:prstGeom>
          <a:noFill/>
        </p:spPr>
        <p:txBody>
          <a:bodyPr wrap="square">
            <a:spAutoFit/>
          </a:bodyPr>
          <a:lstStyle/>
          <a:p>
            <a:r>
              <a:rPr lang="fr-FR" sz="1600" b="1" dirty="0">
                <a:latin typeface="Aptos" panose="020B0004020202020204" pitchFamily="34" charset="0"/>
              </a:rPr>
              <a:t>Cas Bénin</a:t>
            </a:r>
          </a:p>
          <a:p>
            <a:pPr marL="285750" indent="-285750">
              <a:buFont typeface="Arial" panose="020B0604020202020204" pitchFamily="34" charset="0"/>
              <a:buChar char="•"/>
            </a:pPr>
            <a:r>
              <a:rPr lang="fr-FR" sz="1600" dirty="0">
                <a:latin typeface="Aptos" panose="020B0004020202020204" pitchFamily="34" charset="0"/>
              </a:rPr>
              <a:t>Le grossiste annonce 2 semaines de retard.</a:t>
            </a:r>
          </a:p>
          <a:p>
            <a:pPr marL="285750" indent="-285750">
              <a:buFont typeface="Arial" panose="020B0604020202020204" pitchFamily="34" charset="0"/>
              <a:buChar char="•"/>
            </a:pPr>
            <a:r>
              <a:rPr lang="fr-FR" sz="1600" dirty="0">
                <a:latin typeface="Aptos" panose="020B0004020202020204" pitchFamily="34" charset="0"/>
              </a:rPr>
              <a:t>Une officine sans stock de sécurité : rupture immédiate.</a:t>
            </a:r>
          </a:p>
        </p:txBody>
      </p:sp>
    </p:spTree>
    <p:extLst>
      <p:ext uri="{BB962C8B-B14F-4D97-AF65-F5344CB8AC3E}">
        <p14:creationId xmlns:p14="http://schemas.microsoft.com/office/powerpoint/2010/main" val="3193887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commandes et des niveaux de stock</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principes fondamentaux de gestion des stocks</a:t>
            </a:r>
            <a:endParaRPr lang="en-US" sz="2400" b="1" dirty="0">
              <a:solidFill>
                <a:schemeClr val="bg1"/>
              </a:solidFill>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74097"/>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Le délai d'approvisionnement (lead time)</a:t>
            </a:r>
          </a:p>
        </p:txBody>
      </p:sp>
      <p:sp>
        <p:nvSpPr>
          <p:cNvPr id="10" name="ZoneTexte 9">
            <a:extLst>
              <a:ext uri="{FF2B5EF4-FFF2-40B4-BE49-F238E27FC236}">
                <a16:creationId xmlns:a16="http://schemas.microsoft.com/office/drawing/2014/main" id="{8925F612-8AA9-4B9D-A625-3CC07196C7B8}"/>
              </a:ext>
            </a:extLst>
          </p:cNvPr>
          <p:cNvSpPr txBox="1"/>
          <p:nvPr/>
        </p:nvSpPr>
        <p:spPr>
          <a:xfrm>
            <a:off x="751075" y="2650163"/>
            <a:ext cx="6392676" cy="2246769"/>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Définition</a:t>
            </a:r>
          </a:p>
          <a:p>
            <a:pPr lvl="1"/>
            <a:r>
              <a:rPr lang="fr-FR" sz="2000" dirty="0">
                <a:latin typeface="Aptos" panose="020B0004020202020204" pitchFamily="34" charset="0"/>
              </a:rPr>
              <a:t>Temps entre la commande et la réception effective</a:t>
            </a:r>
          </a:p>
          <a:p>
            <a:pPr lvl="1"/>
            <a:endParaRPr lang="fr-FR" sz="2000" dirty="0">
              <a:latin typeface="Aptos" panose="020B0004020202020204" pitchFamily="34" charset="0"/>
            </a:endParaRPr>
          </a:p>
          <a:p>
            <a:pPr lvl="1"/>
            <a:r>
              <a:rPr lang="fr-FR" sz="2000" b="1" dirty="0">
                <a:latin typeface="Aptos" panose="020B0004020202020204" pitchFamily="34" charset="0"/>
              </a:rPr>
              <a:t>Pourquoi le mesurer ?</a:t>
            </a:r>
          </a:p>
          <a:p>
            <a:pPr lvl="1"/>
            <a:r>
              <a:rPr lang="fr-FR" sz="2000" dirty="0">
                <a:latin typeface="Aptos" panose="020B0004020202020204" pitchFamily="34" charset="0"/>
              </a:rPr>
              <a:t>Parce qu'il influence directement :</a:t>
            </a:r>
          </a:p>
          <a:p>
            <a:pPr marL="1257300" lvl="2" indent="-342900">
              <a:buFont typeface="Arial" panose="020B0604020202020204" pitchFamily="34" charset="0"/>
              <a:buChar char="•"/>
            </a:pPr>
            <a:r>
              <a:rPr lang="fr-FR" sz="2000" dirty="0">
                <a:latin typeface="Aptos" panose="020B0004020202020204" pitchFamily="34" charset="0"/>
              </a:rPr>
              <a:t>Le moment de commande ;</a:t>
            </a:r>
          </a:p>
          <a:p>
            <a:pPr marL="1257300" lvl="2" indent="-342900">
              <a:buFont typeface="Arial" panose="020B0604020202020204" pitchFamily="34" charset="0"/>
              <a:buChar char="•"/>
            </a:pPr>
            <a:r>
              <a:rPr lang="fr-FR" sz="2000" dirty="0">
                <a:latin typeface="Aptos" panose="020B0004020202020204" pitchFamily="34" charset="0"/>
              </a:rPr>
              <a:t>Le stock de sécurité.</a:t>
            </a:r>
          </a:p>
        </p:txBody>
      </p:sp>
    </p:spTree>
    <p:extLst>
      <p:ext uri="{BB962C8B-B14F-4D97-AF65-F5344CB8AC3E}">
        <p14:creationId xmlns:p14="http://schemas.microsoft.com/office/powerpoint/2010/main" val="1878355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commandes et des niveaux de stock</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principes fondamentaux de gestion des stocks</a:t>
            </a:r>
            <a:endParaRPr lang="en-US" sz="2400" b="1" dirty="0">
              <a:solidFill>
                <a:schemeClr val="bg1"/>
              </a:solidFill>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74097"/>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Le point de commande</a:t>
            </a:r>
          </a:p>
        </p:txBody>
      </p:sp>
      <p:sp>
        <p:nvSpPr>
          <p:cNvPr id="10" name="ZoneTexte 9">
            <a:extLst>
              <a:ext uri="{FF2B5EF4-FFF2-40B4-BE49-F238E27FC236}">
                <a16:creationId xmlns:a16="http://schemas.microsoft.com/office/drawing/2014/main" id="{8925F612-8AA9-4B9D-A625-3CC07196C7B8}"/>
              </a:ext>
            </a:extLst>
          </p:cNvPr>
          <p:cNvSpPr txBox="1"/>
          <p:nvPr/>
        </p:nvSpPr>
        <p:spPr>
          <a:xfrm>
            <a:off x="751075" y="2650163"/>
            <a:ext cx="6528266" cy="2246769"/>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Définition</a:t>
            </a:r>
          </a:p>
          <a:p>
            <a:pPr lvl="1"/>
            <a:r>
              <a:rPr lang="fr-FR" sz="2000" dirty="0">
                <a:latin typeface="Aptos" panose="020B0004020202020204" pitchFamily="34" charset="0"/>
              </a:rPr>
              <a:t>Niveau de stock à partir duquel il faut passer une commande.</a:t>
            </a:r>
          </a:p>
          <a:p>
            <a:pPr lvl="1"/>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Formule </a:t>
            </a:r>
          </a:p>
          <a:p>
            <a:pPr lvl="1"/>
            <a:r>
              <a:rPr lang="fr-FR" sz="2000" dirty="0">
                <a:latin typeface="Aptos" panose="020B0004020202020204" pitchFamily="34" charset="0"/>
              </a:rPr>
              <a:t>Point de commande = Consommation pendant le délai d'approvisionnement + Stock de sécurité</a:t>
            </a:r>
          </a:p>
        </p:txBody>
      </p:sp>
    </p:spTree>
    <p:extLst>
      <p:ext uri="{BB962C8B-B14F-4D97-AF65-F5344CB8AC3E}">
        <p14:creationId xmlns:p14="http://schemas.microsoft.com/office/powerpoint/2010/main" val="1867286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commandes et des niveaux de stock</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principes fondamentaux de gestion des stocks</a:t>
            </a:r>
            <a:endParaRPr lang="en-US" sz="2400" b="1" dirty="0">
              <a:solidFill>
                <a:schemeClr val="bg1"/>
              </a:solidFill>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74097"/>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Le stock minimum et le stock maximum</a:t>
            </a:r>
          </a:p>
        </p:txBody>
      </p:sp>
      <p:sp>
        <p:nvSpPr>
          <p:cNvPr id="10" name="ZoneTexte 9">
            <a:extLst>
              <a:ext uri="{FF2B5EF4-FFF2-40B4-BE49-F238E27FC236}">
                <a16:creationId xmlns:a16="http://schemas.microsoft.com/office/drawing/2014/main" id="{8925F612-8AA9-4B9D-A625-3CC07196C7B8}"/>
              </a:ext>
            </a:extLst>
          </p:cNvPr>
          <p:cNvSpPr txBox="1"/>
          <p:nvPr/>
        </p:nvSpPr>
        <p:spPr>
          <a:xfrm>
            <a:off x="751075" y="2650163"/>
            <a:ext cx="6528266" cy="1015663"/>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Stock minimum</a:t>
            </a:r>
          </a:p>
          <a:p>
            <a:pPr lvl="1"/>
            <a:r>
              <a:rPr lang="fr-FR" sz="2000" dirty="0">
                <a:latin typeface="Aptos" panose="020B0004020202020204" pitchFamily="34" charset="0"/>
              </a:rPr>
              <a:t>Niveau à ne jamais franchir.</a:t>
            </a:r>
          </a:p>
          <a:p>
            <a:pPr marL="800100" lvl="1" indent="-342900">
              <a:buFont typeface="Courier New" panose="02070309020205020404" pitchFamily="49" charset="0"/>
              <a:buChar char="o"/>
            </a:pPr>
            <a:r>
              <a:rPr lang="fr-FR" sz="2000" b="1" dirty="0">
                <a:latin typeface="Aptos" panose="020B0004020202020204" pitchFamily="34" charset="0"/>
              </a:rPr>
              <a:t>Formule : </a:t>
            </a:r>
            <a:r>
              <a:rPr lang="fr-FR" sz="2000" dirty="0">
                <a:latin typeface="Aptos" panose="020B0004020202020204" pitchFamily="34" charset="0"/>
              </a:rPr>
              <a:t>Stock minimum=Stock de sécurité</a:t>
            </a:r>
          </a:p>
        </p:txBody>
      </p:sp>
      <p:sp>
        <p:nvSpPr>
          <p:cNvPr id="13" name="ZoneTexte 12">
            <a:extLst>
              <a:ext uri="{FF2B5EF4-FFF2-40B4-BE49-F238E27FC236}">
                <a16:creationId xmlns:a16="http://schemas.microsoft.com/office/drawing/2014/main" id="{4F802501-0574-4411-A4B2-7FAC98D597FB}"/>
              </a:ext>
            </a:extLst>
          </p:cNvPr>
          <p:cNvSpPr txBox="1"/>
          <p:nvPr/>
        </p:nvSpPr>
        <p:spPr>
          <a:xfrm>
            <a:off x="751075" y="4111249"/>
            <a:ext cx="6528266" cy="2246769"/>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Stock maximum</a:t>
            </a:r>
          </a:p>
          <a:p>
            <a:pPr lvl="1"/>
            <a:r>
              <a:rPr lang="fr-FR" sz="2000" dirty="0">
                <a:latin typeface="Aptos" panose="020B0004020202020204" pitchFamily="34" charset="0"/>
              </a:rPr>
              <a:t>Niveau à ne pas dépasser.</a:t>
            </a:r>
          </a:p>
          <a:p>
            <a:pPr marL="800100" lvl="1" indent="-342900">
              <a:buFont typeface="Courier New" panose="02070309020205020404" pitchFamily="49" charset="0"/>
              <a:buChar char="o"/>
            </a:pPr>
            <a:r>
              <a:rPr lang="fr-FR" sz="2000" b="1" dirty="0">
                <a:latin typeface="Aptos" panose="020B0004020202020204" pitchFamily="34" charset="0"/>
              </a:rPr>
              <a:t>Pourquoi ? : </a:t>
            </a:r>
          </a:p>
          <a:p>
            <a:pPr lvl="2"/>
            <a:r>
              <a:rPr lang="fr-FR" sz="2000" dirty="0">
                <a:latin typeface="Aptos" panose="020B0004020202020204" pitchFamily="34" charset="0"/>
              </a:rPr>
              <a:t>Éviter :</a:t>
            </a:r>
          </a:p>
          <a:p>
            <a:pPr marL="1714500" lvl="3" indent="-342900">
              <a:buFont typeface="Wingdings" panose="05000000000000000000" pitchFamily="2" charset="2"/>
              <a:buChar char="ü"/>
            </a:pPr>
            <a:r>
              <a:rPr lang="fr-FR" sz="2000" dirty="0">
                <a:latin typeface="Aptos" panose="020B0004020202020204" pitchFamily="34" charset="0"/>
              </a:rPr>
              <a:t>immobilisation financière ;</a:t>
            </a:r>
          </a:p>
          <a:p>
            <a:pPr marL="1714500" lvl="3" indent="-342900">
              <a:buFont typeface="Wingdings" panose="05000000000000000000" pitchFamily="2" charset="2"/>
              <a:buChar char="ü"/>
            </a:pPr>
            <a:r>
              <a:rPr lang="fr-FR" sz="2000" dirty="0">
                <a:latin typeface="Aptos" panose="020B0004020202020204" pitchFamily="34" charset="0"/>
              </a:rPr>
              <a:t>péremption ;</a:t>
            </a:r>
          </a:p>
          <a:p>
            <a:pPr marL="1714500" lvl="3" indent="-342900">
              <a:buFont typeface="Wingdings" panose="05000000000000000000" pitchFamily="2" charset="2"/>
              <a:buChar char="ü"/>
            </a:pPr>
            <a:r>
              <a:rPr lang="fr-FR" sz="2000" dirty="0">
                <a:latin typeface="Aptos" panose="020B0004020202020204" pitchFamily="34" charset="0"/>
              </a:rPr>
              <a:t>encombrement.</a:t>
            </a:r>
          </a:p>
        </p:txBody>
      </p:sp>
    </p:spTree>
    <p:extLst>
      <p:ext uri="{BB962C8B-B14F-4D97-AF65-F5344CB8AC3E}">
        <p14:creationId xmlns:p14="http://schemas.microsoft.com/office/powerpoint/2010/main" val="3694952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commandes et des niveaux de stock</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principes fondamentaux de gestion des stocks</a:t>
            </a:r>
            <a:endParaRPr lang="en-US" sz="2400" b="1" dirty="0">
              <a:solidFill>
                <a:schemeClr val="bg1"/>
              </a:solidFill>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74097"/>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La couverture de stock</a:t>
            </a:r>
          </a:p>
        </p:txBody>
      </p:sp>
      <p:sp>
        <p:nvSpPr>
          <p:cNvPr id="10" name="ZoneTexte 9">
            <a:extLst>
              <a:ext uri="{FF2B5EF4-FFF2-40B4-BE49-F238E27FC236}">
                <a16:creationId xmlns:a16="http://schemas.microsoft.com/office/drawing/2014/main" id="{8925F612-8AA9-4B9D-A625-3CC07196C7B8}"/>
              </a:ext>
            </a:extLst>
          </p:cNvPr>
          <p:cNvSpPr txBox="1"/>
          <p:nvPr/>
        </p:nvSpPr>
        <p:spPr>
          <a:xfrm>
            <a:off x="751075" y="2650163"/>
            <a:ext cx="6528266" cy="1323439"/>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Définition</a:t>
            </a:r>
          </a:p>
          <a:p>
            <a:pPr lvl="1"/>
            <a:r>
              <a:rPr lang="fr-FR" sz="2000" dirty="0">
                <a:latin typeface="Aptos" panose="020B0004020202020204" pitchFamily="34" charset="0"/>
              </a:rPr>
              <a:t>Nombre de mois pendant lesquels le stock actuel peut satisfaire la demande.</a:t>
            </a:r>
          </a:p>
          <a:p>
            <a:pPr marL="800100" lvl="1" indent="-342900">
              <a:buFont typeface="Courier New" panose="02070309020205020404" pitchFamily="49" charset="0"/>
              <a:buChar char="o"/>
            </a:pPr>
            <a:r>
              <a:rPr lang="fr-FR" sz="2000" b="1" dirty="0">
                <a:latin typeface="Aptos" panose="020B0004020202020204" pitchFamily="34" charset="0"/>
              </a:rPr>
              <a:t>Formule : </a:t>
            </a:r>
            <a:r>
              <a:rPr lang="fr-FR" sz="2000" dirty="0">
                <a:latin typeface="Aptos" panose="020B0004020202020204" pitchFamily="34" charset="0"/>
              </a:rPr>
              <a:t>Couverture = Stock disponible ÷ CMM</a:t>
            </a:r>
          </a:p>
        </p:txBody>
      </p:sp>
    </p:spTree>
    <p:extLst>
      <p:ext uri="{BB962C8B-B14F-4D97-AF65-F5344CB8AC3E}">
        <p14:creationId xmlns:p14="http://schemas.microsoft.com/office/powerpoint/2010/main" val="353646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commandes et des niveaux de stock</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principes fondamentaux de gestion des stocks</a:t>
            </a:r>
            <a:endParaRPr lang="en-US" sz="2400" b="1" dirty="0">
              <a:solidFill>
                <a:schemeClr val="bg1"/>
              </a:solidFill>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74097"/>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Classification ABC</a:t>
            </a:r>
          </a:p>
        </p:txBody>
      </p:sp>
      <p:sp>
        <p:nvSpPr>
          <p:cNvPr id="10" name="ZoneTexte 9">
            <a:extLst>
              <a:ext uri="{FF2B5EF4-FFF2-40B4-BE49-F238E27FC236}">
                <a16:creationId xmlns:a16="http://schemas.microsoft.com/office/drawing/2014/main" id="{8925F612-8AA9-4B9D-A625-3CC07196C7B8}"/>
              </a:ext>
            </a:extLst>
          </p:cNvPr>
          <p:cNvSpPr txBox="1"/>
          <p:nvPr/>
        </p:nvSpPr>
        <p:spPr>
          <a:xfrm>
            <a:off x="751074" y="2650163"/>
            <a:ext cx="9145961" cy="3477875"/>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Pourquoi classer les produits ?</a:t>
            </a:r>
          </a:p>
          <a:p>
            <a:pPr lvl="1"/>
            <a:r>
              <a:rPr lang="fr-FR" sz="2000" dirty="0">
                <a:latin typeface="Aptos" panose="020B0004020202020204" pitchFamily="34" charset="0"/>
              </a:rPr>
              <a:t>Tous les produits n'ont pas la même importance financière.</a:t>
            </a:r>
          </a:p>
          <a:p>
            <a:pPr marL="800100" lvl="1" indent="-342900">
              <a:buFont typeface="Courier New" panose="02070309020205020404" pitchFamily="49" charset="0"/>
              <a:buChar char="o"/>
            </a:pPr>
            <a:r>
              <a:rPr lang="fr-FR" sz="2000" b="1" dirty="0">
                <a:latin typeface="Aptos" panose="020B0004020202020204" pitchFamily="34" charset="0"/>
              </a:rPr>
              <a:t>Catégorie A : </a:t>
            </a:r>
            <a:r>
              <a:rPr lang="fr-FR" sz="2000" dirty="0">
                <a:latin typeface="Aptos" panose="020B0004020202020204" pitchFamily="34" charset="0"/>
              </a:rPr>
              <a:t>10 à 20 % des produits mais70 à 80 % de la valeur du stock</a:t>
            </a:r>
          </a:p>
          <a:p>
            <a:pPr marL="800100" lvl="1" indent="-342900">
              <a:buFont typeface="Courier New" panose="02070309020205020404" pitchFamily="49" charset="0"/>
              <a:buChar char="o"/>
            </a:pPr>
            <a:r>
              <a:rPr lang="fr-FR" sz="2000" b="1" dirty="0">
                <a:latin typeface="Aptos" panose="020B0004020202020204" pitchFamily="34" charset="0"/>
              </a:rPr>
              <a:t>Catégorie B </a:t>
            </a:r>
            <a:r>
              <a:rPr lang="fr-FR" sz="2000" dirty="0">
                <a:latin typeface="Aptos" panose="020B0004020202020204" pitchFamily="34" charset="0"/>
              </a:rPr>
              <a:t>: Importance intermédiaire.</a:t>
            </a:r>
          </a:p>
          <a:p>
            <a:pPr marL="800100" lvl="1" indent="-342900">
              <a:buFont typeface="Courier New" panose="02070309020205020404" pitchFamily="49" charset="0"/>
              <a:buChar char="o"/>
            </a:pPr>
            <a:r>
              <a:rPr lang="fr-FR" sz="2000" b="1" dirty="0">
                <a:latin typeface="Aptos" panose="020B0004020202020204" pitchFamily="34" charset="0"/>
              </a:rPr>
              <a:t>Catégorie C </a:t>
            </a:r>
            <a:r>
              <a:rPr lang="fr-FR" sz="2000" dirty="0">
                <a:latin typeface="Aptos" panose="020B0004020202020204" pitchFamily="34" charset="0"/>
              </a:rPr>
              <a:t>: Nombreux produits mais faible valeur financière.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Application pratique </a:t>
            </a:r>
            <a:r>
              <a:rPr lang="fr-FR" sz="2000" dirty="0">
                <a:latin typeface="Aptos" panose="020B0004020202020204" pitchFamily="34" charset="0"/>
              </a:rPr>
              <a:t>: </a:t>
            </a:r>
          </a:p>
          <a:p>
            <a:pPr lvl="1"/>
            <a:r>
              <a:rPr lang="fr-FR" sz="2000" dirty="0">
                <a:latin typeface="Aptos" panose="020B0004020202020204" pitchFamily="34" charset="0"/>
              </a:rPr>
              <a:t>Les produits A doivent être :</a:t>
            </a:r>
          </a:p>
          <a:p>
            <a:pPr marL="800100" lvl="1" indent="-342900">
              <a:buFont typeface="Courier New" panose="02070309020205020404" pitchFamily="49" charset="0"/>
              <a:buChar char="o"/>
            </a:pPr>
            <a:r>
              <a:rPr lang="fr-FR" sz="2000" dirty="0">
                <a:latin typeface="Aptos" panose="020B0004020202020204" pitchFamily="34" charset="0"/>
              </a:rPr>
              <a:t>surveillés quotidiennement</a:t>
            </a:r>
          </a:p>
          <a:p>
            <a:pPr marL="800100" lvl="1" indent="-342900">
              <a:buFont typeface="Courier New" panose="02070309020205020404" pitchFamily="49" charset="0"/>
              <a:buChar char="o"/>
            </a:pPr>
            <a:r>
              <a:rPr lang="fr-FR" sz="2000" dirty="0">
                <a:latin typeface="Aptos" panose="020B0004020202020204" pitchFamily="34" charset="0"/>
              </a:rPr>
              <a:t>inventoriés fréquemment</a:t>
            </a:r>
          </a:p>
          <a:p>
            <a:pPr marL="800100" lvl="1" indent="-342900">
              <a:buFont typeface="Courier New" panose="02070309020205020404" pitchFamily="49" charset="0"/>
              <a:buChar char="o"/>
            </a:pPr>
            <a:r>
              <a:rPr lang="fr-FR" sz="2000" dirty="0">
                <a:latin typeface="Aptos" panose="020B0004020202020204" pitchFamily="34" charset="0"/>
              </a:rPr>
              <a:t>sécurisés</a:t>
            </a:r>
          </a:p>
        </p:txBody>
      </p:sp>
    </p:spTree>
    <p:extLst>
      <p:ext uri="{BB962C8B-B14F-4D97-AF65-F5344CB8AC3E}">
        <p14:creationId xmlns:p14="http://schemas.microsoft.com/office/powerpoint/2010/main" val="128249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commandes et des niveaux de stock</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principes fondamentaux de gestion des stocks</a:t>
            </a:r>
            <a:endParaRPr lang="en-US" sz="2400" b="1" dirty="0">
              <a:solidFill>
                <a:schemeClr val="bg1"/>
              </a:solidFill>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74097"/>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Gestion des ruptures</a:t>
            </a:r>
          </a:p>
        </p:txBody>
      </p:sp>
      <p:sp>
        <p:nvSpPr>
          <p:cNvPr id="10" name="ZoneTexte 9">
            <a:extLst>
              <a:ext uri="{FF2B5EF4-FFF2-40B4-BE49-F238E27FC236}">
                <a16:creationId xmlns:a16="http://schemas.microsoft.com/office/drawing/2014/main" id="{8925F612-8AA9-4B9D-A625-3CC07196C7B8}"/>
              </a:ext>
            </a:extLst>
          </p:cNvPr>
          <p:cNvSpPr txBox="1"/>
          <p:nvPr/>
        </p:nvSpPr>
        <p:spPr>
          <a:xfrm>
            <a:off x="751074" y="2650163"/>
            <a:ext cx="9145961" cy="3170099"/>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Causes fréquentes</a:t>
            </a:r>
          </a:p>
          <a:p>
            <a:pPr marL="800100" lvl="1" indent="-342900">
              <a:buFont typeface="Courier New" panose="02070309020205020404" pitchFamily="49" charset="0"/>
              <a:buChar char="o"/>
            </a:pPr>
            <a:r>
              <a:rPr lang="fr-FR" sz="2000" dirty="0">
                <a:latin typeface="Aptos" panose="020B0004020202020204" pitchFamily="34" charset="0"/>
              </a:rPr>
              <a:t>Sous-estimation de la demande</a:t>
            </a:r>
          </a:p>
          <a:p>
            <a:pPr marL="800100" lvl="1" indent="-342900">
              <a:buFont typeface="Courier New" panose="02070309020205020404" pitchFamily="49" charset="0"/>
              <a:buChar char="o"/>
            </a:pPr>
            <a:r>
              <a:rPr lang="fr-FR" sz="2000" dirty="0">
                <a:latin typeface="Aptos" panose="020B0004020202020204" pitchFamily="34" charset="0"/>
              </a:rPr>
              <a:t>Commandes tardives</a:t>
            </a:r>
          </a:p>
          <a:p>
            <a:pPr marL="800100" lvl="1" indent="-342900">
              <a:buFont typeface="Courier New" panose="02070309020205020404" pitchFamily="49" charset="0"/>
              <a:buChar char="o"/>
            </a:pPr>
            <a:r>
              <a:rPr lang="fr-FR" sz="2000" dirty="0">
                <a:latin typeface="Aptos" panose="020B0004020202020204" pitchFamily="34" charset="0"/>
              </a:rPr>
              <a:t>Retards fournisseurs</a:t>
            </a:r>
          </a:p>
          <a:p>
            <a:pPr marL="800100" lvl="1" indent="-342900">
              <a:buFont typeface="Courier New" panose="02070309020205020404" pitchFamily="49" charset="0"/>
              <a:buChar char="o"/>
            </a:pPr>
            <a:r>
              <a:rPr lang="fr-FR" sz="2000" dirty="0">
                <a:latin typeface="Aptos" panose="020B0004020202020204" pitchFamily="34" charset="0"/>
              </a:rPr>
              <a:t>Mauvais suivi des stocks</a:t>
            </a:r>
          </a:p>
          <a:p>
            <a:pPr marL="342900" indent="-342900">
              <a:buFont typeface="Arial" panose="020B0604020202020204" pitchFamily="34" charset="0"/>
              <a:buChar char="•"/>
            </a:pPr>
            <a:r>
              <a:rPr lang="fr-FR" sz="2000" b="1" dirty="0">
                <a:latin typeface="Aptos" panose="020B0004020202020204" pitchFamily="34" charset="0"/>
              </a:rPr>
              <a:t>Actions correctives </a:t>
            </a:r>
            <a:r>
              <a:rPr lang="fr-FR" sz="2000" dirty="0">
                <a:latin typeface="Aptos" panose="020B0004020202020204" pitchFamily="34" charset="0"/>
              </a:rPr>
              <a:t>: </a:t>
            </a:r>
          </a:p>
          <a:p>
            <a:pPr marL="800100" lvl="1" indent="-342900">
              <a:buFont typeface="Courier New" panose="02070309020205020404" pitchFamily="49" charset="0"/>
              <a:buChar char="o"/>
            </a:pPr>
            <a:r>
              <a:rPr lang="fr-FR" sz="2000" dirty="0">
                <a:latin typeface="Aptos" panose="020B0004020202020204" pitchFamily="34" charset="0"/>
              </a:rPr>
              <a:t>Réapprovisionnement urgent</a:t>
            </a:r>
          </a:p>
          <a:p>
            <a:pPr marL="800100" lvl="1" indent="-342900">
              <a:buFont typeface="Courier New" panose="02070309020205020404" pitchFamily="49" charset="0"/>
              <a:buChar char="o"/>
            </a:pPr>
            <a:r>
              <a:rPr lang="fr-FR" sz="2000" dirty="0">
                <a:latin typeface="Aptos" panose="020B0004020202020204" pitchFamily="34" charset="0"/>
              </a:rPr>
              <a:t>Recherche d'alternatives</a:t>
            </a:r>
          </a:p>
          <a:p>
            <a:pPr marL="800100" lvl="1" indent="-342900">
              <a:buFont typeface="Courier New" panose="02070309020205020404" pitchFamily="49" charset="0"/>
              <a:buChar char="o"/>
            </a:pPr>
            <a:r>
              <a:rPr lang="fr-FR" sz="2000" dirty="0">
                <a:latin typeface="Aptos" panose="020B0004020202020204" pitchFamily="34" charset="0"/>
              </a:rPr>
              <a:t>Communication au patient</a:t>
            </a:r>
          </a:p>
          <a:p>
            <a:pPr marL="800100" lvl="1" indent="-342900">
              <a:buFont typeface="Courier New" panose="02070309020205020404" pitchFamily="49" charset="0"/>
              <a:buChar char="o"/>
            </a:pPr>
            <a:r>
              <a:rPr lang="fr-FR" sz="2000" dirty="0">
                <a:latin typeface="Aptos" panose="020B0004020202020204" pitchFamily="34" charset="0"/>
              </a:rPr>
              <a:t>Révision des paramètres de stock</a:t>
            </a:r>
          </a:p>
        </p:txBody>
      </p:sp>
    </p:spTree>
    <p:extLst>
      <p:ext uri="{BB962C8B-B14F-4D97-AF65-F5344CB8AC3E}">
        <p14:creationId xmlns:p14="http://schemas.microsoft.com/office/powerpoint/2010/main" val="656794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commandes et des niveaux de stock</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principes fondamentaux de gestion des stocks</a:t>
            </a:r>
            <a:endParaRPr lang="en-US" sz="2400" b="1" dirty="0">
              <a:solidFill>
                <a:schemeClr val="bg1"/>
              </a:solidFill>
            </a:endParaRPr>
          </a:p>
        </p:txBody>
      </p:sp>
      <p:sp>
        <p:nvSpPr>
          <p:cNvPr id="11" name="ZoneTexte 10">
            <a:extLst>
              <a:ext uri="{FF2B5EF4-FFF2-40B4-BE49-F238E27FC236}">
                <a16:creationId xmlns:a16="http://schemas.microsoft.com/office/drawing/2014/main" id="{56C35AFF-BA4D-4603-B9C2-1BD74C47082F}"/>
              </a:ext>
            </a:extLst>
          </p:cNvPr>
          <p:cNvSpPr txBox="1"/>
          <p:nvPr/>
        </p:nvSpPr>
        <p:spPr>
          <a:xfrm>
            <a:off x="751074" y="2174097"/>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Planification des commandes</a:t>
            </a:r>
          </a:p>
        </p:txBody>
      </p:sp>
      <p:sp>
        <p:nvSpPr>
          <p:cNvPr id="10" name="ZoneTexte 9">
            <a:extLst>
              <a:ext uri="{FF2B5EF4-FFF2-40B4-BE49-F238E27FC236}">
                <a16:creationId xmlns:a16="http://schemas.microsoft.com/office/drawing/2014/main" id="{8925F612-8AA9-4B9D-A625-3CC07196C7B8}"/>
              </a:ext>
            </a:extLst>
          </p:cNvPr>
          <p:cNvSpPr txBox="1"/>
          <p:nvPr/>
        </p:nvSpPr>
        <p:spPr>
          <a:xfrm>
            <a:off x="751074" y="2650163"/>
            <a:ext cx="9145961" cy="2862322"/>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Produits A</a:t>
            </a:r>
          </a:p>
          <a:p>
            <a:pPr marL="800100" lvl="1" indent="-342900">
              <a:buFont typeface="Courier New" panose="02070309020205020404" pitchFamily="49" charset="0"/>
              <a:buChar char="o"/>
            </a:pPr>
            <a:r>
              <a:rPr lang="fr-FR" sz="2000" dirty="0">
                <a:latin typeface="Aptos" panose="020B0004020202020204" pitchFamily="34" charset="0"/>
              </a:rPr>
              <a:t>Hebdomadaire</a:t>
            </a:r>
          </a:p>
          <a:p>
            <a:pPr marL="800100" lvl="1" indent="-342900">
              <a:buFont typeface="Courier New" panose="02070309020205020404" pitchFamily="49" charset="0"/>
              <a:buChar char="o"/>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Produits B</a:t>
            </a:r>
          </a:p>
          <a:p>
            <a:pPr marL="800100" lvl="1" indent="-342900">
              <a:buFont typeface="Courier New" panose="02070309020205020404" pitchFamily="49" charset="0"/>
              <a:buChar char="o"/>
            </a:pPr>
            <a:r>
              <a:rPr lang="fr-FR" sz="2000" dirty="0">
                <a:latin typeface="Aptos" panose="020B0004020202020204" pitchFamily="34" charset="0"/>
              </a:rPr>
              <a:t>Toutes les 2 semaines</a:t>
            </a:r>
          </a:p>
          <a:p>
            <a:pPr marL="800100" lvl="1" indent="-342900">
              <a:buFont typeface="Courier New" panose="02070309020205020404" pitchFamily="49" charset="0"/>
              <a:buChar char="o"/>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Produits C</a:t>
            </a:r>
          </a:p>
          <a:p>
            <a:pPr marL="800100" lvl="1" indent="-342900">
              <a:buFont typeface="Courier New" panose="02070309020205020404" pitchFamily="49" charset="0"/>
              <a:buChar char="o"/>
            </a:pPr>
            <a:r>
              <a:rPr lang="fr-FR" sz="2000" dirty="0">
                <a:latin typeface="Aptos" panose="020B0004020202020204" pitchFamily="34" charset="0"/>
              </a:rPr>
              <a:t>Mensuelle</a:t>
            </a:r>
          </a:p>
          <a:p>
            <a:pPr marL="342900" indent="-342900">
              <a:buFont typeface="Arial" panose="020B0604020202020204" pitchFamily="34" charset="0"/>
              <a:buChar char="•"/>
            </a:pPr>
            <a:endParaRPr lang="fr-FR" sz="2000" dirty="0">
              <a:latin typeface="Aptos" panose="020B0004020202020204" pitchFamily="34" charset="0"/>
            </a:endParaRPr>
          </a:p>
        </p:txBody>
      </p:sp>
    </p:spTree>
    <p:extLst>
      <p:ext uri="{BB962C8B-B14F-4D97-AF65-F5344CB8AC3E}">
        <p14:creationId xmlns:p14="http://schemas.microsoft.com/office/powerpoint/2010/main" val="683856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commandes et des niveaux de stock</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Message clé à retenir</a:t>
            </a:r>
            <a:endParaRPr lang="en-US" sz="2400" b="1" dirty="0">
              <a:solidFill>
                <a:schemeClr val="bg1"/>
              </a:solidFill>
            </a:endParaRPr>
          </a:p>
        </p:txBody>
      </p:sp>
      <p:sp>
        <p:nvSpPr>
          <p:cNvPr id="10" name="ZoneTexte 9">
            <a:extLst>
              <a:ext uri="{FF2B5EF4-FFF2-40B4-BE49-F238E27FC236}">
                <a16:creationId xmlns:a16="http://schemas.microsoft.com/office/drawing/2014/main" id="{8925F612-8AA9-4B9D-A625-3CC07196C7B8}"/>
              </a:ext>
            </a:extLst>
          </p:cNvPr>
          <p:cNvSpPr txBox="1"/>
          <p:nvPr/>
        </p:nvSpPr>
        <p:spPr>
          <a:xfrm>
            <a:off x="753042" y="2234838"/>
            <a:ext cx="10212000" cy="132343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Une bonne gestion des stocks ne consiste pas à remplir les étagères.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Elle consiste à disposer des quantités optimales permettant de satisfaire les patients tout en préservant la trésorerie et la rentabilité de l'officine.</a:t>
            </a:r>
          </a:p>
        </p:txBody>
      </p:sp>
    </p:spTree>
    <p:extLst>
      <p:ext uri="{BB962C8B-B14F-4D97-AF65-F5344CB8AC3E}">
        <p14:creationId xmlns:p14="http://schemas.microsoft.com/office/powerpoint/2010/main" val="2980192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Méthodes d'inventaire et gestion des périmés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0" name="ZoneTexte 9">
            <a:extLst>
              <a:ext uri="{FF2B5EF4-FFF2-40B4-BE49-F238E27FC236}">
                <a16:creationId xmlns:a16="http://schemas.microsoft.com/office/drawing/2014/main" id="{8925F612-8AA9-4B9D-A625-3CC07196C7B8}"/>
              </a:ext>
            </a:extLst>
          </p:cNvPr>
          <p:cNvSpPr txBox="1"/>
          <p:nvPr/>
        </p:nvSpPr>
        <p:spPr>
          <a:xfrm>
            <a:off x="753042" y="2234838"/>
            <a:ext cx="10212000" cy="2554545"/>
          </a:xfrm>
          <a:prstGeom prst="rect">
            <a:avLst/>
          </a:prstGeom>
          <a:noFill/>
        </p:spPr>
        <p:txBody>
          <a:bodyPr wrap="square">
            <a:spAutoFit/>
          </a:bodyPr>
          <a:lstStyle/>
          <a:p>
            <a:r>
              <a:rPr lang="fr-FR" sz="2000" dirty="0">
                <a:latin typeface="Aptos" panose="020B0004020202020204" pitchFamily="34" charset="0"/>
              </a:rPr>
              <a:t>À l’issue de ce sous-module, le participant sera capable de :</a:t>
            </a:r>
          </a:p>
          <a:p>
            <a:pPr marL="800100" lvl="1" indent="-342900">
              <a:buFont typeface="Arial" panose="020B0604020202020204" pitchFamily="34" charset="0"/>
              <a:buChar char="•"/>
            </a:pPr>
            <a:r>
              <a:rPr lang="fr-FR" sz="2000" dirty="0">
                <a:latin typeface="Aptos" panose="020B0004020202020204" pitchFamily="34" charset="0"/>
              </a:rPr>
              <a:t>Comprendre les différents types d’inventaire ;</a:t>
            </a:r>
          </a:p>
          <a:p>
            <a:pPr marL="800100" lvl="1" indent="-342900">
              <a:buFont typeface="Arial" panose="020B0604020202020204" pitchFamily="34" charset="0"/>
              <a:buChar char="•"/>
            </a:pPr>
            <a:r>
              <a:rPr lang="fr-FR" sz="2000" dirty="0">
                <a:latin typeface="Aptos" panose="020B0004020202020204" pitchFamily="34" charset="0"/>
              </a:rPr>
              <a:t>Organiser un inventaire efficace en officine ;</a:t>
            </a:r>
          </a:p>
          <a:p>
            <a:pPr marL="800100" lvl="1" indent="-342900">
              <a:buFont typeface="Arial" panose="020B0604020202020204" pitchFamily="34" charset="0"/>
              <a:buChar char="•"/>
            </a:pPr>
            <a:r>
              <a:rPr lang="fr-FR" sz="2000" dirty="0">
                <a:latin typeface="Aptos" panose="020B0004020202020204" pitchFamily="34" charset="0"/>
              </a:rPr>
              <a:t>Réduire les écarts de stock ;</a:t>
            </a:r>
          </a:p>
          <a:p>
            <a:pPr marL="800100" lvl="1" indent="-342900">
              <a:buFont typeface="Arial" panose="020B0604020202020204" pitchFamily="34" charset="0"/>
              <a:buChar char="•"/>
            </a:pPr>
            <a:r>
              <a:rPr lang="fr-FR" sz="2000" dirty="0">
                <a:latin typeface="Aptos" panose="020B0004020202020204" pitchFamily="34" charset="0"/>
              </a:rPr>
              <a:t>Prévenir les pertes liées aux périmés ;</a:t>
            </a:r>
          </a:p>
          <a:p>
            <a:pPr marL="800100" lvl="1" indent="-342900">
              <a:buFont typeface="Arial" panose="020B0604020202020204" pitchFamily="34" charset="0"/>
              <a:buChar char="•"/>
            </a:pPr>
            <a:r>
              <a:rPr lang="fr-FR" sz="2000" dirty="0">
                <a:latin typeface="Aptos" panose="020B0004020202020204" pitchFamily="34" charset="0"/>
              </a:rPr>
              <a:t>Appliquer les méthodes FIFO et FEFO ;</a:t>
            </a:r>
          </a:p>
          <a:p>
            <a:pPr marL="800100" lvl="1" indent="-342900">
              <a:buFont typeface="Arial" panose="020B0604020202020204" pitchFamily="34" charset="0"/>
              <a:buChar char="•"/>
            </a:pPr>
            <a:r>
              <a:rPr lang="fr-FR" sz="2000" dirty="0">
                <a:latin typeface="Aptos" panose="020B0004020202020204" pitchFamily="34" charset="0"/>
              </a:rPr>
              <a:t>Gérer les produits expirés conformément aux exigences réglementaires ;</a:t>
            </a:r>
          </a:p>
          <a:p>
            <a:pPr marL="800100" lvl="1" indent="-342900">
              <a:buFont typeface="Arial" panose="020B0604020202020204" pitchFamily="34" charset="0"/>
              <a:buChar char="•"/>
            </a:pPr>
            <a:r>
              <a:rPr lang="fr-FR" sz="2000" dirty="0">
                <a:latin typeface="Aptos" panose="020B0004020202020204" pitchFamily="34" charset="0"/>
              </a:rPr>
              <a:t>Mettre en place des indicateurs de performance.</a:t>
            </a:r>
          </a:p>
        </p:txBody>
      </p:sp>
    </p:spTree>
    <p:extLst>
      <p:ext uri="{BB962C8B-B14F-4D97-AF65-F5344CB8AC3E}">
        <p14:creationId xmlns:p14="http://schemas.microsoft.com/office/powerpoint/2010/main" val="1426027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Méthodes d'inventaire et gestion des périmés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10" name="ZoneTexte 9">
            <a:extLst>
              <a:ext uri="{FF2B5EF4-FFF2-40B4-BE49-F238E27FC236}">
                <a16:creationId xmlns:a16="http://schemas.microsoft.com/office/drawing/2014/main" id="{8925F612-8AA9-4B9D-A625-3CC07196C7B8}"/>
              </a:ext>
            </a:extLst>
          </p:cNvPr>
          <p:cNvSpPr txBox="1"/>
          <p:nvPr/>
        </p:nvSpPr>
        <p:spPr>
          <a:xfrm>
            <a:off x="753042" y="2234838"/>
            <a:ext cx="10212000" cy="224676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L’inventaire est souvent perçu comme une simple obligation comptable.</a:t>
            </a:r>
          </a:p>
          <a:p>
            <a:pPr marL="342900" indent="-342900">
              <a:buFont typeface="Arial" panose="020B0604020202020204" pitchFamily="34" charset="0"/>
              <a:buChar char="•"/>
            </a:pPr>
            <a:r>
              <a:rPr lang="fr-FR" sz="2000" dirty="0">
                <a:latin typeface="Aptos" panose="020B0004020202020204" pitchFamily="34" charset="0"/>
              </a:rPr>
              <a:t>En réalité, c’est un outil stratégique qui permet :</a:t>
            </a:r>
          </a:p>
          <a:p>
            <a:pPr marL="800100" lvl="1" indent="-342900">
              <a:buFont typeface="Courier New" panose="02070309020205020404" pitchFamily="49" charset="0"/>
              <a:buChar char="o"/>
            </a:pPr>
            <a:r>
              <a:rPr lang="fr-FR" sz="2000" dirty="0">
                <a:latin typeface="Aptos" panose="020B0004020202020204" pitchFamily="34" charset="0"/>
              </a:rPr>
              <a:t>De connaître le stock réel ;</a:t>
            </a:r>
          </a:p>
          <a:p>
            <a:pPr marL="800100" lvl="1" indent="-342900">
              <a:buFont typeface="Courier New" panose="02070309020205020404" pitchFamily="49" charset="0"/>
              <a:buChar char="o"/>
            </a:pPr>
            <a:r>
              <a:rPr lang="fr-FR" sz="2000" dirty="0">
                <a:latin typeface="Aptos" panose="020B0004020202020204" pitchFamily="34" charset="0"/>
              </a:rPr>
              <a:t>D’identifier les pertes ;</a:t>
            </a:r>
          </a:p>
          <a:p>
            <a:pPr marL="800100" lvl="1" indent="-342900">
              <a:buFont typeface="Courier New" panose="02070309020205020404" pitchFamily="49" charset="0"/>
              <a:buChar char="o"/>
            </a:pPr>
            <a:r>
              <a:rPr lang="fr-FR" sz="2000" dirty="0">
                <a:latin typeface="Aptos" panose="020B0004020202020204" pitchFamily="34" charset="0"/>
              </a:rPr>
              <a:t>De détecter les anomalies ;</a:t>
            </a:r>
          </a:p>
          <a:p>
            <a:pPr marL="800100" lvl="1" indent="-342900">
              <a:buFont typeface="Courier New" panose="02070309020205020404" pitchFamily="49" charset="0"/>
              <a:buChar char="o"/>
            </a:pPr>
            <a:r>
              <a:rPr lang="fr-FR" sz="2000" dirty="0">
                <a:latin typeface="Aptos" panose="020B0004020202020204" pitchFamily="34" charset="0"/>
              </a:rPr>
              <a:t>D’améliorer les achats ;</a:t>
            </a:r>
          </a:p>
          <a:p>
            <a:pPr marL="800100" lvl="1" indent="-342900">
              <a:buFont typeface="Courier New" panose="02070309020205020404" pitchFamily="49" charset="0"/>
              <a:buChar char="o"/>
            </a:pPr>
            <a:r>
              <a:rPr lang="fr-FR" sz="2000" dirty="0">
                <a:latin typeface="Aptos" panose="020B0004020202020204" pitchFamily="34" charset="0"/>
              </a:rPr>
              <a:t>De protéger la rentabilité de l’officine.</a:t>
            </a:r>
          </a:p>
        </p:txBody>
      </p:sp>
    </p:spTree>
    <p:extLst>
      <p:ext uri="{BB962C8B-B14F-4D97-AF65-F5344CB8AC3E}">
        <p14:creationId xmlns:p14="http://schemas.microsoft.com/office/powerpoint/2010/main" val="4110907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Méthodes d'inventaire et gestion des périmés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objectifs de l’inventaire</a:t>
            </a:r>
            <a:endParaRPr lang="en-US" sz="2400" b="1" dirty="0">
              <a:solidFill>
                <a:schemeClr val="bg1"/>
              </a:solidFill>
            </a:endParaRPr>
          </a:p>
        </p:txBody>
      </p:sp>
      <p:sp>
        <p:nvSpPr>
          <p:cNvPr id="10" name="ZoneTexte 9">
            <a:extLst>
              <a:ext uri="{FF2B5EF4-FFF2-40B4-BE49-F238E27FC236}">
                <a16:creationId xmlns:a16="http://schemas.microsoft.com/office/drawing/2014/main" id="{8925F612-8AA9-4B9D-A625-3CC07196C7B8}"/>
              </a:ext>
            </a:extLst>
          </p:cNvPr>
          <p:cNvSpPr txBox="1"/>
          <p:nvPr/>
        </p:nvSpPr>
        <p:spPr>
          <a:xfrm>
            <a:off x="753042" y="2234838"/>
            <a:ext cx="10212000" cy="2246769"/>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Un inventaire permet de :</a:t>
            </a:r>
          </a:p>
          <a:p>
            <a:pPr marL="800100" lvl="1" indent="-342900">
              <a:buFont typeface="Courier New" panose="02070309020205020404" pitchFamily="49" charset="0"/>
              <a:buChar char="o"/>
            </a:pPr>
            <a:r>
              <a:rPr lang="fr-FR" sz="2000" dirty="0">
                <a:latin typeface="Aptos" panose="020B0004020202020204" pitchFamily="34" charset="0"/>
              </a:rPr>
              <a:t>Vérifier la quantité réelle des produits</a:t>
            </a:r>
          </a:p>
          <a:p>
            <a:pPr marL="800100" lvl="1" indent="-342900">
              <a:buFont typeface="Courier New" panose="02070309020205020404" pitchFamily="49" charset="0"/>
              <a:buChar char="o"/>
            </a:pPr>
            <a:r>
              <a:rPr lang="fr-FR" sz="2000" dirty="0">
                <a:latin typeface="Aptos" panose="020B0004020202020204" pitchFamily="34" charset="0"/>
              </a:rPr>
              <a:t>Comparer le stock physique au stock théorique</a:t>
            </a:r>
          </a:p>
          <a:p>
            <a:pPr marL="800100" lvl="1" indent="-342900">
              <a:buFont typeface="Courier New" panose="02070309020205020404" pitchFamily="49" charset="0"/>
              <a:buChar char="o"/>
            </a:pPr>
            <a:r>
              <a:rPr lang="fr-FR" sz="2000" dirty="0">
                <a:latin typeface="Aptos" panose="020B0004020202020204" pitchFamily="34" charset="0"/>
              </a:rPr>
              <a:t>Détecter les écarts</a:t>
            </a:r>
          </a:p>
          <a:p>
            <a:pPr marL="800100" lvl="1" indent="-342900">
              <a:buFont typeface="Courier New" panose="02070309020205020404" pitchFamily="49" charset="0"/>
              <a:buChar char="o"/>
            </a:pPr>
            <a:r>
              <a:rPr lang="fr-FR" sz="2000" dirty="0">
                <a:latin typeface="Aptos" panose="020B0004020202020204" pitchFamily="34" charset="0"/>
              </a:rPr>
              <a:t>Identifier les produits périmés</a:t>
            </a:r>
          </a:p>
          <a:p>
            <a:pPr marL="800100" lvl="1" indent="-342900">
              <a:buFont typeface="Courier New" panose="02070309020205020404" pitchFamily="49" charset="0"/>
              <a:buChar char="o"/>
            </a:pPr>
            <a:r>
              <a:rPr lang="fr-FR" sz="2000" dirty="0">
                <a:latin typeface="Aptos" panose="020B0004020202020204" pitchFamily="34" charset="0"/>
              </a:rPr>
              <a:t>Détecter les risques de rupture</a:t>
            </a:r>
          </a:p>
          <a:p>
            <a:pPr marL="800100" lvl="1" indent="-342900">
              <a:buFont typeface="Courier New" panose="02070309020205020404" pitchFamily="49" charset="0"/>
              <a:buChar char="o"/>
            </a:pPr>
            <a:r>
              <a:rPr lang="fr-FR" sz="2000" dirty="0">
                <a:latin typeface="Aptos" panose="020B0004020202020204" pitchFamily="34" charset="0"/>
              </a:rPr>
              <a:t>Évaluer la valeur du stock</a:t>
            </a:r>
          </a:p>
        </p:txBody>
      </p:sp>
    </p:spTree>
    <p:extLst>
      <p:ext uri="{BB962C8B-B14F-4D97-AF65-F5344CB8AC3E}">
        <p14:creationId xmlns:p14="http://schemas.microsoft.com/office/powerpoint/2010/main" val="241334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Méthodes d'inventaire et gestion des périmés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objectifs de l’inventaire</a:t>
            </a:r>
            <a:endParaRPr lang="en-US" sz="2400" b="1" dirty="0">
              <a:solidFill>
                <a:schemeClr val="bg1"/>
              </a:solidFill>
            </a:endParaRPr>
          </a:p>
        </p:txBody>
      </p:sp>
      <p:sp>
        <p:nvSpPr>
          <p:cNvPr id="10" name="ZoneTexte 9">
            <a:extLst>
              <a:ext uri="{FF2B5EF4-FFF2-40B4-BE49-F238E27FC236}">
                <a16:creationId xmlns:a16="http://schemas.microsoft.com/office/drawing/2014/main" id="{8925F612-8AA9-4B9D-A625-3CC07196C7B8}"/>
              </a:ext>
            </a:extLst>
          </p:cNvPr>
          <p:cNvSpPr txBox="1"/>
          <p:nvPr/>
        </p:nvSpPr>
        <p:spPr>
          <a:xfrm>
            <a:off x="753042" y="2234838"/>
            <a:ext cx="10212000" cy="2246769"/>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Conséquences d’un mauvais inventaire :</a:t>
            </a:r>
          </a:p>
          <a:p>
            <a:pPr marL="800100" lvl="1" indent="-342900">
              <a:buFont typeface="Courier New" panose="02070309020205020404" pitchFamily="49" charset="0"/>
              <a:buChar char="o"/>
            </a:pPr>
            <a:r>
              <a:rPr lang="fr-FR" sz="2000" dirty="0">
                <a:latin typeface="Aptos" panose="020B0004020202020204" pitchFamily="34" charset="0"/>
              </a:rPr>
              <a:t>Ruptures inattendues</a:t>
            </a:r>
          </a:p>
          <a:p>
            <a:pPr marL="800100" lvl="1" indent="-342900">
              <a:buFont typeface="Courier New" panose="02070309020205020404" pitchFamily="49" charset="0"/>
              <a:buChar char="o"/>
            </a:pPr>
            <a:r>
              <a:rPr lang="fr-FR" sz="2000" dirty="0">
                <a:latin typeface="Aptos" panose="020B0004020202020204" pitchFamily="34" charset="0"/>
              </a:rPr>
              <a:t>Commandes inutiles</a:t>
            </a:r>
          </a:p>
          <a:p>
            <a:pPr marL="800100" lvl="1" indent="-342900">
              <a:buFont typeface="Courier New" panose="02070309020205020404" pitchFamily="49" charset="0"/>
              <a:buChar char="o"/>
            </a:pPr>
            <a:r>
              <a:rPr lang="fr-FR" sz="2000" dirty="0">
                <a:latin typeface="Aptos" panose="020B0004020202020204" pitchFamily="34" charset="0"/>
              </a:rPr>
              <a:t>Surstocks</a:t>
            </a:r>
          </a:p>
          <a:p>
            <a:pPr marL="800100" lvl="1" indent="-342900">
              <a:buFont typeface="Courier New" panose="02070309020205020404" pitchFamily="49" charset="0"/>
              <a:buChar char="o"/>
            </a:pPr>
            <a:r>
              <a:rPr lang="fr-FR" sz="2000" dirty="0">
                <a:latin typeface="Aptos" panose="020B0004020202020204" pitchFamily="34" charset="0"/>
              </a:rPr>
              <a:t>Périmés</a:t>
            </a:r>
          </a:p>
          <a:p>
            <a:pPr marL="800100" lvl="1" indent="-342900">
              <a:buFont typeface="Courier New" panose="02070309020205020404" pitchFamily="49" charset="0"/>
              <a:buChar char="o"/>
            </a:pPr>
            <a:r>
              <a:rPr lang="fr-FR" sz="2000" dirty="0">
                <a:latin typeface="Aptos" panose="020B0004020202020204" pitchFamily="34" charset="0"/>
              </a:rPr>
              <a:t>Perte de trésorerie</a:t>
            </a:r>
          </a:p>
          <a:p>
            <a:pPr marL="800100" lvl="1" indent="-342900">
              <a:buFont typeface="Courier New" panose="02070309020205020404" pitchFamily="49" charset="0"/>
              <a:buChar char="o"/>
            </a:pPr>
            <a:r>
              <a:rPr lang="fr-FR" sz="2000" dirty="0">
                <a:latin typeface="Aptos" panose="020B0004020202020204" pitchFamily="34" charset="0"/>
              </a:rPr>
              <a:t>Risque réglementaire</a:t>
            </a:r>
          </a:p>
        </p:txBody>
      </p:sp>
    </p:spTree>
    <p:extLst>
      <p:ext uri="{BB962C8B-B14F-4D97-AF65-F5344CB8AC3E}">
        <p14:creationId xmlns:p14="http://schemas.microsoft.com/office/powerpoint/2010/main" val="4186235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Méthodes d'inventaire et gestion des périmés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différents types d’inventaire</a:t>
            </a:r>
            <a:endParaRPr lang="en-US" sz="2400" b="1" dirty="0">
              <a:solidFill>
                <a:schemeClr val="bg1"/>
              </a:solidFill>
            </a:endParaRPr>
          </a:p>
        </p:txBody>
      </p:sp>
      <p:sp>
        <p:nvSpPr>
          <p:cNvPr id="10" name="ZoneTexte 9">
            <a:extLst>
              <a:ext uri="{FF2B5EF4-FFF2-40B4-BE49-F238E27FC236}">
                <a16:creationId xmlns:a16="http://schemas.microsoft.com/office/drawing/2014/main" id="{8925F612-8AA9-4B9D-A625-3CC07196C7B8}"/>
              </a:ext>
            </a:extLst>
          </p:cNvPr>
          <p:cNvSpPr txBox="1"/>
          <p:nvPr/>
        </p:nvSpPr>
        <p:spPr>
          <a:xfrm>
            <a:off x="753042" y="2662476"/>
            <a:ext cx="4565407" cy="2246769"/>
          </a:xfrm>
          <a:prstGeom prst="rect">
            <a:avLst/>
          </a:prstGeom>
          <a:noFill/>
        </p:spPr>
        <p:txBody>
          <a:bodyPr wrap="square">
            <a:spAutoFit/>
          </a:bodyPr>
          <a:lstStyle/>
          <a:p>
            <a:r>
              <a:rPr lang="fr-FR" sz="2000" b="1" dirty="0">
                <a:latin typeface="Aptos" panose="020B0004020202020204" pitchFamily="34" charset="0"/>
              </a:rPr>
              <a:t>Définition : </a:t>
            </a:r>
            <a:r>
              <a:rPr lang="fr-FR" sz="2000" dirty="0">
                <a:latin typeface="Aptos" panose="020B0004020202020204" pitchFamily="34" charset="0"/>
              </a:rPr>
              <a:t>Comptage complet du stock à une date donnée.</a:t>
            </a:r>
          </a:p>
          <a:p>
            <a:endParaRPr lang="fr-FR" sz="2000" dirty="0">
              <a:latin typeface="Aptos" panose="020B0004020202020204" pitchFamily="34" charset="0"/>
            </a:endParaRPr>
          </a:p>
          <a:p>
            <a:r>
              <a:rPr lang="fr-FR" sz="2000" b="1" dirty="0">
                <a:latin typeface="Aptos" panose="020B0004020202020204" pitchFamily="34" charset="0"/>
              </a:rPr>
              <a:t>Objectifs</a:t>
            </a:r>
          </a:p>
          <a:p>
            <a:pPr marL="342900" indent="-342900">
              <a:buFont typeface="Arial" panose="020B0604020202020204" pitchFamily="34" charset="0"/>
              <a:buChar char="•"/>
            </a:pPr>
            <a:r>
              <a:rPr lang="fr-FR" sz="2000" dirty="0">
                <a:latin typeface="Aptos" panose="020B0004020202020204" pitchFamily="34" charset="0"/>
              </a:rPr>
              <a:t>Obligations comptables</a:t>
            </a:r>
          </a:p>
          <a:p>
            <a:pPr marL="342900" indent="-342900">
              <a:buFont typeface="Arial" panose="020B0604020202020204" pitchFamily="34" charset="0"/>
              <a:buChar char="•"/>
            </a:pPr>
            <a:r>
              <a:rPr lang="fr-FR" sz="2000" dirty="0">
                <a:latin typeface="Aptos" panose="020B0004020202020204" pitchFamily="34" charset="0"/>
              </a:rPr>
              <a:t>Évaluation financière</a:t>
            </a:r>
          </a:p>
          <a:p>
            <a:pPr marL="342900" indent="-342900">
              <a:buFont typeface="Arial" panose="020B0604020202020204" pitchFamily="34" charset="0"/>
              <a:buChar char="•"/>
            </a:pPr>
            <a:r>
              <a:rPr lang="fr-FR" sz="2000" dirty="0">
                <a:latin typeface="Aptos" panose="020B0004020202020204" pitchFamily="34" charset="0"/>
              </a:rPr>
              <a:t>Contrôle global</a:t>
            </a:r>
          </a:p>
        </p:txBody>
      </p:sp>
      <p:sp>
        <p:nvSpPr>
          <p:cNvPr id="11" name="ZoneTexte 10">
            <a:extLst>
              <a:ext uri="{FF2B5EF4-FFF2-40B4-BE49-F238E27FC236}">
                <a16:creationId xmlns:a16="http://schemas.microsoft.com/office/drawing/2014/main" id="{D7AD3BE8-6AE7-407A-8A0B-B7CF18AF2457}"/>
              </a:ext>
            </a:extLst>
          </p:cNvPr>
          <p:cNvSpPr txBox="1"/>
          <p:nvPr/>
        </p:nvSpPr>
        <p:spPr>
          <a:xfrm>
            <a:off x="753042" y="2075182"/>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Inventaire annuel</a:t>
            </a:r>
          </a:p>
        </p:txBody>
      </p:sp>
      <p:sp>
        <p:nvSpPr>
          <p:cNvPr id="13" name="ZoneTexte 12">
            <a:extLst>
              <a:ext uri="{FF2B5EF4-FFF2-40B4-BE49-F238E27FC236}">
                <a16:creationId xmlns:a16="http://schemas.microsoft.com/office/drawing/2014/main" id="{DC22552F-3C7E-4BDD-A1EE-23DE30F1D657}"/>
              </a:ext>
            </a:extLst>
          </p:cNvPr>
          <p:cNvSpPr txBox="1"/>
          <p:nvPr/>
        </p:nvSpPr>
        <p:spPr>
          <a:xfrm>
            <a:off x="6560109" y="2662476"/>
            <a:ext cx="4858681" cy="2554545"/>
          </a:xfrm>
          <a:prstGeom prst="rect">
            <a:avLst/>
          </a:prstGeom>
          <a:noFill/>
        </p:spPr>
        <p:txBody>
          <a:bodyPr wrap="square">
            <a:spAutoFit/>
          </a:bodyPr>
          <a:lstStyle/>
          <a:p>
            <a:r>
              <a:rPr lang="fr-FR" sz="2000" b="1" dirty="0">
                <a:latin typeface="Aptos" panose="020B0004020202020204" pitchFamily="34" charset="0"/>
              </a:rPr>
              <a:t>Avantages</a:t>
            </a:r>
          </a:p>
          <a:p>
            <a:pPr marL="342900" indent="-342900">
              <a:buFont typeface="Arial" panose="020B0604020202020204" pitchFamily="34" charset="0"/>
              <a:buChar char="•"/>
            </a:pPr>
            <a:r>
              <a:rPr lang="fr-FR" sz="2000" dirty="0">
                <a:latin typeface="Aptos" panose="020B0004020202020204" pitchFamily="34" charset="0"/>
              </a:rPr>
              <a:t>Vision complète</a:t>
            </a:r>
          </a:p>
          <a:p>
            <a:pPr marL="342900" indent="-342900">
              <a:buFont typeface="Arial" panose="020B0604020202020204" pitchFamily="34" charset="0"/>
              <a:buChar char="•"/>
            </a:pPr>
            <a:r>
              <a:rPr lang="fr-FR" sz="2000" dirty="0">
                <a:latin typeface="Aptos" panose="020B0004020202020204" pitchFamily="34" charset="0"/>
              </a:rPr>
              <a:t>Valorisation précise</a:t>
            </a:r>
          </a:p>
          <a:p>
            <a:pPr marL="342900"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Limites</a:t>
            </a:r>
          </a:p>
          <a:p>
            <a:pPr marL="342900" indent="-342900">
              <a:buFont typeface="Arial" panose="020B0604020202020204" pitchFamily="34" charset="0"/>
              <a:buChar char="•"/>
            </a:pPr>
            <a:r>
              <a:rPr lang="fr-FR" sz="2000" dirty="0">
                <a:latin typeface="Aptos" panose="020B0004020202020204" pitchFamily="34" charset="0"/>
              </a:rPr>
              <a:t>Long</a:t>
            </a:r>
          </a:p>
          <a:p>
            <a:pPr marL="342900" indent="-342900">
              <a:buFont typeface="Arial" panose="020B0604020202020204" pitchFamily="34" charset="0"/>
              <a:buChar char="•"/>
            </a:pPr>
            <a:r>
              <a:rPr lang="fr-FR" sz="2000" dirty="0">
                <a:latin typeface="Aptos" panose="020B0004020202020204" pitchFamily="34" charset="0"/>
              </a:rPr>
              <a:t>Coûteux</a:t>
            </a:r>
          </a:p>
          <a:p>
            <a:pPr marL="342900" indent="-342900">
              <a:buFont typeface="Arial" panose="020B0604020202020204" pitchFamily="34" charset="0"/>
              <a:buChar char="•"/>
            </a:pPr>
            <a:r>
              <a:rPr lang="fr-FR" sz="2000" dirty="0">
                <a:latin typeface="Aptos" panose="020B0004020202020204" pitchFamily="34" charset="0"/>
              </a:rPr>
              <a:t>Perturbation de l’activité</a:t>
            </a:r>
          </a:p>
        </p:txBody>
      </p:sp>
    </p:spTree>
    <p:extLst>
      <p:ext uri="{BB962C8B-B14F-4D97-AF65-F5344CB8AC3E}">
        <p14:creationId xmlns:p14="http://schemas.microsoft.com/office/powerpoint/2010/main" val="3453185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Méthodes d'inventaire et gestion des périmés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différents types d’inventaire</a:t>
            </a:r>
            <a:endParaRPr lang="en-US" sz="2400" b="1" dirty="0">
              <a:solidFill>
                <a:schemeClr val="bg1"/>
              </a:solidFill>
            </a:endParaRPr>
          </a:p>
        </p:txBody>
      </p:sp>
      <p:sp>
        <p:nvSpPr>
          <p:cNvPr id="10" name="ZoneTexte 9">
            <a:extLst>
              <a:ext uri="{FF2B5EF4-FFF2-40B4-BE49-F238E27FC236}">
                <a16:creationId xmlns:a16="http://schemas.microsoft.com/office/drawing/2014/main" id="{8925F612-8AA9-4B9D-A625-3CC07196C7B8}"/>
              </a:ext>
            </a:extLst>
          </p:cNvPr>
          <p:cNvSpPr txBox="1"/>
          <p:nvPr/>
        </p:nvSpPr>
        <p:spPr>
          <a:xfrm>
            <a:off x="753042" y="2662476"/>
            <a:ext cx="7672501" cy="1631216"/>
          </a:xfrm>
          <a:prstGeom prst="rect">
            <a:avLst/>
          </a:prstGeom>
          <a:noFill/>
        </p:spPr>
        <p:txBody>
          <a:bodyPr wrap="square">
            <a:spAutoFit/>
          </a:bodyPr>
          <a:lstStyle/>
          <a:p>
            <a:r>
              <a:rPr lang="fr-FR" sz="2000" b="1" dirty="0">
                <a:latin typeface="Aptos" panose="020B0004020202020204" pitchFamily="34" charset="0"/>
              </a:rPr>
              <a:t>Définition : </a:t>
            </a:r>
            <a:r>
              <a:rPr lang="fr-FR" sz="2000" dirty="0">
                <a:latin typeface="Aptos" panose="020B0004020202020204" pitchFamily="34" charset="0"/>
              </a:rPr>
              <a:t>Inventaire réalisé plusieurs fois dans l’année.</a:t>
            </a:r>
          </a:p>
          <a:p>
            <a:endParaRPr lang="fr-FR" sz="2000" dirty="0">
              <a:latin typeface="Aptos" panose="020B0004020202020204" pitchFamily="34" charset="0"/>
            </a:endParaRPr>
          </a:p>
          <a:p>
            <a:r>
              <a:rPr lang="fr-FR" sz="2000" b="1" dirty="0">
                <a:latin typeface="Aptos" panose="020B0004020202020204" pitchFamily="34" charset="0"/>
              </a:rPr>
              <a:t>Avantages</a:t>
            </a:r>
          </a:p>
          <a:p>
            <a:pPr marL="342900" indent="-342900">
              <a:buFont typeface="Arial" panose="020B0604020202020204" pitchFamily="34" charset="0"/>
              <a:buChar char="•"/>
            </a:pPr>
            <a:r>
              <a:rPr lang="fr-FR" sz="2000" dirty="0">
                <a:latin typeface="Aptos" panose="020B0004020202020204" pitchFamily="34" charset="0"/>
              </a:rPr>
              <a:t>Détection précoce des anomalies</a:t>
            </a:r>
          </a:p>
          <a:p>
            <a:pPr marL="342900" indent="-342900">
              <a:buFont typeface="Arial" panose="020B0604020202020204" pitchFamily="34" charset="0"/>
              <a:buChar char="•"/>
            </a:pPr>
            <a:r>
              <a:rPr lang="fr-FR" sz="2000" dirty="0">
                <a:latin typeface="Aptos" panose="020B0004020202020204" pitchFamily="34" charset="0"/>
              </a:rPr>
              <a:t>Contrôle plus régulier</a:t>
            </a:r>
          </a:p>
        </p:txBody>
      </p:sp>
      <p:sp>
        <p:nvSpPr>
          <p:cNvPr id="11" name="ZoneTexte 10">
            <a:extLst>
              <a:ext uri="{FF2B5EF4-FFF2-40B4-BE49-F238E27FC236}">
                <a16:creationId xmlns:a16="http://schemas.microsoft.com/office/drawing/2014/main" id="{D7AD3BE8-6AE7-407A-8A0B-B7CF18AF2457}"/>
              </a:ext>
            </a:extLst>
          </p:cNvPr>
          <p:cNvSpPr txBox="1"/>
          <p:nvPr/>
        </p:nvSpPr>
        <p:spPr>
          <a:xfrm>
            <a:off x="753042" y="2075182"/>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Inventaire périodique</a:t>
            </a:r>
          </a:p>
          <a:p>
            <a:endParaRPr lang="fr-FR" dirty="0">
              <a:solidFill>
                <a:srgbClr val="014C9B"/>
              </a:solidFill>
            </a:endParaRPr>
          </a:p>
        </p:txBody>
      </p:sp>
    </p:spTree>
    <p:extLst>
      <p:ext uri="{BB962C8B-B14F-4D97-AF65-F5344CB8AC3E}">
        <p14:creationId xmlns:p14="http://schemas.microsoft.com/office/powerpoint/2010/main" val="2447761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Méthodes d'inventaire et gestion des périmés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différents types d’inventaire</a:t>
            </a:r>
            <a:endParaRPr lang="en-US" sz="2400" b="1" dirty="0">
              <a:solidFill>
                <a:schemeClr val="bg1"/>
              </a:solidFill>
            </a:endParaRPr>
          </a:p>
        </p:txBody>
      </p:sp>
      <p:sp>
        <p:nvSpPr>
          <p:cNvPr id="10" name="ZoneTexte 9">
            <a:extLst>
              <a:ext uri="{FF2B5EF4-FFF2-40B4-BE49-F238E27FC236}">
                <a16:creationId xmlns:a16="http://schemas.microsoft.com/office/drawing/2014/main" id="{8925F612-8AA9-4B9D-A625-3CC07196C7B8}"/>
              </a:ext>
            </a:extLst>
          </p:cNvPr>
          <p:cNvSpPr txBox="1"/>
          <p:nvPr/>
        </p:nvSpPr>
        <p:spPr>
          <a:xfrm>
            <a:off x="753042" y="2662476"/>
            <a:ext cx="9242605" cy="1631216"/>
          </a:xfrm>
          <a:prstGeom prst="rect">
            <a:avLst/>
          </a:prstGeom>
          <a:noFill/>
        </p:spPr>
        <p:txBody>
          <a:bodyPr wrap="square">
            <a:spAutoFit/>
          </a:bodyPr>
          <a:lstStyle/>
          <a:p>
            <a:r>
              <a:rPr lang="fr-FR" sz="2000" b="1" dirty="0">
                <a:latin typeface="Aptos" panose="020B0004020202020204" pitchFamily="34" charset="0"/>
              </a:rPr>
              <a:t>Définition : </a:t>
            </a:r>
            <a:r>
              <a:rPr lang="fr-FR" sz="2000" dirty="0">
                <a:latin typeface="Aptos" panose="020B0004020202020204" pitchFamily="34" charset="0"/>
              </a:rPr>
              <a:t>Inventaire réalisé progressivement sur différentes catégories de produits.</a:t>
            </a:r>
          </a:p>
          <a:p>
            <a:endParaRPr lang="fr-FR" sz="2000" dirty="0">
              <a:latin typeface="Aptos" panose="020B0004020202020204" pitchFamily="34" charset="0"/>
            </a:endParaRPr>
          </a:p>
          <a:p>
            <a:r>
              <a:rPr lang="fr-FR" sz="2000" b="1" dirty="0">
                <a:latin typeface="Aptos" panose="020B0004020202020204" pitchFamily="34" charset="0"/>
              </a:rPr>
              <a:t>Recommandation</a:t>
            </a:r>
          </a:p>
          <a:p>
            <a:pPr marL="342900" indent="-342900">
              <a:buFont typeface="Arial" panose="020B0604020202020204" pitchFamily="34" charset="0"/>
              <a:buChar char="•"/>
            </a:pPr>
            <a:r>
              <a:rPr lang="fr-FR" sz="2000" dirty="0">
                <a:latin typeface="Aptos" panose="020B0004020202020204" pitchFamily="34" charset="0"/>
              </a:rPr>
              <a:t>L’inventaire tournant est la méthode la plus adaptée aux officines africaines.</a:t>
            </a:r>
          </a:p>
        </p:txBody>
      </p:sp>
      <p:sp>
        <p:nvSpPr>
          <p:cNvPr id="11" name="ZoneTexte 10">
            <a:extLst>
              <a:ext uri="{FF2B5EF4-FFF2-40B4-BE49-F238E27FC236}">
                <a16:creationId xmlns:a16="http://schemas.microsoft.com/office/drawing/2014/main" id="{D7AD3BE8-6AE7-407A-8A0B-B7CF18AF2457}"/>
              </a:ext>
            </a:extLst>
          </p:cNvPr>
          <p:cNvSpPr txBox="1"/>
          <p:nvPr/>
        </p:nvSpPr>
        <p:spPr>
          <a:xfrm>
            <a:off x="753042" y="2075182"/>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Inventaire tournant</a:t>
            </a:r>
          </a:p>
        </p:txBody>
      </p:sp>
    </p:spTree>
    <p:extLst>
      <p:ext uri="{BB962C8B-B14F-4D97-AF65-F5344CB8AC3E}">
        <p14:creationId xmlns:p14="http://schemas.microsoft.com/office/powerpoint/2010/main" val="423659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Méthodes d'inventaire et gestion des périmés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écarts d’inventaire</a:t>
            </a:r>
            <a:endParaRPr lang="en-US" sz="2400" b="1" dirty="0">
              <a:solidFill>
                <a:schemeClr val="bg1"/>
              </a:solidFill>
            </a:endParaRPr>
          </a:p>
        </p:txBody>
      </p:sp>
      <p:sp>
        <p:nvSpPr>
          <p:cNvPr id="10" name="ZoneTexte 9">
            <a:extLst>
              <a:ext uri="{FF2B5EF4-FFF2-40B4-BE49-F238E27FC236}">
                <a16:creationId xmlns:a16="http://schemas.microsoft.com/office/drawing/2014/main" id="{8925F612-8AA9-4B9D-A625-3CC07196C7B8}"/>
              </a:ext>
            </a:extLst>
          </p:cNvPr>
          <p:cNvSpPr txBox="1"/>
          <p:nvPr/>
        </p:nvSpPr>
        <p:spPr>
          <a:xfrm>
            <a:off x="753042" y="2127117"/>
            <a:ext cx="9242605" cy="3477875"/>
          </a:xfrm>
          <a:prstGeom prst="rect">
            <a:avLst/>
          </a:prstGeom>
          <a:noFill/>
        </p:spPr>
        <p:txBody>
          <a:bodyPr wrap="square">
            <a:spAutoFit/>
          </a:bodyPr>
          <a:lstStyle/>
          <a:p>
            <a:r>
              <a:rPr lang="fr-FR" sz="2000" b="1" dirty="0">
                <a:latin typeface="Aptos" panose="020B0004020202020204" pitchFamily="34" charset="0"/>
              </a:rPr>
              <a:t>Définition : </a:t>
            </a:r>
            <a:r>
              <a:rPr lang="fr-FR" sz="2000" dirty="0">
                <a:latin typeface="Aptos" panose="020B0004020202020204" pitchFamily="34" charset="0"/>
              </a:rPr>
              <a:t>Différence entre stock théorique et stock physique</a:t>
            </a:r>
          </a:p>
          <a:p>
            <a:endParaRPr lang="fr-FR" sz="2000" dirty="0">
              <a:latin typeface="Aptos" panose="020B0004020202020204" pitchFamily="34" charset="0"/>
            </a:endParaRPr>
          </a:p>
          <a:p>
            <a:r>
              <a:rPr lang="fr-FR" sz="2000" b="1" dirty="0">
                <a:latin typeface="Aptos" panose="020B0004020202020204" pitchFamily="34" charset="0"/>
              </a:rPr>
              <a:t>Causes fréquentes</a:t>
            </a:r>
          </a:p>
          <a:p>
            <a:pPr marL="800100" lvl="1" indent="-342900">
              <a:buFont typeface="Arial" panose="020B0604020202020204" pitchFamily="34" charset="0"/>
              <a:buChar char="•"/>
            </a:pPr>
            <a:r>
              <a:rPr lang="fr-FR" sz="2000" dirty="0">
                <a:latin typeface="Aptos" panose="020B0004020202020204" pitchFamily="34" charset="0"/>
              </a:rPr>
              <a:t>Erreurs de saisie</a:t>
            </a:r>
          </a:p>
          <a:p>
            <a:pPr marL="800100" lvl="1" indent="-342900">
              <a:buFont typeface="Arial" panose="020B0604020202020204" pitchFamily="34" charset="0"/>
              <a:buChar char="•"/>
            </a:pPr>
            <a:r>
              <a:rPr lang="fr-FR" sz="2000" dirty="0">
                <a:latin typeface="Aptos" panose="020B0004020202020204" pitchFamily="34" charset="0"/>
              </a:rPr>
              <a:t>Vols (Internes, Externes)</a:t>
            </a:r>
          </a:p>
          <a:p>
            <a:pPr marL="800100" lvl="1" indent="-342900">
              <a:buFont typeface="Arial" panose="020B0604020202020204" pitchFamily="34" charset="0"/>
              <a:buChar char="•"/>
            </a:pPr>
            <a:r>
              <a:rPr lang="fr-FR" sz="2000" dirty="0">
                <a:latin typeface="Aptos" panose="020B0004020202020204" pitchFamily="34" charset="0"/>
              </a:rPr>
              <a:t>Produits cassés</a:t>
            </a:r>
          </a:p>
          <a:p>
            <a:pPr marL="800100" lvl="1" indent="-342900">
              <a:buFont typeface="Arial" panose="020B0604020202020204" pitchFamily="34" charset="0"/>
              <a:buChar char="•"/>
            </a:pPr>
            <a:r>
              <a:rPr lang="fr-FR" sz="2000" dirty="0">
                <a:latin typeface="Aptos" panose="020B0004020202020204" pitchFamily="34" charset="0"/>
              </a:rPr>
              <a:t>Produits périmés non enregistrés</a:t>
            </a:r>
          </a:p>
          <a:p>
            <a:pPr marL="800100" lvl="1" indent="-342900">
              <a:buFont typeface="Arial" panose="020B0604020202020204" pitchFamily="34" charset="0"/>
              <a:buChar char="•"/>
            </a:pPr>
            <a:r>
              <a:rPr lang="fr-FR" sz="2000" dirty="0">
                <a:latin typeface="Aptos" panose="020B0004020202020204" pitchFamily="34" charset="0"/>
              </a:rPr>
              <a:t>Erreurs lors des réceptions</a:t>
            </a:r>
          </a:p>
          <a:p>
            <a:pPr marL="342900"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Indicateur : Taux d’écart</a:t>
            </a:r>
          </a:p>
          <a:p>
            <a:pPr marL="800100" lvl="1" indent="-342900">
              <a:buFont typeface="Arial" panose="020B0604020202020204" pitchFamily="34" charset="0"/>
              <a:buChar char="•"/>
            </a:pPr>
            <a:r>
              <a:rPr lang="fr-FR" sz="2000" dirty="0">
                <a:latin typeface="Aptos" panose="020B0004020202020204" pitchFamily="34" charset="0"/>
              </a:rPr>
              <a:t>Formule : Écart ÷ Stock théorique × 100</a:t>
            </a:r>
          </a:p>
        </p:txBody>
      </p:sp>
    </p:spTree>
    <p:extLst>
      <p:ext uri="{BB962C8B-B14F-4D97-AF65-F5344CB8AC3E}">
        <p14:creationId xmlns:p14="http://schemas.microsoft.com/office/powerpoint/2010/main" val="1411456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Méthodes d'inventaire et gestion des périmés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La rotation des stocks</a:t>
            </a:r>
            <a:endParaRPr lang="en-US" sz="2400" b="1" dirty="0">
              <a:solidFill>
                <a:schemeClr val="bg1"/>
              </a:solidFill>
            </a:endParaRPr>
          </a:p>
        </p:txBody>
      </p:sp>
      <p:sp>
        <p:nvSpPr>
          <p:cNvPr id="10" name="ZoneTexte 9">
            <a:extLst>
              <a:ext uri="{FF2B5EF4-FFF2-40B4-BE49-F238E27FC236}">
                <a16:creationId xmlns:a16="http://schemas.microsoft.com/office/drawing/2014/main" id="{8925F612-8AA9-4B9D-A625-3CC07196C7B8}"/>
              </a:ext>
            </a:extLst>
          </p:cNvPr>
          <p:cNvSpPr txBox="1"/>
          <p:nvPr/>
        </p:nvSpPr>
        <p:spPr>
          <a:xfrm>
            <a:off x="753042" y="2127117"/>
            <a:ext cx="9242605" cy="2246769"/>
          </a:xfrm>
          <a:prstGeom prst="rect">
            <a:avLst/>
          </a:prstGeom>
          <a:noFill/>
        </p:spPr>
        <p:txBody>
          <a:bodyPr wrap="square">
            <a:spAutoFit/>
          </a:bodyPr>
          <a:lstStyle/>
          <a:p>
            <a:r>
              <a:rPr lang="fr-FR" sz="2000" b="1" dirty="0">
                <a:latin typeface="Aptos" panose="020B0004020202020204" pitchFamily="34" charset="0"/>
              </a:rPr>
              <a:t>Pourquoi mesurer la rotation ?</a:t>
            </a:r>
          </a:p>
          <a:p>
            <a:r>
              <a:rPr lang="fr-FR" sz="2000" dirty="0">
                <a:latin typeface="Aptos" panose="020B0004020202020204" pitchFamily="34" charset="0"/>
              </a:rPr>
              <a:t>Parce qu’un produit qui ne tourne pas :</a:t>
            </a:r>
          </a:p>
          <a:p>
            <a:pPr marL="800100" lvl="1" indent="-342900">
              <a:buFont typeface="Arial" panose="020B0604020202020204" pitchFamily="34" charset="0"/>
              <a:buChar char="•"/>
            </a:pPr>
            <a:r>
              <a:rPr lang="fr-FR" sz="2000" dirty="0">
                <a:latin typeface="Aptos" panose="020B0004020202020204" pitchFamily="34" charset="0"/>
              </a:rPr>
              <a:t>Immobilise la trésorerie ;</a:t>
            </a:r>
          </a:p>
          <a:p>
            <a:pPr marL="800100" lvl="1" indent="-342900">
              <a:buFont typeface="Arial" panose="020B0604020202020204" pitchFamily="34" charset="0"/>
              <a:buChar char="•"/>
            </a:pPr>
            <a:r>
              <a:rPr lang="fr-FR" sz="2000" dirty="0">
                <a:latin typeface="Aptos" panose="020B0004020202020204" pitchFamily="34" charset="0"/>
              </a:rPr>
              <a:t>Risque de périmer.</a:t>
            </a:r>
          </a:p>
          <a:p>
            <a:endParaRPr lang="fr-FR" sz="2000" dirty="0">
              <a:latin typeface="Aptos" panose="020B0004020202020204" pitchFamily="34" charset="0"/>
            </a:endParaRPr>
          </a:p>
          <a:p>
            <a:r>
              <a:rPr lang="fr-FR" sz="2000" b="1" dirty="0">
                <a:latin typeface="Aptos" panose="020B0004020202020204" pitchFamily="34" charset="0"/>
              </a:rPr>
              <a:t>Formule</a:t>
            </a:r>
          </a:p>
          <a:p>
            <a:pPr lvl="1"/>
            <a:r>
              <a:rPr lang="fr-FR" sz="2000" dirty="0">
                <a:latin typeface="Aptos" panose="020B0004020202020204" pitchFamily="34" charset="0"/>
              </a:rPr>
              <a:t>Rotation = Consommation annuelle ÷ Stock moyen</a:t>
            </a:r>
          </a:p>
        </p:txBody>
      </p:sp>
    </p:spTree>
    <p:extLst>
      <p:ext uri="{BB962C8B-B14F-4D97-AF65-F5344CB8AC3E}">
        <p14:creationId xmlns:p14="http://schemas.microsoft.com/office/powerpoint/2010/main" val="1761717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Méthodes d'inventaire et gestion des périmés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La gestion des périmés</a:t>
            </a:r>
            <a:endParaRPr lang="en-US" sz="2400" b="1" dirty="0">
              <a:solidFill>
                <a:schemeClr val="bg1"/>
              </a:solidFill>
            </a:endParaRPr>
          </a:p>
        </p:txBody>
      </p:sp>
      <p:sp>
        <p:nvSpPr>
          <p:cNvPr id="10" name="ZoneTexte 9">
            <a:extLst>
              <a:ext uri="{FF2B5EF4-FFF2-40B4-BE49-F238E27FC236}">
                <a16:creationId xmlns:a16="http://schemas.microsoft.com/office/drawing/2014/main" id="{8925F612-8AA9-4B9D-A625-3CC07196C7B8}"/>
              </a:ext>
            </a:extLst>
          </p:cNvPr>
          <p:cNvSpPr txBox="1"/>
          <p:nvPr/>
        </p:nvSpPr>
        <p:spPr>
          <a:xfrm>
            <a:off x="753042" y="2127117"/>
            <a:ext cx="9242605" cy="3785652"/>
          </a:xfrm>
          <a:prstGeom prst="rect">
            <a:avLst/>
          </a:prstGeom>
          <a:noFill/>
        </p:spPr>
        <p:txBody>
          <a:bodyPr wrap="square">
            <a:spAutoFit/>
          </a:bodyPr>
          <a:lstStyle/>
          <a:p>
            <a:r>
              <a:rPr lang="fr-FR" sz="2000" b="1" dirty="0">
                <a:latin typeface="Aptos" panose="020B0004020202020204" pitchFamily="34" charset="0"/>
              </a:rPr>
              <a:t>Pourquoi est-ce critique ?</a:t>
            </a:r>
          </a:p>
          <a:p>
            <a:r>
              <a:rPr lang="fr-FR" sz="2000" dirty="0">
                <a:latin typeface="Aptos" panose="020B0004020202020204" pitchFamily="34" charset="0"/>
              </a:rPr>
              <a:t>Les produits périmé :</a:t>
            </a:r>
          </a:p>
          <a:p>
            <a:pPr marL="800100" lvl="1" indent="-342900">
              <a:buFont typeface="Arial" panose="020B0604020202020204" pitchFamily="34" charset="0"/>
              <a:buChar char="•"/>
            </a:pPr>
            <a:r>
              <a:rPr lang="fr-FR" sz="2000" dirty="0">
                <a:latin typeface="Aptos" panose="020B0004020202020204" pitchFamily="34" charset="0"/>
              </a:rPr>
              <a:t>Représentent une perte financière ;</a:t>
            </a:r>
          </a:p>
          <a:p>
            <a:pPr marL="800100" lvl="1" indent="-342900">
              <a:buFont typeface="Arial" panose="020B0604020202020204" pitchFamily="34" charset="0"/>
              <a:buChar char="•"/>
            </a:pPr>
            <a:r>
              <a:rPr lang="fr-FR" sz="2000" dirty="0">
                <a:latin typeface="Aptos" panose="020B0004020202020204" pitchFamily="34" charset="0"/>
              </a:rPr>
              <a:t>Constituent un risque sanitaire ;</a:t>
            </a:r>
          </a:p>
          <a:p>
            <a:pPr marL="800100" lvl="1" indent="-342900">
              <a:buFont typeface="Arial" panose="020B0604020202020204" pitchFamily="34" charset="0"/>
              <a:buChar char="•"/>
            </a:pPr>
            <a:r>
              <a:rPr lang="fr-FR" sz="2000" dirty="0">
                <a:latin typeface="Aptos" panose="020B0004020202020204" pitchFamily="34" charset="0"/>
              </a:rPr>
              <a:t>Exposent à des sanctions réglementaires.</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Causes fréquentes</a:t>
            </a:r>
          </a:p>
          <a:p>
            <a:pPr marL="800100" lvl="1" indent="-342900">
              <a:buFont typeface="Arial" panose="020B0604020202020204" pitchFamily="34" charset="0"/>
              <a:buChar char="•"/>
            </a:pPr>
            <a:r>
              <a:rPr lang="fr-FR" sz="2000" dirty="0">
                <a:latin typeface="Aptos" panose="020B0004020202020204" pitchFamily="34" charset="0"/>
              </a:rPr>
              <a:t>Surstockage</a:t>
            </a:r>
          </a:p>
          <a:p>
            <a:pPr marL="800100" lvl="1" indent="-342900">
              <a:buFont typeface="Arial" panose="020B0604020202020204" pitchFamily="34" charset="0"/>
              <a:buChar char="•"/>
            </a:pPr>
            <a:r>
              <a:rPr lang="fr-FR" sz="2000" dirty="0">
                <a:latin typeface="Aptos" panose="020B0004020202020204" pitchFamily="34" charset="0"/>
              </a:rPr>
              <a:t>Mauvaise rotation</a:t>
            </a:r>
          </a:p>
          <a:p>
            <a:pPr marL="800100" lvl="1" indent="-342900">
              <a:buFont typeface="Arial" panose="020B0604020202020204" pitchFamily="34" charset="0"/>
              <a:buChar char="•"/>
            </a:pPr>
            <a:r>
              <a:rPr lang="fr-FR" sz="2000" dirty="0">
                <a:latin typeface="Aptos" panose="020B0004020202020204" pitchFamily="34" charset="0"/>
              </a:rPr>
              <a:t>Commandes excessives</a:t>
            </a:r>
          </a:p>
          <a:p>
            <a:pPr marL="800100" lvl="1" indent="-342900">
              <a:buFont typeface="Arial" panose="020B0604020202020204" pitchFamily="34" charset="0"/>
              <a:buChar char="•"/>
            </a:pPr>
            <a:r>
              <a:rPr lang="fr-FR" sz="2000" dirty="0">
                <a:latin typeface="Aptos" panose="020B0004020202020204" pitchFamily="34" charset="0"/>
              </a:rPr>
              <a:t>Produits à faible demande</a:t>
            </a:r>
          </a:p>
          <a:p>
            <a:pPr marL="800100" lvl="1" indent="-342900">
              <a:buFont typeface="Arial" panose="020B0604020202020204" pitchFamily="34" charset="0"/>
              <a:buChar char="•"/>
            </a:pPr>
            <a:r>
              <a:rPr lang="fr-FR" sz="2000" dirty="0">
                <a:latin typeface="Aptos" panose="020B0004020202020204" pitchFamily="34" charset="0"/>
              </a:rPr>
              <a:t>Absence de suivi</a:t>
            </a:r>
          </a:p>
        </p:txBody>
      </p:sp>
    </p:spTree>
    <p:extLst>
      <p:ext uri="{BB962C8B-B14F-4D97-AF65-F5344CB8AC3E}">
        <p14:creationId xmlns:p14="http://schemas.microsoft.com/office/powerpoint/2010/main" val="3729302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Méthodes d'inventaire et gestion des périmés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méthodes FIFO et FEFO</a:t>
            </a:r>
            <a:endParaRPr lang="en-US" sz="2400" b="1" dirty="0">
              <a:solidFill>
                <a:schemeClr val="bg1"/>
              </a:solidFill>
            </a:endParaRPr>
          </a:p>
        </p:txBody>
      </p:sp>
      <p:sp>
        <p:nvSpPr>
          <p:cNvPr id="10" name="ZoneTexte 9">
            <a:extLst>
              <a:ext uri="{FF2B5EF4-FFF2-40B4-BE49-F238E27FC236}">
                <a16:creationId xmlns:a16="http://schemas.microsoft.com/office/drawing/2014/main" id="{8925F612-8AA9-4B9D-A625-3CC07196C7B8}"/>
              </a:ext>
            </a:extLst>
          </p:cNvPr>
          <p:cNvSpPr txBox="1"/>
          <p:nvPr/>
        </p:nvSpPr>
        <p:spPr>
          <a:xfrm>
            <a:off x="753042" y="2127117"/>
            <a:ext cx="10605240" cy="3477875"/>
          </a:xfrm>
          <a:prstGeom prst="rect">
            <a:avLst/>
          </a:prstGeom>
          <a:noFill/>
        </p:spPr>
        <p:txBody>
          <a:bodyPr wrap="square">
            <a:spAutoFit/>
          </a:bodyPr>
          <a:lstStyle/>
          <a:p>
            <a:r>
              <a:rPr lang="fr-FR" sz="2000" b="1" dirty="0">
                <a:latin typeface="Aptos" panose="020B0004020202020204" pitchFamily="34" charset="0"/>
              </a:rPr>
              <a:t>FIFO</a:t>
            </a:r>
          </a:p>
          <a:p>
            <a:r>
              <a:rPr lang="fr-FR" sz="2000" dirty="0">
                <a:latin typeface="Aptos" panose="020B0004020202020204" pitchFamily="34" charset="0"/>
              </a:rPr>
              <a:t>First In – First Out :</a:t>
            </a:r>
          </a:p>
          <a:p>
            <a:pPr marL="800100" lvl="1" indent="-342900">
              <a:buFont typeface="Arial" panose="020B0604020202020204" pitchFamily="34" charset="0"/>
              <a:buChar char="•"/>
            </a:pPr>
            <a:r>
              <a:rPr lang="fr-FR" sz="2000" b="1" dirty="0">
                <a:latin typeface="Aptos" panose="020B0004020202020204" pitchFamily="34" charset="0"/>
              </a:rPr>
              <a:t>Principe</a:t>
            </a:r>
            <a:r>
              <a:rPr lang="fr-FR" sz="2000" dirty="0">
                <a:latin typeface="Aptos" panose="020B0004020202020204" pitchFamily="34" charset="0"/>
              </a:rPr>
              <a:t> : Le premier produit reçu est délivré en premier.</a:t>
            </a:r>
          </a:p>
          <a:p>
            <a:pPr marL="800100" lvl="1" indent="-342900">
              <a:buFont typeface="Arial" panose="020B0604020202020204" pitchFamily="34" charset="0"/>
              <a:buChar char="•"/>
            </a:pPr>
            <a:r>
              <a:rPr lang="fr-FR" sz="2000" b="1" dirty="0">
                <a:latin typeface="Aptos" panose="020B0004020202020204" pitchFamily="34" charset="0"/>
              </a:rPr>
              <a:t>Limite</a:t>
            </a:r>
            <a:r>
              <a:rPr lang="fr-FR" sz="2000" dirty="0">
                <a:latin typeface="Aptos" panose="020B0004020202020204" pitchFamily="34" charset="0"/>
              </a:rPr>
              <a:t> : Ne tient pas compte de la date de péremption.</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FEFO</a:t>
            </a:r>
          </a:p>
          <a:p>
            <a:r>
              <a:rPr lang="fr-FR" sz="2000" dirty="0">
                <a:latin typeface="Aptos" panose="020B0004020202020204" pitchFamily="34" charset="0"/>
              </a:rPr>
              <a:t>First </a:t>
            </a:r>
            <a:r>
              <a:rPr lang="fr-FR" sz="2000" dirty="0" err="1">
                <a:latin typeface="Aptos" panose="020B0004020202020204" pitchFamily="34" charset="0"/>
              </a:rPr>
              <a:t>Expired</a:t>
            </a:r>
            <a:r>
              <a:rPr lang="fr-FR" sz="2000" dirty="0">
                <a:latin typeface="Aptos" panose="020B0004020202020204" pitchFamily="34" charset="0"/>
              </a:rPr>
              <a:t> – First Out</a:t>
            </a:r>
          </a:p>
          <a:p>
            <a:pPr marL="800100" lvl="1" indent="-342900">
              <a:buFont typeface="Arial" panose="020B0604020202020204" pitchFamily="34" charset="0"/>
              <a:buChar char="•"/>
            </a:pPr>
            <a:r>
              <a:rPr lang="fr-FR" sz="2000" b="1" dirty="0">
                <a:latin typeface="Aptos" panose="020B0004020202020204" pitchFamily="34" charset="0"/>
              </a:rPr>
              <a:t>Principe</a:t>
            </a:r>
            <a:r>
              <a:rPr lang="fr-FR" sz="2000" dirty="0">
                <a:latin typeface="Aptos" panose="020B0004020202020204" pitchFamily="34" charset="0"/>
              </a:rPr>
              <a:t> : Le produit dont la date d’expiration est la plus proche doit être délivré en premier.</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Recommandation OMS </a:t>
            </a:r>
            <a:r>
              <a:rPr lang="fr-FR" sz="2000" dirty="0">
                <a:latin typeface="Aptos" panose="020B0004020202020204" pitchFamily="34" charset="0"/>
              </a:rPr>
              <a:t>: FEFO doit être privilégié pour les produits pharmaceutiques.</a:t>
            </a:r>
          </a:p>
        </p:txBody>
      </p:sp>
    </p:spTree>
    <p:extLst>
      <p:ext uri="{BB962C8B-B14F-4D97-AF65-F5344CB8AC3E}">
        <p14:creationId xmlns:p14="http://schemas.microsoft.com/office/powerpoint/2010/main" val="1084444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Méthodes d'inventaire et gestion des périmés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Gestion des produits expirés</a:t>
            </a:r>
            <a:endParaRPr lang="en-US" sz="2400" b="1" dirty="0">
              <a:solidFill>
                <a:schemeClr val="bg1"/>
              </a:solidFill>
            </a:endParaRPr>
          </a:p>
        </p:txBody>
      </p:sp>
      <p:sp>
        <p:nvSpPr>
          <p:cNvPr id="10" name="ZoneTexte 9">
            <a:extLst>
              <a:ext uri="{FF2B5EF4-FFF2-40B4-BE49-F238E27FC236}">
                <a16:creationId xmlns:a16="http://schemas.microsoft.com/office/drawing/2014/main" id="{8925F612-8AA9-4B9D-A625-3CC07196C7B8}"/>
              </a:ext>
            </a:extLst>
          </p:cNvPr>
          <p:cNvSpPr txBox="1"/>
          <p:nvPr/>
        </p:nvSpPr>
        <p:spPr>
          <a:xfrm>
            <a:off x="753042" y="2091257"/>
            <a:ext cx="10605240" cy="4401205"/>
          </a:xfrm>
          <a:prstGeom prst="rect">
            <a:avLst/>
          </a:prstGeom>
          <a:noFill/>
        </p:spPr>
        <p:txBody>
          <a:bodyPr wrap="square">
            <a:spAutoFit/>
          </a:bodyPr>
          <a:lstStyle/>
          <a:p>
            <a:pPr lvl="1"/>
            <a:r>
              <a:rPr lang="fr-FR" sz="2000" b="1" dirty="0">
                <a:latin typeface="Aptos" panose="020B0004020202020204" pitchFamily="34" charset="0"/>
              </a:rPr>
              <a:t>Étape 1</a:t>
            </a:r>
          </a:p>
          <a:p>
            <a:pPr lvl="1"/>
            <a:r>
              <a:rPr lang="fr-FR" sz="2000" dirty="0">
                <a:latin typeface="Aptos" panose="020B0004020202020204" pitchFamily="34" charset="0"/>
              </a:rPr>
              <a:t>Retrait immédiat du rayon</a:t>
            </a:r>
          </a:p>
          <a:p>
            <a:pPr lvl="1"/>
            <a:endParaRPr lang="fr-FR" sz="2000" dirty="0">
              <a:latin typeface="Aptos" panose="020B0004020202020204" pitchFamily="34" charset="0"/>
            </a:endParaRPr>
          </a:p>
          <a:p>
            <a:pPr lvl="1"/>
            <a:r>
              <a:rPr lang="fr-FR" sz="2000" b="1" dirty="0">
                <a:latin typeface="Aptos" panose="020B0004020202020204" pitchFamily="34" charset="0"/>
              </a:rPr>
              <a:t>Étape 2</a:t>
            </a:r>
          </a:p>
          <a:p>
            <a:pPr lvl="1"/>
            <a:r>
              <a:rPr lang="fr-FR" sz="2000" dirty="0">
                <a:latin typeface="Aptos" panose="020B0004020202020204" pitchFamily="34" charset="0"/>
              </a:rPr>
              <a:t>Identification claire : « PRODUIT PÉRIMÉ – NE PAS DÉLIVRER »</a:t>
            </a:r>
          </a:p>
          <a:p>
            <a:pPr lvl="1"/>
            <a:endParaRPr lang="fr-FR" sz="2000" dirty="0">
              <a:latin typeface="Aptos" panose="020B0004020202020204" pitchFamily="34" charset="0"/>
            </a:endParaRPr>
          </a:p>
          <a:p>
            <a:pPr lvl="1"/>
            <a:r>
              <a:rPr lang="fr-FR" sz="2000" b="1" dirty="0">
                <a:latin typeface="Aptos" panose="020B0004020202020204" pitchFamily="34" charset="0"/>
              </a:rPr>
              <a:t>Étape 3</a:t>
            </a:r>
          </a:p>
          <a:p>
            <a:pPr lvl="1"/>
            <a:r>
              <a:rPr lang="fr-FR" sz="2000" dirty="0">
                <a:latin typeface="Aptos" panose="020B0004020202020204" pitchFamily="34" charset="0"/>
              </a:rPr>
              <a:t>Isolement dans une zone dédiée</a:t>
            </a:r>
          </a:p>
          <a:p>
            <a:pPr lvl="1"/>
            <a:endParaRPr lang="fr-FR" sz="2000" dirty="0">
              <a:latin typeface="Aptos" panose="020B0004020202020204" pitchFamily="34" charset="0"/>
            </a:endParaRPr>
          </a:p>
          <a:p>
            <a:pPr lvl="1"/>
            <a:r>
              <a:rPr lang="fr-FR" sz="2000" b="1" dirty="0">
                <a:latin typeface="Aptos" panose="020B0004020202020204" pitchFamily="34" charset="0"/>
              </a:rPr>
              <a:t>Étape 4</a:t>
            </a:r>
          </a:p>
          <a:p>
            <a:pPr lvl="1"/>
            <a:r>
              <a:rPr lang="fr-FR" sz="2000" dirty="0">
                <a:latin typeface="Aptos" panose="020B0004020202020204" pitchFamily="34" charset="0"/>
              </a:rPr>
              <a:t>Enregistrement</a:t>
            </a:r>
          </a:p>
          <a:p>
            <a:pPr lvl="1"/>
            <a:endParaRPr lang="fr-FR" sz="2000" dirty="0">
              <a:latin typeface="Aptos" panose="020B0004020202020204" pitchFamily="34" charset="0"/>
            </a:endParaRPr>
          </a:p>
          <a:p>
            <a:pPr lvl="1"/>
            <a:r>
              <a:rPr lang="fr-FR" sz="2000" b="1" dirty="0">
                <a:latin typeface="Aptos" panose="020B0004020202020204" pitchFamily="34" charset="0"/>
              </a:rPr>
              <a:t>Étape 5</a:t>
            </a:r>
          </a:p>
          <a:p>
            <a:pPr lvl="1"/>
            <a:r>
              <a:rPr lang="fr-FR" sz="2000" dirty="0">
                <a:latin typeface="Aptos" panose="020B0004020202020204" pitchFamily="34" charset="0"/>
              </a:rPr>
              <a:t>Retour selon la réglementation applicable</a:t>
            </a:r>
          </a:p>
        </p:txBody>
      </p:sp>
    </p:spTree>
    <p:extLst>
      <p:ext uri="{BB962C8B-B14F-4D97-AF65-F5344CB8AC3E}">
        <p14:creationId xmlns:p14="http://schemas.microsoft.com/office/powerpoint/2010/main" val="2268893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Méthodes d'inventaire et gestion des périmés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Lutte contre les pertes et les vols</a:t>
            </a:r>
            <a:endParaRPr lang="en-US" sz="2400" b="1" dirty="0">
              <a:solidFill>
                <a:schemeClr val="bg1"/>
              </a:solidFill>
            </a:endParaRPr>
          </a:p>
        </p:txBody>
      </p:sp>
      <p:sp>
        <p:nvSpPr>
          <p:cNvPr id="10" name="ZoneTexte 9">
            <a:extLst>
              <a:ext uri="{FF2B5EF4-FFF2-40B4-BE49-F238E27FC236}">
                <a16:creationId xmlns:a16="http://schemas.microsoft.com/office/drawing/2014/main" id="{8925F612-8AA9-4B9D-A625-3CC07196C7B8}"/>
              </a:ext>
            </a:extLst>
          </p:cNvPr>
          <p:cNvSpPr txBox="1"/>
          <p:nvPr/>
        </p:nvSpPr>
        <p:spPr>
          <a:xfrm>
            <a:off x="753042" y="2091257"/>
            <a:ext cx="10605240" cy="4401205"/>
          </a:xfrm>
          <a:prstGeom prst="rect">
            <a:avLst/>
          </a:prstGeom>
          <a:noFill/>
        </p:spPr>
        <p:txBody>
          <a:bodyPr wrap="square">
            <a:spAutoFit/>
          </a:bodyPr>
          <a:lstStyle/>
          <a:p>
            <a:pPr lvl="1"/>
            <a:r>
              <a:rPr lang="fr-FR" sz="2000" b="1" dirty="0">
                <a:latin typeface="Aptos" panose="020B0004020202020204" pitchFamily="34" charset="0"/>
              </a:rPr>
              <a:t>Sources de pertes : </a:t>
            </a:r>
          </a:p>
          <a:p>
            <a:pPr marL="1257300" lvl="2" indent="-342900">
              <a:buFont typeface="Arial" panose="020B0604020202020204" pitchFamily="34" charset="0"/>
              <a:buChar char="•"/>
            </a:pPr>
            <a:r>
              <a:rPr lang="fr-FR" sz="2000" dirty="0">
                <a:latin typeface="Aptos" panose="020B0004020202020204" pitchFamily="34" charset="0"/>
              </a:rPr>
              <a:t>Erreurs de réception</a:t>
            </a:r>
          </a:p>
          <a:p>
            <a:pPr marL="1257300" lvl="2" indent="-342900">
              <a:buFont typeface="Arial" panose="020B0604020202020204" pitchFamily="34" charset="0"/>
              <a:buChar char="•"/>
            </a:pPr>
            <a:r>
              <a:rPr lang="fr-FR" sz="2000" dirty="0">
                <a:latin typeface="Aptos" panose="020B0004020202020204" pitchFamily="34" charset="0"/>
              </a:rPr>
              <a:t>Erreurs de délivrance</a:t>
            </a:r>
          </a:p>
          <a:p>
            <a:pPr marL="1257300" lvl="2" indent="-342900">
              <a:buFont typeface="Arial" panose="020B0604020202020204" pitchFamily="34" charset="0"/>
              <a:buChar char="•"/>
            </a:pPr>
            <a:r>
              <a:rPr lang="fr-FR" sz="2000" dirty="0">
                <a:latin typeface="Aptos" panose="020B0004020202020204" pitchFamily="34" charset="0"/>
              </a:rPr>
              <a:t>Vol interne</a:t>
            </a:r>
          </a:p>
          <a:p>
            <a:pPr marL="1257300" lvl="2" indent="-342900">
              <a:buFont typeface="Arial" panose="020B0604020202020204" pitchFamily="34" charset="0"/>
              <a:buChar char="•"/>
            </a:pPr>
            <a:r>
              <a:rPr lang="fr-FR" sz="2000" dirty="0">
                <a:latin typeface="Aptos" panose="020B0004020202020204" pitchFamily="34" charset="0"/>
              </a:rPr>
              <a:t>Vol externe</a:t>
            </a:r>
          </a:p>
          <a:p>
            <a:pPr marL="1257300" lvl="2" indent="-342900">
              <a:buFont typeface="Arial" panose="020B0604020202020204" pitchFamily="34" charset="0"/>
              <a:buChar char="•"/>
            </a:pPr>
            <a:r>
              <a:rPr lang="fr-FR" sz="2000" dirty="0">
                <a:latin typeface="Aptos" panose="020B0004020202020204" pitchFamily="34" charset="0"/>
              </a:rPr>
              <a:t>Produits détériorés</a:t>
            </a:r>
          </a:p>
          <a:p>
            <a:pPr marL="1257300" lvl="2" indent="-342900">
              <a:buFont typeface="Arial" panose="020B0604020202020204" pitchFamily="34" charset="0"/>
              <a:buChar char="•"/>
            </a:pPr>
            <a:r>
              <a:rPr lang="fr-FR" sz="2000" dirty="0">
                <a:latin typeface="Aptos" panose="020B0004020202020204" pitchFamily="34" charset="0"/>
              </a:rPr>
              <a:t>Produits périmés</a:t>
            </a:r>
          </a:p>
          <a:p>
            <a:pPr marL="1257300" lvl="2" indent="-342900">
              <a:buFont typeface="Arial" panose="020B0604020202020204" pitchFamily="34" charset="0"/>
              <a:buChar char="•"/>
            </a:pPr>
            <a:endParaRPr lang="fr-FR" sz="2000" dirty="0">
              <a:latin typeface="Aptos" panose="020B0004020202020204" pitchFamily="34" charset="0"/>
            </a:endParaRPr>
          </a:p>
          <a:p>
            <a:pPr lvl="1"/>
            <a:r>
              <a:rPr lang="fr-FR" sz="2000" b="1" dirty="0">
                <a:latin typeface="Aptos" panose="020B0004020202020204" pitchFamily="34" charset="0"/>
              </a:rPr>
              <a:t>Mesures préventives : </a:t>
            </a:r>
          </a:p>
          <a:p>
            <a:pPr marL="1257300" lvl="2" indent="-342900">
              <a:buFont typeface="Arial" panose="020B0604020202020204" pitchFamily="34" charset="0"/>
              <a:buChar char="•"/>
            </a:pPr>
            <a:r>
              <a:rPr lang="fr-FR" sz="2000" dirty="0">
                <a:latin typeface="Aptos" panose="020B0004020202020204" pitchFamily="34" charset="0"/>
              </a:rPr>
              <a:t>Inventaires tournants</a:t>
            </a:r>
          </a:p>
          <a:p>
            <a:pPr marL="1257300" lvl="2" indent="-342900">
              <a:buFont typeface="Arial" panose="020B0604020202020204" pitchFamily="34" charset="0"/>
              <a:buChar char="•"/>
            </a:pPr>
            <a:r>
              <a:rPr lang="fr-FR" sz="2000" dirty="0">
                <a:latin typeface="Aptos" panose="020B0004020202020204" pitchFamily="34" charset="0"/>
              </a:rPr>
              <a:t>Contrôle des accès</a:t>
            </a:r>
          </a:p>
          <a:p>
            <a:pPr marL="1257300" lvl="2" indent="-342900">
              <a:buFont typeface="Arial" panose="020B0604020202020204" pitchFamily="34" charset="0"/>
              <a:buChar char="•"/>
            </a:pPr>
            <a:r>
              <a:rPr lang="fr-FR" sz="2000" dirty="0">
                <a:latin typeface="Aptos" panose="020B0004020202020204" pitchFamily="34" charset="0"/>
              </a:rPr>
              <a:t>Caméras</a:t>
            </a:r>
          </a:p>
          <a:p>
            <a:pPr marL="1257300" lvl="2" indent="-342900">
              <a:buFont typeface="Arial" panose="020B0604020202020204" pitchFamily="34" charset="0"/>
              <a:buChar char="•"/>
            </a:pPr>
            <a:r>
              <a:rPr lang="fr-FR" sz="2000" dirty="0">
                <a:latin typeface="Aptos" panose="020B0004020202020204" pitchFamily="34" charset="0"/>
              </a:rPr>
              <a:t>Double validation des réceptions</a:t>
            </a:r>
          </a:p>
          <a:p>
            <a:pPr marL="1257300" lvl="2" indent="-342900">
              <a:buFont typeface="Arial" panose="020B0604020202020204" pitchFamily="34" charset="0"/>
              <a:buChar char="•"/>
            </a:pPr>
            <a:r>
              <a:rPr lang="fr-FR" sz="2000" dirty="0">
                <a:latin typeface="Aptos" panose="020B0004020202020204" pitchFamily="34" charset="0"/>
              </a:rPr>
              <a:t>Contrôle des produits sensibles</a:t>
            </a:r>
          </a:p>
        </p:txBody>
      </p:sp>
    </p:spTree>
    <p:extLst>
      <p:ext uri="{BB962C8B-B14F-4D97-AF65-F5344CB8AC3E}">
        <p14:creationId xmlns:p14="http://schemas.microsoft.com/office/powerpoint/2010/main" val="2477766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Méthodes d'inventaire et gestion des périmés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Tableau de </a:t>
            </a:r>
            <a:r>
              <a:rPr lang="fr-FR" sz="2400" b="1" dirty="0" err="1">
                <a:solidFill>
                  <a:schemeClr val="bg1"/>
                </a:solidFill>
                <a:latin typeface="Aptos" panose="020B0004020202020204" pitchFamily="34" charset="0"/>
              </a:rPr>
              <a:t>bord_Indicateurs</a:t>
            </a:r>
            <a:r>
              <a:rPr lang="fr-FR" sz="2400" b="1" dirty="0">
                <a:solidFill>
                  <a:schemeClr val="bg1"/>
                </a:solidFill>
                <a:latin typeface="Aptos" panose="020B0004020202020204" pitchFamily="34" charset="0"/>
              </a:rPr>
              <a:t> de performance</a:t>
            </a:r>
            <a:endParaRPr lang="en-US" sz="2400" b="1" dirty="0">
              <a:solidFill>
                <a:schemeClr val="bg1"/>
              </a:solidFill>
            </a:endParaRPr>
          </a:p>
        </p:txBody>
      </p:sp>
      <p:graphicFrame>
        <p:nvGraphicFramePr>
          <p:cNvPr id="2" name="Tableau 1">
            <a:extLst>
              <a:ext uri="{FF2B5EF4-FFF2-40B4-BE49-F238E27FC236}">
                <a16:creationId xmlns:a16="http://schemas.microsoft.com/office/drawing/2014/main" id="{C3391EE6-D7E6-4F25-8A40-A42A6E9A6D9B}"/>
              </a:ext>
            </a:extLst>
          </p:cNvPr>
          <p:cNvGraphicFramePr>
            <a:graphicFrameLocks noGrp="1"/>
          </p:cNvGraphicFramePr>
          <p:nvPr>
            <p:extLst>
              <p:ext uri="{D42A27DB-BD31-4B8C-83A1-F6EECF244321}">
                <p14:modId xmlns:p14="http://schemas.microsoft.com/office/powerpoint/2010/main" val="238619548"/>
              </p:ext>
            </p:extLst>
          </p:nvPr>
        </p:nvGraphicFramePr>
        <p:xfrm>
          <a:off x="849086" y="2290612"/>
          <a:ext cx="10515600" cy="2377440"/>
        </p:xfrm>
        <a:graphic>
          <a:graphicData uri="http://schemas.openxmlformats.org/drawingml/2006/table">
            <a:tbl>
              <a:tblPr/>
              <a:tblGrid>
                <a:gridCol w="5257800">
                  <a:extLst>
                    <a:ext uri="{9D8B030D-6E8A-4147-A177-3AD203B41FA5}">
                      <a16:colId xmlns:a16="http://schemas.microsoft.com/office/drawing/2014/main" val="2650448848"/>
                    </a:ext>
                  </a:extLst>
                </a:gridCol>
                <a:gridCol w="5257800">
                  <a:extLst>
                    <a:ext uri="{9D8B030D-6E8A-4147-A177-3AD203B41FA5}">
                      <a16:colId xmlns:a16="http://schemas.microsoft.com/office/drawing/2014/main" val="1231337975"/>
                    </a:ext>
                  </a:extLst>
                </a:gridCol>
              </a:tblGrid>
              <a:tr h="0">
                <a:tc>
                  <a:txBody>
                    <a:bodyPr/>
                    <a:lstStyle/>
                    <a:p>
                      <a:r>
                        <a:rPr lang="fr-FR" sz="2000" b="1" dirty="0">
                          <a:solidFill>
                            <a:schemeClr val="bg1"/>
                          </a:solidFill>
                          <a:latin typeface="Aptos" panose="020B0004020202020204" pitchFamily="34" charset="0"/>
                        </a:rPr>
                        <a:t>KPI</a:t>
                      </a:r>
                    </a:p>
                  </a:txBody>
                  <a:tcPr anchor="ctr">
                    <a:lnL>
                      <a:noFill/>
                    </a:lnL>
                    <a:lnR>
                      <a:noFill/>
                    </a:lnR>
                    <a:lnT>
                      <a:noFill/>
                    </a:lnT>
                    <a:lnB>
                      <a:noFill/>
                    </a:lnB>
                    <a:solidFill>
                      <a:schemeClr val="accent2"/>
                    </a:solidFill>
                  </a:tcPr>
                </a:tc>
                <a:tc>
                  <a:txBody>
                    <a:bodyPr/>
                    <a:lstStyle/>
                    <a:p>
                      <a:r>
                        <a:rPr lang="fr-FR" sz="2000" b="1" dirty="0">
                          <a:solidFill>
                            <a:schemeClr val="bg1"/>
                          </a:solidFill>
                          <a:latin typeface="Aptos" panose="020B0004020202020204" pitchFamily="34" charset="0"/>
                        </a:rPr>
                        <a:t>Objectif</a:t>
                      </a:r>
                    </a:p>
                  </a:txBody>
                  <a:tcPr anchor="ctr">
                    <a:lnL>
                      <a:noFill/>
                    </a:lnL>
                    <a:lnR>
                      <a:noFill/>
                    </a:lnR>
                    <a:lnT>
                      <a:noFill/>
                    </a:lnT>
                    <a:lnB>
                      <a:noFill/>
                    </a:lnB>
                    <a:solidFill>
                      <a:schemeClr val="accent2"/>
                    </a:solidFill>
                  </a:tcPr>
                </a:tc>
                <a:extLst>
                  <a:ext uri="{0D108BD9-81ED-4DB2-BD59-A6C34878D82A}">
                    <a16:rowId xmlns:a16="http://schemas.microsoft.com/office/drawing/2014/main" val="3601052721"/>
                  </a:ext>
                </a:extLst>
              </a:tr>
              <a:tr h="0">
                <a:tc>
                  <a:txBody>
                    <a:bodyPr/>
                    <a:lstStyle/>
                    <a:p>
                      <a:r>
                        <a:rPr lang="fr-FR" sz="2000">
                          <a:latin typeface="Aptos" panose="020B0004020202020204" pitchFamily="34" charset="0"/>
                        </a:rPr>
                        <a:t>Écart inventaire</a:t>
                      </a:r>
                    </a:p>
                  </a:txBody>
                  <a:tcPr anchor="ctr">
                    <a:lnL>
                      <a:noFill/>
                    </a:lnL>
                    <a:lnR>
                      <a:noFill/>
                    </a:lnR>
                    <a:lnT>
                      <a:noFill/>
                    </a:lnT>
                    <a:lnB>
                      <a:noFill/>
                    </a:lnB>
                  </a:tcPr>
                </a:tc>
                <a:tc>
                  <a:txBody>
                    <a:bodyPr/>
                    <a:lstStyle/>
                    <a:p>
                      <a:r>
                        <a:rPr lang="fr-FR" sz="2000">
                          <a:latin typeface="Aptos" panose="020B0004020202020204" pitchFamily="34" charset="0"/>
                        </a:rPr>
                        <a:t>&lt;1%</a:t>
                      </a:r>
                    </a:p>
                  </a:txBody>
                  <a:tcPr anchor="ctr">
                    <a:lnL>
                      <a:noFill/>
                    </a:lnL>
                    <a:lnR>
                      <a:noFill/>
                    </a:lnR>
                    <a:lnT>
                      <a:noFill/>
                    </a:lnT>
                    <a:lnB>
                      <a:noFill/>
                    </a:lnB>
                  </a:tcPr>
                </a:tc>
                <a:extLst>
                  <a:ext uri="{0D108BD9-81ED-4DB2-BD59-A6C34878D82A}">
                    <a16:rowId xmlns:a16="http://schemas.microsoft.com/office/drawing/2014/main" val="2682752789"/>
                  </a:ext>
                </a:extLst>
              </a:tr>
              <a:tr h="0">
                <a:tc>
                  <a:txBody>
                    <a:bodyPr/>
                    <a:lstStyle/>
                    <a:p>
                      <a:r>
                        <a:rPr lang="fr-FR" sz="2000" dirty="0">
                          <a:latin typeface="Aptos" panose="020B0004020202020204" pitchFamily="34" charset="0"/>
                        </a:rPr>
                        <a:t>Périmés</a:t>
                      </a:r>
                    </a:p>
                  </a:txBody>
                  <a:tcPr anchor="ctr">
                    <a:lnL>
                      <a:noFill/>
                    </a:lnL>
                    <a:lnR>
                      <a:noFill/>
                    </a:lnR>
                    <a:lnT>
                      <a:noFill/>
                    </a:lnT>
                    <a:lnB>
                      <a:noFill/>
                    </a:lnB>
                    <a:solidFill>
                      <a:schemeClr val="bg2">
                        <a:lumMod val="90000"/>
                      </a:schemeClr>
                    </a:solidFill>
                  </a:tcPr>
                </a:tc>
                <a:tc>
                  <a:txBody>
                    <a:bodyPr/>
                    <a:lstStyle/>
                    <a:p>
                      <a:r>
                        <a:rPr lang="fr-FR" sz="2000" dirty="0">
                          <a:latin typeface="Aptos" panose="020B0004020202020204" pitchFamily="34" charset="0"/>
                        </a:rPr>
                        <a:t>&lt;2%</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589486974"/>
                  </a:ext>
                </a:extLst>
              </a:tr>
              <a:tr h="0">
                <a:tc>
                  <a:txBody>
                    <a:bodyPr/>
                    <a:lstStyle/>
                    <a:p>
                      <a:r>
                        <a:rPr lang="fr-FR" sz="2000">
                          <a:latin typeface="Aptos" panose="020B0004020202020204" pitchFamily="34" charset="0"/>
                        </a:rPr>
                        <a:t>Produits dormants</a:t>
                      </a:r>
                    </a:p>
                  </a:txBody>
                  <a:tcPr anchor="ctr">
                    <a:lnL>
                      <a:noFill/>
                    </a:lnL>
                    <a:lnR>
                      <a:noFill/>
                    </a:lnR>
                    <a:lnT>
                      <a:noFill/>
                    </a:lnT>
                    <a:lnB>
                      <a:noFill/>
                    </a:lnB>
                  </a:tcPr>
                </a:tc>
                <a:tc>
                  <a:txBody>
                    <a:bodyPr/>
                    <a:lstStyle/>
                    <a:p>
                      <a:r>
                        <a:rPr lang="fr-FR" sz="2000">
                          <a:latin typeface="Aptos" panose="020B0004020202020204" pitchFamily="34" charset="0"/>
                        </a:rPr>
                        <a:t>&lt;5%</a:t>
                      </a:r>
                    </a:p>
                  </a:txBody>
                  <a:tcPr anchor="ctr">
                    <a:lnL>
                      <a:noFill/>
                    </a:lnL>
                    <a:lnR>
                      <a:noFill/>
                    </a:lnR>
                    <a:lnT>
                      <a:noFill/>
                    </a:lnT>
                    <a:lnB>
                      <a:noFill/>
                    </a:lnB>
                  </a:tcPr>
                </a:tc>
                <a:extLst>
                  <a:ext uri="{0D108BD9-81ED-4DB2-BD59-A6C34878D82A}">
                    <a16:rowId xmlns:a16="http://schemas.microsoft.com/office/drawing/2014/main" val="2829647399"/>
                  </a:ext>
                </a:extLst>
              </a:tr>
              <a:tr h="0">
                <a:tc>
                  <a:txBody>
                    <a:bodyPr/>
                    <a:lstStyle/>
                    <a:p>
                      <a:r>
                        <a:rPr lang="fr-FR" sz="2000" dirty="0">
                          <a:latin typeface="Aptos" panose="020B0004020202020204" pitchFamily="34" charset="0"/>
                        </a:rPr>
                        <a:t>Rotation</a:t>
                      </a:r>
                    </a:p>
                  </a:txBody>
                  <a:tcPr anchor="ctr">
                    <a:lnL>
                      <a:noFill/>
                    </a:lnL>
                    <a:lnR>
                      <a:noFill/>
                    </a:lnR>
                    <a:lnT>
                      <a:noFill/>
                    </a:lnT>
                    <a:lnB>
                      <a:noFill/>
                    </a:lnB>
                    <a:solidFill>
                      <a:schemeClr val="bg2">
                        <a:lumMod val="90000"/>
                      </a:schemeClr>
                    </a:solidFill>
                  </a:tcPr>
                </a:tc>
                <a:tc>
                  <a:txBody>
                    <a:bodyPr/>
                    <a:lstStyle/>
                    <a:p>
                      <a:r>
                        <a:rPr lang="fr-FR" sz="2000" dirty="0">
                          <a:latin typeface="Aptos" panose="020B0004020202020204" pitchFamily="34" charset="0"/>
                        </a:rPr>
                        <a:t>À définir</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518050664"/>
                  </a:ext>
                </a:extLst>
              </a:tr>
              <a:tr h="0">
                <a:tc>
                  <a:txBody>
                    <a:bodyPr/>
                    <a:lstStyle/>
                    <a:p>
                      <a:r>
                        <a:rPr lang="fr-FR" sz="2000">
                          <a:latin typeface="Aptos" panose="020B0004020202020204" pitchFamily="34" charset="0"/>
                        </a:rPr>
                        <a:t>Ruptures</a:t>
                      </a:r>
                    </a:p>
                  </a:txBody>
                  <a:tcPr anchor="ctr">
                    <a:lnL>
                      <a:noFill/>
                    </a:lnL>
                    <a:lnR>
                      <a:noFill/>
                    </a:lnR>
                    <a:lnT>
                      <a:noFill/>
                    </a:lnT>
                    <a:lnB>
                      <a:noFill/>
                    </a:lnB>
                  </a:tcPr>
                </a:tc>
                <a:tc>
                  <a:txBody>
                    <a:bodyPr/>
                    <a:lstStyle/>
                    <a:p>
                      <a:r>
                        <a:rPr lang="fr-FR" sz="2000" dirty="0">
                          <a:latin typeface="Aptos" panose="020B0004020202020204" pitchFamily="34" charset="0"/>
                        </a:rPr>
                        <a:t>&lt;3%</a:t>
                      </a:r>
                    </a:p>
                  </a:txBody>
                  <a:tcPr anchor="ctr">
                    <a:lnL>
                      <a:noFill/>
                    </a:lnL>
                    <a:lnR>
                      <a:noFill/>
                    </a:lnR>
                    <a:lnT>
                      <a:noFill/>
                    </a:lnT>
                    <a:lnB>
                      <a:noFill/>
                    </a:lnB>
                  </a:tcPr>
                </a:tc>
                <a:extLst>
                  <a:ext uri="{0D108BD9-81ED-4DB2-BD59-A6C34878D82A}">
                    <a16:rowId xmlns:a16="http://schemas.microsoft.com/office/drawing/2014/main" val="1016565679"/>
                  </a:ext>
                </a:extLst>
              </a:tr>
            </a:tbl>
          </a:graphicData>
        </a:graphic>
      </p:graphicFrame>
    </p:spTree>
    <p:extLst>
      <p:ext uri="{BB962C8B-B14F-4D97-AF65-F5344CB8AC3E}">
        <p14:creationId xmlns:p14="http://schemas.microsoft.com/office/powerpoint/2010/main" val="2079285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Méthodes d'inventaire et gestion des périmés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Message clé à retenir</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29" y="2331696"/>
            <a:ext cx="11003329" cy="3046988"/>
          </a:xfrm>
          <a:prstGeom prst="rect">
            <a:avLst/>
          </a:prstGeom>
          <a:noFill/>
        </p:spPr>
        <p:txBody>
          <a:bodyPr wrap="square">
            <a:spAutoFit/>
          </a:bodyPr>
          <a:lstStyle/>
          <a:p>
            <a:pPr marL="342900" indent="-342900">
              <a:buFont typeface="Arial" panose="020B0604020202020204" pitchFamily="34" charset="0"/>
              <a:buChar char="•"/>
            </a:pPr>
            <a:r>
              <a:rPr lang="fr-FR" sz="2400" dirty="0">
                <a:latin typeface="Aptos" panose="020B0004020202020204" pitchFamily="34" charset="0"/>
              </a:rPr>
              <a:t>Un stock qui n’est pas contrôlé devient rapidement une source de pertes financières.</a:t>
            </a:r>
          </a:p>
          <a:p>
            <a:pPr marL="342900" indent="-342900">
              <a:buFont typeface="Arial" panose="020B0604020202020204" pitchFamily="34" charset="0"/>
              <a:buChar char="•"/>
            </a:pPr>
            <a:endParaRPr lang="fr-FR" sz="2400" dirty="0">
              <a:latin typeface="Aptos" panose="020B0004020202020204" pitchFamily="34" charset="0"/>
            </a:endParaRPr>
          </a:p>
          <a:p>
            <a:pPr marL="342900" indent="-342900">
              <a:buFont typeface="Arial" panose="020B0604020202020204" pitchFamily="34" charset="0"/>
              <a:buChar char="•"/>
            </a:pPr>
            <a:r>
              <a:rPr lang="fr-FR" sz="2400" dirty="0">
                <a:latin typeface="Aptos" panose="020B0004020202020204" pitchFamily="34" charset="0"/>
              </a:rPr>
              <a:t>L’inventaire n’est pas une activité administrative : c’est un outil stratégique qui protège simultanément :</a:t>
            </a:r>
          </a:p>
          <a:p>
            <a:pPr marL="800100" lvl="1" indent="-342900">
              <a:buFont typeface="Courier New" panose="02070309020205020404" pitchFamily="49" charset="0"/>
              <a:buChar char="o"/>
            </a:pPr>
            <a:r>
              <a:rPr lang="fr-FR" sz="2400" dirty="0">
                <a:latin typeface="Aptos" panose="020B0004020202020204" pitchFamily="34" charset="0"/>
              </a:rPr>
              <a:t>La santé des patients ; </a:t>
            </a:r>
          </a:p>
          <a:p>
            <a:pPr marL="800100" lvl="1" indent="-342900">
              <a:buFont typeface="Courier New" panose="02070309020205020404" pitchFamily="49" charset="0"/>
              <a:buChar char="o"/>
            </a:pPr>
            <a:r>
              <a:rPr lang="fr-FR" sz="2400" dirty="0">
                <a:latin typeface="Aptos" panose="020B0004020202020204" pitchFamily="34" charset="0"/>
              </a:rPr>
              <a:t>La conformité réglementaire ; </a:t>
            </a:r>
          </a:p>
          <a:p>
            <a:pPr marL="800100" lvl="1" indent="-342900">
              <a:buFont typeface="Courier New" panose="02070309020205020404" pitchFamily="49" charset="0"/>
              <a:buChar char="o"/>
            </a:pPr>
            <a:r>
              <a:rPr lang="fr-FR" sz="2400" dirty="0">
                <a:latin typeface="Aptos" panose="020B0004020202020204" pitchFamily="34" charset="0"/>
              </a:rPr>
              <a:t>La rentabilité de l’officine.</a:t>
            </a:r>
          </a:p>
        </p:txBody>
      </p:sp>
    </p:spTree>
    <p:extLst>
      <p:ext uri="{BB962C8B-B14F-4D97-AF65-F5344CB8AC3E}">
        <p14:creationId xmlns:p14="http://schemas.microsoft.com/office/powerpoint/2010/main" val="3450148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29" y="2331696"/>
            <a:ext cx="11003329" cy="3046988"/>
          </a:xfrm>
          <a:prstGeom prst="rect">
            <a:avLst/>
          </a:prstGeom>
          <a:noFill/>
        </p:spPr>
        <p:txBody>
          <a:bodyPr wrap="square">
            <a:spAutoFit/>
          </a:bodyPr>
          <a:lstStyle/>
          <a:p>
            <a:r>
              <a:rPr lang="fr-FR" sz="2400" dirty="0">
                <a:latin typeface="Aptos" panose="020B0004020202020204" pitchFamily="34" charset="0"/>
              </a:rPr>
              <a:t>À l’issue de ce sous-module, le participant sera capable de :</a:t>
            </a:r>
          </a:p>
          <a:p>
            <a:pPr marL="800100" lvl="1" indent="-342900">
              <a:buFont typeface="Arial" panose="020B0604020202020204" pitchFamily="34" charset="0"/>
              <a:buChar char="•"/>
            </a:pPr>
            <a:r>
              <a:rPr lang="fr-FR" sz="2400" dirty="0">
                <a:latin typeface="Aptos" panose="020B0004020202020204" pitchFamily="34" charset="0"/>
              </a:rPr>
              <a:t>Comprendre le rôle des logiciels métier en officine ;</a:t>
            </a:r>
          </a:p>
          <a:p>
            <a:pPr marL="800100" lvl="1" indent="-342900">
              <a:buFont typeface="Arial" panose="020B0604020202020204" pitchFamily="34" charset="0"/>
              <a:buChar char="•"/>
            </a:pPr>
            <a:r>
              <a:rPr lang="fr-FR" sz="2400" dirty="0">
                <a:latin typeface="Aptos" panose="020B0004020202020204" pitchFamily="34" charset="0"/>
              </a:rPr>
              <a:t>Identifier les fonctionnalités essentielles d’un système de gestion officinale ;</a:t>
            </a:r>
          </a:p>
          <a:p>
            <a:pPr marL="800100" lvl="1" indent="-342900">
              <a:buFont typeface="Arial" panose="020B0604020202020204" pitchFamily="34" charset="0"/>
              <a:buChar char="•"/>
            </a:pPr>
            <a:r>
              <a:rPr lang="fr-FR" sz="2400" dirty="0">
                <a:latin typeface="Aptos" panose="020B0004020202020204" pitchFamily="34" charset="0"/>
              </a:rPr>
              <a:t>Utiliser les outils numériques pour améliorer la gestion des stocks ;</a:t>
            </a:r>
          </a:p>
          <a:p>
            <a:pPr marL="800100" lvl="1" indent="-342900">
              <a:buFont typeface="Arial" panose="020B0604020202020204" pitchFamily="34" charset="0"/>
              <a:buChar char="•"/>
            </a:pPr>
            <a:r>
              <a:rPr lang="fr-FR" sz="2400" dirty="0">
                <a:latin typeface="Aptos" panose="020B0004020202020204" pitchFamily="34" charset="0"/>
              </a:rPr>
              <a:t>Produire des tableaux de bord de pilotage ;</a:t>
            </a:r>
          </a:p>
          <a:p>
            <a:pPr marL="800100" lvl="1" indent="-342900">
              <a:buFont typeface="Arial" panose="020B0604020202020204" pitchFamily="34" charset="0"/>
              <a:buChar char="•"/>
            </a:pPr>
            <a:r>
              <a:rPr lang="fr-FR" sz="2400" dirty="0">
                <a:latin typeface="Aptos" panose="020B0004020202020204" pitchFamily="34" charset="0"/>
              </a:rPr>
              <a:t>Renforcer la traçabilité des médicaments ;</a:t>
            </a:r>
          </a:p>
          <a:p>
            <a:pPr marL="800100" lvl="1" indent="-342900">
              <a:buFont typeface="Arial" panose="020B0604020202020204" pitchFamily="34" charset="0"/>
              <a:buChar char="•"/>
            </a:pPr>
            <a:r>
              <a:rPr lang="fr-FR" sz="2400" dirty="0">
                <a:latin typeface="Aptos" panose="020B0004020202020204" pitchFamily="34" charset="0"/>
              </a:rPr>
              <a:t>Sécuriser les données de l’officine ;</a:t>
            </a:r>
          </a:p>
          <a:p>
            <a:pPr marL="800100" lvl="1" indent="-342900">
              <a:buFont typeface="Arial" panose="020B0604020202020204" pitchFamily="34" charset="0"/>
              <a:buChar char="•"/>
            </a:pPr>
            <a:r>
              <a:rPr lang="fr-FR" sz="2400" dirty="0">
                <a:latin typeface="Aptos" panose="020B0004020202020204" pitchFamily="34" charset="0"/>
              </a:rPr>
              <a:t>Préparer son officine aux futures exigences de digitalisation.</a:t>
            </a:r>
          </a:p>
        </p:txBody>
      </p:sp>
    </p:spTree>
    <p:extLst>
      <p:ext uri="{BB962C8B-B14F-4D97-AF65-F5344CB8AC3E}">
        <p14:creationId xmlns:p14="http://schemas.microsoft.com/office/powerpoint/2010/main" val="3498341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4154984"/>
          </a:xfrm>
          <a:prstGeom prst="rect">
            <a:avLst/>
          </a:prstGeom>
          <a:noFill/>
        </p:spPr>
        <p:txBody>
          <a:bodyPr wrap="square">
            <a:spAutoFit/>
          </a:bodyPr>
          <a:lstStyle/>
          <a:p>
            <a:r>
              <a:rPr lang="fr-FR" sz="2400" b="1" dirty="0">
                <a:latin typeface="Aptos" panose="020B0004020202020204" pitchFamily="34" charset="0"/>
              </a:rPr>
              <a:t>Une officine moderne ne peut plus être pilotée uniquement à l’intuition.</a:t>
            </a:r>
          </a:p>
          <a:p>
            <a:endParaRPr lang="fr-FR" sz="2400" dirty="0">
              <a:latin typeface="Aptos" panose="020B0004020202020204" pitchFamily="34" charset="0"/>
            </a:endParaRPr>
          </a:p>
          <a:p>
            <a:r>
              <a:rPr lang="fr-FR" sz="2400" dirty="0">
                <a:latin typeface="Aptos" panose="020B0004020202020204" pitchFamily="34" charset="0"/>
              </a:rPr>
              <a:t>Les décisions concernant :</a:t>
            </a:r>
          </a:p>
          <a:p>
            <a:pPr marL="800100" lvl="1" indent="-342900">
              <a:buFont typeface="Arial" panose="020B0604020202020204" pitchFamily="34" charset="0"/>
              <a:buChar char="•"/>
            </a:pPr>
            <a:r>
              <a:rPr lang="fr-FR" sz="2400" dirty="0">
                <a:latin typeface="Aptos" panose="020B0004020202020204" pitchFamily="34" charset="0"/>
              </a:rPr>
              <a:t>Les achats ;</a:t>
            </a:r>
          </a:p>
          <a:p>
            <a:pPr marL="800100" lvl="1" indent="-342900">
              <a:buFont typeface="Arial" panose="020B0604020202020204" pitchFamily="34" charset="0"/>
              <a:buChar char="•"/>
            </a:pPr>
            <a:r>
              <a:rPr lang="fr-FR" sz="2400" dirty="0">
                <a:latin typeface="Aptos" panose="020B0004020202020204" pitchFamily="34" charset="0"/>
              </a:rPr>
              <a:t>Les stocks ;</a:t>
            </a:r>
          </a:p>
          <a:p>
            <a:pPr marL="800100" lvl="1" indent="-342900">
              <a:buFont typeface="Arial" panose="020B0604020202020204" pitchFamily="34" charset="0"/>
              <a:buChar char="•"/>
            </a:pPr>
            <a:r>
              <a:rPr lang="fr-FR" sz="2400" dirty="0">
                <a:latin typeface="Aptos" panose="020B0004020202020204" pitchFamily="34" charset="0"/>
              </a:rPr>
              <a:t>Les ventes ;</a:t>
            </a:r>
          </a:p>
          <a:p>
            <a:pPr marL="800100" lvl="1" indent="-342900">
              <a:buFont typeface="Arial" panose="020B0604020202020204" pitchFamily="34" charset="0"/>
              <a:buChar char="•"/>
            </a:pPr>
            <a:r>
              <a:rPr lang="fr-FR" sz="2400" dirty="0">
                <a:latin typeface="Aptos" panose="020B0004020202020204" pitchFamily="34" charset="0"/>
              </a:rPr>
              <a:t>Les marges ;</a:t>
            </a:r>
          </a:p>
          <a:p>
            <a:pPr marL="800100" lvl="1" indent="-342900">
              <a:buFont typeface="Arial" panose="020B0604020202020204" pitchFamily="34" charset="0"/>
              <a:buChar char="•"/>
            </a:pPr>
            <a:r>
              <a:rPr lang="fr-FR" sz="2400" dirty="0">
                <a:latin typeface="Aptos" panose="020B0004020202020204" pitchFamily="34" charset="0"/>
              </a:rPr>
              <a:t>Les ruptures ;</a:t>
            </a:r>
          </a:p>
          <a:p>
            <a:pPr marL="800100" lvl="1" indent="-342900">
              <a:buFont typeface="Arial" panose="020B0604020202020204" pitchFamily="34" charset="0"/>
              <a:buChar char="•"/>
            </a:pPr>
            <a:r>
              <a:rPr lang="fr-FR" sz="2400" dirty="0">
                <a:latin typeface="Aptos" panose="020B0004020202020204" pitchFamily="34" charset="0"/>
              </a:rPr>
              <a:t>Les périmés doivent être fondées sur des données fiables.</a:t>
            </a:r>
          </a:p>
          <a:p>
            <a:pPr lvl="1"/>
            <a:endParaRPr lang="fr-FR" sz="2400" dirty="0">
              <a:latin typeface="Aptos" panose="020B0004020202020204" pitchFamily="34" charset="0"/>
            </a:endParaRPr>
          </a:p>
          <a:p>
            <a:r>
              <a:rPr lang="fr-FR" sz="2400" dirty="0">
                <a:latin typeface="Aptos" panose="020B0004020202020204" pitchFamily="34" charset="0"/>
              </a:rPr>
              <a:t>Le logiciel métier est aujourd’hui l’outil central de gestion de l’officine.</a:t>
            </a:r>
          </a:p>
        </p:txBody>
      </p:sp>
    </p:spTree>
    <p:extLst>
      <p:ext uri="{BB962C8B-B14F-4D97-AF65-F5344CB8AC3E}">
        <p14:creationId xmlns:p14="http://schemas.microsoft.com/office/powerpoint/2010/main" val="3754216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Qu’est-ce qu’un logiciel de gestion officinale ?</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075790"/>
            <a:ext cx="11003329" cy="4524315"/>
          </a:xfrm>
          <a:prstGeom prst="rect">
            <a:avLst/>
          </a:prstGeom>
          <a:noFill/>
        </p:spPr>
        <p:txBody>
          <a:bodyPr wrap="square">
            <a:spAutoFit/>
          </a:bodyPr>
          <a:lstStyle/>
          <a:p>
            <a:r>
              <a:rPr lang="fr-FR" sz="2400" b="1" dirty="0">
                <a:latin typeface="Aptos" panose="020B0004020202020204" pitchFamily="34" charset="0"/>
              </a:rPr>
              <a:t>Définition</a:t>
            </a:r>
            <a:r>
              <a:rPr lang="fr-FR" sz="2400" dirty="0">
                <a:latin typeface="Aptos" panose="020B0004020202020204" pitchFamily="34" charset="0"/>
              </a:rPr>
              <a:t> : Un logiciel de gestion officinale est une solution informatique conçue pour gérer les activités quotidiennes de la pharmacie.</a:t>
            </a:r>
          </a:p>
          <a:p>
            <a:endParaRPr lang="fr-FR" sz="2400" dirty="0">
              <a:latin typeface="Aptos" panose="020B0004020202020204" pitchFamily="34" charset="0"/>
            </a:endParaRPr>
          </a:p>
          <a:p>
            <a:r>
              <a:rPr lang="fr-FR" sz="2400" b="1" dirty="0">
                <a:latin typeface="Aptos" panose="020B0004020202020204" pitchFamily="34" charset="0"/>
              </a:rPr>
              <a:t>Fonctions principales </a:t>
            </a:r>
            <a:r>
              <a:rPr lang="fr-FR" sz="2400" dirty="0">
                <a:latin typeface="Aptos" panose="020B0004020202020204" pitchFamily="34" charset="0"/>
              </a:rPr>
              <a:t>: </a:t>
            </a:r>
          </a:p>
          <a:p>
            <a:pPr marL="800100" lvl="1" indent="-342900">
              <a:buFont typeface="Arial" panose="020B0604020202020204" pitchFamily="34" charset="0"/>
              <a:buChar char="•"/>
            </a:pPr>
            <a:r>
              <a:rPr lang="fr-FR" sz="2400" dirty="0">
                <a:latin typeface="Aptos" panose="020B0004020202020204" pitchFamily="34" charset="0"/>
              </a:rPr>
              <a:t>Gestion des ventes</a:t>
            </a:r>
          </a:p>
          <a:p>
            <a:pPr marL="800100" lvl="1" indent="-342900">
              <a:buFont typeface="Arial" panose="020B0604020202020204" pitchFamily="34" charset="0"/>
              <a:buChar char="•"/>
            </a:pPr>
            <a:r>
              <a:rPr lang="fr-FR" sz="2400" dirty="0">
                <a:latin typeface="Aptos" panose="020B0004020202020204" pitchFamily="34" charset="0"/>
              </a:rPr>
              <a:t>Gestion des stocks</a:t>
            </a:r>
          </a:p>
          <a:p>
            <a:pPr marL="800100" lvl="1" indent="-342900">
              <a:buFont typeface="Arial" panose="020B0604020202020204" pitchFamily="34" charset="0"/>
              <a:buChar char="•"/>
            </a:pPr>
            <a:r>
              <a:rPr lang="fr-FR" sz="2400" dirty="0">
                <a:latin typeface="Aptos" panose="020B0004020202020204" pitchFamily="34" charset="0"/>
              </a:rPr>
              <a:t>Gestion des achats</a:t>
            </a:r>
          </a:p>
          <a:p>
            <a:pPr marL="800100" lvl="1" indent="-342900">
              <a:buFont typeface="Arial" panose="020B0604020202020204" pitchFamily="34" charset="0"/>
              <a:buChar char="•"/>
            </a:pPr>
            <a:r>
              <a:rPr lang="fr-FR" sz="2400" dirty="0">
                <a:latin typeface="Aptos" panose="020B0004020202020204" pitchFamily="34" charset="0"/>
              </a:rPr>
              <a:t>Gestion des fournisseurs</a:t>
            </a:r>
          </a:p>
          <a:p>
            <a:pPr marL="800100" lvl="1" indent="-342900">
              <a:buFont typeface="Arial" panose="020B0604020202020204" pitchFamily="34" charset="0"/>
              <a:buChar char="•"/>
            </a:pPr>
            <a:r>
              <a:rPr lang="fr-FR" sz="2400" dirty="0">
                <a:latin typeface="Aptos" panose="020B0004020202020204" pitchFamily="34" charset="0"/>
              </a:rPr>
              <a:t>Gestion des ordonnances</a:t>
            </a:r>
          </a:p>
          <a:p>
            <a:pPr marL="800100" lvl="1" indent="-342900">
              <a:buFont typeface="Arial" panose="020B0604020202020204" pitchFamily="34" charset="0"/>
              <a:buChar char="•"/>
            </a:pPr>
            <a:r>
              <a:rPr lang="fr-FR" sz="2400" dirty="0">
                <a:latin typeface="Aptos" panose="020B0004020202020204" pitchFamily="34" charset="0"/>
              </a:rPr>
              <a:t>Gestion financière</a:t>
            </a:r>
          </a:p>
          <a:p>
            <a:pPr marL="800100" lvl="1" indent="-342900">
              <a:buFont typeface="Arial" panose="020B0604020202020204" pitchFamily="34" charset="0"/>
              <a:buChar char="•"/>
            </a:pPr>
            <a:r>
              <a:rPr lang="fr-FR" sz="2400" dirty="0">
                <a:latin typeface="Aptos" panose="020B0004020202020204" pitchFamily="34" charset="0"/>
              </a:rPr>
              <a:t>Reporting</a:t>
            </a:r>
          </a:p>
          <a:p>
            <a:pPr marL="800100" lvl="1" indent="-342900">
              <a:buFont typeface="Arial" panose="020B0604020202020204" pitchFamily="34" charset="0"/>
              <a:buChar char="•"/>
            </a:pPr>
            <a:r>
              <a:rPr lang="fr-FR" sz="2400" dirty="0">
                <a:latin typeface="Aptos" panose="020B0004020202020204" pitchFamily="34" charset="0"/>
              </a:rPr>
              <a:t>Traçabilité</a:t>
            </a:r>
          </a:p>
        </p:txBody>
      </p:sp>
    </p:spTree>
    <p:extLst>
      <p:ext uri="{BB962C8B-B14F-4D97-AF65-F5344CB8AC3E}">
        <p14:creationId xmlns:p14="http://schemas.microsoft.com/office/powerpoint/2010/main" val="2505396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Qu’est-ce qu’un logiciel de gestion officinale ?</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2308324"/>
          </a:xfrm>
          <a:prstGeom prst="rect">
            <a:avLst/>
          </a:prstGeom>
          <a:noFill/>
        </p:spPr>
        <p:txBody>
          <a:bodyPr wrap="square">
            <a:spAutoFit/>
          </a:bodyPr>
          <a:lstStyle/>
          <a:p>
            <a:r>
              <a:rPr lang="fr-FR" sz="2400" b="1" dirty="0">
                <a:latin typeface="Aptos" panose="020B0004020202020204" pitchFamily="34" charset="0"/>
              </a:rPr>
              <a:t>Évolution historique :</a:t>
            </a:r>
          </a:p>
          <a:p>
            <a:pPr marL="800100" lvl="1" indent="-342900">
              <a:buFont typeface="Arial" panose="020B0604020202020204" pitchFamily="34" charset="0"/>
              <a:buChar char="•"/>
            </a:pPr>
            <a:r>
              <a:rPr lang="fr-FR" sz="2400" dirty="0">
                <a:latin typeface="Aptos" panose="020B0004020202020204" pitchFamily="34" charset="0"/>
              </a:rPr>
              <a:t>Phase 1 : Registres papier</a:t>
            </a:r>
          </a:p>
          <a:p>
            <a:pPr marL="800100" lvl="1" indent="-342900">
              <a:buFont typeface="Arial" panose="020B0604020202020204" pitchFamily="34" charset="0"/>
              <a:buChar char="•"/>
            </a:pPr>
            <a:r>
              <a:rPr lang="fr-FR" sz="2400" dirty="0">
                <a:latin typeface="Aptos" panose="020B0004020202020204" pitchFamily="34" charset="0"/>
              </a:rPr>
              <a:t>Phase 2 : Excel</a:t>
            </a:r>
          </a:p>
          <a:p>
            <a:pPr marL="800100" lvl="1" indent="-342900">
              <a:buFont typeface="Arial" panose="020B0604020202020204" pitchFamily="34" charset="0"/>
              <a:buChar char="•"/>
            </a:pPr>
            <a:r>
              <a:rPr lang="fr-FR" sz="2400" dirty="0">
                <a:latin typeface="Aptos" panose="020B0004020202020204" pitchFamily="34" charset="0"/>
              </a:rPr>
              <a:t>Phase 3 : Logiciels de gestion</a:t>
            </a:r>
          </a:p>
          <a:p>
            <a:pPr marL="800100" lvl="1" indent="-342900">
              <a:buFont typeface="Arial" panose="020B0604020202020204" pitchFamily="34" charset="0"/>
              <a:buChar char="•"/>
            </a:pPr>
            <a:r>
              <a:rPr lang="fr-FR" sz="2400" dirty="0">
                <a:latin typeface="Aptos" panose="020B0004020202020204" pitchFamily="34" charset="0"/>
              </a:rPr>
              <a:t>Phase 4 : Solutions Cloud</a:t>
            </a:r>
          </a:p>
          <a:p>
            <a:pPr marL="800100" lvl="1" indent="-342900">
              <a:buFont typeface="Arial" panose="020B0604020202020204" pitchFamily="34" charset="0"/>
              <a:buChar char="•"/>
            </a:pPr>
            <a:r>
              <a:rPr lang="fr-FR" sz="2400" dirty="0">
                <a:latin typeface="Aptos" panose="020B0004020202020204" pitchFamily="34" charset="0"/>
              </a:rPr>
              <a:t>Phase 5 : Intelligence artificielle et analytique avancée</a:t>
            </a:r>
          </a:p>
        </p:txBody>
      </p:sp>
    </p:spTree>
    <p:extLst>
      <p:ext uri="{BB962C8B-B14F-4D97-AF65-F5344CB8AC3E}">
        <p14:creationId xmlns:p14="http://schemas.microsoft.com/office/powerpoint/2010/main" val="585601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Pourquoi digitaliser une officine ?</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2308324"/>
          </a:xfrm>
          <a:prstGeom prst="rect">
            <a:avLst/>
          </a:prstGeom>
          <a:noFill/>
        </p:spPr>
        <p:txBody>
          <a:bodyPr wrap="square">
            <a:spAutoFit/>
          </a:bodyPr>
          <a:lstStyle/>
          <a:p>
            <a:r>
              <a:rPr lang="fr-FR" sz="2400" b="1" dirty="0">
                <a:latin typeface="Aptos" panose="020B0004020202020204" pitchFamily="34" charset="0"/>
              </a:rPr>
              <a:t>Problèmes fréquents des systèmes manuels :</a:t>
            </a:r>
          </a:p>
          <a:p>
            <a:pPr marL="800100" lvl="1" indent="-342900">
              <a:buFont typeface="Arial" panose="020B0604020202020204" pitchFamily="34" charset="0"/>
              <a:buChar char="•"/>
            </a:pPr>
            <a:r>
              <a:rPr lang="fr-FR" sz="2400" dirty="0">
                <a:latin typeface="Aptos" panose="020B0004020202020204" pitchFamily="34" charset="0"/>
              </a:rPr>
              <a:t>Ruptures non détectées</a:t>
            </a:r>
          </a:p>
          <a:p>
            <a:pPr marL="800100" lvl="1" indent="-342900">
              <a:buFont typeface="Arial" panose="020B0604020202020204" pitchFamily="34" charset="0"/>
              <a:buChar char="•"/>
            </a:pPr>
            <a:r>
              <a:rPr lang="fr-FR" sz="2400" dirty="0">
                <a:latin typeface="Aptos" panose="020B0004020202020204" pitchFamily="34" charset="0"/>
              </a:rPr>
              <a:t>Produits périmés oubliés</a:t>
            </a:r>
          </a:p>
          <a:p>
            <a:pPr marL="800100" lvl="1" indent="-342900">
              <a:buFont typeface="Arial" panose="020B0604020202020204" pitchFamily="34" charset="0"/>
              <a:buChar char="•"/>
            </a:pPr>
            <a:r>
              <a:rPr lang="fr-FR" sz="2400" dirty="0">
                <a:latin typeface="Aptos" panose="020B0004020202020204" pitchFamily="34" charset="0"/>
              </a:rPr>
              <a:t>Erreurs de calcul</a:t>
            </a:r>
          </a:p>
          <a:p>
            <a:pPr marL="800100" lvl="1" indent="-342900">
              <a:buFont typeface="Arial" panose="020B0604020202020204" pitchFamily="34" charset="0"/>
              <a:buChar char="•"/>
            </a:pPr>
            <a:r>
              <a:rPr lang="fr-FR" sz="2400" dirty="0">
                <a:latin typeface="Aptos" panose="020B0004020202020204" pitchFamily="34" charset="0"/>
              </a:rPr>
              <a:t>Difficultés d’inventaire</a:t>
            </a:r>
          </a:p>
          <a:p>
            <a:pPr marL="800100" lvl="1" indent="-342900">
              <a:buFont typeface="Arial" panose="020B0604020202020204" pitchFamily="34" charset="0"/>
              <a:buChar char="•"/>
            </a:pPr>
            <a:r>
              <a:rPr lang="fr-FR" sz="2400" dirty="0">
                <a:latin typeface="Aptos" panose="020B0004020202020204" pitchFamily="34" charset="0"/>
              </a:rPr>
              <a:t>Mauvaise visibilité financière</a:t>
            </a:r>
          </a:p>
        </p:txBody>
      </p:sp>
    </p:spTree>
    <p:extLst>
      <p:ext uri="{BB962C8B-B14F-4D97-AF65-F5344CB8AC3E}">
        <p14:creationId xmlns:p14="http://schemas.microsoft.com/office/powerpoint/2010/main" val="3599867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Pourquoi digitaliser une officine ?</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2677656"/>
          </a:xfrm>
          <a:prstGeom prst="rect">
            <a:avLst/>
          </a:prstGeom>
          <a:noFill/>
        </p:spPr>
        <p:txBody>
          <a:bodyPr wrap="square">
            <a:spAutoFit/>
          </a:bodyPr>
          <a:lstStyle/>
          <a:p>
            <a:r>
              <a:rPr lang="fr-FR" sz="2400" b="1" dirty="0">
                <a:latin typeface="Aptos" panose="020B0004020202020204" pitchFamily="34" charset="0"/>
              </a:rPr>
              <a:t>Avantages de la digitalisation :</a:t>
            </a:r>
          </a:p>
          <a:p>
            <a:pPr marL="800100" lvl="1" indent="-342900">
              <a:buFont typeface="Arial" panose="020B0604020202020204" pitchFamily="34" charset="0"/>
              <a:buChar char="•"/>
            </a:pPr>
            <a:r>
              <a:rPr lang="fr-FR" sz="2400" dirty="0">
                <a:latin typeface="Aptos" panose="020B0004020202020204" pitchFamily="34" charset="0"/>
              </a:rPr>
              <a:t>Gain de temps</a:t>
            </a:r>
          </a:p>
          <a:p>
            <a:pPr marL="800100" lvl="1" indent="-342900">
              <a:buFont typeface="Arial" panose="020B0604020202020204" pitchFamily="34" charset="0"/>
              <a:buChar char="•"/>
            </a:pPr>
            <a:r>
              <a:rPr lang="fr-FR" sz="2400" dirty="0">
                <a:latin typeface="Aptos" panose="020B0004020202020204" pitchFamily="34" charset="0"/>
              </a:rPr>
              <a:t>Réduction des erreurs</a:t>
            </a:r>
          </a:p>
          <a:p>
            <a:pPr marL="800100" lvl="1" indent="-342900">
              <a:buFont typeface="Arial" panose="020B0604020202020204" pitchFamily="34" charset="0"/>
              <a:buChar char="•"/>
            </a:pPr>
            <a:r>
              <a:rPr lang="fr-FR" sz="2400" dirty="0">
                <a:latin typeface="Aptos" panose="020B0004020202020204" pitchFamily="34" charset="0"/>
              </a:rPr>
              <a:t>Traçabilité</a:t>
            </a:r>
          </a:p>
          <a:p>
            <a:pPr marL="800100" lvl="1" indent="-342900">
              <a:buFont typeface="Arial" panose="020B0604020202020204" pitchFamily="34" charset="0"/>
              <a:buChar char="•"/>
            </a:pPr>
            <a:r>
              <a:rPr lang="fr-FR" sz="2400" dirty="0">
                <a:latin typeface="Aptos" panose="020B0004020202020204" pitchFamily="34" charset="0"/>
              </a:rPr>
              <a:t>Analyse des ventes</a:t>
            </a:r>
          </a:p>
          <a:p>
            <a:pPr marL="800100" lvl="1" indent="-342900">
              <a:buFont typeface="Arial" panose="020B0604020202020204" pitchFamily="34" charset="0"/>
              <a:buChar char="•"/>
            </a:pPr>
            <a:r>
              <a:rPr lang="fr-FR" sz="2400" dirty="0">
                <a:latin typeface="Aptos" panose="020B0004020202020204" pitchFamily="34" charset="0"/>
              </a:rPr>
              <a:t>Contrôle des marges</a:t>
            </a:r>
          </a:p>
          <a:p>
            <a:pPr marL="800100" lvl="1" indent="-342900">
              <a:buFont typeface="Arial" panose="020B0604020202020204" pitchFamily="34" charset="0"/>
              <a:buChar char="•"/>
            </a:pPr>
            <a:r>
              <a:rPr lang="fr-FR" sz="2400" dirty="0">
                <a:latin typeface="Aptos" panose="020B0004020202020204" pitchFamily="34" charset="0"/>
              </a:rPr>
              <a:t>Pilotage des stocks</a:t>
            </a:r>
          </a:p>
        </p:txBody>
      </p:sp>
    </p:spTree>
    <p:extLst>
      <p:ext uri="{BB962C8B-B14F-4D97-AF65-F5344CB8AC3E}">
        <p14:creationId xmlns:p14="http://schemas.microsoft.com/office/powerpoint/2010/main" val="175520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fonctionnalités essentielles d’un logiciel officinal</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2677656"/>
          </a:xfrm>
          <a:prstGeom prst="rect">
            <a:avLst/>
          </a:prstGeom>
          <a:noFill/>
        </p:spPr>
        <p:txBody>
          <a:bodyPr wrap="square">
            <a:spAutoFit/>
          </a:bodyPr>
          <a:lstStyle/>
          <a:p>
            <a:r>
              <a:rPr lang="fr-FR" sz="2400" b="1" dirty="0">
                <a:latin typeface="Aptos" panose="020B0004020202020204" pitchFamily="34" charset="0"/>
              </a:rPr>
              <a:t>Gestion des stocks :</a:t>
            </a:r>
          </a:p>
          <a:p>
            <a:pPr lvl="1"/>
            <a:r>
              <a:rPr lang="fr-FR" sz="2400" dirty="0">
                <a:latin typeface="Aptos" panose="020B0004020202020204" pitchFamily="34" charset="0"/>
              </a:rPr>
              <a:t>Le logiciel doit permettre :</a:t>
            </a:r>
          </a:p>
          <a:p>
            <a:pPr marL="800100" lvl="1" indent="-342900">
              <a:buFont typeface="Arial" panose="020B0604020202020204" pitchFamily="34" charset="0"/>
              <a:buChar char="•"/>
            </a:pPr>
            <a:r>
              <a:rPr lang="fr-FR" sz="2400" dirty="0">
                <a:latin typeface="Aptos" panose="020B0004020202020204" pitchFamily="34" charset="0"/>
              </a:rPr>
              <a:t>Suivi des quantités</a:t>
            </a:r>
          </a:p>
          <a:p>
            <a:pPr marL="800100" lvl="1" indent="-342900">
              <a:buFont typeface="Arial" panose="020B0604020202020204" pitchFamily="34" charset="0"/>
              <a:buChar char="•"/>
            </a:pPr>
            <a:r>
              <a:rPr lang="fr-FR" sz="2400" dirty="0">
                <a:latin typeface="Aptos" panose="020B0004020202020204" pitchFamily="34" charset="0"/>
              </a:rPr>
              <a:t>Alertes de rupture</a:t>
            </a:r>
          </a:p>
          <a:p>
            <a:pPr marL="800100" lvl="1" indent="-342900">
              <a:buFont typeface="Arial" panose="020B0604020202020204" pitchFamily="34" charset="0"/>
              <a:buChar char="•"/>
            </a:pPr>
            <a:r>
              <a:rPr lang="fr-FR" sz="2400" dirty="0">
                <a:latin typeface="Aptos" panose="020B0004020202020204" pitchFamily="34" charset="0"/>
              </a:rPr>
              <a:t>Alertes de péremption</a:t>
            </a:r>
          </a:p>
          <a:p>
            <a:pPr marL="800100" lvl="1" indent="-342900">
              <a:buFont typeface="Arial" panose="020B0604020202020204" pitchFamily="34" charset="0"/>
              <a:buChar char="•"/>
            </a:pPr>
            <a:r>
              <a:rPr lang="fr-FR" sz="2400" dirty="0">
                <a:latin typeface="Aptos" panose="020B0004020202020204" pitchFamily="34" charset="0"/>
              </a:rPr>
              <a:t>Gestion des lots</a:t>
            </a:r>
          </a:p>
          <a:p>
            <a:pPr marL="800100" lvl="1" indent="-342900">
              <a:buFont typeface="Arial" panose="020B0604020202020204" pitchFamily="34" charset="0"/>
              <a:buChar char="•"/>
            </a:pPr>
            <a:r>
              <a:rPr lang="fr-FR" sz="2400" dirty="0">
                <a:latin typeface="Aptos" panose="020B0004020202020204" pitchFamily="34" charset="0"/>
              </a:rPr>
              <a:t>Gestion FEFO</a:t>
            </a:r>
          </a:p>
        </p:txBody>
      </p:sp>
    </p:spTree>
    <p:extLst>
      <p:ext uri="{BB962C8B-B14F-4D97-AF65-F5344CB8AC3E}">
        <p14:creationId xmlns:p14="http://schemas.microsoft.com/office/powerpoint/2010/main" val="792509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fonctionnalités essentielles d’un logiciel officinal</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2308324"/>
          </a:xfrm>
          <a:prstGeom prst="rect">
            <a:avLst/>
          </a:prstGeom>
          <a:noFill/>
        </p:spPr>
        <p:txBody>
          <a:bodyPr wrap="square">
            <a:spAutoFit/>
          </a:bodyPr>
          <a:lstStyle/>
          <a:p>
            <a:r>
              <a:rPr lang="fr-FR" sz="2400" b="1" dirty="0">
                <a:latin typeface="Aptos" panose="020B0004020202020204" pitchFamily="34" charset="0"/>
              </a:rPr>
              <a:t>Gestion des achats :</a:t>
            </a:r>
          </a:p>
          <a:p>
            <a:pPr lvl="1"/>
            <a:r>
              <a:rPr lang="fr-FR" sz="2400" dirty="0">
                <a:latin typeface="Aptos" panose="020B0004020202020204" pitchFamily="34" charset="0"/>
              </a:rPr>
              <a:t>Le logiciel doit permettre :</a:t>
            </a:r>
          </a:p>
          <a:p>
            <a:pPr marL="800100" lvl="1" indent="-342900">
              <a:buFont typeface="Arial" panose="020B0604020202020204" pitchFamily="34" charset="0"/>
              <a:buChar char="•"/>
            </a:pPr>
            <a:r>
              <a:rPr lang="fr-FR" sz="2400" dirty="0">
                <a:latin typeface="Aptos" panose="020B0004020202020204" pitchFamily="34" charset="0"/>
              </a:rPr>
              <a:t>Génération des commandes</a:t>
            </a:r>
          </a:p>
          <a:p>
            <a:pPr marL="800100" lvl="1" indent="-342900">
              <a:buFont typeface="Arial" panose="020B0604020202020204" pitchFamily="34" charset="0"/>
              <a:buChar char="•"/>
            </a:pPr>
            <a:r>
              <a:rPr lang="fr-FR" sz="2400" dirty="0">
                <a:latin typeface="Aptos" panose="020B0004020202020204" pitchFamily="34" charset="0"/>
              </a:rPr>
              <a:t>Suivi des fournisseurs</a:t>
            </a:r>
          </a:p>
          <a:p>
            <a:pPr marL="800100" lvl="1" indent="-342900">
              <a:buFont typeface="Arial" panose="020B0604020202020204" pitchFamily="34" charset="0"/>
              <a:buChar char="•"/>
            </a:pPr>
            <a:r>
              <a:rPr lang="fr-FR" sz="2400" dirty="0">
                <a:latin typeface="Aptos" panose="020B0004020202020204" pitchFamily="34" charset="0"/>
              </a:rPr>
              <a:t>Historique des achats</a:t>
            </a:r>
          </a:p>
          <a:p>
            <a:pPr marL="800100" lvl="1" indent="-342900">
              <a:buFont typeface="Arial" panose="020B0604020202020204" pitchFamily="34" charset="0"/>
              <a:buChar char="•"/>
            </a:pPr>
            <a:r>
              <a:rPr lang="fr-FR" sz="2400" dirty="0">
                <a:latin typeface="Aptos" panose="020B0004020202020204" pitchFamily="34" charset="0"/>
              </a:rPr>
              <a:t>Analyse des prix</a:t>
            </a:r>
          </a:p>
        </p:txBody>
      </p:sp>
    </p:spTree>
    <p:extLst>
      <p:ext uri="{BB962C8B-B14F-4D97-AF65-F5344CB8AC3E}">
        <p14:creationId xmlns:p14="http://schemas.microsoft.com/office/powerpoint/2010/main" val="1621318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fonctionnalités essentielles d’un logiciel officinal</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2308324"/>
          </a:xfrm>
          <a:prstGeom prst="rect">
            <a:avLst/>
          </a:prstGeom>
          <a:noFill/>
        </p:spPr>
        <p:txBody>
          <a:bodyPr wrap="square">
            <a:spAutoFit/>
          </a:bodyPr>
          <a:lstStyle/>
          <a:p>
            <a:r>
              <a:rPr lang="fr-FR" sz="2400" b="1" dirty="0">
                <a:latin typeface="Aptos" panose="020B0004020202020204" pitchFamily="34" charset="0"/>
              </a:rPr>
              <a:t>Gestion des ventes :</a:t>
            </a:r>
          </a:p>
          <a:p>
            <a:pPr lvl="1"/>
            <a:r>
              <a:rPr lang="fr-FR" sz="2400" dirty="0">
                <a:latin typeface="Aptos" panose="020B0004020202020204" pitchFamily="34" charset="0"/>
              </a:rPr>
              <a:t>Le logiciel doit permettre :</a:t>
            </a:r>
          </a:p>
          <a:p>
            <a:pPr marL="800100" lvl="1" indent="-342900">
              <a:buFont typeface="Arial" panose="020B0604020202020204" pitchFamily="34" charset="0"/>
              <a:buChar char="•"/>
            </a:pPr>
            <a:r>
              <a:rPr lang="fr-FR" sz="2400" dirty="0">
                <a:latin typeface="Aptos" panose="020B0004020202020204" pitchFamily="34" charset="0"/>
              </a:rPr>
              <a:t>Suivi du chiffre d’affaires</a:t>
            </a:r>
          </a:p>
          <a:p>
            <a:pPr marL="800100" lvl="1" indent="-342900">
              <a:buFont typeface="Arial" panose="020B0604020202020204" pitchFamily="34" charset="0"/>
              <a:buChar char="•"/>
            </a:pPr>
            <a:r>
              <a:rPr lang="fr-FR" sz="2400" dirty="0">
                <a:latin typeface="Aptos" panose="020B0004020202020204" pitchFamily="34" charset="0"/>
              </a:rPr>
              <a:t>Analyse par produit</a:t>
            </a:r>
          </a:p>
          <a:p>
            <a:pPr marL="800100" lvl="1" indent="-342900">
              <a:buFont typeface="Arial" panose="020B0604020202020204" pitchFamily="34" charset="0"/>
              <a:buChar char="•"/>
            </a:pPr>
            <a:r>
              <a:rPr lang="fr-FR" sz="2400" dirty="0">
                <a:latin typeface="Aptos" panose="020B0004020202020204" pitchFamily="34" charset="0"/>
              </a:rPr>
              <a:t>Analyse par catégorie</a:t>
            </a:r>
          </a:p>
          <a:p>
            <a:pPr marL="800100" lvl="1" indent="-342900">
              <a:buFont typeface="Arial" panose="020B0604020202020204" pitchFamily="34" charset="0"/>
              <a:buChar char="•"/>
            </a:pPr>
            <a:r>
              <a:rPr lang="fr-FR" sz="2400" dirty="0">
                <a:latin typeface="Aptos" panose="020B0004020202020204" pitchFamily="34" charset="0"/>
              </a:rPr>
              <a:t>Analyse par période</a:t>
            </a:r>
          </a:p>
        </p:txBody>
      </p:sp>
    </p:spTree>
    <p:extLst>
      <p:ext uri="{BB962C8B-B14F-4D97-AF65-F5344CB8AC3E}">
        <p14:creationId xmlns:p14="http://schemas.microsoft.com/office/powerpoint/2010/main" val="2065568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fonctionnalités essentielles d’un logiciel officinal</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2308324"/>
          </a:xfrm>
          <a:prstGeom prst="rect">
            <a:avLst/>
          </a:prstGeom>
          <a:noFill/>
        </p:spPr>
        <p:txBody>
          <a:bodyPr wrap="square">
            <a:spAutoFit/>
          </a:bodyPr>
          <a:lstStyle/>
          <a:p>
            <a:r>
              <a:rPr lang="fr-FR" sz="2400" b="1" dirty="0">
                <a:latin typeface="Aptos" panose="020B0004020202020204" pitchFamily="34" charset="0"/>
              </a:rPr>
              <a:t>Gestion financière :</a:t>
            </a:r>
          </a:p>
          <a:p>
            <a:pPr lvl="1"/>
            <a:r>
              <a:rPr lang="fr-FR" sz="2400" dirty="0">
                <a:latin typeface="Aptos" panose="020B0004020202020204" pitchFamily="34" charset="0"/>
              </a:rPr>
              <a:t>Le logiciel doit permettre :</a:t>
            </a:r>
          </a:p>
          <a:p>
            <a:pPr marL="800100" lvl="1" indent="-342900">
              <a:buFont typeface="Arial" panose="020B0604020202020204" pitchFamily="34" charset="0"/>
              <a:buChar char="•"/>
            </a:pPr>
            <a:r>
              <a:rPr lang="fr-FR" sz="2400" dirty="0">
                <a:latin typeface="Aptos" panose="020B0004020202020204" pitchFamily="34" charset="0"/>
              </a:rPr>
              <a:t>Marge brute</a:t>
            </a:r>
          </a:p>
          <a:p>
            <a:pPr marL="800100" lvl="1" indent="-342900">
              <a:buFont typeface="Arial" panose="020B0604020202020204" pitchFamily="34" charset="0"/>
              <a:buChar char="•"/>
            </a:pPr>
            <a:r>
              <a:rPr lang="fr-FR" sz="2400" dirty="0">
                <a:latin typeface="Aptos" panose="020B0004020202020204" pitchFamily="34" charset="0"/>
              </a:rPr>
              <a:t>Trésorerie</a:t>
            </a:r>
          </a:p>
          <a:p>
            <a:pPr marL="800100" lvl="1" indent="-342900">
              <a:buFont typeface="Arial" panose="020B0604020202020204" pitchFamily="34" charset="0"/>
              <a:buChar char="•"/>
            </a:pPr>
            <a:r>
              <a:rPr lang="fr-FR" sz="2400" dirty="0">
                <a:latin typeface="Aptos" panose="020B0004020202020204" pitchFamily="34" charset="0"/>
              </a:rPr>
              <a:t>Rentabilité</a:t>
            </a:r>
          </a:p>
          <a:p>
            <a:pPr marL="800100" lvl="1" indent="-342900">
              <a:buFont typeface="Arial" panose="020B0604020202020204" pitchFamily="34" charset="0"/>
              <a:buChar char="•"/>
            </a:pPr>
            <a:r>
              <a:rPr lang="fr-FR" sz="2400" dirty="0">
                <a:latin typeface="Aptos" panose="020B0004020202020204" pitchFamily="34" charset="0"/>
              </a:rPr>
              <a:t>Créances</a:t>
            </a:r>
          </a:p>
        </p:txBody>
      </p:sp>
    </p:spTree>
    <p:extLst>
      <p:ext uri="{BB962C8B-B14F-4D97-AF65-F5344CB8AC3E}">
        <p14:creationId xmlns:p14="http://schemas.microsoft.com/office/powerpoint/2010/main" val="130742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fonctionnalités essentielles d’un logiciel officinal</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1938992"/>
          </a:xfrm>
          <a:prstGeom prst="rect">
            <a:avLst/>
          </a:prstGeom>
          <a:noFill/>
        </p:spPr>
        <p:txBody>
          <a:bodyPr wrap="square">
            <a:spAutoFit/>
          </a:bodyPr>
          <a:lstStyle/>
          <a:p>
            <a:r>
              <a:rPr lang="fr-FR" sz="2400" b="1" dirty="0">
                <a:latin typeface="Aptos" panose="020B0004020202020204" pitchFamily="34" charset="0"/>
              </a:rPr>
              <a:t>Reporting :</a:t>
            </a:r>
          </a:p>
          <a:p>
            <a:pPr lvl="1"/>
            <a:r>
              <a:rPr lang="fr-FR" sz="2400" dirty="0">
                <a:latin typeface="Aptos" panose="020B0004020202020204" pitchFamily="34" charset="0"/>
              </a:rPr>
              <a:t>Le logiciel doit produire :</a:t>
            </a:r>
          </a:p>
          <a:p>
            <a:pPr marL="800100" lvl="1" indent="-342900">
              <a:buFont typeface="Arial" panose="020B0604020202020204" pitchFamily="34" charset="0"/>
              <a:buChar char="•"/>
            </a:pPr>
            <a:r>
              <a:rPr lang="fr-FR" sz="2400" dirty="0">
                <a:latin typeface="Aptos" panose="020B0004020202020204" pitchFamily="34" charset="0"/>
              </a:rPr>
              <a:t>Tableaux de bord</a:t>
            </a:r>
          </a:p>
          <a:p>
            <a:pPr marL="800100" lvl="1" indent="-342900">
              <a:buFont typeface="Arial" panose="020B0604020202020204" pitchFamily="34" charset="0"/>
              <a:buChar char="•"/>
            </a:pPr>
            <a:r>
              <a:rPr lang="fr-FR" sz="2400" dirty="0">
                <a:latin typeface="Aptos" panose="020B0004020202020204" pitchFamily="34" charset="0"/>
              </a:rPr>
              <a:t>Statistiques</a:t>
            </a:r>
          </a:p>
          <a:p>
            <a:pPr marL="800100" lvl="1" indent="-342900">
              <a:buFont typeface="Arial" panose="020B0604020202020204" pitchFamily="34" charset="0"/>
              <a:buChar char="•"/>
            </a:pPr>
            <a:r>
              <a:rPr lang="fr-FR" sz="2400" dirty="0">
                <a:latin typeface="Aptos" panose="020B0004020202020204" pitchFamily="34" charset="0"/>
              </a:rPr>
              <a:t>Rapports de performance</a:t>
            </a:r>
          </a:p>
        </p:txBody>
      </p:sp>
    </p:spTree>
    <p:extLst>
      <p:ext uri="{BB962C8B-B14F-4D97-AF65-F5344CB8AC3E}">
        <p14:creationId xmlns:p14="http://schemas.microsoft.com/office/powerpoint/2010/main" val="771120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données stratégiques de l’officine</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3416320"/>
          </a:xfrm>
          <a:prstGeom prst="rect">
            <a:avLst/>
          </a:prstGeom>
          <a:noFill/>
        </p:spPr>
        <p:txBody>
          <a:bodyPr wrap="square">
            <a:spAutoFit/>
          </a:bodyPr>
          <a:lstStyle/>
          <a:p>
            <a:r>
              <a:rPr lang="fr-FR" sz="2400" b="1" dirty="0">
                <a:latin typeface="Aptos" panose="020B0004020202020204" pitchFamily="34" charset="0"/>
              </a:rPr>
              <a:t>Les indicateurs que tout pharmacien doit suivre :</a:t>
            </a:r>
          </a:p>
          <a:p>
            <a:pPr marL="800100" lvl="1" indent="-342900">
              <a:buFont typeface="Arial" panose="020B0604020202020204" pitchFamily="34" charset="0"/>
              <a:buChar char="•"/>
            </a:pPr>
            <a:r>
              <a:rPr lang="fr-FR" sz="2400" dirty="0">
                <a:latin typeface="Aptos" panose="020B0004020202020204" pitchFamily="34" charset="0"/>
              </a:rPr>
              <a:t>Top 20 des ventes</a:t>
            </a:r>
          </a:p>
          <a:p>
            <a:pPr marL="800100" lvl="1" indent="-342900">
              <a:buFont typeface="Arial" panose="020B0604020202020204" pitchFamily="34" charset="0"/>
              <a:buChar char="•"/>
            </a:pPr>
            <a:r>
              <a:rPr lang="fr-FR" sz="2400" dirty="0">
                <a:latin typeface="Aptos" panose="020B0004020202020204" pitchFamily="34" charset="0"/>
              </a:rPr>
              <a:t>Produits dormants</a:t>
            </a:r>
          </a:p>
          <a:p>
            <a:pPr marL="800100" lvl="1" indent="-342900">
              <a:buFont typeface="Arial" panose="020B0604020202020204" pitchFamily="34" charset="0"/>
              <a:buChar char="•"/>
            </a:pPr>
            <a:r>
              <a:rPr lang="fr-FR" sz="2400" dirty="0">
                <a:latin typeface="Aptos" panose="020B0004020202020204" pitchFamily="34" charset="0"/>
              </a:rPr>
              <a:t>Produits en rupture</a:t>
            </a:r>
          </a:p>
          <a:p>
            <a:pPr marL="800100" lvl="1" indent="-342900">
              <a:buFont typeface="Arial" panose="020B0604020202020204" pitchFamily="34" charset="0"/>
              <a:buChar char="•"/>
            </a:pPr>
            <a:r>
              <a:rPr lang="fr-FR" sz="2400" dirty="0">
                <a:latin typeface="Aptos" panose="020B0004020202020204" pitchFamily="34" charset="0"/>
              </a:rPr>
              <a:t>Produits proches de la péremption</a:t>
            </a:r>
          </a:p>
          <a:p>
            <a:pPr marL="800100" lvl="1" indent="-342900">
              <a:buFont typeface="Arial" panose="020B0604020202020204" pitchFamily="34" charset="0"/>
              <a:buChar char="•"/>
            </a:pPr>
            <a:r>
              <a:rPr lang="fr-FR" sz="2400" dirty="0">
                <a:latin typeface="Aptos" panose="020B0004020202020204" pitchFamily="34" charset="0"/>
              </a:rPr>
              <a:t>Rotation des stocks</a:t>
            </a:r>
          </a:p>
          <a:p>
            <a:pPr marL="800100" lvl="1" indent="-342900">
              <a:buFont typeface="Arial" panose="020B0604020202020204" pitchFamily="34" charset="0"/>
              <a:buChar char="•"/>
            </a:pPr>
            <a:r>
              <a:rPr lang="fr-FR" sz="2400" dirty="0">
                <a:latin typeface="Aptos" panose="020B0004020202020204" pitchFamily="34" charset="0"/>
              </a:rPr>
              <a:t>Marge par catégorie</a:t>
            </a:r>
          </a:p>
          <a:p>
            <a:pPr marL="800100" lvl="1" indent="-342900">
              <a:buFont typeface="Arial" panose="020B0604020202020204" pitchFamily="34" charset="0"/>
              <a:buChar char="•"/>
            </a:pPr>
            <a:r>
              <a:rPr lang="fr-FR" sz="2400" dirty="0">
                <a:latin typeface="Aptos" panose="020B0004020202020204" pitchFamily="34" charset="0"/>
              </a:rPr>
              <a:t>Chiffre d’affaires quotidien</a:t>
            </a:r>
          </a:p>
          <a:p>
            <a:pPr marL="800100" lvl="1" indent="-342900">
              <a:buFont typeface="Arial" panose="020B0604020202020204" pitchFamily="34" charset="0"/>
              <a:buChar char="•"/>
            </a:pPr>
            <a:r>
              <a:rPr lang="fr-FR" sz="2400" dirty="0">
                <a:latin typeface="Aptos" panose="020B0004020202020204" pitchFamily="34" charset="0"/>
              </a:rPr>
              <a:t>Évolution mensuelle</a:t>
            </a:r>
          </a:p>
        </p:txBody>
      </p:sp>
    </p:spTree>
    <p:extLst>
      <p:ext uri="{BB962C8B-B14F-4D97-AF65-F5344CB8AC3E}">
        <p14:creationId xmlns:p14="http://schemas.microsoft.com/office/powerpoint/2010/main" val="1859479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Codes-barres et traçabilité</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2308324"/>
          </a:xfrm>
          <a:prstGeom prst="rect">
            <a:avLst/>
          </a:prstGeom>
          <a:noFill/>
        </p:spPr>
        <p:txBody>
          <a:bodyPr wrap="square">
            <a:spAutoFit/>
          </a:bodyPr>
          <a:lstStyle/>
          <a:p>
            <a:r>
              <a:rPr lang="fr-FR" sz="2400" b="1" dirty="0">
                <a:latin typeface="Aptos" panose="020B0004020202020204" pitchFamily="34" charset="0"/>
              </a:rPr>
              <a:t>Pourquoi les codes-barres sont importants ?</a:t>
            </a:r>
          </a:p>
          <a:p>
            <a:pPr lvl="1"/>
            <a:r>
              <a:rPr lang="fr-FR" sz="2400" dirty="0">
                <a:latin typeface="Aptos" panose="020B0004020202020204" pitchFamily="34" charset="0"/>
              </a:rPr>
              <a:t>Ils permettent :</a:t>
            </a:r>
          </a:p>
          <a:p>
            <a:pPr marL="800100" lvl="1" indent="-342900">
              <a:buFont typeface="Arial" panose="020B0604020202020204" pitchFamily="34" charset="0"/>
              <a:buChar char="•"/>
            </a:pPr>
            <a:r>
              <a:rPr lang="fr-FR" sz="2400" dirty="0">
                <a:latin typeface="Aptos" panose="020B0004020202020204" pitchFamily="34" charset="0"/>
              </a:rPr>
              <a:t>Réduction des erreurs</a:t>
            </a:r>
          </a:p>
          <a:p>
            <a:pPr marL="800100" lvl="1" indent="-342900">
              <a:buFont typeface="Arial" panose="020B0604020202020204" pitchFamily="34" charset="0"/>
              <a:buChar char="•"/>
            </a:pPr>
            <a:r>
              <a:rPr lang="fr-FR" sz="2400" dirty="0">
                <a:latin typeface="Aptos" panose="020B0004020202020204" pitchFamily="34" charset="0"/>
              </a:rPr>
              <a:t>Rapidité de vente</a:t>
            </a:r>
          </a:p>
          <a:p>
            <a:pPr marL="800100" lvl="1" indent="-342900">
              <a:buFont typeface="Arial" panose="020B0604020202020204" pitchFamily="34" charset="0"/>
              <a:buChar char="•"/>
            </a:pPr>
            <a:r>
              <a:rPr lang="fr-FR" sz="2400" dirty="0">
                <a:latin typeface="Aptos" panose="020B0004020202020204" pitchFamily="34" charset="0"/>
              </a:rPr>
              <a:t>Inventaires simplifiés</a:t>
            </a:r>
          </a:p>
          <a:p>
            <a:pPr marL="800100" lvl="1" indent="-342900">
              <a:buFont typeface="Arial" panose="020B0604020202020204" pitchFamily="34" charset="0"/>
              <a:buChar char="•"/>
            </a:pPr>
            <a:r>
              <a:rPr lang="fr-FR" sz="2400" dirty="0">
                <a:latin typeface="Aptos" panose="020B0004020202020204" pitchFamily="34" charset="0"/>
              </a:rPr>
              <a:t>Traçabilité</a:t>
            </a:r>
          </a:p>
        </p:txBody>
      </p:sp>
    </p:spTree>
    <p:extLst>
      <p:ext uri="{BB962C8B-B14F-4D97-AF65-F5344CB8AC3E}">
        <p14:creationId xmlns:p14="http://schemas.microsoft.com/office/powerpoint/2010/main" val="239779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Codes-barres et traçabilité</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3046988"/>
          </a:xfrm>
          <a:prstGeom prst="rect">
            <a:avLst/>
          </a:prstGeom>
          <a:noFill/>
        </p:spPr>
        <p:txBody>
          <a:bodyPr wrap="square">
            <a:spAutoFit/>
          </a:bodyPr>
          <a:lstStyle/>
          <a:p>
            <a:r>
              <a:rPr lang="fr-FR" sz="2400" b="1" dirty="0">
                <a:latin typeface="Aptos" panose="020B0004020202020204" pitchFamily="34" charset="0"/>
              </a:rPr>
              <a:t>Types de codes ?</a:t>
            </a:r>
          </a:p>
          <a:p>
            <a:pPr marL="800100" lvl="1" indent="-342900">
              <a:buFont typeface="Arial" panose="020B0604020202020204" pitchFamily="34" charset="0"/>
              <a:buChar char="•"/>
            </a:pPr>
            <a:r>
              <a:rPr lang="fr-FR" sz="2400" dirty="0">
                <a:latin typeface="Aptos" panose="020B0004020202020204" pitchFamily="34" charset="0"/>
              </a:rPr>
              <a:t>EAN-13 : Très répandu en pharmacie</a:t>
            </a:r>
          </a:p>
          <a:p>
            <a:pPr marL="800100" lvl="1" indent="-342900">
              <a:buFont typeface="Arial" panose="020B0604020202020204" pitchFamily="34" charset="0"/>
              <a:buChar char="•"/>
            </a:pPr>
            <a:r>
              <a:rPr lang="fr-FR" sz="2400" dirty="0">
                <a:latin typeface="Aptos" panose="020B0004020202020204" pitchFamily="34" charset="0"/>
              </a:rPr>
              <a:t>QR Code</a:t>
            </a:r>
          </a:p>
          <a:p>
            <a:pPr marL="800100" lvl="1" indent="-342900">
              <a:buFont typeface="Arial" panose="020B0604020202020204" pitchFamily="34" charset="0"/>
              <a:buChar char="•"/>
            </a:pPr>
            <a:r>
              <a:rPr lang="fr-FR" sz="2400" dirty="0">
                <a:latin typeface="Aptos" panose="020B0004020202020204" pitchFamily="34" charset="0"/>
              </a:rPr>
              <a:t>GS1 </a:t>
            </a:r>
            <a:r>
              <a:rPr lang="fr-FR" sz="2400" dirty="0" err="1">
                <a:latin typeface="Aptos" panose="020B0004020202020204" pitchFamily="34" charset="0"/>
              </a:rPr>
              <a:t>DataMatrix</a:t>
            </a:r>
            <a:r>
              <a:rPr lang="fr-FR" sz="2400" dirty="0">
                <a:latin typeface="Aptos" panose="020B0004020202020204" pitchFamily="34" charset="0"/>
              </a:rPr>
              <a:t> : Particulièrement important pour la sérialisation et la lutte contre les médicaments falsifiés.</a:t>
            </a:r>
          </a:p>
          <a:p>
            <a:pPr marL="800100" lvl="1" indent="-342900">
              <a:buFont typeface="Arial" panose="020B0604020202020204" pitchFamily="34" charset="0"/>
              <a:buChar char="•"/>
            </a:pPr>
            <a:endParaRPr lang="fr-FR" sz="2400" dirty="0">
              <a:latin typeface="Aptos" panose="020B0004020202020204" pitchFamily="34" charset="0"/>
            </a:endParaRPr>
          </a:p>
          <a:p>
            <a:r>
              <a:rPr lang="fr-FR" sz="2400" b="1" dirty="0">
                <a:latin typeface="Aptos" panose="020B0004020202020204" pitchFamily="34" charset="0"/>
              </a:rPr>
              <a:t>Tendances africaines </a:t>
            </a:r>
            <a:r>
              <a:rPr lang="fr-FR" sz="2400" dirty="0">
                <a:latin typeface="Aptos" panose="020B0004020202020204" pitchFamily="34" charset="0"/>
              </a:rPr>
              <a:t>: Les systèmes de traçabilité deviennent progressivement obligatoires dans plusieurs juridictions.</a:t>
            </a:r>
          </a:p>
        </p:txBody>
      </p:sp>
    </p:spTree>
    <p:extLst>
      <p:ext uri="{BB962C8B-B14F-4D97-AF65-F5344CB8AC3E}">
        <p14:creationId xmlns:p14="http://schemas.microsoft.com/office/powerpoint/2010/main" val="283034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Codes-barres et traçabilité</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4154984"/>
          </a:xfrm>
          <a:prstGeom prst="rect">
            <a:avLst/>
          </a:prstGeom>
          <a:noFill/>
        </p:spPr>
        <p:txBody>
          <a:bodyPr wrap="square">
            <a:spAutoFit/>
          </a:bodyPr>
          <a:lstStyle/>
          <a:p>
            <a:r>
              <a:rPr lang="fr-FR" sz="2400" b="1" dirty="0">
                <a:latin typeface="Aptos" panose="020B0004020202020204" pitchFamily="34" charset="0"/>
              </a:rPr>
              <a:t>Contexte Bénin</a:t>
            </a:r>
          </a:p>
          <a:p>
            <a:r>
              <a:rPr lang="fr-FR" sz="2400" dirty="0">
                <a:latin typeface="Aptos" panose="020B0004020202020204" pitchFamily="34" charset="0"/>
              </a:rPr>
              <a:t>Le Bénin s'est engagé dans un vaste processus de digitalisation et de traçabilité pharmaceutique à travers le projet national ePharmacie porté par l'ABMed.</a:t>
            </a:r>
          </a:p>
          <a:p>
            <a:endParaRPr lang="fr-FR" sz="2400" dirty="0">
              <a:latin typeface="Aptos" panose="020B0004020202020204" pitchFamily="34" charset="0"/>
            </a:endParaRPr>
          </a:p>
          <a:p>
            <a:r>
              <a:rPr lang="fr-FR" sz="2400" dirty="0">
                <a:latin typeface="Aptos" panose="020B0004020202020204" pitchFamily="34" charset="0"/>
              </a:rPr>
              <a:t>L'objectif est de renforcer :</a:t>
            </a:r>
          </a:p>
          <a:p>
            <a:pPr marL="800100" lvl="1" indent="-342900">
              <a:buFont typeface="Arial" panose="020B0604020202020204" pitchFamily="34" charset="0"/>
              <a:buChar char="•"/>
            </a:pPr>
            <a:r>
              <a:rPr lang="fr-FR" sz="2400" dirty="0">
                <a:latin typeface="Aptos" panose="020B0004020202020204" pitchFamily="34" charset="0"/>
              </a:rPr>
              <a:t>La traçabilité ;</a:t>
            </a:r>
          </a:p>
          <a:p>
            <a:pPr marL="800100" lvl="1" indent="-342900">
              <a:buFont typeface="Arial" panose="020B0604020202020204" pitchFamily="34" charset="0"/>
              <a:buChar char="•"/>
            </a:pPr>
            <a:r>
              <a:rPr lang="fr-FR" sz="2400" dirty="0">
                <a:latin typeface="Aptos" panose="020B0004020202020204" pitchFamily="34" charset="0"/>
              </a:rPr>
              <a:t>La lutte contre les médicaments falsifiés ;</a:t>
            </a:r>
          </a:p>
          <a:p>
            <a:pPr marL="800100" lvl="1" indent="-342900">
              <a:buFont typeface="Arial" panose="020B0604020202020204" pitchFamily="34" charset="0"/>
              <a:buChar char="•"/>
            </a:pPr>
            <a:r>
              <a:rPr lang="fr-FR" sz="2400" dirty="0">
                <a:latin typeface="Aptos" panose="020B0004020202020204" pitchFamily="34" charset="0"/>
              </a:rPr>
              <a:t>La visibilité des flux de produits de santé.</a:t>
            </a:r>
          </a:p>
          <a:p>
            <a:endParaRPr lang="fr-FR" sz="2400" dirty="0">
              <a:latin typeface="Aptos" panose="020B0004020202020204" pitchFamily="34" charset="0"/>
            </a:endParaRPr>
          </a:p>
          <a:p>
            <a:r>
              <a:rPr lang="fr-FR" sz="2400" dirty="0">
                <a:latin typeface="Aptos" panose="020B0004020202020204" pitchFamily="34" charset="0"/>
              </a:rPr>
              <a:t>À terme, les officines devront être de plus en plus capables de s'interfacer avec des systèmes numériques de traçabilité.</a:t>
            </a:r>
          </a:p>
        </p:txBody>
      </p:sp>
    </p:spTree>
    <p:extLst>
      <p:ext uri="{BB962C8B-B14F-4D97-AF65-F5344CB8AC3E}">
        <p14:creationId xmlns:p14="http://schemas.microsoft.com/office/powerpoint/2010/main" val="2812409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Cybersécurité et protection des données</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1938992"/>
          </a:xfrm>
          <a:prstGeom prst="rect">
            <a:avLst/>
          </a:prstGeom>
          <a:noFill/>
        </p:spPr>
        <p:txBody>
          <a:bodyPr wrap="square">
            <a:spAutoFit/>
          </a:bodyPr>
          <a:lstStyle/>
          <a:p>
            <a:r>
              <a:rPr lang="fr-FR" sz="2400" b="1" dirty="0">
                <a:latin typeface="Aptos" panose="020B0004020202020204" pitchFamily="34" charset="0"/>
              </a:rPr>
              <a:t>Pourquoi ce sujet devient critique ?</a:t>
            </a:r>
          </a:p>
          <a:p>
            <a:r>
              <a:rPr lang="fr-FR" sz="2400" dirty="0">
                <a:latin typeface="Aptos" panose="020B0004020202020204" pitchFamily="34" charset="0"/>
              </a:rPr>
              <a:t>Les officines manipulent :</a:t>
            </a:r>
          </a:p>
          <a:p>
            <a:pPr marL="800100" lvl="1" indent="-342900">
              <a:buFont typeface="Arial" panose="020B0604020202020204" pitchFamily="34" charset="0"/>
              <a:buChar char="•"/>
            </a:pPr>
            <a:r>
              <a:rPr lang="fr-FR" sz="2400" dirty="0">
                <a:latin typeface="Aptos" panose="020B0004020202020204" pitchFamily="34" charset="0"/>
              </a:rPr>
              <a:t>Des données médicales ;</a:t>
            </a:r>
          </a:p>
          <a:p>
            <a:pPr marL="800100" lvl="1" indent="-342900">
              <a:buFont typeface="Arial" panose="020B0604020202020204" pitchFamily="34" charset="0"/>
              <a:buChar char="•"/>
            </a:pPr>
            <a:r>
              <a:rPr lang="fr-FR" sz="2400" dirty="0">
                <a:latin typeface="Aptos" panose="020B0004020202020204" pitchFamily="34" charset="0"/>
              </a:rPr>
              <a:t>Des données financières ;</a:t>
            </a:r>
          </a:p>
          <a:p>
            <a:pPr marL="800100" lvl="1" indent="-342900">
              <a:buFont typeface="Arial" panose="020B0604020202020204" pitchFamily="34" charset="0"/>
              <a:buChar char="•"/>
            </a:pPr>
            <a:r>
              <a:rPr lang="fr-FR" sz="2400" dirty="0">
                <a:latin typeface="Aptos" panose="020B0004020202020204" pitchFamily="34" charset="0"/>
              </a:rPr>
              <a:t>Des données personnelles.</a:t>
            </a:r>
          </a:p>
        </p:txBody>
      </p:sp>
    </p:spTree>
    <p:extLst>
      <p:ext uri="{BB962C8B-B14F-4D97-AF65-F5344CB8AC3E}">
        <p14:creationId xmlns:p14="http://schemas.microsoft.com/office/powerpoint/2010/main" val="498237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Cybersécurité et protection des données</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2308324"/>
          </a:xfrm>
          <a:prstGeom prst="rect">
            <a:avLst/>
          </a:prstGeom>
          <a:noFill/>
        </p:spPr>
        <p:txBody>
          <a:bodyPr wrap="square">
            <a:spAutoFit/>
          </a:bodyPr>
          <a:lstStyle/>
          <a:p>
            <a:r>
              <a:rPr lang="fr-FR" sz="2400" b="1" dirty="0">
                <a:latin typeface="Aptos" panose="020B0004020202020204" pitchFamily="34" charset="0"/>
              </a:rPr>
              <a:t>Risques :</a:t>
            </a:r>
          </a:p>
          <a:p>
            <a:pPr marL="800100" lvl="1" indent="-342900">
              <a:buFont typeface="Arial" panose="020B0604020202020204" pitchFamily="34" charset="0"/>
              <a:buChar char="•"/>
            </a:pPr>
            <a:r>
              <a:rPr lang="fr-FR" sz="2400" dirty="0">
                <a:latin typeface="Aptos" panose="020B0004020202020204" pitchFamily="34" charset="0"/>
              </a:rPr>
              <a:t>Virus</a:t>
            </a:r>
          </a:p>
          <a:p>
            <a:pPr marL="800100" lvl="1" indent="-342900">
              <a:buFont typeface="Arial" panose="020B0604020202020204" pitchFamily="34" charset="0"/>
              <a:buChar char="•"/>
            </a:pPr>
            <a:r>
              <a:rPr lang="fr-FR" sz="2400" dirty="0">
                <a:latin typeface="Aptos" panose="020B0004020202020204" pitchFamily="34" charset="0"/>
              </a:rPr>
              <a:t>Ransomware</a:t>
            </a:r>
          </a:p>
          <a:p>
            <a:pPr marL="800100" lvl="1" indent="-342900">
              <a:buFont typeface="Arial" panose="020B0604020202020204" pitchFamily="34" charset="0"/>
              <a:buChar char="•"/>
            </a:pPr>
            <a:r>
              <a:rPr lang="fr-FR" sz="2400" dirty="0">
                <a:latin typeface="Aptos" panose="020B0004020202020204" pitchFamily="34" charset="0"/>
              </a:rPr>
              <a:t>Vol de données</a:t>
            </a:r>
          </a:p>
          <a:p>
            <a:pPr marL="800100" lvl="1" indent="-342900">
              <a:buFont typeface="Arial" panose="020B0604020202020204" pitchFamily="34" charset="0"/>
              <a:buChar char="•"/>
            </a:pPr>
            <a:r>
              <a:rPr lang="fr-FR" sz="2400" dirty="0">
                <a:latin typeface="Aptos" panose="020B0004020202020204" pitchFamily="34" charset="0"/>
              </a:rPr>
              <a:t>Perte de données</a:t>
            </a:r>
          </a:p>
          <a:p>
            <a:pPr marL="800100" lvl="1" indent="-342900">
              <a:buFont typeface="Arial" panose="020B0604020202020204" pitchFamily="34" charset="0"/>
              <a:buChar char="•"/>
            </a:pPr>
            <a:r>
              <a:rPr lang="fr-FR" sz="2400" dirty="0">
                <a:latin typeface="Aptos" panose="020B0004020202020204" pitchFamily="34" charset="0"/>
              </a:rPr>
              <a:t>Piratage</a:t>
            </a:r>
          </a:p>
        </p:txBody>
      </p:sp>
    </p:spTree>
    <p:extLst>
      <p:ext uri="{BB962C8B-B14F-4D97-AF65-F5344CB8AC3E}">
        <p14:creationId xmlns:p14="http://schemas.microsoft.com/office/powerpoint/2010/main" val="2844899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Cybersécurité et protection des données</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2308324"/>
          </a:xfrm>
          <a:prstGeom prst="rect">
            <a:avLst/>
          </a:prstGeom>
          <a:noFill/>
        </p:spPr>
        <p:txBody>
          <a:bodyPr wrap="square">
            <a:spAutoFit/>
          </a:bodyPr>
          <a:lstStyle/>
          <a:p>
            <a:r>
              <a:rPr lang="fr-FR" sz="2400" b="1" dirty="0">
                <a:latin typeface="Aptos" panose="020B0004020202020204" pitchFamily="34" charset="0"/>
              </a:rPr>
              <a:t>Mesures minimales : </a:t>
            </a:r>
          </a:p>
          <a:p>
            <a:pPr marL="800100" lvl="1" indent="-342900">
              <a:buFont typeface="Arial" panose="020B0604020202020204" pitchFamily="34" charset="0"/>
              <a:buChar char="•"/>
            </a:pPr>
            <a:r>
              <a:rPr lang="fr-FR" sz="2400" dirty="0">
                <a:latin typeface="Aptos" panose="020B0004020202020204" pitchFamily="34" charset="0"/>
              </a:rPr>
              <a:t>Antivirus</a:t>
            </a:r>
          </a:p>
          <a:p>
            <a:pPr marL="800100" lvl="1" indent="-342900">
              <a:buFont typeface="Arial" panose="020B0604020202020204" pitchFamily="34" charset="0"/>
              <a:buChar char="•"/>
            </a:pPr>
            <a:r>
              <a:rPr lang="fr-FR" sz="2400" dirty="0">
                <a:latin typeface="Aptos" panose="020B0004020202020204" pitchFamily="34" charset="0"/>
              </a:rPr>
              <a:t>Sauvegardes automatiques</a:t>
            </a:r>
          </a:p>
          <a:p>
            <a:pPr marL="800100" lvl="1" indent="-342900">
              <a:buFont typeface="Arial" panose="020B0604020202020204" pitchFamily="34" charset="0"/>
              <a:buChar char="•"/>
            </a:pPr>
            <a:r>
              <a:rPr lang="fr-FR" sz="2400" dirty="0">
                <a:latin typeface="Aptos" panose="020B0004020202020204" pitchFamily="34" charset="0"/>
              </a:rPr>
              <a:t>Mots de passe robustes</a:t>
            </a:r>
          </a:p>
          <a:p>
            <a:pPr marL="800100" lvl="1" indent="-342900">
              <a:buFont typeface="Arial" panose="020B0604020202020204" pitchFamily="34" charset="0"/>
              <a:buChar char="•"/>
            </a:pPr>
            <a:r>
              <a:rPr lang="fr-FR" sz="2400" dirty="0">
                <a:latin typeface="Aptos" panose="020B0004020202020204" pitchFamily="34" charset="0"/>
              </a:rPr>
              <a:t>Contrôle des accès</a:t>
            </a:r>
          </a:p>
          <a:p>
            <a:pPr marL="800100" lvl="1" indent="-342900">
              <a:buFont typeface="Arial" panose="020B0604020202020204" pitchFamily="34" charset="0"/>
              <a:buChar char="•"/>
            </a:pPr>
            <a:r>
              <a:rPr lang="fr-FR" sz="2400" dirty="0">
                <a:latin typeface="Aptos" panose="020B0004020202020204" pitchFamily="34" charset="0"/>
              </a:rPr>
              <a:t>Formation du personnel</a:t>
            </a:r>
          </a:p>
        </p:txBody>
      </p:sp>
    </p:spTree>
    <p:extLst>
      <p:ext uri="{BB962C8B-B14F-4D97-AF65-F5344CB8AC3E}">
        <p14:creationId xmlns:p14="http://schemas.microsoft.com/office/powerpoint/2010/main" val="1457591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Intelligence décisionnelle en officine</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3416320"/>
          </a:xfrm>
          <a:prstGeom prst="rect">
            <a:avLst/>
          </a:prstGeom>
          <a:noFill/>
        </p:spPr>
        <p:txBody>
          <a:bodyPr wrap="square">
            <a:spAutoFit/>
          </a:bodyPr>
          <a:lstStyle/>
          <a:p>
            <a:r>
              <a:rPr lang="fr-FR" sz="2400" b="1" dirty="0">
                <a:latin typeface="Aptos" panose="020B0004020202020204" pitchFamily="34" charset="0"/>
              </a:rPr>
              <a:t>Business Intelligence </a:t>
            </a:r>
            <a:r>
              <a:rPr lang="fr-FR" sz="2400" dirty="0">
                <a:latin typeface="Aptos" panose="020B0004020202020204" pitchFamily="34" charset="0"/>
              </a:rPr>
              <a:t>: Utilisation des données pour prendre de meilleures décisions.</a:t>
            </a:r>
          </a:p>
          <a:p>
            <a:endParaRPr lang="fr-FR" sz="2400" dirty="0">
              <a:latin typeface="Aptos" panose="020B0004020202020204" pitchFamily="34" charset="0"/>
            </a:endParaRPr>
          </a:p>
          <a:p>
            <a:r>
              <a:rPr lang="fr-FR" sz="2400" b="1" dirty="0">
                <a:latin typeface="Aptos" panose="020B0004020202020204" pitchFamily="34" charset="0"/>
              </a:rPr>
              <a:t>Applications en pharmacie </a:t>
            </a:r>
            <a:r>
              <a:rPr lang="fr-FR" sz="2400" dirty="0">
                <a:latin typeface="Aptos" panose="020B0004020202020204" pitchFamily="34" charset="0"/>
              </a:rPr>
              <a:t>: </a:t>
            </a:r>
          </a:p>
          <a:p>
            <a:pPr marL="800100" lvl="1" indent="-342900">
              <a:buFont typeface="Arial" panose="020B0604020202020204" pitchFamily="34" charset="0"/>
              <a:buChar char="•"/>
            </a:pPr>
            <a:r>
              <a:rPr lang="fr-FR" sz="2400" dirty="0">
                <a:latin typeface="Aptos" panose="020B0004020202020204" pitchFamily="34" charset="0"/>
              </a:rPr>
              <a:t>Prévision des ventes</a:t>
            </a:r>
          </a:p>
          <a:p>
            <a:pPr marL="800100" lvl="1" indent="-342900">
              <a:buFont typeface="Arial" panose="020B0604020202020204" pitchFamily="34" charset="0"/>
              <a:buChar char="•"/>
            </a:pPr>
            <a:r>
              <a:rPr lang="fr-FR" sz="2400" dirty="0">
                <a:latin typeface="Aptos" panose="020B0004020202020204" pitchFamily="34" charset="0"/>
              </a:rPr>
              <a:t>Prévision des ruptures</a:t>
            </a:r>
          </a:p>
          <a:p>
            <a:pPr marL="800100" lvl="1" indent="-342900">
              <a:buFont typeface="Arial" panose="020B0604020202020204" pitchFamily="34" charset="0"/>
              <a:buChar char="•"/>
            </a:pPr>
            <a:r>
              <a:rPr lang="fr-FR" sz="2400" dirty="0">
                <a:latin typeface="Aptos" panose="020B0004020202020204" pitchFamily="34" charset="0"/>
              </a:rPr>
              <a:t>Prévision des besoins</a:t>
            </a:r>
          </a:p>
          <a:p>
            <a:pPr marL="800100" lvl="1" indent="-342900">
              <a:buFont typeface="Arial" panose="020B0604020202020204" pitchFamily="34" charset="0"/>
              <a:buChar char="•"/>
            </a:pPr>
            <a:r>
              <a:rPr lang="fr-FR" sz="2400" dirty="0">
                <a:latin typeface="Aptos" panose="020B0004020202020204" pitchFamily="34" charset="0"/>
              </a:rPr>
              <a:t>Analyse de rentabilité</a:t>
            </a:r>
          </a:p>
          <a:p>
            <a:pPr marL="800100" lvl="1" indent="-342900">
              <a:buFont typeface="Arial" panose="020B0604020202020204" pitchFamily="34" charset="0"/>
              <a:buChar char="•"/>
            </a:pPr>
            <a:r>
              <a:rPr lang="fr-FR" sz="2400" dirty="0">
                <a:latin typeface="Aptos" panose="020B0004020202020204" pitchFamily="34" charset="0"/>
              </a:rPr>
              <a:t>Segmentation des clients</a:t>
            </a:r>
          </a:p>
        </p:txBody>
      </p:sp>
      <p:sp>
        <p:nvSpPr>
          <p:cNvPr id="11" name="ZoneTexte 10">
            <a:extLst>
              <a:ext uri="{FF2B5EF4-FFF2-40B4-BE49-F238E27FC236}">
                <a16:creationId xmlns:a16="http://schemas.microsoft.com/office/drawing/2014/main" id="{1B60F855-8D53-4A45-A66A-8D4B471086B2}"/>
              </a:ext>
            </a:extLst>
          </p:cNvPr>
          <p:cNvSpPr txBox="1"/>
          <p:nvPr/>
        </p:nvSpPr>
        <p:spPr>
          <a:xfrm>
            <a:off x="7770160" y="4563674"/>
            <a:ext cx="3782569" cy="1754326"/>
          </a:xfrm>
          <a:prstGeom prst="rect">
            <a:avLst/>
          </a:prstGeom>
          <a:noFill/>
        </p:spPr>
        <p:txBody>
          <a:bodyPr wrap="square">
            <a:spAutoFit/>
          </a:bodyPr>
          <a:lstStyle/>
          <a:p>
            <a:r>
              <a:rPr lang="fr-FR" b="1" dirty="0">
                <a:latin typeface="Aptos" panose="020B0004020202020204" pitchFamily="34" charset="0"/>
              </a:rPr>
              <a:t>Exemple :</a:t>
            </a:r>
          </a:p>
          <a:p>
            <a:pPr marL="285750" indent="-285750">
              <a:buFont typeface="Arial" panose="020B0604020202020204" pitchFamily="34" charset="0"/>
              <a:buChar char="•"/>
            </a:pPr>
            <a:r>
              <a:rPr lang="fr-FR" b="1" dirty="0">
                <a:latin typeface="Aptos" panose="020B0004020202020204" pitchFamily="34" charset="0"/>
              </a:rPr>
              <a:t>Le logiciel détecte </a:t>
            </a:r>
            <a:r>
              <a:rPr lang="fr-FR" dirty="0">
                <a:latin typeface="Aptos" panose="020B0004020202020204" pitchFamily="34" charset="0"/>
              </a:rPr>
              <a:t>:Chaque saison des pluies :+40 % de ventes d'antipaludiques.</a:t>
            </a:r>
          </a:p>
          <a:p>
            <a:pPr marL="285750" indent="-285750">
              <a:buFont typeface="Arial" panose="020B0604020202020204" pitchFamily="34" charset="0"/>
              <a:buChar char="•"/>
            </a:pPr>
            <a:r>
              <a:rPr lang="fr-FR" b="1" dirty="0">
                <a:latin typeface="Aptos" panose="020B0004020202020204" pitchFamily="34" charset="0"/>
              </a:rPr>
              <a:t>Conséquence</a:t>
            </a:r>
            <a:r>
              <a:rPr lang="fr-FR" dirty="0">
                <a:latin typeface="Aptos" panose="020B0004020202020204" pitchFamily="34" charset="0"/>
              </a:rPr>
              <a:t> :Les commandes peuvent être anticipées.</a:t>
            </a:r>
          </a:p>
        </p:txBody>
      </p:sp>
    </p:spTree>
    <p:extLst>
      <p:ext uri="{BB962C8B-B14F-4D97-AF65-F5344CB8AC3E}">
        <p14:creationId xmlns:p14="http://schemas.microsoft.com/office/powerpoint/2010/main" val="2914600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Choisir le bon logiciel</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3046988"/>
          </a:xfrm>
          <a:prstGeom prst="rect">
            <a:avLst/>
          </a:prstGeom>
          <a:noFill/>
        </p:spPr>
        <p:txBody>
          <a:bodyPr wrap="square">
            <a:spAutoFit/>
          </a:bodyPr>
          <a:lstStyle/>
          <a:p>
            <a:r>
              <a:rPr lang="fr-FR" sz="2400" b="1" dirty="0">
                <a:latin typeface="Aptos" panose="020B0004020202020204" pitchFamily="34" charset="0"/>
              </a:rPr>
              <a:t>Critères de sélection :</a:t>
            </a:r>
          </a:p>
          <a:p>
            <a:pPr marL="800100" lvl="1" indent="-342900">
              <a:buFont typeface="Arial" panose="020B0604020202020204" pitchFamily="34" charset="0"/>
              <a:buChar char="•"/>
            </a:pPr>
            <a:r>
              <a:rPr lang="fr-FR" sz="2400" dirty="0">
                <a:latin typeface="Aptos" panose="020B0004020202020204" pitchFamily="34" charset="0"/>
              </a:rPr>
              <a:t>Facilité d’utilisation</a:t>
            </a:r>
          </a:p>
          <a:p>
            <a:pPr marL="800100" lvl="1" indent="-342900">
              <a:buFont typeface="Arial" panose="020B0604020202020204" pitchFamily="34" charset="0"/>
              <a:buChar char="•"/>
            </a:pPr>
            <a:r>
              <a:rPr lang="fr-FR" sz="2400" dirty="0">
                <a:latin typeface="Aptos" panose="020B0004020202020204" pitchFamily="34" charset="0"/>
              </a:rPr>
              <a:t>Support technique</a:t>
            </a:r>
          </a:p>
          <a:p>
            <a:pPr marL="800100" lvl="1" indent="-342900">
              <a:buFont typeface="Arial" panose="020B0604020202020204" pitchFamily="34" charset="0"/>
              <a:buChar char="•"/>
            </a:pPr>
            <a:r>
              <a:rPr lang="fr-FR" sz="2400" dirty="0">
                <a:latin typeface="Aptos" panose="020B0004020202020204" pitchFamily="34" charset="0"/>
              </a:rPr>
              <a:t>Fonctionnalités</a:t>
            </a:r>
          </a:p>
          <a:p>
            <a:pPr marL="800100" lvl="1" indent="-342900">
              <a:buFont typeface="Arial" panose="020B0604020202020204" pitchFamily="34" charset="0"/>
              <a:buChar char="•"/>
            </a:pPr>
            <a:r>
              <a:rPr lang="fr-FR" sz="2400" dirty="0">
                <a:latin typeface="Aptos" panose="020B0004020202020204" pitchFamily="34" charset="0"/>
              </a:rPr>
              <a:t>Coût</a:t>
            </a:r>
          </a:p>
          <a:p>
            <a:pPr marL="800100" lvl="1" indent="-342900">
              <a:buFont typeface="Arial" panose="020B0604020202020204" pitchFamily="34" charset="0"/>
              <a:buChar char="•"/>
            </a:pPr>
            <a:r>
              <a:rPr lang="fr-FR" sz="2400" dirty="0">
                <a:latin typeface="Aptos" panose="020B0004020202020204" pitchFamily="34" charset="0"/>
              </a:rPr>
              <a:t>Sécurité</a:t>
            </a:r>
          </a:p>
          <a:p>
            <a:pPr marL="800100" lvl="1" indent="-342900">
              <a:buFont typeface="Arial" panose="020B0604020202020204" pitchFamily="34" charset="0"/>
              <a:buChar char="•"/>
            </a:pPr>
            <a:r>
              <a:rPr lang="fr-FR" sz="2400" dirty="0">
                <a:latin typeface="Aptos" panose="020B0004020202020204" pitchFamily="34" charset="0"/>
              </a:rPr>
              <a:t>Évolutivité</a:t>
            </a:r>
          </a:p>
          <a:p>
            <a:pPr marL="800100" lvl="1" indent="-342900">
              <a:buFont typeface="Arial" panose="020B0604020202020204" pitchFamily="34" charset="0"/>
              <a:buChar char="•"/>
            </a:pPr>
            <a:r>
              <a:rPr lang="fr-FR" sz="2400" dirty="0">
                <a:latin typeface="Aptos" panose="020B0004020202020204" pitchFamily="34" charset="0"/>
              </a:rPr>
              <a:t>Compatibilité avec les exigences réglementaires</a:t>
            </a:r>
          </a:p>
        </p:txBody>
      </p:sp>
    </p:spTree>
    <p:extLst>
      <p:ext uri="{BB962C8B-B14F-4D97-AF65-F5344CB8AC3E}">
        <p14:creationId xmlns:p14="http://schemas.microsoft.com/office/powerpoint/2010/main" val="1620537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Outils informatiques de gestion officinale (logiciels métier)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Message clé à retenir</a:t>
            </a:r>
            <a:endParaRPr lang="en-US" sz="2400" b="1" dirty="0">
              <a:solidFill>
                <a:schemeClr val="bg1"/>
              </a:solidFill>
            </a:endParaRPr>
          </a:p>
        </p:txBody>
      </p:sp>
      <p:sp>
        <p:nvSpPr>
          <p:cNvPr id="10" name="ZoneTexte 9">
            <a:extLst>
              <a:ext uri="{FF2B5EF4-FFF2-40B4-BE49-F238E27FC236}">
                <a16:creationId xmlns:a16="http://schemas.microsoft.com/office/drawing/2014/main" id="{5D2AFA2C-F59A-4F52-93FE-3923B8A0919C}"/>
              </a:ext>
            </a:extLst>
          </p:cNvPr>
          <p:cNvSpPr txBox="1"/>
          <p:nvPr/>
        </p:nvSpPr>
        <p:spPr>
          <a:xfrm>
            <a:off x="919730" y="2129580"/>
            <a:ext cx="11003329" cy="2677656"/>
          </a:xfrm>
          <a:prstGeom prst="rect">
            <a:avLst/>
          </a:prstGeom>
          <a:noFill/>
        </p:spPr>
        <p:txBody>
          <a:bodyPr wrap="square">
            <a:spAutoFit/>
          </a:bodyPr>
          <a:lstStyle/>
          <a:p>
            <a:pPr marL="342900" indent="-342900">
              <a:buFont typeface="Arial" panose="020B0604020202020204" pitchFamily="34" charset="0"/>
              <a:buChar char="•"/>
            </a:pPr>
            <a:r>
              <a:rPr lang="fr-FR" sz="2400" dirty="0">
                <a:latin typeface="Aptos" panose="020B0004020202020204" pitchFamily="34" charset="0"/>
              </a:rPr>
              <a:t>Le logiciel officinal n’est pas un simple outil de facturation.</a:t>
            </a:r>
          </a:p>
          <a:p>
            <a:pPr marL="342900" indent="-342900">
              <a:buFont typeface="Arial" panose="020B0604020202020204" pitchFamily="34" charset="0"/>
              <a:buChar char="•"/>
            </a:pPr>
            <a:endParaRPr lang="fr-FR" sz="2400" dirty="0">
              <a:latin typeface="Aptos" panose="020B0004020202020204" pitchFamily="34" charset="0"/>
            </a:endParaRPr>
          </a:p>
          <a:p>
            <a:pPr marL="342900" indent="-342900">
              <a:buFont typeface="Arial" panose="020B0604020202020204" pitchFamily="34" charset="0"/>
              <a:buChar char="•"/>
            </a:pPr>
            <a:r>
              <a:rPr lang="fr-FR" sz="2400" dirty="0">
                <a:latin typeface="Aptos" panose="020B0004020202020204" pitchFamily="34" charset="0"/>
              </a:rPr>
              <a:t>Il constitue aujourd’hui le système nerveux de l’officine.</a:t>
            </a:r>
          </a:p>
          <a:p>
            <a:pPr marL="342900" indent="-342900">
              <a:buFont typeface="Arial" panose="020B0604020202020204" pitchFamily="34" charset="0"/>
              <a:buChar char="•"/>
            </a:pPr>
            <a:endParaRPr lang="fr-FR" sz="2400" dirty="0">
              <a:latin typeface="Aptos" panose="020B0004020202020204" pitchFamily="34" charset="0"/>
            </a:endParaRPr>
          </a:p>
          <a:p>
            <a:pPr marL="342900" indent="-342900">
              <a:buFont typeface="Arial" panose="020B0604020202020204" pitchFamily="34" charset="0"/>
              <a:buChar char="•"/>
            </a:pPr>
            <a:r>
              <a:rPr lang="fr-FR" sz="2400" dirty="0">
                <a:latin typeface="Aptos" panose="020B0004020202020204" pitchFamily="34" charset="0"/>
              </a:rPr>
              <a:t>Une officine qui maîtrise ses données maîtrise ses stocks, améliore sa rentabilité, réduit ses risques réglementaires et se prépare aux futures exigences de digitalisation du secteur pharmaceutique africain.</a:t>
            </a:r>
          </a:p>
        </p:txBody>
      </p:sp>
    </p:spTree>
    <p:extLst>
      <p:ext uri="{BB962C8B-B14F-4D97-AF65-F5344CB8AC3E}">
        <p14:creationId xmlns:p14="http://schemas.microsoft.com/office/powerpoint/2010/main" val="3222453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5604B0-EF89-4CCD-9A70-88801B695330}"/>
              </a:ext>
            </a:extLst>
          </p:cNvPr>
          <p:cNvSpPr/>
          <p:nvPr/>
        </p:nvSpPr>
        <p:spPr>
          <a:xfrm>
            <a:off x="233266" y="205274"/>
            <a:ext cx="11747240" cy="5057192"/>
          </a:xfrm>
          <a:prstGeom prst="rect">
            <a:avLst/>
          </a:prstGeom>
          <a:solidFill>
            <a:srgbClr val="FD7B0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59298" y="1948057"/>
            <a:ext cx="481069" cy="1571625"/>
          </a:xfrm>
          <a:prstGeom prst="roundRect">
            <a:avLst>
              <a:gd name="adj" fmla="val 50000"/>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40366" y="2447698"/>
            <a:ext cx="10343495" cy="584775"/>
          </a:xfrm>
          <a:prstGeom prst="rect">
            <a:avLst/>
          </a:prstGeom>
          <a:noFill/>
        </p:spPr>
        <p:txBody>
          <a:bodyPr wrap="square">
            <a:spAutoFit/>
          </a:bodyPr>
          <a:lstStyle/>
          <a:p>
            <a:r>
              <a:rPr lang="fr-FR" sz="3200" b="1" dirty="0">
                <a:solidFill>
                  <a:schemeClr val="bg1"/>
                </a:solidFill>
                <a:latin typeface="Aptos" panose="020B0004020202020204" pitchFamily="34" charset="0"/>
                <a:ea typeface="Calibri" panose="020F0502020204030204" pitchFamily="34" charset="0"/>
                <a:cs typeface="Calibri" panose="020F0502020204030204" pitchFamily="34" charset="0"/>
              </a:rPr>
              <a:t>Relation client et conseil pharmaceutique </a:t>
            </a:r>
          </a:p>
        </p:txBody>
      </p:sp>
      <p:pic>
        <p:nvPicPr>
          <p:cNvPr id="7" name="Image 6">
            <a:extLst>
              <a:ext uri="{FF2B5EF4-FFF2-40B4-BE49-F238E27FC236}">
                <a16:creationId xmlns:a16="http://schemas.microsoft.com/office/drawing/2014/main" id="{E2F6D796-76F1-49E6-8701-619808DA4C96}"/>
              </a:ext>
            </a:extLst>
          </p:cNvPr>
          <p:cNvPicPr>
            <a:picLocks noChangeAspect="1"/>
          </p:cNvPicPr>
          <p:nvPr/>
        </p:nvPicPr>
        <p:blipFill rotWithShape="1">
          <a:blip r:embed="rId2">
            <a:extLst>
              <a:ext uri="{28A0092B-C50C-407E-A947-70E740481C1C}">
                <a14:useLocalDpi xmlns:a14="http://schemas.microsoft.com/office/drawing/2010/main" val="0"/>
              </a:ext>
            </a:extLst>
          </a:blip>
          <a:srcRect t="21545" b="12625"/>
          <a:stretch/>
        </p:blipFill>
        <p:spPr>
          <a:xfrm>
            <a:off x="8709840" y="221037"/>
            <a:ext cx="1944000" cy="592467"/>
          </a:xfrm>
          <a:prstGeom prst="rect">
            <a:avLst/>
          </a:prstGeom>
        </p:spPr>
      </p:pic>
      <p:sp>
        <p:nvSpPr>
          <p:cNvPr id="9" name="ZoneTexte 8">
            <a:extLst>
              <a:ext uri="{FF2B5EF4-FFF2-40B4-BE49-F238E27FC236}">
                <a16:creationId xmlns:a16="http://schemas.microsoft.com/office/drawing/2014/main" id="{4A6EF384-4FA4-47D7-961A-157F9FFD1774}"/>
              </a:ext>
            </a:extLst>
          </p:cNvPr>
          <p:cNvSpPr txBox="1"/>
          <p:nvPr/>
        </p:nvSpPr>
        <p:spPr>
          <a:xfrm>
            <a:off x="7404946" y="813504"/>
            <a:ext cx="4553788" cy="307777"/>
          </a:xfrm>
          <a:prstGeom prst="rect">
            <a:avLst/>
          </a:prstGeom>
          <a:noFill/>
        </p:spPr>
        <p:txBody>
          <a:bodyPr wrap="square">
            <a:spAutoFit/>
          </a:bodyPr>
          <a:lstStyle/>
          <a:p>
            <a:pPr algn="ctr"/>
            <a:r>
              <a:rPr lang="fr-FR" sz="1400" dirty="0">
                <a:solidFill>
                  <a:schemeClr val="bg1"/>
                </a:solidFill>
                <a:latin typeface="Aptos" panose="020B0004020202020204" pitchFamily="34" charset="0"/>
                <a:ea typeface="Calibri" panose="020F0502020204030204" pitchFamily="34" charset="0"/>
                <a:cs typeface="Calibri" panose="020F0502020204030204" pitchFamily="34" charset="0"/>
              </a:rPr>
              <a:t>GESTION D’UNE OFFICINE MODERNE </a:t>
            </a:r>
          </a:p>
        </p:txBody>
      </p:sp>
      <p:pic>
        <p:nvPicPr>
          <p:cNvPr id="13" name="Image 12">
            <a:extLst>
              <a:ext uri="{FF2B5EF4-FFF2-40B4-BE49-F238E27FC236}">
                <a16:creationId xmlns:a16="http://schemas.microsoft.com/office/drawing/2014/main" id="{5FC12CEA-3333-4B55-A99F-80B86F71D5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4" name="Connecteur droit 13">
            <a:extLst>
              <a:ext uri="{FF2B5EF4-FFF2-40B4-BE49-F238E27FC236}">
                <a16:creationId xmlns:a16="http://schemas.microsoft.com/office/drawing/2014/main" id="{96CFDAD8-C39D-4C4B-AED8-A6D929694CED}"/>
              </a:ext>
            </a:extLst>
          </p:cNvPr>
          <p:cNvCxnSpPr>
            <a:cxnSpLocks/>
            <a:stCxn id="13"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5" name="Image 14">
            <a:extLst>
              <a:ext uri="{FF2B5EF4-FFF2-40B4-BE49-F238E27FC236}">
                <a16:creationId xmlns:a16="http://schemas.microsoft.com/office/drawing/2014/main" id="{1D7E960A-1BE1-48DA-96CC-0E811CE310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297" y="2493333"/>
            <a:ext cx="481069" cy="481069"/>
          </a:xfrm>
          <a:prstGeom prst="rect">
            <a:avLst/>
          </a:prstGeom>
        </p:spPr>
      </p:pic>
    </p:spTree>
    <p:extLst>
      <p:ext uri="{BB962C8B-B14F-4D97-AF65-F5344CB8AC3E}">
        <p14:creationId xmlns:p14="http://schemas.microsoft.com/office/powerpoint/2010/main" val="4271056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82384" y="2410703"/>
            <a:ext cx="10049004" cy="646331"/>
          </a:xfrm>
          <a:prstGeom prst="rect">
            <a:avLst/>
          </a:prstGeom>
          <a:noFill/>
        </p:spPr>
        <p:txBody>
          <a:bodyPr wrap="square">
            <a:spAutoFit/>
          </a:bodyPr>
          <a:lstStyle/>
          <a:p>
            <a:r>
              <a:rPr lang="fr-FR" sz="3600" b="1" dirty="0">
                <a:solidFill>
                  <a:schemeClr val="bg1"/>
                </a:solidFill>
                <a:effectLst/>
                <a:latin typeface="Aptos" panose="020B0004020202020204" pitchFamily="34" charset="0"/>
                <a:ea typeface="Calibri" panose="020F0502020204030204" pitchFamily="34" charset="0"/>
                <a:cs typeface="Calibri" panose="020F0502020204030204" pitchFamily="34" charset="0"/>
              </a:rPr>
              <a:t>Gestion des approvisionnements et des stocks</a:t>
            </a:r>
            <a:r>
              <a:rPr lang="fr-FR" sz="3600" dirty="0">
                <a:solidFill>
                  <a:schemeClr val="bg1"/>
                </a:solidFill>
                <a:effectLst/>
                <a:latin typeface="Aptos" panose="020B0004020202020204" pitchFamily="34" charset="0"/>
                <a:ea typeface="Calibri" panose="020F0502020204030204" pitchFamily="34" charset="0"/>
                <a:cs typeface="Calibri" panose="020F0502020204030204" pitchFamily="34" charset="0"/>
              </a:rPr>
              <a:t> </a:t>
            </a:r>
            <a:endParaRPr lang="en-US" sz="3600" dirty="0">
              <a:solidFill>
                <a:schemeClr val="bg1"/>
              </a:solidFill>
              <a:latin typeface="Aptos" panose="020B0004020202020204" pitchFamily="34" charset="0"/>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Plan</a:t>
            </a:r>
            <a:endParaRPr lang="en-US" sz="2800" dirty="0">
              <a:solidFill>
                <a:schemeClr val="tx1">
                  <a:lumMod val="75000"/>
                  <a:lumOff val="25000"/>
                </a:schemeClr>
              </a:solidFill>
              <a:latin typeface="Aptos" panose="020B0004020202020204" pitchFamily="34" charset="0"/>
            </a:endParaRPr>
          </a:p>
        </p:txBody>
      </p:sp>
      <p:sp>
        <p:nvSpPr>
          <p:cNvPr id="13" name="Content Placeholder 3">
            <a:extLst>
              <a:ext uri="{FF2B5EF4-FFF2-40B4-BE49-F238E27FC236}">
                <a16:creationId xmlns:a16="http://schemas.microsoft.com/office/drawing/2014/main" id="{94B8DB2E-A3E6-45FB-A31A-70487A5468F3}"/>
              </a:ext>
            </a:extLst>
          </p:cNvPr>
          <p:cNvSpPr txBox="1">
            <a:spLocks/>
          </p:cNvSpPr>
          <p:nvPr/>
        </p:nvSpPr>
        <p:spPr>
          <a:xfrm>
            <a:off x="617220" y="1584961"/>
            <a:ext cx="10965180" cy="249174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200"/>
              </a:spcBef>
              <a:buClr>
                <a:srgbClr val="6C6463"/>
              </a:buClr>
              <a:buFont typeface="Arial" panose="020B0604020202020204" pitchFamily="34" charset="0"/>
              <a:buChar char="•"/>
              <a:defRPr sz="2800" kern="1200">
                <a:solidFill>
                  <a:srgbClr val="6C6463"/>
                </a:solidFill>
                <a:latin typeface="+mn-lt"/>
                <a:ea typeface="+mn-ea"/>
                <a:cs typeface="+mn-cs"/>
              </a:defRPr>
            </a:lvl1pPr>
            <a:lvl2pPr marL="457200" indent="0" algn="l" defTabSz="914400" rtl="0" eaLnBrk="1" latinLnBrk="0" hangingPunct="1">
              <a:lnSpc>
                <a:spcPct val="100000"/>
              </a:lnSpc>
              <a:spcBef>
                <a:spcPts val="300"/>
              </a:spcBef>
              <a:buClr>
                <a:srgbClr val="6C6463"/>
              </a:buClr>
              <a:buSzPct val="80000"/>
              <a:buFont typeface="Courier New" panose="02070309020205020404" pitchFamily="49" charset="0"/>
              <a:buNone/>
              <a:defRPr sz="2400" kern="1200">
                <a:solidFill>
                  <a:srgbClr val="6C6463"/>
                </a:solidFill>
                <a:latin typeface="+mn-lt"/>
                <a:ea typeface="+mn-ea"/>
                <a:cs typeface="+mn-cs"/>
              </a:defRPr>
            </a:lvl2pPr>
            <a:lvl3pPr marL="1143000" indent="-228600" algn="l" defTabSz="914400" rtl="0" eaLnBrk="1" latinLnBrk="0" hangingPunct="1">
              <a:lnSpc>
                <a:spcPct val="100000"/>
              </a:lnSpc>
              <a:spcBef>
                <a:spcPts val="300"/>
              </a:spcBef>
              <a:buClr>
                <a:srgbClr val="6C6463"/>
              </a:buClr>
              <a:buFont typeface="Gill Sans MT" panose="020B0502020104020203" pitchFamily="34" charset="0"/>
              <a:buChar char="–"/>
              <a:defRPr sz="2000" kern="1200">
                <a:solidFill>
                  <a:srgbClr val="6C6463"/>
                </a:solidFill>
                <a:latin typeface="+mn-lt"/>
                <a:ea typeface="+mn-ea"/>
                <a:cs typeface="+mn-cs"/>
              </a:defRPr>
            </a:lvl3pPr>
            <a:lvl4pPr marL="16002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4pPr>
            <a:lvl5pPr marL="20574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5pPr>
            <a:lvl6pPr marL="25146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6pPr>
            <a:lvl7pPr marL="29718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7pPr>
            <a:lvl8pPr marL="34290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Techniques d'accueil et de communication avec le patient</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Conseil pharmaceutique : médicaments OTC et prescription</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Gestion des réclamations et des situations difficiles</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Fidélisation de la clientèle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119ADA14-3019-42A4-A2F9-8053E29963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Tree>
    <p:extLst>
      <p:ext uri="{BB962C8B-B14F-4D97-AF65-F5344CB8AC3E}">
        <p14:creationId xmlns:p14="http://schemas.microsoft.com/office/powerpoint/2010/main" val="3256906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1075" y="2290612"/>
            <a:ext cx="11102568" cy="2246769"/>
          </a:xfrm>
          <a:prstGeom prst="rect">
            <a:avLst/>
          </a:prstGeom>
          <a:noFill/>
        </p:spPr>
        <p:txBody>
          <a:bodyPr wrap="square">
            <a:spAutoFit/>
          </a:bodyPr>
          <a:lstStyle/>
          <a:p>
            <a:r>
              <a:rPr lang="fr-FR" sz="2000" dirty="0">
                <a:latin typeface="Aptos" panose="020B0004020202020204" pitchFamily="34" charset="0"/>
              </a:rPr>
              <a:t>À l’issue de ce sous-module, le participant sera capable de :</a:t>
            </a:r>
          </a:p>
          <a:p>
            <a:pPr marL="800100" lvl="1" indent="-342900">
              <a:buFont typeface="Arial" panose="020B0604020202020204" pitchFamily="34" charset="0"/>
              <a:buChar char="•"/>
            </a:pPr>
            <a:r>
              <a:rPr lang="fr-FR" sz="2000" dirty="0">
                <a:latin typeface="Aptos" panose="020B0004020202020204" pitchFamily="34" charset="0"/>
              </a:rPr>
              <a:t>Offrir un accueil professionnel et chaleureux ;</a:t>
            </a:r>
          </a:p>
          <a:p>
            <a:pPr marL="800100" lvl="1" indent="-342900">
              <a:buFont typeface="Arial" panose="020B0604020202020204" pitchFamily="34" charset="0"/>
              <a:buChar char="•"/>
            </a:pPr>
            <a:r>
              <a:rPr lang="fr-FR" sz="2000" dirty="0">
                <a:latin typeface="Aptos" panose="020B0004020202020204" pitchFamily="34" charset="0"/>
              </a:rPr>
              <a:t>Adapter sa communication aux différents profils de patients ;</a:t>
            </a:r>
          </a:p>
          <a:p>
            <a:pPr marL="800100" lvl="1" indent="-342900">
              <a:buFont typeface="Arial" panose="020B0604020202020204" pitchFamily="34" charset="0"/>
              <a:buChar char="•"/>
            </a:pPr>
            <a:r>
              <a:rPr lang="fr-FR" sz="2000" dirty="0">
                <a:latin typeface="Aptos" panose="020B0004020202020204" pitchFamily="34" charset="0"/>
              </a:rPr>
              <a:t>Développer une écoute active ;</a:t>
            </a:r>
          </a:p>
          <a:p>
            <a:pPr marL="800100" lvl="1" indent="-342900">
              <a:buFont typeface="Arial" panose="020B0604020202020204" pitchFamily="34" charset="0"/>
              <a:buChar char="•"/>
            </a:pPr>
            <a:r>
              <a:rPr lang="fr-FR" sz="2000" dirty="0">
                <a:latin typeface="Aptos" panose="020B0004020202020204" pitchFamily="34" charset="0"/>
              </a:rPr>
              <a:t>Renforcer la confiance du patient ;</a:t>
            </a:r>
          </a:p>
          <a:p>
            <a:pPr marL="800100" lvl="1" indent="-342900">
              <a:buFont typeface="Arial" panose="020B0604020202020204" pitchFamily="34" charset="0"/>
              <a:buChar char="•"/>
            </a:pPr>
            <a:r>
              <a:rPr lang="fr-FR" sz="2000" dirty="0">
                <a:latin typeface="Aptos" panose="020B0004020202020204" pitchFamily="34" charset="0"/>
              </a:rPr>
              <a:t>Améliorer l'expérience patient ;</a:t>
            </a:r>
          </a:p>
          <a:p>
            <a:pPr marL="800100" lvl="1" indent="-342900">
              <a:buFont typeface="Arial" panose="020B0604020202020204" pitchFamily="34" charset="0"/>
              <a:buChar char="•"/>
            </a:pPr>
            <a:r>
              <a:rPr lang="fr-FR" sz="2000" dirty="0">
                <a:latin typeface="Aptos" panose="020B0004020202020204" pitchFamily="34" charset="0"/>
              </a:rPr>
              <a:t>Gérer efficacement les situations de communication difficiles.</a:t>
            </a:r>
          </a:p>
        </p:txBody>
      </p:sp>
    </p:spTree>
    <p:extLst>
      <p:ext uri="{BB962C8B-B14F-4D97-AF65-F5344CB8AC3E}">
        <p14:creationId xmlns:p14="http://schemas.microsoft.com/office/powerpoint/2010/main" val="2192672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1075" y="2290612"/>
            <a:ext cx="11102568" cy="3785652"/>
          </a:xfrm>
          <a:prstGeom prst="rect">
            <a:avLst/>
          </a:prstGeom>
          <a:noFill/>
        </p:spPr>
        <p:txBody>
          <a:bodyPr wrap="square">
            <a:spAutoFit/>
          </a:bodyPr>
          <a:lstStyle/>
          <a:p>
            <a:r>
              <a:rPr lang="fr-FR" sz="2000" dirty="0">
                <a:latin typeface="Aptos" panose="020B0004020202020204" pitchFamily="34" charset="0"/>
              </a:rPr>
              <a:t>Dans une officine, le premier médicament que reçoit un patient est souvent l'accueil.</a:t>
            </a:r>
          </a:p>
          <a:p>
            <a:endParaRPr lang="fr-FR" sz="2000" dirty="0">
              <a:latin typeface="Aptos" panose="020B0004020202020204" pitchFamily="34" charset="0"/>
            </a:endParaRPr>
          </a:p>
          <a:p>
            <a:r>
              <a:rPr lang="fr-FR" sz="2000" b="1" dirty="0">
                <a:latin typeface="Aptos" panose="020B0004020202020204" pitchFamily="34" charset="0"/>
              </a:rPr>
              <a:t>La qualité de l'accueil influence </a:t>
            </a:r>
            <a:r>
              <a:rPr lang="fr-FR" sz="2000" dirty="0">
                <a:latin typeface="Aptos" panose="020B0004020202020204" pitchFamily="34" charset="0"/>
              </a:rPr>
              <a:t>:</a:t>
            </a:r>
          </a:p>
          <a:p>
            <a:pPr marL="800100" lvl="1" indent="-342900">
              <a:buFont typeface="Arial" panose="020B0604020202020204" pitchFamily="34" charset="0"/>
              <a:buChar char="•"/>
            </a:pPr>
            <a:r>
              <a:rPr lang="fr-FR" sz="2000" dirty="0">
                <a:latin typeface="Aptos" panose="020B0004020202020204" pitchFamily="34" charset="0"/>
              </a:rPr>
              <a:t>La confiance ;</a:t>
            </a:r>
          </a:p>
          <a:p>
            <a:pPr marL="800100" lvl="1" indent="-342900">
              <a:buFont typeface="Arial" panose="020B0604020202020204" pitchFamily="34" charset="0"/>
              <a:buChar char="•"/>
            </a:pPr>
            <a:r>
              <a:rPr lang="fr-FR" sz="2000" dirty="0">
                <a:latin typeface="Aptos" panose="020B0004020202020204" pitchFamily="34" charset="0"/>
              </a:rPr>
              <a:t>L'adhésion aux conseils ;</a:t>
            </a:r>
          </a:p>
          <a:p>
            <a:pPr marL="800100" lvl="1" indent="-342900">
              <a:buFont typeface="Arial" panose="020B0604020202020204" pitchFamily="34" charset="0"/>
              <a:buChar char="•"/>
            </a:pPr>
            <a:r>
              <a:rPr lang="fr-FR" sz="2000" dirty="0">
                <a:latin typeface="Aptos" panose="020B0004020202020204" pitchFamily="34" charset="0"/>
              </a:rPr>
              <a:t>La fidélisation ;</a:t>
            </a:r>
          </a:p>
          <a:p>
            <a:pPr marL="800100" lvl="1" indent="-342900">
              <a:buFont typeface="Arial" panose="020B0604020202020204" pitchFamily="34" charset="0"/>
              <a:buChar char="•"/>
            </a:pPr>
            <a:r>
              <a:rPr lang="fr-FR" sz="2000" dirty="0">
                <a:latin typeface="Aptos" panose="020B0004020202020204" pitchFamily="34" charset="0"/>
              </a:rPr>
              <a:t>La réputation de l'officine.</a:t>
            </a:r>
          </a:p>
          <a:p>
            <a:endParaRPr lang="fr-FR" sz="2000" dirty="0">
              <a:latin typeface="Aptos" panose="020B0004020202020204" pitchFamily="34" charset="0"/>
            </a:endParaRPr>
          </a:p>
          <a:p>
            <a:r>
              <a:rPr lang="fr-FR" sz="2000" b="1" dirty="0">
                <a:latin typeface="Aptos" panose="020B0004020202020204" pitchFamily="34" charset="0"/>
              </a:rPr>
              <a:t>Un patient qui se sent écouté est beaucoup plus susceptible de </a:t>
            </a:r>
            <a:r>
              <a:rPr lang="fr-FR" sz="2000" dirty="0">
                <a:latin typeface="Aptos" panose="020B0004020202020204" pitchFamily="34" charset="0"/>
              </a:rPr>
              <a:t>:</a:t>
            </a:r>
          </a:p>
          <a:p>
            <a:pPr marL="800100" lvl="1" indent="-342900">
              <a:buFont typeface="Arial" panose="020B0604020202020204" pitchFamily="34" charset="0"/>
              <a:buChar char="•"/>
            </a:pPr>
            <a:r>
              <a:rPr lang="fr-FR" sz="2000" dirty="0">
                <a:latin typeface="Aptos" panose="020B0004020202020204" pitchFamily="34" charset="0"/>
              </a:rPr>
              <a:t>Revenir ;</a:t>
            </a:r>
          </a:p>
          <a:p>
            <a:pPr marL="800100" lvl="1" indent="-342900">
              <a:buFont typeface="Arial" panose="020B0604020202020204" pitchFamily="34" charset="0"/>
              <a:buChar char="•"/>
            </a:pPr>
            <a:r>
              <a:rPr lang="fr-FR" sz="2000" dirty="0">
                <a:latin typeface="Aptos" panose="020B0004020202020204" pitchFamily="34" charset="0"/>
              </a:rPr>
              <a:t>Suivre son traitement ;</a:t>
            </a:r>
          </a:p>
          <a:p>
            <a:pPr marL="800100" lvl="1" indent="-342900">
              <a:buFont typeface="Arial" panose="020B0604020202020204" pitchFamily="34" charset="0"/>
              <a:buChar char="•"/>
            </a:pPr>
            <a:r>
              <a:rPr lang="fr-FR" sz="2000" dirty="0">
                <a:latin typeface="Aptos" panose="020B0004020202020204" pitchFamily="34" charset="0"/>
              </a:rPr>
              <a:t>Recommander l'officine.</a:t>
            </a:r>
          </a:p>
        </p:txBody>
      </p:sp>
    </p:spTree>
    <p:extLst>
      <p:ext uri="{BB962C8B-B14F-4D97-AF65-F5344CB8AC3E}">
        <p14:creationId xmlns:p14="http://schemas.microsoft.com/office/powerpoint/2010/main" val="3049346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patient au cœur de l’officine moderne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1075" y="2532348"/>
            <a:ext cx="11102568" cy="3477875"/>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Hier</a:t>
            </a:r>
          </a:p>
          <a:p>
            <a:pPr lvl="1"/>
            <a:r>
              <a:rPr lang="fr-FR" sz="2000" dirty="0">
                <a:latin typeface="Aptos" panose="020B0004020202020204" pitchFamily="34" charset="0"/>
              </a:rPr>
              <a:t>Modèle transactionnel : Patient → Achat → Départ</a:t>
            </a:r>
          </a:p>
          <a:p>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Aujourd’hui</a:t>
            </a:r>
          </a:p>
          <a:p>
            <a:pPr lvl="1"/>
            <a:r>
              <a:rPr lang="fr-FR" sz="2000" dirty="0">
                <a:latin typeface="Aptos" panose="020B0004020202020204" pitchFamily="34" charset="0"/>
              </a:rPr>
              <a:t>Modèle de soins pharmaceutiques : Patient → Écoute → Conseil → Accompagnement → Suivi</a:t>
            </a:r>
          </a:p>
          <a:p>
            <a:pPr lvl="1"/>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Contexte africain</a:t>
            </a:r>
          </a:p>
          <a:p>
            <a:pPr lvl="1"/>
            <a:r>
              <a:rPr lang="fr-FR" sz="2000" dirty="0">
                <a:latin typeface="Aptos" panose="020B0004020202020204" pitchFamily="34" charset="0"/>
              </a:rPr>
              <a:t>L'officine est souvent :</a:t>
            </a:r>
          </a:p>
          <a:p>
            <a:pPr marL="1257300" lvl="2" indent="-342900">
              <a:buFont typeface="Courier New" panose="02070309020205020404" pitchFamily="49" charset="0"/>
              <a:buChar char="o"/>
            </a:pPr>
            <a:r>
              <a:rPr lang="fr-FR" sz="2000" dirty="0">
                <a:latin typeface="Aptos" panose="020B0004020202020204" pitchFamily="34" charset="0"/>
              </a:rPr>
              <a:t>Le premier point de contact avec le système de santé ;</a:t>
            </a:r>
          </a:p>
          <a:p>
            <a:pPr marL="1257300" lvl="2" indent="-342900">
              <a:buFont typeface="Courier New" panose="02070309020205020404" pitchFamily="49" charset="0"/>
              <a:buChar char="o"/>
            </a:pPr>
            <a:r>
              <a:rPr lang="fr-FR" sz="2000" dirty="0">
                <a:latin typeface="Aptos" panose="020B0004020202020204" pitchFamily="34" charset="0"/>
              </a:rPr>
              <a:t>Le service de santé le plus accessible ;</a:t>
            </a:r>
          </a:p>
          <a:p>
            <a:pPr marL="1257300" lvl="2" indent="-342900">
              <a:buFont typeface="Courier New" panose="02070309020205020404" pitchFamily="49" charset="0"/>
              <a:buChar char="o"/>
            </a:pPr>
            <a:r>
              <a:rPr lang="fr-FR" sz="2000" dirty="0">
                <a:latin typeface="Aptos" panose="020B0004020202020204" pitchFamily="34" charset="0"/>
              </a:rPr>
              <a:t>La première source de conseil thérapeutique.</a:t>
            </a:r>
          </a:p>
        </p:txBody>
      </p:sp>
      <p:sp>
        <p:nvSpPr>
          <p:cNvPr id="10" name="ZoneTexte 9">
            <a:extLst>
              <a:ext uri="{FF2B5EF4-FFF2-40B4-BE49-F238E27FC236}">
                <a16:creationId xmlns:a16="http://schemas.microsoft.com/office/drawing/2014/main" id="{EF1E45BE-0353-4598-82BE-43AF07135ABC}"/>
              </a:ext>
            </a:extLst>
          </p:cNvPr>
          <p:cNvSpPr txBox="1"/>
          <p:nvPr/>
        </p:nvSpPr>
        <p:spPr>
          <a:xfrm>
            <a:off x="753042" y="2075182"/>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Évolution du rôle de l’officine</a:t>
            </a:r>
          </a:p>
        </p:txBody>
      </p:sp>
    </p:spTree>
    <p:extLst>
      <p:ext uri="{BB962C8B-B14F-4D97-AF65-F5344CB8AC3E}">
        <p14:creationId xmlns:p14="http://schemas.microsoft.com/office/powerpoint/2010/main" val="161929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patient au cœur de l’officine moderne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1075" y="2532348"/>
            <a:ext cx="11102568" cy="3477875"/>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Application au Bénin</a:t>
            </a:r>
          </a:p>
          <a:p>
            <a:pPr lvl="1"/>
            <a:r>
              <a:rPr lang="fr-FR" sz="2000" dirty="0">
                <a:latin typeface="Aptos" panose="020B0004020202020204" pitchFamily="34" charset="0"/>
              </a:rPr>
              <a:t>Dans de nombreuses localités du Bénin, le pharmacien est consulté avant même le médecin pour :</a:t>
            </a:r>
          </a:p>
          <a:p>
            <a:pPr marL="1257300" lvl="2" indent="-342900">
              <a:buFont typeface="Arial" panose="020B0604020202020204" pitchFamily="34" charset="0"/>
              <a:buChar char="•"/>
            </a:pPr>
            <a:r>
              <a:rPr lang="fr-FR" sz="2000" dirty="0">
                <a:latin typeface="Aptos" panose="020B0004020202020204" pitchFamily="34" charset="0"/>
              </a:rPr>
              <a:t>La fièvre ;</a:t>
            </a:r>
          </a:p>
          <a:p>
            <a:pPr marL="1257300" lvl="2" indent="-342900">
              <a:buFont typeface="Arial" panose="020B0604020202020204" pitchFamily="34" charset="0"/>
              <a:buChar char="•"/>
            </a:pPr>
            <a:r>
              <a:rPr lang="fr-FR" sz="2000" dirty="0">
                <a:latin typeface="Aptos" panose="020B0004020202020204" pitchFamily="34" charset="0"/>
              </a:rPr>
              <a:t>Le paludisme ;</a:t>
            </a:r>
          </a:p>
          <a:p>
            <a:pPr marL="1257300" lvl="2" indent="-342900">
              <a:buFont typeface="Arial" panose="020B0604020202020204" pitchFamily="34" charset="0"/>
              <a:buChar char="•"/>
            </a:pPr>
            <a:r>
              <a:rPr lang="fr-FR" sz="2000" dirty="0">
                <a:latin typeface="Aptos" panose="020B0004020202020204" pitchFamily="34" charset="0"/>
              </a:rPr>
              <a:t>Les douleurs ;</a:t>
            </a:r>
          </a:p>
          <a:p>
            <a:pPr marL="1257300" lvl="2" indent="-342900">
              <a:buFont typeface="Arial" panose="020B0604020202020204" pitchFamily="34" charset="0"/>
              <a:buChar char="•"/>
            </a:pPr>
            <a:r>
              <a:rPr lang="fr-FR" sz="2000" dirty="0">
                <a:latin typeface="Aptos" panose="020B0004020202020204" pitchFamily="34" charset="0"/>
              </a:rPr>
              <a:t>Les problèmes digestifs ;</a:t>
            </a:r>
          </a:p>
          <a:p>
            <a:pPr marL="1257300" lvl="2" indent="-342900">
              <a:buFont typeface="Arial" panose="020B0604020202020204" pitchFamily="34" charset="0"/>
              <a:buChar char="•"/>
            </a:pPr>
            <a:r>
              <a:rPr lang="fr-FR" sz="2000" dirty="0">
                <a:latin typeface="Aptos" panose="020B0004020202020204" pitchFamily="34" charset="0"/>
              </a:rPr>
              <a:t>Les conseils maternels et infantiles.</a:t>
            </a:r>
          </a:p>
          <a:p>
            <a:pPr lvl="1"/>
            <a:endParaRPr lang="fr-FR" sz="2000" dirty="0">
              <a:latin typeface="Aptos" panose="020B0004020202020204" pitchFamily="34" charset="0"/>
            </a:endParaRPr>
          </a:p>
          <a:p>
            <a:pPr lvl="1"/>
            <a:r>
              <a:rPr lang="fr-FR" sz="2000" dirty="0">
                <a:latin typeface="Aptos" panose="020B0004020202020204" pitchFamily="34" charset="0"/>
              </a:rPr>
              <a:t>Cela confère au pharmacien une responsabilité particulière dans la qualité de la communication.</a:t>
            </a:r>
          </a:p>
        </p:txBody>
      </p:sp>
      <p:sp>
        <p:nvSpPr>
          <p:cNvPr id="10" name="ZoneTexte 9">
            <a:extLst>
              <a:ext uri="{FF2B5EF4-FFF2-40B4-BE49-F238E27FC236}">
                <a16:creationId xmlns:a16="http://schemas.microsoft.com/office/drawing/2014/main" id="{EF1E45BE-0353-4598-82BE-43AF07135ABC}"/>
              </a:ext>
            </a:extLst>
          </p:cNvPr>
          <p:cNvSpPr txBox="1"/>
          <p:nvPr/>
        </p:nvSpPr>
        <p:spPr>
          <a:xfrm>
            <a:off x="753042" y="2075182"/>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Évolution du rôle de l’officine</a:t>
            </a:r>
          </a:p>
        </p:txBody>
      </p:sp>
    </p:spTree>
    <p:extLst>
      <p:ext uri="{BB962C8B-B14F-4D97-AF65-F5344CB8AC3E}">
        <p14:creationId xmlns:p14="http://schemas.microsoft.com/office/powerpoint/2010/main" val="3190563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principes d’un accueil professionnel</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1075" y="2532348"/>
            <a:ext cx="11102568" cy="2554545"/>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Le patient se forge souvent une première impression en quelques secondes.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Les éléments clés</a:t>
            </a:r>
          </a:p>
          <a:p>
            <a:pPr marL="800100" lvl="1" indent="-342900">
              <a:buFont typeface="Courier New" panose="02070309020205020404" pitchFamily="49" charset="0"/>
              <a:buChar char="o"/>
            </a:pPr>
            <a:r>
              <a:rPr lang="fr-FR" sz="2000" dirty="0">
                <a:latin typeface="Aptos" panose="020B0004020202020204" pitchFamily="34" charset="0"/>
              </a:rPr>
              <a:t>Sourire</a:t>
            </a:r>
          </a:p>
          <a:p>
            <a:pPr marL="800100" lvl="1" indent="-342900">
              <a:buFont typeface="Courier New" panose="02070309020205020404" pitchFamily="49" charset="0"/>
              <a:buChar char="o"/>
            </a:pPr>
            <a:r>
              <a:rPr lang="fr-FR" sz="2000" dirty="0">
                <a:latin typeface="Aptos" panose="020B0004020202020204" pitchFamily="34" charset="0"/>
              </a:rPr>
              <a:t>Contact visuel</a:t>
            </a:r>
          </a:p>
          <a:p>
            <a:pPr marL="800100" lvl="1" indent="-342900">
              <a:buFont typeface="Courier New" panose="02070309020205020404" pitchFamily="49" charset="0"/>
              <a:buChar char="o"/>
            </a:pPr>
            <a:r>
              <a:rPr lang="fr-FR" sz="2000" dirty="0">
                <a:latin typeface="Aptos" panose="020B0004020202020204" pitchFamily="34" charset="0"/>
              </a:rPr>
              <a:t>Salutation adaptée</a:t>
            </a:r>
          </a:p>
          <a:p>
            <a:pPr marL="800100" lvl="1" indent="-342900">
              <a:buFont typeface="Courier New" panose="02070309020205020404" pitchFamily="49" charset="0"/>
              <a:buChar char="o"/>
            </a:pPr>
            <a:r>
              <a:rPr lang="fr-FR" sz="2000" dirty="0">
                <a:latin typeface="Aptos" panose="020B0004020202020204" pitchFamily="34" charset="0"/>
              </a:rPr>
              <a:t>Disponibilité</a:t>
            </a:r>
          </a:p>
          <a:p>
            <a:pPr marL="800100" lvl="1" indent="-342900">
              <a:buFont typeface="Courier New" panose="02070309020205020404" pitchFamily="49" charset="0"/>
              <a:buChar char="o"/>
            </a:pPr>
            <a:r>
              <a:rPr lang="fr-FR" sz="2000" dirty="0">
                <a:latin typeface="Aptos" panose="020B0004020202020204" pitchFamily="34" charset="0"/>
              </a:rPr>
              <a:t>Présentation professionnelle</a:t>
            </a:r>
          </a:p>
        </p:txBody>
      </p:sp>
      <p:sp>
        <p:nvSpPr>
          <p:cNvPr id="10" name="ZoneTexte 9">
            <a:extLst>
              <a:ext uri="{FF2B5EF4-FFF2-40B4-BE49-F238E27FC236}">
                <a16:creationId xmlns:a16="http://schemas.microsoft.com/office/drawing/2014/main" id="{EF1E45BE-0353-4598-82BE-43AF07135ABC}"/>
              </a:ext>
            </a:extLst>
          </p:cNvPr>
          <p:cNvSpPr txBox="1"/>
          <p:nvPr/>
        </p:nvSpPr>
        <p:spPr>
          <a:xfrm>
            <a:off x="753042" y="2075182"/>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Les 5 premières secondes</a:t>
            </a:r>
          </a:p>
        </p:txBody>
      </p:sp>
      <p:sp>
        <p:nvSpPr>
          <p:cNvPr id="15" name="ZoneTexte 14">
            <a:extLst>
              <a:ext uri="{FF2B5EF4-FFF2-40B4-BE49-F238E27FC236}">
                <a16:creationId xmlns:a16="http://schemas.microsoft.com/office/drawing/2014/main" id="{6E1B15C1-F601-4BD0-90FE-CCECE42DC3E2}"/>
              </a:ext>
            </a:extLst>
          </p:cNvPr>
          <p:cNvSpPr txBox="1"/>
          <p:nvPr/>
        </p:nvSpPr>
        <p:spPr>
          <a:xfrm>
            <a:off x="1980000" y="5463977"/>
            <a:ext cx="9677239" cy="861774"/>
          </a:xfrm>
          <a:prstGeom prst="rect">
            <a:avLst/>
          </a:prstGeom>
          <a:noFill/>
        </p:spPr>
        <p:txBody>
          <a:bodyPr wrap="square">
            <a:spAutoFit/>
          </a:bodyPr>
          <a:lstStyle/>
          <a:p>
            <a:r>
              <a:rPr lang="fr-FR" sz="1600" b="1" dirty="0">
                <a:latin typeface="Aptos" panose="020B0004020202020204" pitchFamily="34" charset="0"/>
              </a:rPr>
              <a:t>Exemple</a:t>
            </a:r>
          </a:p>
          <a:p>
            <a:pPr marL="285750" indent="-285750">
              <a:buFont typeface="Arial" panose="020B0604020202020204" pitchFamily="34" charset="0"/>
              <a:buChar char="•"/>
            </a:pPr>
            <a:r>
              <a:rPr lang="fr-FR" sz="1600" dirty="0">
                <a:latin typeface="Aptos" panose="020B0004020202020204" pitchFamily="34" charset="0"/>
              </a:rPr>
              <a:t>Mauvais accueil : « Oui ? »</a:t>
            </a:r>
          </a:p>
          <a:p>
            <a:pPr marL="285750" indent="-285750">
              <a:buFont typeface="Arial" panose="020B0604020202020204" pitchFamily="34" charset="0"/>
              <a:buChar char="•"/>
            </a:pPr>
            <a:r>
              <a:rPr lang="fr-FR" sz="1600" dirty="0">
                <a:latin typeface="Aptos" panose="020B0004020202020204" pitchFamily="34" charset="0"/>
              </a:rPr>
              <a:t>Bon accueil : « Bonjour Madame, bienvenue. Comment puis-je vous aider aujourd’hui ? »</a:t>
            </a:r>
          </a:p>
        </p:txBody>
      </p:sp>
    </p:spTree>
    <p:extLst>
      <p:ext uri="{BB962C8B-B14F-4D97-AF65-F5344CB8AC3E}">
        <p14:creationId xmlns:p14="http://schemas.microsoft.com/office/powerpoint/2010/main" val="646467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L’écoute active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1075" y="2532348"/>
            <a:ext cx="11102568" cy="224676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L'écoute active consiste à comprendre le patient au-delà de ses mots.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Techniques</a:t>
            </a:r>
          </a:p>
          <a:p>
            <a:pPr marL="800100" lvl="1" indent="-342900">
              <a:buFont typeface="Courier New" panose="02070309020205020404" pitchFamily="49" charset="0"/>
              <a:buChar char="o"/>
            </a:pPr>
            <a:r>
              <a:rPr lang="fr-FR" sz="2000" dirty="0">
                <a:latin typeface="Aptos" panose="020B0004020202020204" pitchFamily="34" charset="0"/>
              </a:rPr>
              <a:t>Laisser parler</a:t>
            </a:r>
          </a:p>
          <a:p>
            <a:pPr marL="800100" lvl="1" indent="-342900">
              <a:buFont typeface="Courier New" panose="02070309020205020404" pitchFamily="49" charset="0"/>
              <a:buChar char="o"/>
            </a:pPr>
            <a:r>
              <a:rPr lang="fr-FR" sz="2000" dirty="0">
                <a:latin typeface="Aptos" panose="020B0004020202020204" pitchFamily="34" charset="0"/>
              </a:rPr>
              <a:t>Reformuler</a:t>
            </a:r>
          </a:p>
          <a:p>
            <a:pPr marL="800100" lvl="1" indent="-342900">
              <a:buFont typeface="Courier New" panose="02070309020205020404" pitchFamily="49" charset="0"/>
              <a:buChar char="o"/>
            </a:pPr>
            <a:r>
              <a:rPr lang="fr-FR" sz="2000" dirty="0">
                <a:latin typeface="Aptos" panose="020B0004020202020204" pitchFamily="34" charset="0"/>
              </a:rPr>
              <a:t>Clarifier</a:t>
            </a:r>
          </a:p>
          <a:p>
            <a:pPr marL="800100" lvl="1" indent="-342900">
              <a:buFont typeface="Courier New" panose="02070309020205020404" pitchFamily="49" charset="0"/>
              <a:buChar char="o"/>
            </a:pPr>
            <a:r>
              <a:rPr lang="fr-FR" sz="2000" dirty="0">
                <a:latin typeface="Aptos" panose="020B0004020202020204" pitchFamily="34" charset="0"/>
              </a:rPr>
              <a:t>Résumer</a:t>
            </a:r>
          </a:p>
        </p:txBody>
      </p:sp>
      <p:sp>
        <p:nvSpPr>
          <p:cNvPr id="10" name="ZoneTexte 9">
            <a:extLst>
              <a:ext uri="{FF2B5EF4-FFF2-40B4-BE49-F238E27FC236}">
                <a16:creationId xmlns:a16="http://schemas.microsoft.com/office/drawing/2014/main" id="{EF1E45BE-0353-4598-82BE-43AF07135ABC}"/>
              </a:ext>
            </a:extLst>
          </p:cNvPr>
          <p:cNvSpPr txBox="1"/>
          <p:nvPr/>
        </p:nvSpPr>
        <p:spPr>
          <a:xfrm>
            <a:off x="753042" y="2075182"/>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Définition</a:t>
            </a:r>
          </a:p>
        </p:txBody>
      </p:sp>
      <p:sp>
        <p:nvSpPr>
          <p:cNvPr id="15" name="ZoneTexte 14">
            <a:extLst>
              <a:ext uri="{FF2B5EF4-FFF2-40B4-BE49-F238E27FC236}">
                <a16:creationId xmlns:a16="http://schemas.microsoft.com/office/drawing/2014/main" id="{6E1B15C1-F601-4BD0-90FE-CCECE42DC3E2}"/>
              </a:ext>
            </a:extLst>
          </p:cNvPr>
          <p:cNvSpPr txBox="1"/>
          <p:nvPr/>
        </p:nvSpPr>
        <p:spPr>
          <a:xfrm>
            <a:off x="1980000" y="5463977"/>
            <a:ext cx="9677239" cy="1077218"/>
          </a:xfrm>
          <a:prstGeom prst="rect">
            <a:avLst/>
          </a:prstGeom>
          <a:noFill/>
        </p:spPr>
        <p:txBody>
          <a:bodyPr wrap="square">
            <a:spAutoFit/>
          </a:bodyPr>
          <a:lstStyle/>
          <a:p>
            <a:r>
              <a:rPr lang="fr-FR" sz="1600" b="1" dirty="0">
                <a:latin typeface="Aptos" panose="020B0004020202020204" pitchFamily="34" charset="0"/>
              </a:rPr>
              <a:t>Exemple</a:t>
            </a:r>
          </a:p>
          <a:p>
            <a:pPr marL="285750" indent="-285750">
              <a:buFont typeface="Arial" panose="020B0604020202020204" pitchFamily="34" charset="0"/>
              <a:buChar char="•"/>
            </a:pPr>
            <a:r>
              <a:rPr lang="fr-FR" sz="1600" dirty="0">
                <a:latin typeface="Aptos" panose="020B0004020202020204" pitchFamily="34" charset="0"/>
              </a:rPr>
              <a:t>Patient : « Mon traitement ne marche pas. »</a:t>
            </a:r>
          </a:p>
          <a:p>
            <a:pPr marL="285750" indent="-285750">
              <a:buFont typeface="Arial" panose="020B0604020202020204" pitchFamily="34" charset="0"/>
              <a:buChar char="•"/>
            </a:pPr>
            <a:r>
              <a:rPr lang="fr-FR" sz="1600" dirty="0">
                <a:latin typeface="Aptos" panose="020B0004020202020204" pitchFamily="34" charset="0"/>
              </a:rPr>
              <a:t>Mauvais accueil : «Impossible»</a:t>
            </a:r>
          </a:p>
          <a:p>
            <a:pPr marL="285750" indent="-285750">
              <a:buFont typeface="Arial" panose="020B0604020202020204" pitchFamily="34" charset="0"/>
              <a:buChar char="•"/>
            </a:pPr>
            <a:r>
              <a:rPr lang="fr-FR" sz="1600" dirty="0">
                <a:latin typeface="Aptos" panose="020B0004020202020204" pitchFamily="34" charset="0"/>
              </a:rPr>
              <a:t>Bon accueil : «Pouvez-vous m'expliquer ce que vous observez depuis le début du traitement ?»</a:t>
            </a:r>
          </a:p>
        </p:txBody>
      </p:sp>
    </p:spTree>
    <p:extLst>
      <p:ext uri="{BB962C8B-B14F-4D97-AF65-F5344CB8AC3E}">
        <p14:creationId xmlns:p14="http://schemas.microsoft.com/office/powerpoint/2010/main" val="3309322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Adapter sa communication aux différents profils de patients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1075" y="2532348"/>
            <a:ext cx="11102568" cy="2862322"/>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Particularités</a:t>
            </a:r>
          </a:p>
          <a:p>
            <a:pPr marL="800100" lvl="1" indent="-342900">
              <a:buFont typeface="Courier New" panose="02070309020205020404" pitchFamily="49" charset="0"/>
              <a:buChar char="o"/>
            </a:pPr>
            <a:r>
              <a:rPr lang="fr-FR" sz="2000" dirty="0">
                <a:latin typeface="Aptos" panose="020B0004020202020204" pitchFamily="34" charset="0"/>
              </a:rPr>
              <a:t>Perte auditive</a:t>
            </a:r>
          </a:p>
          <a:p>
            <a:pPr marL="800100" lvl="1" indent="-342900">
              <a:buFont typeface="Courier New" panose="02070309020205020404" pitchFamily="49" charset="0"/>
              <a:buChar char="o"/>
            </a:pPr>
            <a:r>
              <a:rPr lang="fr-FR" sz="2000" dirty="0">
                <a:latin typeface="Aptos" panose="020B0004020202020204" pitchFamily="34" charset="0"/>
              </a:rPr>
              <a:t>Polymédication</a:t>
            </a:r>
          </a:p>
          <a:p>
            <a:pPr marL="800100" lvl="1" indent="-342900">
              <a:buFont typeface="Courier New" panose="02070309020205020404" pitchFamily="49" charset="0"/>
              <a:buChar char="o"/>
            </a:pPr>
            <a:r>
              <a:rPr lang="fr-FR" sz="2000" dirty="0">
                <a:latin typeface="Aptos" panose="020B0004020202020204" pitchFamily="34" charset="0"/>
              </a:rPr>
              <a:t>Compréhension parfois réduite</a:t>
            </a:r>
          </a:p>
          <a:p>
            <a:pPr marL="800100" lvl="1" indent="-342900">
              <a:buFont typeface="Courier New" panose="02070309020205020404" pitchFamily="49" charset="0"/>
              <a:buChar char="o"/>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Bonnes pratiques</a:t>
            </a:r>
          </a:p>
          <a:p>
            <a:pPr marL="800100" lvl="1" indent="-342900">
              <a:buFont typeface="Courier New" panose="02070309020205020404" pitchFamily="49" charset="0"/>
              <a:buChar char="o"/>
            </a:pPr>
            <a:r>
              <a:rPr lang="fr-FR" sz="2000" dirty="0">
                <a:latin typeface="Aptos" panose="020B0004020202020204" pitchFamily="34" charset="0"/>
              </a:rPr>
              <a:t>Parler lentement</a:t>
            </a:r>
          </a:p>
          <a:p>
            <a:pPr marL="800100" lvl="1" indent="-342900">
              <a:buFont typeface="Courier New" panose="02070309020205020404" pitchFamily="49" charset="0"/>
              <a:buChar char="o"/>
            </a:pPr>
            <a:r>
              <a:rPr lang="fr-FR" sz="2000" dirty="0">
                <a:latin typeface="Aptos" panose="020B0004020202020204" pitchFamily="34" charset="0"/>
              </a:rPr>
              <a:t>Vérifier la compréhension</a:t>
            </a:r>
          </a:p>
          <a:p>
            <a:pPr marL="800100" lvl="1" indent="-342900">
              <a:buFont typeface="Courier New" panose="02070309020205020404" pitchFamily="49" charset="0"/>
              <a:buChar char="o"/>
            </a:pPr>
            <a:r>
              <a:rPr lang="fr-FR" sz="2000" dirty="0">
                <a:latin typeface="Aptos" panose="020B0004020202020204" pitchFamily="34" charset="0"/>
              </a:rPr>
              <a:t>Utiliser un langage simple</a:t>
            </a:r>
          </a:p>
        </p:txBody>
      </p:sp>
      <p:sp>
        <p:nvSpPr>
          <p:cNvPr id="10" name="ZoneTexte 9">
            <a:extLst>
              <a:ext uri="{FF2B5EF4-FFF2-40B4-BE49-F238E27FC236}">
                <a16:creationId xmlns:a16="http://schemas.microsoft.com/office/drawing/2014/main" id="{EF1E45BE-0353-4598-82BE-43AF07135ABC}"/>
              </a:ext>
            </a:extLst>
          </p:cNvPr>
          <p:cNvSpPr txBox="1"/>
          <p:nvPr/>
        </p:nvSpPr>
        <p:spPr>
          <a:xfrm>
            <a:off x="753042" y="2075182"/>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Personnes âgées</a:t>
            </a:r>
          </a:p>
        </p:txBody>
      </p:sp>
    </p:spTree>
    <p:extLst>
      <p:ext uri="{BB962C8B-B14F-4D97-AF65-F5344CB8AC3E}">
        <p14:creationId xmlns:p14="http://schemas.microsoft.com/office/powerpoint/2010/main" val="1322016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Adapter sa communication aux différents profils de patients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1075" y="2532348"/>
            <a:ext cx="11102568" cy="1631216"/>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Communication indirecte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L'échange se fait souvent avec :</a:t>
            </a:r>
          </a:p>
          <a:p>
            <a:pPr marL="800100" lvl="1" indent="-342900">
              <a:buFont typeface="Courier New" panose="02070309020205020404" pitchFamily="49" charset="0"/>
              <a:buChar char="o"/>
            </a:pPr>
            <a:r>
              <a:rPr lang="fr-FR" sz="2000" dirty="0">
                <a:latin typeface="Aptos" panose="020B0004020202020204" pitchFamily="34" charset="0"/>
              </a:rPr>
              <a:t>Parents ;</a:t>
            </a:r>
          </a:p>
          <a:p>
            <a:pPr marL="800100" lvl="1" indent="-342900">
              <a:buFont typeface="Courier New" panose="02070309020205020404" pitchFamily="49" charset="0"/>
              <a:buChar char="o"/>
            </a:pPr>
            <a:r>
              <a:rPr lang="fr-FR" sz="2000" dirty="0">
                <a:latin typeface="Aptos" panose="020B0004020202020204" pitchFamily="34" charset="0"/>
              </a:rPr>
              <a:t>Tuteurs.</a:t>
            </a:r>
          </a:p>
        </p:txBody>
      </p:sp>
      <p:sp>
        <p:nvSpPr>
          <p:cNvPr id="10" name="ZoneTexte 9">
            <a:extLst>
              <a:ext uri="{FF2B5EF4-FFF2-40B4-BE49-F238E27FC236}">
                <a16:creationId xmlns:a16="http://schemas.microsoft.com/office/drawing/2014/main" id="{EF1E45BE-0353-4598-82BE-43AF07135ABC}"/>
              </a:ext>
            </a:extLst>
          </p:cNvPr>
          <p:cNvSpPr txBox="1"/>
          <p:nvPr/>
        </p:nvSpPr>
        <p:spPr>
          <a:xfrm>
            <a:off x="753042" y="2075182"/>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Enfants</a:t>
            </a:r>
          </a:p>
        </p:txBody>
      </p:sp>
    </p:spTree>
    <p:extLst>
      <p:ext uri="{BB962C8B-B14F-4D97-AF65-F5344CB8AC3E}">
        <p14:creationId xmlns:p14="http://schemas.microsoft.com/office/powerpoint/2010/main" val="3004436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Adapter sa communication aux différents profils de patients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1075" y="2532348"/>
            <a:ext cx="11102568" cy="224676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Situation fréquente.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Outils utiles</a:t>
            </a:r>
          </a:p>
          <a:p>
            <a:pPr marL="800100" lvl="1" indent="-342900">
              <a:buFont typeface="Courier New" panose="02070309020205020404" pitchFamily="49" charset="0"/>
              <a:buChar char="o"/>
            </a:pPr>
            <a:r>
              <a:rPr lang="fr-FR" sz="2000" dirty="0">
                <a:latin typeface="Aptos" panose="020B0004020202020204" pitchFamily="34" charset="0"/>
              </a:rPr>
              <a:t>Pictogrammes</a:t>
            </a:r>
          </a:p>
          <a:p>
            <a:pPr marL="800100" lvl="1" indent="-342900">
              <a:buFont typeface="Courier New" panose="02070309020205020404" pitchFamily="49" charset="0"/>
              <a:buChar char="o"/>
            </a:pPr>
            <a:r>
              <a:rPr lang="fr-FR" sz="2000" dirty="0">
                <a:latin typeface="Aptos" panose="020B0004020202020204" pitchFamily="34" charset="0"/>
              </a:rPr>
              <a:t>Couleurs</a:t>
            </a:r>
          </a:p>
          <a:p>
            <a:pPr marL="800100" lvl="1" indent="-342900">
              <a:buFont typeface="Courier New" panose="02070309020205020404" pitchFamily="49" charset="0"/>
              <a:buChar char="o"/>
            </a:pPr>
            <a:r>
              <a:rPr lang="fr-FR" sz="2000" dirty="0">
                <a:latin typeface="Aptos" panose="020B0004020202020204" pitchFamily="34" charset="0"/>
              </a:rPr>
              <a:t>Démonstrations</a:t>
            </a:r>
          </a:p>
          <a:p>
            <a:pPr marL="800100" lvl="1" indent="-342900">
              <a:buFont typeface="Courier New" panose="02070309020205020404" pitchFamily="49" charset="0"/>
              <a:buChar char="o"/>
            </a:pPr>
            <a:r>
              <a:rPr lang="fr-FR" sz="2000" dirty="0">
                <a:latin typeface="Aptos" panose="020B0004020202020204" pitchFamily="34" charset="0"/>
              </a:rPr>
              <a:t>Schémas</a:t>
            </a:r>
          </a:p>
        </p:txBody>
      </p:sp>
      <p:sp>
        <p:nvSpPr>
          <p:cNvPr id="10" name="ZoneTexte 9">
            <a:extLst>
              <a:ext uri="{FF2B5EF4-FFF2-40B4-BE49-F238E27FC236}">
                <a16:creationId xmlns:a16="http://schemas.microsoft.com/office/drawing/2014/main" id="{EF1E45BE-0353-4598-82BE-43AF07135ABC}"/>
              </a:ext>
            </a:extLst>
          </p:cNvPr>
          <p:cNvSpPr txBox="1"/>
          <p:nvPr/>
        </p:nvSpPr>
        <p:spPr>
          <a:xfrm>
            <a:off x="753042" y="2075182"/>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Patients peu alphabétisés</a:t>
            </a:r>
          </a:p>
        </p:txBody>
      </p:sp>
    </p:spTree>
    <p:extLst>
      <p:ext uri="{BB962C8B-B14F-4D97-AF65-F5344CB8AC3E}">
        <p14:creationId xmlns:p14="http://schemas.microsoft.com/office/powerpoint/2010/main" val="1997574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Adapter sa communication aux différents profils de patients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1075" y="2532348"/>
            <a:ext cx="11102568" cy="224676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Besoin principal : Accompagnement à long terme.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Exemple</a:t>
            </a:r>
            <a:r>
              <a:rPr lang="fr-FR" sz="2000" dirty="0">
                <a:latin typeface="Aptos" panose="020B0004020202020204" pitchFamily="34" charset="0"/>
              </a:rPr>
              <a:t> : </a:t>
            </a:r>
          </a:p>
          <a:p>
            <a:pPr marL="800100" lvl="1" indent="-342900">
              <a:buFont typeface="Courier New" panose="02070309020205020404" pitchFamily="49" charset="0"/>
              <a:buChar char="o"/>
            </a:pPr>
            <a:r>
              <a:rPr lang="fr-FR" sz="2000" dirty="0">
                <a:latin typeface="Aptos" panose="020B0004020202020204" pitchFamily="34" charset="0"/>
              </a:rPr>
              <a:t>Hypertension</a:t>
            </a:r>
          </a:p>
          <a:p>
            <a:pPr marL="800100" lvl="1" indent="-342900">
              <a:buFont typeface="Courier New" panose="02070309020205020404" pitchFamily="49" charset="0"/>
              <a:buChar char="o"/>
            </a:pPr>
            <a:r>
              <a:rPr lang="fr-FR" sz="2000" dirty="0">
                <a:latin typeface="Aptos" panose="020B0004020202020204" pitchFamily="34" charset="0"/>
              </a:rPr>
              <a:t>Diabète</a:t>
            </a:r>
          </a:p>
          <a:p>
            <a:pPr marL="800100" lvl="1" indent="-342900">
              <a:buFont typeface="Courier New" panose="02070309020205020404" pitchFamily="49" charset="0"/>
              <a:buChar char="o"/>
            </a:pPr>
            <a:r>
              <a:rPr lang="fr-FR" sz="2000" dirty="0">
                <a:latin typeface="Aptos" panose="020B0004020202020204" pitchFamily="34" charset="0"/>
              </a:rPr>
              <a:t>Asthme</a:t>
            </a:r>
          </a:p>
          <a:p>
            <a:pPr marL="800100" lvl="1" indent="-342900">
              <a:buFont typeface="Courier New" panose="02070309020205020404" pitchFamily="49" charset="0"/>
              <a:buChar char="o"/>
            </a:pPr>
            <a:r>
              <a:rPr lang="fr-FR" sz="2000" dirty="0">
                <a:latin typeface="Aptos" panose="020B0004020202020204" pitchFamily="34" charset="0"/>
              </a:rPr>
              <a:t>VIH</a:t>
            </a:r>
          </a:p>
        </p:txBody>
      </p:sp>
      <p:sp>
        <p:nvSpPr>
          <p:cNvPr id="10" name="ZoneTexte 9">
            <a:extLst>
              <a:ext uri="{FF2B5EF4-FFF2-40B4-BE49-F238E27FC236}">
                <a16:creationId xmlns:a16="http://schemas.microsoft.com/office/drawing/2014/main" id="{EF1E45BE-0353-4598-82BE-43AF07135ABC}"/>
              </a:ext>
            </a:extLst>
          </p:cNvPr>
          <p:cNvSpPr txBox="1"/>
          <p:nvPr/>
        </p:nvSpPr>
        <p:spPr>
          <a:xfrm>
            <a:off x="753042" y="2075182"/>
            <a:ext cx="6232432" cy="476066"/>
          </a:xfrm>
          <a:prstGeom prst="rect">
            <a:avLst/>
          </a:prstGeom>
          <a:noFill/>
          <a:ln>
            <a:noFill/>
          </a:ln>
        </p:spPr>
        <p:txBody>
          <a:bodyPr spcFirstLastPara="1" vert="horz" wrap="square" lIns="91425" tIns="45700" rIns="91425" bIns="45700" rtlCol="0" anchor="t" anchorCtr="0">
            <a:normAutofit/>
          </a:bodyPr>
          <a:lstStyle>
            <a:defPPr>
              <a:defRPr lang="en-US"/>
            </a:defPPr>
            <a:lvl1pPr indent="0">
              <a:lnSpc>
                <a:spcPct val="100000"/>
              </a:lnSpc>
              <a:spcBef>
                <a:spcPts val="0"/>
              </a:spcBef>
              <a:buClr>
                <a:srgbClr val="6C6463"/>
              </a:buClr>
              <a:buSzPct val="100000"/>
              <a:buFont typeface="Arial" panose="020B0604020202020204" pitchFamily="34" charset="0"/>
              <a:buNone/>
              <a:defRPr sz="2400" b="1">
                <a:solidFill>
                  <a:schemeClr val="tx1">
                    <a:lumMod val="75000"/>
                    <a:lumOff val="25000"/>
                  </a:schemeClr>
                </a:solidFill>
                <a:latin typeface="Aptos" panose="020B0004020202020204" pitchFamily="34" charset="0"/>
              </a:defRPr>
            </a:lvl1pPr>
            <a:lvl2pPr marL="454025" lvl="1" indent="0">
              <a:lnSpc>
                <a:spcPct val="100000"/>
              </a:lnSpc>
              <a:spcBef>
                <a:spcPts val="300"/>
              </a:spcBef>
              <a:buClr>
                <a:srgbClr val="6C6463"/>
              </a:buClr>
              <a:buSzPct val="100000"/>
              <a:buFont typeface="Courier New" panose="02070309020205020404" pitchFamily="49" charset="0"/>
              <a:buNone/>
              <a:defRPr sz="2400">
                <a:solidFill>
                  <a:schemeClr val="tx1">
                    <a:lumMod val="75000"/>
                    <a:lumOff val="25000"/>
                  </a:schemeClr>
                </a:solidFill>
                <a:latin typeface="Aptos" panose="020B0004020202020204" pitchFamily="34" charset="0"/>
              </a:defRPr>
            </a:lvl2pPr>
            <a:lvl3pPr marL="1143000" indent="-228600">
              <a:lnSpc>
                <a:spcPct val="100000"/>
              </a:lnSpc>
              <a:spcBef>
                <a:spcPts val="300"/>
              </a:spcBef>
              <a:buClr>
                <a:srgbClr val="6C6463"/>
              </a:buClr>
              <a:buFont typeface="Gill Sans MT" panose="020B0502020104020203" pitchFamily="34" charset="0"/>
              <a:buChar char="–"/>
              <a:defRPr sz="2000">
                <a:solidFill>
                  <a:srgbClr val="6C6463"/>
                </a:solidFill>
              </a:defRPr>
            </a:lvl3pPr>
            <a:lvl4pPr marL="1600200" indent="-228600">
              <a:lnSpc>
                <a:spcPct val="100000"/>
              </a:lnSpc>
              <a:spcBef>
                <a:spcPts val="300"/>
              </a:spcBef>
              <a:buClr>
                <a:srgbClr val="6C6463"/>
              </a:buClr>
              <a:buFont typeface="Arial" panose="020B0604020202020204" pitchFamily="34" charset="0"/>
              <a:buChar char="•"/>
              <a:defRPr>
                <a:solidFill>
                  <a:srgbClr val="6C6463"/>
                </a:solidFill>
              </a:defRPr>
            </a:lvl4pPr>
            <a:lvl5pPr marL="2057400" indent="-228600">
              <a:lnSpc>
                <a:spcPct val="100000"/>
              </a:lnSpc>
              <a:spcBef>
                <a:spcPts val="300"/>
              </a:spcBef>
              <a:buClr>
                <a:srgbClr val="6C6463"/>
              </a:buClr>
              <a:buFont typeface="Arial" panose="020B0604020202020204" pitchFamily="34" charset="0"/>
              <a:buChar char="•"/>
              <a:defRPr>
                <a:solidFill>
                  <a:srgbClr val="6C6463"/>
                </a:solidFill>
              </a:defRPr>
            </a:lvl5pPr>
            <a:lvl6pPr marL="2514600" indent="-228600">
              <a:lnSpc>
                <a:spcPct val="100000"/>
              </a:lnSpc>
              <a:spcBef>
                <a:spcPts val="300"/>
              </a:spcBef>
              <a:buClr>
                <a:srgbClr val="6C6463"/>
              </a:buClr>
              <a:buFont typeface="Arial" panose="020B0604020202020204" pitchFamily="34" charset="0"/>
              <a:buChar char="•"/>
              <a:defRPr>
                <a:solidFill>
                  <a:srgbClr val="6C6463"/>
                </a:solidFill>
              </a:defRPr>
            </a:lvl6pPr>
            <a:lvl7pPr marL="2971800" indent="-228600">
              <a:lnSpc>
                <a:spcPct val="100000"/>
              </a:lnSpc>
              <a:spcBef>
                <a:spcPts val="300"/>
              </a:spcBef>
              <a:buClr>
                <a:srgbClr val="6C6463"/>
              </a:buClr>
              <a:buFont typeface="Arial" panose="020B0604020202020204" pitchFamily="34" charset="0"/>
              <a:buChar char="•"/>
              <a:defRPr>
                <a:solidFill>
                  <a:srgbClr val="6C6463"/>
                </a:solidFill>
              </a:defRPr>
            </a:lvl7pPr>
            <a:lvl8pPr marL="3429000" indent="-228600">
              <a:lnSpc>
                <a:spcPct val="100000"/>
              </a:lnSpc>
              <a:spcBef>
                <a:spcPts val="300"/>
              </a:spcBef>
              <a:buClr>
                <a:srgbClr val="6C6463"/>
              </a:buClr>
              <a:buFont typeface="Arial" panose="020B0604020202020204" pitchFamily="34" charset="0"/>
              <a:buChar char="•"/>
              <a:defRPr>
                <a:solidFill>
                  <a:srgbClr val="6C6463"/>
                </a:solidFill>
              </a:defRPr>
            </a:lvl8pPr>
            <a:lvl9pPr marL="3886200" indent="-228600">
              <a:lnSpc>
                <a:spcPct val="90000"/>
              </a:lnSpc>
              <a:spcBef>
                <a:spcPts val="500"/>
              </a:spcBef>
              <a:buFont typeface="Arial" panose="020B0604020202020204" pitchFamily="34" charset="0"/>
              <a:buChar char="•"/>
            </a:lvl9pPr>
          </a:lstStyle>
          <a:p>
            <a:r>
              <a:rPr lang="fr-FR" dirty="0">
                <a:solidFill>
                  <a:srgbClr val="014C9B"/>
                </a:solidFill>
              </a:rPr>
              <a:t>Patients chroniques</a:t>
            </a:r>
          </a:p>
        </p:txBody>
      </p:sp>
    </p:spTree>
    <p:extLst>
      <p:ext uri="{BB962C8B-B14F-4D97-AF65-F5344CB8AC3E}">
        <p14:creationId xmlns:p14="http://schemas.microsoft.com/office/powerpoint/2010/main" val="238900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Communication interculturelle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2" y="2172109"/>
            <a:ext cx="11102568" cy="3477875"/>
          </a:xfrm>
          <a:prstGeom prst="rect">
            <a:avLst/>
          </a:prstGeom>
          <a:noFill/>
        </p:spPr>
        <p:txBody>
          <a:bodyPr wrap="square">
            <a:spAutoFit/>
          </a:bodyPr>
          <a:lstStyle/>
          <a:p>
            <a:r>
              <a:rPr lang="fr-FR" sz="2000" b="1" dirty="0">
                <a:latin typeface="Aptos" panose="020B0004020202020204" pitchFamily="34" charset="0"/>
              </a:rPr>
              <a:t>Réalité africaine</a:t>
            </a:r>
          </a:p>
          <a:p>
            <a:pPr marL="342900" indent="-342900">
              <a:buFont typeface="Arial" panose="020B0604020202020204" pitchFamily="34" charset="0"/>
              <a:buChar char="•"/>
            </a:pPr>
            <a:r>
              <a:rPr lang="fr-FR" sz="2000" dirty="0">
                <a:latin typeface="Aptos" panose="020B0004020202020204" pitchFamily="34" charset="0"/>
              </a:rPr>
              <a:t>Les patients peuvent avoir :</a:t>
            </a:r>
          </a:p>
          <a:p>
            <a:pPr marL="800100" lvl="1" indent="-342900">
              <a:buFont typeface="Courier New" panose="02070309020205020404" pitchFamily="49" charset="0"/>
              <a:buChar char="o"/>
            </a:pPr>
            <a:r>
              <a:rPr lang="fr-FR" sz="2000" dirty="0">
                <a:latin typeface="Aptos" panose="020B0004020202020204" pitchFamily="34" charset="0"/>
              </a:rPr>
              <a:t>Des langues différentes ;</a:t>
            </a:r>
          </a:p>
          <a:p>
            <a:pPr marL="800100" lvl="1" indent="-342900">
              <a:buFont typeface="Courier New" panose="02070309020205020404" pitchFamily="49" charset="0"/>
              <a:buChar char="o"/>
            </a:pPr>
            <a:r>
              <a:rPr lang="fr-FR" sz="2000" dirty="0">
                <a:latin typeface="Aptos" panose="020B0004020202020204" pitchFamily="34" charset="0"/>
              </a:rPr>
              <a:t>Des croyances différentes ;</a:t>
            </a:r>
          </a:p>
          <a:p>
            <a:pPr marL="800100" lvl="1" indent="-342900">
              <a:buFont typeface="Courier New" panose="02070309020205020404" pitchFamily="49" charset="0"/>
              <a:buChar char="o"/>
            </a:pPr>
            <a:r>
              <a:rPr lang="fr-FR" sz="2000" dirty="0">
                <a:latin typeface="Aptos" panose="020B0004020202020204" pitchFamily="34" charset="0"/>
              </a:rPr>
              <a:t>Des pratiques traditionnelles.</a:t>
            </a:r>
          </a:p>
          <a:p>
            <a:pPr marL="800100" lvl="1" indent="-342900">
              <a:buFont typeface="Courier New" panose="02070309020205020404" pitchFamily="49" charset="0"/>
              <a:buChar char="o"/>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Le pharmacien doit :</a:t>
            </a:r>
          </a:p>
          <a:p>
            <a:pPr marL="800100" lvl="1" indent="-342900">
              <a:buFont typeface="Courier New" panose="02070309020205020404" pitchFamily="49" charset="0"/>
              <a:buChar char="o"/>
            </a:pPr>
            <a:r>
              <a:rPr lang="fr-FR" sz="2000" dirty="0">
                <a:latin typeface="Aptos" panose="020B0004020202020204" pitchFamily="34" charset="0"/>
              </a:rPr>
              <a:t>Respecter</a:t>
            </a:r>
          </a:p>
          <a:p>
            <a:pPr marL="800100" lvl="1" indent="-342900">
              <a:buFont typeface="Courier New" panose="02070309020205020404" pitchFamily="49" charset="0"/>
              <a:buChar char="o"/>
            </a:pPr>
            <a:r>
              <a:rPr lang="fr-FR" sz="2000" dirty="0">
                <a:latin typeface="Aptos" panose="020B0004020202020204" pitchFamily="34" charset="0"/>
              </a:rPr>
              <a:t>Écouter</a:t>
            </a:r>
          </a:p>
          <a:p>
            <a:pPr marL="800100" lvl="1" indent="-342900">
              <a:buFont typeface="Courier New" panose="02070309020205020404" pitchFamily="49" charset="0"/>
              <a:buChar char="o"/>
            </a:pPr>
            <a:r>
              <a:rPr lang="fr-FR" sz="2000" dirty="0">
                <a:latin typeface="Aptos" panose="020B0004020202020204" pitchFamily="34" charset="0"/>
              </a:rPr>
              <a:t>Éduquer</a:t>
            </a:r>
          </a:p>
          <a:p>
            <a:pPr marL="800100" lvl="1" indent="-342900">
              <a:buFont typeface="Courier New" panose="02070309020205020404" pitchFamily="49" charset="0"/>
              <a:buChar char="o"/>
            </a:pPr>
            <a:r>
              <a:rPr lang="fr-FR" sz="2000" dirty="0">
                <a:latin typeface="Aptos" panose="020B0004020202020204" pitchFamily="34" charset="0"/>
              </a:rPr>
              <a:t>Corriger sans juger</a:t>
            </a:r>
          </a:p>
        </p:txBody>
      </p:sp>
      <p:sp>
        <p:nvSpPr>
          <p:cNvPr id="13" name="ZoneTexte 12">
            <a:extLst>
              <a:ext uri="{FF2B5EF4-FFF2-40B4-BE49-F238E27FC236}">
                <a16:creationId xmlns:a16="http://schemas.microsoft.com/office/drawing/2014/main" id="{4B8F917D-5C90-469F-ABCE-714E93F7946F}"/>
              </a:ext>
            </a:extLst>
          </p:cNvPr>
          <p:cNvSpPr txBox="1"/>
          <p:nvPr/>
        </p:nvSpPr>
        <p:spPr>
          <a:xfrm>
            <a:off x="7327737" y="5363893"/>
            <a:ext cx="3803651" cy="954107"/>
          </a:xfrm>
          <a:prstGeom prst="rect">
            <a:avLst/>
          </a:prstGeom>
          <a:noFill/>
        </p:spPr>
        <p:txBody>
          <a:bodyPr wrap="square">
            <a:spAutoFit/>
          </a:bodyPr>
          <a:lstStyle/>
          <a:p>
            <a:r>
              <a:rPr lang="fr-FR" sz="1400" b="1" dirty="0">
                <a:latin typeface="Aptos" panose="020B0004020202020204" pitchFamily="34" charset="0"/>
              </a:rPr>
              <a:t>Cas pratique</a:t>
            </a:r>
          </a:p>
          <a:p>
            <a:pPr lvl="1"/>
            <a:r>
              <a:rPr lang="fr-FR" sz="1400" b="1" dirty="0">
                <a:latin typeface="Aptos" panose="020B0004020202020204" pitchFamily="34" charset="0"/>
              </a:rPr>
              <a:t>Patient</a:t>
            </a:r>
            <a:r>
              <a:rPr lang="fr-FR" sz="1400" dirty="0">
                <a:latin typeface="Aptos" panose="020B0004020202020204" pitchFamily="34" charset="0"/>
              </a:rPr>
              <a:t> :« J’ai arrêté mes comprimés et je prends uniquement des plantes. »</a:t>
            </a:r>
          </a:p>
          <a:p>
            <a:pPr lvl="1"/>
            <a:r>
              <a:rPr lang="fr-FR" sz="1400" b="1" dirty="0">
                <a:latin typeface="Aptos" panose="020B0004020202020204" pitchFamily="34" charset="0"/>
              </a:rPr>
              <a:t>Comment répondre ?</a:t>
            </a:r>
          </a:p>
        </p:txBody>
      </p:sp>
    </p:spTree>
    <p:extLst>
      <p:ext uri="{BB962C8B-B14F-4D97-AF65-F5344CB8AC3E}">
        <p14:creationId xmlns:p14="http://schemas.microsoft.com/office/powerpoint/2010/main" val="429075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La communication non verbale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2" y="2172109"/>
            <a:ext cx="5082982" cy="3477875"/>
          </a:xfrm>
          <a:prstGeom prst="rect">
            <a:avLst/>
          </a:prstGeom>
          <a:noFill/>
        </p:spPr>
        <p:txBody>
          <a:bodyPr wrap="square">
            <a:spAutoFit/>
          </a:bodyPr>
          <a:lstStyle/>
          <a:p>
            <a:r>
              <a:rPr lang="fr-FR" sz="2000" b="1" dirty="0">
                <a:latin typeface="Aptos" panose="020B0004020202020204" pitchFamily="34" charset="0"/>
              </a:rPr>
              <a:t>Impact</a:t>
            </a:r>
          </a:p>
          <a:p>
            <a:pPr marL="342900" indent="-342900">
              <a:buFont typeface="Arial" panose="020B0604020202020204" pitchFamily="34" charset="0"/>
              <a:buChar char="•"/>
            </a:pPr>
            <a:r>
              <a:rPr lang="fr-FR" sz="2000" dirty="0">
                <a:latin typeface="Aptos" panose="020B0004020202020204" pitchFamily="34" charset="0"/>
              </a:rPr>
              <a:t>Les études montrent qu'une grande partie de la communication est non verbale.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Éléments importants </a:t>
            </a:r>
            <a:r>
              <a:rPr lang="fr-FR" sz="2000" dirty="0">
                <a:latin typeface="Aptos" panose="020B0004020202020204" pitchFamily="34" charset="0"/>
              </a:rPr>
              <a:t>:</a:t>
            </a:r>
          </a:p>
          <a:p>
            <a:pPr marL="800100" lvl="1" indent="-342900">
              <a:buFont typeface="Courier New" panose="02070309020205020404" pitchFamily="49" charset="0"/>
              <a:buChar char="o"/>
            </a:pPr>
            <a:r>
              <a:rPr lang="fr-FR" sz="2000" dirty="0">
                <a:latin typeface="Aptos" panose="020B0004020202020204" pitchFamily="34" charset="0"/>
              </a:rPr>
              <a:t>Posture</a:t>
            </a:r>
          </a:p>
          <a:p>
            <a:pPr marL="800100" lvl="1" indent="-342900">
              <a:buFont typeface="Courier New" panose="02070309020205020404" pitchFamily="49" charset="0"/>
              <a:buChar char="o"/>
            </a:pPr>
            <a:r>
              <a:rPr lang="fr-FR" sz="2000" dirty="0">
                <a:latin typeface="Aptos" panose="020B0004020202020204" pitchFamily="34" charset="0"/>
              </a:rPr>
              <a:t>Regard</a:t>
            </a:r>
          </a:p>
          <a:p>
            <a:pPr marL="800100" lvl="1" indent="-342900">
              <a:buFont typeface="Courier New" panose="02070309020205020404" pitchFamily="49" charset="0"/>
              <a:buChar char="o"/>
            </a:pPr>
            <a:r>
              <a:rPr lang="fr-FR" sz="2000" dirty="0">
                <a:latin typeface="Aptos" panose="020B0004020202020204" pitchFamily="34" charset="0"/>
              </a:rPr>
              <a:t>Distance</a:t>
            </a:r>
          </a:p>
          <a:p>
            <a:pPr marL="800100" lvl="1" indent="-342900">
              <a:buFont typeface="Courier New" panose="02070309020205020404" pitchFamily="49" charset="0"/>
              <a:buChar char="o"/>
            </a:pPr>
            <a:r>
              <a:rPr lang="fr-FR" sz="2000" dirty="0">
                <a:latin typeface="Aptos" panose="020B0004020202020204" pitchFamily="34" charset="0"/>
              </a:rPr>
              <a:t>Gestuelle</a:t>
            </a:r>
          </a:p>
          <a:p>
            <a:pPr marL="800100" lvl="1" indent="-342900">
              <a:buFont typeface="Courier New" panose="02070309020205020404" pitchFamily="49" charset="0"/>
              <a:buChar char="o"/>
            </a:pPr>
            <a:r>
              <a:rPr lang="fr-FR" sz="2000" dirty="0">
                <a:latin typeface="Aptos" panose="020B0004020202020204" pitchFamily="34" charset="0"/>
              </a:rPr>
              <a:t>Ton de voix</a:t>
            </a:r>
          </a:p>
        </p:txBody>
      </p:sp>
      <p:sp>
        <p:nvSpPr>
          <p:cNvPr id="10" name="ZoneTexte 9">
            <a:extLst>
              <a:ext uri="{FF2B5EF4-FFF2-40B4-BE49-F238E27FC236}">
                <a16:creationId xmlns:a16="http://schemas.microsoft.com/office/drawing/2014/main" id="{2E32FA61-A5C7-46D1-B54A-7EEFEB235F9A}"/>
              </a:ext>
            </a:extLst>
          </p:cNvPr>
          <p:cNvSpPr txBox="1"/>
          <p:nvPr/>
        </p:nvSpPr>
        <p:spPr>
          <a:xfrm>
            <a:off x="6106886" y="3732233"/>
            <a:ext cx="5082982" cy="1323439"/>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Erreurs fréquentes </a:t>
            </a:r>
            <a:r>
              <a:rPr lang="fr-FR" sz="2000" dirty="0">
                <a:latin typeface="Aptos" panose="020B0004020202020204" pitchFamily="34" charset="0"/>
              </a:rPr>
              <a:t>:</a:t>
            </a:r>
          </a:p>
          <a:p>
            <a:pPr marL="800100" lvl="1" indent="-342900">
              <a:buFont typeface="Courier New" panose="02070309020205020404" pitchFamily="49" charset="0"/>
              <a:buChar char="o"/>
            </a:pPr>
            <a:r>
              <a:rPr lang="fr-FR" sz="2000" dirty="0">
                <a:latin typeface="Aptos" panose="020B0004020202020204" pitchFamily="34" charset="0"/>
              </a:rPr>
              <a:t>Regarder son téléphone</a:t>
            </a:r>
          </a:p>
          <a:p>
            <a:pPr marL="800100" lvl="1" indent="-342900">
              <a:buFont typeface="Courier New" panose="02070309020205020404" pitchFamily="49" charset="0"/>
              <a:buChar char="o"/>
            </a:pPr>
            <a:r>
              <a:rPr lang="fr-FR" sz="2000" dirty="0">
                <a:latin typeface="Aptos" panose="020B0004020202020204" pitchFamily="34" charset="0"/>
              </a:rPr>
              <a:t>Couper la parole</a:t>
            </a:r>
          </a:p>
          <a:p>
            <a:pPr marL="800100" lvl="1" indent="-342900">
              <a:buFont typeface="Courier New" panose="02070309020205020404" pitchFamily="49" charset="0"/>
              <a:buChar char="o"/>
            </a:pPr>
            <a:r>
              <a:rPr lang="fr-FR" sz="2000" dirty="0">
                <a:latin typeface="Aptos" panose="020B0004020202020204" pitchFamily="34" charset="0"/>
              </a:rPr>
              <a:t>Montrer de l’impatience</a:t>
            </a:r>
          </a:p>
        </p:txBody>
      </p:sp>
    </p:spTree>
    <p:extLst>
      <p:ext uri="{BB962C8B-B14F-4D97-AF65-F5344CB8AC3E}">
        <p14:creationId xmlns:p14="http://schemas.microsoft.com/office/powerpoint/2010/main" val="306215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Expliquer un traitement au patient</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6544229" cy="2246769"/>
          </a:xfrm>
          <a:prstGeom prst="rect">
            <a:avLst/>
          </a:prstGeom>
          <a:noFill/>
        </p:spPr>
        <p:txBody>
          <a:bodyPr wrap="square">
            <a:spAutoFit/>
          </a:bodyPr>
          <a:lstStyle/>
          <a:p>
            <a:r>
              <a:rPr lang="fr-FR" sz="2000" b="1" dirty="0">
                <a:latin typeface="Aptos" panose="020B0004020202020204" pitchFamily="34" charset="0"/>
              </a:rPr>
              <a:t>Le patient doit comprendre :</a:t>
            </a:r>
          </a:p>
          <a:p>
            <a:pPr marL="342900" indent="-342900">
              <a:buFont typeface="Arial" panose="020B0604020202020204" pitchFamily="34" charset="0"/>
              <a:buChar char="•"/>
            </a:pPr>
            <a:r>
              <a:rPr lang="fr-FR" sz="2000" dirty="0">
                <a:latin typeface="Aptos" panose="020B0004020202020204" pitchFamily="34" charset="0"/>
              </a:rPr>
              <a:t>Pourquoi il prend le médicament</a:t>
            </a:r>
          </a:p>
          <a:p>
            <a:pPr marL="342900" indent="-342900">
              <a:buFont typeface="Arial" panose="020B0604020202020204" pitchFamily="34" charset="0"/>
              <a:buChar char="•"/>
            </a:pPr>
            <a:r>
              <a:rPr lang="fr-FR" sz="2000" dirty="0">
                <a:latin typeface="Aptos" panose="020B0004020202020204" pitchFamily="34" charset="0"/>
              </a:rPr>
              <a:t>Comment le prendre</a:t>
            </a:r>
          </a:p>
          <a:p>
            <a:pPr marL="342900" indent="-342900">
              <a:buFont typeface="Arial" panose="020B0604020202020204" pitchFamily="34" charset="0"/>
              <a:buChar char="•"/>
            </a:pPr>
            <a:r>
              <a:rPr lang="fr-FR" sz="2000" dirty="0">
                <a:latin typeface="Aptos" panose="020B0004020202020204" pitchFamily="34" charset="0"/>
              </a:rPr>
              <a:t>Quand le prendre</a:t>
            </a:r>
          </a:p>
          <a:p>
            <a:pPr marL="342900" indent="-342900">
              <a:buFont typeface="Arial" panose="020B0604020202020204" pitchFamily="34" charset="0"/>
              <a:buChar char="•"/>
            </a:pPr>
            <a:r>
              <a:rPr lang="fr-FR" sz="2000" dirty="0">
                <a:latin typeface="Aptos" panose="020B0004020202020204" pitchFamily="34" charset="0"/>
              </a:rPr>
              <a:t>Pendant combien de temps</a:t>
            </a:r>
          </a:p>
          <a:p>
            <a:pPr marL="342900" indent="-342900">
              <a:buFont typeface="Arial" panose="020B0604020202020204" pitchFamily="34" charset="0"/>
              <a:buChar char="•"/>
            </a:pPr>
            <a:r>
              <a:rPr lang="fr-FR" sz="2000" dirty="0">
                <a:latin typeface="Aptos" panose="020B0004020202020204" pitchFamily="34" charset="0"/>
              </a:rPr>
              <a:t>Quels effets attendre</a:t>
            </a:r>
          </a:p>
          <a:p>
            <a:pPr marL="342900" indent="-342900">
              <a:buFont typeface="Arial" panose="020B0604020202020204" pitchFamily="34" charset="0"/>
              <a:buChar char="•"/>
            </a:pPr>
            <a:r>
              <a:rPr lang="fr-FR" sz="2000" dirty="0">
                <a:latin typeface="Aptos" panose="020B0004020202020204" pitchFamily="34" charset="0"/>
              </a:rPr>
              <a:t>Quels effets indésirables surveiller</a:t>
            </a:r>
          </a:p>
        </p:txBody>
      </p:sp>
    </p:spTree>
    <p:extLst>
      <p:ext uri="{BB962C8B-B14F-4D97-AF65-F5344CB8AC3E}">
        <p14:creationId xmlns:p14="http://schemas.microsoft.com/office/powerpoint/2010/main" val="1158344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Gestion des patients difficiles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6544229" cy="4401205"/>
          </a:xfrm>
          <a:prstGeom prst="rect">
            <a:avLst/>
          </a:prstGeom>
          <a:noFill/>
        </p:spPr>
        <p:txBody>
          <a:bodyPr wrap="square">
            <a:spAutoFit/>
          </a:bodyPr>
          <a:lstStyle/>
          <a:p>
            <a:r>
              <a:rPr lang="fr-FR" sz="2000" b="1" dirty="0">
                <a:latin typeface="Aptos" panose="020B0004020202020204" pitchFamily="34" charset="0"/>
              </a:rPr>
              <a:t>Types fréquents :</a:t>
            </a:r>
          </a:p>
          <a:p>
            <a:pPr marL="800100" lvl="1" indent="-342900">
              <a:buFont typeface="Arial" panose="020B0604020202020204" pitchFamily="34" charset="0"/>
              <a:buChar char="•"/>
            </a:pPr>
            <a:r>
              <a:rPr lang="fr-FR" sz="2000" dirty="0">
                <a:latin typeface="Aptos" panose="020B0004020202020204" pitchFamily="34" charset="0"/>
              </a:rPr>
              <a:t>Patient agressif</a:t>
            </a:r>
          </a:p>
          <a:p>
            <a:pPr marL="800100" lvl="1" indent="-342900">
              <a:buFont typeface="Arial" panose="020B0604020202020204" pitchFamily="34" charset="0"/>
              <a:buChar char="•"/>
            </a:pPr>
            <a:r>
              <a:rPr lang="fr-FR" sz="2000" dirty="0">
                <a:latin typeface="Aptos" panose="020B0004020202020204" pitchFamily="34" charset="0"/>
              </a:rPr>
              <a:t>Patient impatient</a:t>
            </a:r>
          </a:p>
          <a:p>
            <a:pPr marL="800100" lvl="1" indent="-342900">
              <a:buFont typeface="Arial" panose="020B0604020202020204" pitchFamily="34" charset="0"/>
              <a:buChar char="•"/>
            </a:pPr>
            <a:r>
              <a:rPr lang="fr-FR" sz="2000" dirty="0">
                <a:latin typeface="Aptos" panose="020B0004020202020204" pitchFamily="34" charset="0"/>
              </a:rPr>
              <a:t>Patient anxieux</a:t>
            </a:r>
          </a:p>
          <a:p>
            <a:pPr marL="800100" lvl="1" indent="-342900">
              <a:buFont typeface="Arial" panose="020B0604020202020204" pitchFamily="34" charset="0"/>
              <a:buChar char="•"/>
            </a:pPr>
            <a:r>
              <a:rPr lang="fr-FR" sz="2000" dirty="0">
                <a:latin typeface="Aptos" panose="020B0004020202020204" pitchFamily="34" charset="0"/>
              </a:rPr>
              <a:t>Patient méfiant</a:t>
            </a:r>
          </a:p>
          <a:p>
            <a:pPr marL="800100" lvl="1" indent="-342900">
              <a:buFont typeface="Arial" panose="020B0604020202020204" pitchFamily="34" charset="0"/>
              <a:buChar char="•"/>
            </a:pPr>
            <a:r>
              <a:rPr lang="fr-FR" sz="2000" dirty="0">
                <a:latin typeface="Aptos" panose="020B0004020202020204" pitchFamily="34" charset="0"/>
              </a:rPr>
              <a:t>Patient exigeant</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Règles</a:t>
            </a:r>
          </a:p>
          <a:p>
            <a:pPr marL="800100" lvl="1" indent="-342900">
              <a:buFont typeface="Arial" panose="020B0604020202020204" pitchFamily="34" charset="0"/>
              <a:buChar char="•"/>
            </a:pPr>
            <a:r>
              <a:rPr lang="fr-FR" sz="2000" dirty="0">
                <a:latin typeface="Aptos" panose="020B0004020202020204" pitchFamily="34" charset="0"/>
              </a:rPr>
              <a:t>Rester calme</a:t>
            </a:r>
          </a:p>
          <a:p>
            <a:pPr marL="800100" lvl="1" indent="-342900">
              <a:buFont typeface="Arial" panose="020B0604020202020204" pitchFamily="34" charset="0"/>
              <a:buChar char="•"/>
            </a:pPr>
            <a:r>
              <a:rPr lang="fr-FR" sz="2000" dirty="0">
                <a:latin typeface="Aptos" panose="020B0004020202020204" pitchFamily="34" charset="0"/>
              </a:rPr>
              <a:t>Écouter</a:t>
            </a:r>
          </a:p>
          <a:p>
            <a:pPr marL="800100" lvl="1" indent="-342900">
              <a:buFont typeface="Arial" panose="020B0604020202020204" pitchFamily="34" charset="0"/>
              <a:buChar char="•"/>
            </a:pPr>
            <a:r>
              <a:rPr lang="fr-FR" sz="2000" dirty="0">
                <a:latin typeface="Aptos" panose="020B0004020202020204" pitchFamily="34" charset="0"/>
              </a:rPr>
              <a:t>Ne pas argumenter</a:t>
            </a:r>
          </a:p>
          <a:p>
            <a:pPr marL="800100" lvl="1" indent="-342900">
              <a:buFont typeface="Arial" panose="020B0604020202020204" pitchFamily="34" charset="0"/>
              <a:buChar char="•"/>
            </a:pPr>
            <a:r>
              <a:rPr lang="fr-FR" sz="2000" dirty="0">
                <a:latin typeface="Aptos" panose="020B0004020202020204" pitchFamily="34" charset="0"/>
              </a:rPr>
              <a:t>Recentrer sur le problème</a:t>
            </a:r>
          </a:p>
          <a:p>
            <a:pPr marL="800100" lvl="1" indent="-342900">
              <a:buFont typeface="Arial" panose="020B0604020202020204" pitchFamily="34" charset="0"/>
              <a:buChar char="•"/>
            </a:pPr>
            <a:r>
              <a:rPr lang="fr-FR" sz="2000" dirty="0">
                <a:latin typeface="Aptos" panose="020B0004020202020204" pitchFamily="34" charset="0"/>
              </a:rPr>
              <a:t>Chercher une solution</a:t>
            </a:r>
          </a:p>
          <a:p>
            <a:pPr marL="342900" indent="-342900">
              <a:buFont typeface="Arial" panose="020B0604020202020204" pitchFamily="34" charset="0"/>
              <a:buChar char="•"/>
            </a:pPr>
            <a:endParaRPr lang="fr-FR" sz="2000" dirty="0">
              <a:latin typeface="Aptos" panose="020B0004020202020204" pitchFamily="34" charset="0"/>
            </a:endParaRPr>
          </a:p>
        </p:txBody>
      </p:sp>
    </p:spTree>
    <p:extLst>
      <p:ext uri="{BB962C8B-B14F-4D97-AF65-F5344CB8AC3E}">
        <p14:creationId xmlns:p14="http://schemas.microsoft.com/office/powerpoint/2010/main" val="2888284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Confidentialité et respect du patient</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6544229" cy="3477875"/>
          </a:xfrm>
          <a:prstGeom prst="rect">
            <a:avLst/>
          </a:prstGeom>
          <a:noFill/>
        </p:spPr>
        <p:txBody>
          <a:bodyPr wrap="square">
            <a:spAutoFit/>
          </a:bodyPr>
          <a:lstStyle/>
          <a:p>
            <a:r>
              <a:rPr lang="fr-FR" sz="2000" b="1" dirty="0">
                <a:latin typeface="Aptos" panose="020B0004020202020204" pitchFamily="34" charset="0"/>
              </a:rPr>
              <a:t>Principes:</a:t>
            </a:r>
          </a:p>
          <a:p>
            <a:pPr marL="800100" lvl="1" indent="-342900">
              <a:buFont typeface="Arial" panose="020B0604020202020204" pitchFamily="34" charset="0"/>
              <a:buChar char="•"/>
            </a:pPr>
            <a:r>
              <a:rPr lang="fr-FR" sz="2000" dirty="0">
                <a:latin typeface="Aptos" panose="020B0004020202020204" pitchFamily="34" charset="0"/>
              </a:rPr>
              <a:t>Discrétion</a:t>
            </a:r>
          </a:p>
          <a:p>
            <a:pPr marL="800100" lvl="1" indent="-342900">
              <a:buFont typeface="Arial" panose="020B0604020202020204" pitchFamily="34" charset="0"/>
              <a:buChar char="•"/>
            </a:pPr>
            <a:r>
              <a:rPr lang="fr-FR" sz="2000" dirty="0">
                <a:latin typeface="Aptos" panose="020B0004020202020204" pitchFamily="34" charset="0"/>
              </a:rPr>
              <a:t>Respect</a:t>
            </a:r>
          </a:p>
          <a:p>
            <a:pPr marL="800100" lvl="1" indent="-342900">
              <a:buFont typeface="Arial" panose="020B0604020202020204" pitchFamily="34" charset="0"/>
              <a:buChar char="•"/>
            </a:pPr>
            <a:r>
              <a:rPr lang="fr-FR" sz="2000" dirty="0">
                <a:latin typeface="Aptos" panose="020B0004020202020204" pitchFamily="34" charset="0"/>
              </a:rPr>
              <a:t>Confidentialité</a:t>
            </a:r>
          </a:p>
          <a:p>
            <a:pPr marL="800100" lvl="1" indent="-342900">
              <a:buFont typeface="Arial" panose="020B0604020202020204" pitchFamily="34" charset="0"/>
              <a:buChar char="•"/>
            </a:pPr>
            <a:r>
              <a:rPr lang="fr-FR" sz="2000" dirty="0">
                <a:latin typeface="Aptos" panose="020B0004020202020204" pitchFamily="34" charset="0"/>
              </a:rPr>
              <a:t>Dignité</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Situations sensibles</a:t>
            </a:r>
          </a:p>
          <a:p>
            <a:pPr marL="800100" lvl="1" indent="-342900">
              <a:buFont typeface="Arial" panose="020B0604020202020204" pitchFamily="34" charset="0"/>
              <a:buChar char="•"/>
            </a:pPr>
            <a:r>
              <a:rPr lang="fr-FR" sz="2000" dirty="0">
                <a:latin typeface="Aptos" panose="020B0004020202020204" pitchFamily="34" charset="0"/>
              </a:rPr>
              <a:t>VIH</a:t>
            </a:r>
          </a:p>
          <a:p>
            <a:pPr marL="800100" lvl="1" indent="-342900">
              <a:buFont typeface="Arial" panose="020B0604020202020204" pitchFamily="34" charset="0"/>
              <a:buChar char="•"/>
            </a:pPr>
            <a:r>
              <a:rPr lang="fr-FR" sz="2000" dirty="0">
                <a:latin typeface="Aptos" panose="020B0004020202020204" pitchFamily="34" charset="0"/>
              </a:rPr>
              <a:t>Contraception</a:t>
            </a:r>
          </a:p>
          <a:p>
            <a:pPr marL="800100" lvl="1" indent="-342900">
              <a:buFont typeface="Arial" panose="020B0604020202020204" pitchFamily="34" charset="0"/>
              <a:buChar char="•"/>
            </a:pPr>
            <a:r>
              <a:rPr lang="fr-FR" sz="2000" dirty="0">
                <a:latin typeface="Aptos" panose="020B0004020202020204" pitchFamily="34" charset="0"/>
              </a:rPr>
              <a:t>Santé mentale</a:t>
            </a:r>
          </a:p>
          <a:p>
            <a:pPr marL="800100" lvl="1" indent="-342900">
              <a:buFont typeface="Arial" panose="020B0604020202020204" pitchFamily="34" charset="0"/>
              <a:buChar char="•"/>
            </a:pPr>
            <a:r>
              <a:rPr lang="fr-FR" sz="2000" dirty="0">
                <a:latin typeface="Aptos" panose="020B0004020202020204" pitchFamily="34" charset="0"/>
              </a:rPr>
              <a:t>Maladies sexuellement transmissibles</a:t>
            </a:r>
          </a:p>
        </p:txBody>
      </p:sp>
    </p:spTree>
    <p:extLst>
      <p:ext uri="{BB962C8B-B14F-4D97-AF65-F5344CB8AC3E}">
        <p14:creationId xmlns:p14="http://schemas.microsoft.com/office/powerpoint/2010/main" val="3386857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Mesurer la qualité de l’accueil</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6544229" cy="3477875"/>
          </a:xfrm>
          <a:prstGeom prst="rect">
            <a:avLst/>
          </a:prstGeom>
          <a:noFill/>
        </p:spPr>
        <p:txBody>
          <a:bodyPr wrap="square">
            <a:spAutoFit/>
          </a:bodyPr>
          <a:lstStyle/>
          <a:p>
            <a:r>
              <a:rPr lang="fr-FR" sz="2000" b="1" dirty="0">
                <a:latin typeface="Aptos" panose="020B0004020202020204" pitchFamily="34" charset="0"/>
              </a:rPr>
              <a:t>Indicateurs :</a:t>
            </a:r>
          </a:p>
          <a:p>
            <a:pPr marL="800100" lvl="1" indent="-342900">
              <a:buFont typeface="Arial" panose="020B0604020202020204" pitchFamily="34" charset="0"/>
              <a:buChar char="•"/>
            </a:pPr>
            <a:r>
              <a:rPr lang="fr-FR" sz="2000" dirty="0">
                <a:latin typeface="Aptos" panose="020B0004020202020204" pitchFamily="34" charset="0"/>
              </a:rPr>
              <a:t>Discrétion</a:t>
            </a:r>
          </a:p>
          <a:p>
            <a:pPr marL="800100" lvl="1" indent="-342900">
              <a:buFont typeface="Arial" panose="020B0604020202020204" pitchFamily="34" charset="0"/>
              <a:buChar char="•"/>
            </a:pPr>
            <a:r>
              <a:rPr lang="fr-FR" sz="2000" dirty="0">
                <a:latin typeface="Aptos" panose="020B0004020202020204" pitchFamily="34" charset="0"/>
              </a:rPr>
              <a:t>Respect</a:t>
            </a:r>
          </a:p>
          <a:p>
            <a:pPr marL="800100" lvl="1" indent="-342900">
              <a:buFont typeface="Arial" panose="020B0604020202020204" pitchFamily="34" charset="0"/>
              <a:buChar char="•"/>
            </a:pPr>
            <a:r>
              <a:rPr lang="fr-FR" sz="2000" dirty="0">
                <a:latin typeface="Aptos" panose="020B0004020202020204" pitchFamily="34" charset="0"/>
              </a:rPr>
              <a:t>Confidentialité</a:t>
            </a:r>
          </a:p>
          <a:p>
            <a:pPr marL="800100" lvl="1" indent="-342900">
              <a:buFont typeface="Arial" panose="020B0604020202020204" pitchFamily="34" charset="0"/>
              <a:buChar char="•"/>
            </a:pPr>
            <a:r>
              <a:rPr lang="fr-FR" sz="2000" dirty="0">
                <a:latin typeface="Aptos" panose="020B0004020202020204" pitchFamily="34" charset="0"/>
              </a:rPr>
              <a:t>Dignité</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Situations sensibles</a:t>
            </a:r>
          </a:p>
          <a:p>
            <a:pPr marL="800100" lvl="1" indent="-342900">
              <a:buFont typeface="Arial" panose="020B0604020202020204" pitchFamily="34" charset="0"/>
              <a:buChar char="•"/>
            </a:pPr>
            <a:r>
              <a:rPr lang="fr-FR" sz="2000" dirty="0">
                <a:latin typeface="Aptos" panose="020B0004020202020204" pitchFamily="34" charset="0"/>
              </a:rPr>
              <a:t>VIH</a:t>
            </a:r>
          </a:p>
          <a:p>
            <a:pPr marL="800100" lvl="1" indent="-342900">
              <a:buFont typeface="Arial" panose="020B0604020202020204" pitchFamily="34" charset="0"/>
              <a:buChar char="•"/>
            </a:pPr>
            <a:r>
              <a:rPr lang="fr-FR" sz="2000" dirty="0">
                <a:latin typeface="Aptos" panose="020B0004020202020204" pitchFamily="34" charset="0"/>
              </a:rPr>
              <a:t>Contraception</a:t>
            </a:r>
          </a:p>
          <a:p>
            <a:pPr marL="800100" lvl="1" indent="-342900">
              <a:buFont typeface="Arial" panose="020B0604020202020204" pitchFamily="34" charset="0"/>
              <a:buChar char="•"/>
            </a:pPr>
            <a:r>
              <a:rPr lang="fr-FR" sz="2000" dirty="0">
                <a:latin typeface="Aptos" panose="020B0004020202020204" pitchFamily="34" charset="0"/>
              </a:rPr>
              <a:t>Santé mentale</a:t>
            </a:r>
          </a:p>
          <a:p>
            <a:pPr marL="800100" lvl="1" indent="-342900">
              <a:buFont typeface="Arial" panose="020B0604020202020204" pitchFamily="34" charset="0"/>
              <a:buChar char="•"/>
            </a:pPr>
            <a:r>
              <a:rPr lang="fr-FR" sz="2000" dirty="0">
                <a:latin typeface="Aptos" panose="020B0004020202020204" pitchFamily="34" charset="0"/>
              </a:rPr>
              <a:t>Maladies sexuellement transmissibles</a:t>
            </a:r>
          </a:p>
        </p:txBody>
      </p:sp>
    </p:spTree>
    <p:extLst>
      <p:ext uri="{BB962C8B-B14F-4D97-AF65-F5344CB8AC3E}">
        <p14:creationId xmlns:p14="http://schemas.microsoft.com/office/powerpoint/2010/main" val="3167014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Techniques d'accueil et de communication avec le patient</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Message clé à retenir</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0775571" cy="3785652"/>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Un excellent pharmacien ne se distingue pas uniquement par ses connaissances scientifiques.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Il se distingue également par sa capacité à :</a:t>
            </a:r>
          </a:p>
          <a:p>
            <a:pPr marL="800100" lvl="1" indent="-342900">
              <a:buFont typeface="Courier New" panose="02070309020205020404" pitchFamily="49" charset="0"/>
              <a:buChar char="o"/>
            </a:pPr>
            <a:r>
              <a:rPr lang="fr-FR" sz="2000" dirty="0">
                <a:latin typeface="Aptos" panose="020B0004020202020204" pitchFamily="34" charset="0"/>
              </a:rPr>
              <a:t>écouter, </a:t>
            </a:r>
          </a:p>
          <a:p>
            <a:pPr marL="800100" lvl="1" indent="-342900">
              <a:buFont typeface="Courier New" panose="02070309020205020404" pitchFamily="49" charset="0"/>
              <a:buChar char="o"/>
            </a:pPr>
            <a:r>
              <a:rPr lang="fr-FR" sz="2000" dirty="0">
                <a:latin typeface="Aptos" panose="020B0004020202020204" pitchFamily="34" charset="0"/>
              </a:rPr>
              <a:t>comprendre, </a:t>
            </a:r>
          </a:p>
          <a:p>
            <a:pPr marL="800100" lvl="1" indent="-342900">
              <a:buFont typeface="Courier New" panose="02070309020205020404" pitchFamily="49" charset="0"/>
              <a:buChar char="o"/>
            </a:pPr>
            <a:r>
              <a:rPr lang="fr-FR" sz="2000" dirty="0">
                <a:latin typeface="Aptos" panose="020B0004020202020204" pitchFamily="34" charset="0"/>
              </a:rPr>
              <a:t>rassurer, </a:t>
            </a:r>
          </a:p>
          <a:p>
            <a:pPr marL="800100" lvl="1" indent="-342900">
              <a:buFont typeface="Courier New" panose="02070309020205020404" pitchFamily="49" charset="0"/>
              <a:buChar char="o"/>
            </a:pPr>
            <a:r>
              <a:rPr lang="fr-FR" sz="2000" dirty="0">
                <a:latin typeface="Aptos" panose="020B0004020202020204" pitchFamily="34" charset="0"/>
              </a:rPr>
              <a:t>expliquer et </a:t>
            </a:r>
          </a:p>
          <a:p>
            <a:pPr marL="800100" lvl="1" indent="-342900">
              <a:buFont typeface="Courier New" panose="02070309020205020404" pitchFamily="49" charset="0"/>
              <a:buChar char="o"/>
            </a:pPr>
            <a:r>
              <a:rPr lang="fr-FR" sz="2000" dirty="0">
                <a:latin typeface="Aptos" panose="020B0004020202020204" pitchFamily="34" charset="0"/>
              </a:rPr>
              <a:t>accompagner chaque patient.</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La qualité de la communication constitue souvent le facteur le plus déterminant de la confiance et de la fidélisation en officine.</a:t>
            </a:r>
          </a:p>
        </p:txBody>
      </p:sp>
    </p:spTree>
    <p:extLst>
      <p:ext uri="{BB962C8B-B14F-4D97-AF65-F5344CB8AC3E}">
        <p14:creationId xmlns:p14="http://schemas.microsoft.com/office/powerpoint/2010/main" val="260893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Conseil pharmaceutique : médicaments OTC et prescription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0775571" cy="2862322"/>
          </a:xfrm>
          <a:prstGeom prst="rect">
            <a:avLst/>
          </a:prstGeom>
          <a:noFill/>
        </p:spPr>
        <p:txBody>
          <a:bodyPr wrap="square">
            <a:spAutoFit/>
          </a:bodyPr>
          <a:lstStyle/>
          <a:p>
            <a:r>
              <a:rPr lang="fr-FR" sz="2000" dirty="0">
                <a:latin typeface="Aptos" panose="020B0004020202020204" pitchFamily="34" charset="0"/>
              </a:rPr>
              <a:t>À l’issue de ce sous-module, le participant sera capable de :</a:t>
            </a:r>
          </a:p>
          <a:p>
            <a:pPr marL="342900" indent="-342900">
              <a:buFont typeface="Arial" panose="020B0604020202020204" pitchFamily="34" charset="0"/>
              <a:buChar char="•"/>
            </a:pPr>
            <a:r>
              <a:rPr lang="fr-FR" sz="2000" dirty="0">
                <a:latin typeface="Aptos" panose="020B0004020202020204" pitchFamily="34" charset="0"/>
              </a:rPr>
              <a:t>Réaliser un entretien pharmaceutique structuré ;</a:t>
            </a:r>
          </a:p>
          <a:p>
            <a:pPr marL="342900" indent="-342900">
              <a:buFont typeface="Arial" panose="020B0604020202020204" pitchFamily="34" charset="0"/>
              <a:buChar char="•"/>
            </a:pPr>
            <a:r>
              <a:rPr lang="fr-FR" sz="2000" dirty="0">
                <a:latin typeface="Aptos" panose="020B0004020202020204" pitchFamily="34" charset="0"/>
              </a:rPr>
              <a:t>Fournir un conseil pharmaceutique adapté ;</a:t>
            </a:r>
          </a:p>
          <a:p>
            <a:pPr marL="342900" indent="-342900">
              <a:buFont typeface="Arial" panose="020B0604020202020204" pitchFamily="34" charset="0"/>
              <a:buChar char="•"/>
            </a:pPr>
            <a:r>
              <a:rPr lang="fr-FR" sz="2000" dirty="0">
                <a:latin typeface="Aptos" panose="020B0004020202020204" pitchFamily="34" charset="0"/>
              </a:rPr>
              <a:t>Assurer une dispensation sécurisée ;</a:t>
            </a:r>
          </a:p>
          <a:p>
            <a:pPr marL="342900" indent="-342900">
              <a:buFont typeface="Arial" panose="020B0604020202020204" pitchFamily="34" charset="0"/>
              <a:buChar char="•"/>
            </a:pPr>
            <a:r>
              <a:rPr lang="fr-FR" sz="2000" dirty="0">
                <a:latin typeface="Aptos" panose="020B0004020202020204" pitchFamily="34" charset="0"/>
              </a:rPr>
              <a:t>Identifier les situations pouvant être prises en charge à l'officine ;</a:t>
            </a:r>
          </a:p>
          <a:p>
            <a:pPr marL="342900" indent="-342900">
              <a:buFont typeface="Arial" panose="020B0604020202020204" pitchFamily="34" charset="0"/>
              <a:buChar char="•"/>
            </a:pPr>
            <a:r>
              <a:rPr lang="fr-FR" sz="2000" dirty="0">
                <a:latin typeface="Aptos" panose="020B0004020202020204" pitchFamily="34" charset="0"/>
              </a:rPr>
              <a:t>Détecter les situations nécessitant une référence médicale ;</a:t>
            </a:r>
          </a:p>
          <a:p>
            <a:pPr marL="342900" indent="-342900">
              <a:buFont typeface="Arial" panose="020B0604020202020204" pitchFamily="34" charset="0"/>
              <a:buChar char="•"/>
            </a:pPr>
            <a:r>
              <a:rPr lang="fr-FR" sz="2000" dirty="0">
                <a:latin typeface="Aptos" panose="020B0004020202020204" pitchFamily="34" charset="0"/>
              </a:rPr>
              <a:t>Analyser une prescription médicale ;</a:t>
            </a:r>
          </a:p>
          <a:p>
            <a:pPr marL="342900" indent="-342900">
              <a:buFont typeface="Arial" panose="020B0604020202020204" pitchFamily="34" charset="0"/>
              <a:buChar char="•"/>
            </a:pPr>
            <a:r>
              <a:rPr lang="fr-FR" sz="2000" dirty="0">
                <a:latin typeface="Aptos" panose="020B0004020202020204" pitchFamily="34" charset="0"/>
              </a:rPr>
              <a:t>Prévenir les erreurs médicamenteuses ;</a:t>
            </a:r>
          </a:p>
          <a:p>
            <a:pPr marL="342900" indent="-342900">
              <a:buFont typeface="Arial" panose="020B0604020202020204" pitchFamily="34" charset="0"/>
              <a:buChar char="•"/>
            </a:pPr>
            <a:r>
              <a:rPr lang="fr-FR" sz="2000" dirty="0">
                <a:latin typeface="Aptos" panose="020B0004020202020204" pitchFamily="34" charset="0"/>
              </a:rPr>
              <a:t>Renforcer l'observance thérapeutique.</a:t>
            </a:r>
          </a:p>
        </p:txBody>
      </p:sp>
    </p:spTree>
    <p:extLst>
      <p:ext uri="{BB962C8B-B14F-4D97-AF65-F5344CB8AC3E}">
        <p14:creationId xmlns:p14="http://schemas.microsoft.com/office/powerpoint/2010/main" val="496971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Conseil pharmaceutique : médicaments OTC et prescription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0775571" cy="3477875"/>
          </a:xfrm>
          <a:prstGeom prst="rect">
            <a:avLst/>
          </a:prstGeom>
          <a:noFill/>
        </p:spPr>
        <p:txBody>
          <a:bodyPr wrap="square">
            <a:spAutoFit/>
          </a:bodyPr>
          <a:lstStyle/>
          <a:p>
            <a:r>
              <a:rPr lang="fr-FR" sz="2000" dirty="0">
                <a:latin typeface="Aptos" panose="020B0004020202020204" pitchFamily="34" charset="0"/>
              </a:rPr>
              <a:t>Le conseil pharmaceutique est un acte professionnel.</a:t>
            </a:r>
          </a:p>
          <a:p>
            <a:r>
              <a:rPr lang="fr-FR" sz="2000" dirty="0">
                <a:latin typeface="Aptos" panose="020B0004020202020204" pitchFamily="34" charset="0"/>
              </a:rPr>
              <a:t>Il ne consiste pas simplement à remettre un médicament.</a:t>
            </a:r>
          </a:p>
          <a:p>
            <a:endParaRPr lang="fr-FR" sz="2000" dirty="0">
              <a:latin typeface="Aptos" panose="020B0004020202020204" pitchFamily="34" charset="0"/>
            </a:endParaRPr>
          </a:p>
          <a:p>
            <a:r>
              <a:rPr lang="fr-FR" sz="2000" dirty="0">
                <a:latin typeface="Aptos" panose="020B0004020202020204" pitchFamily="34" charset="0"/>
              </a:rPr>
              <a:t>Il implique :</a:t>
            </a:r>
          </a:p>
          <a:p>
            <a:pPr marL="800100" lvl="1" indent="-342900">
              <a:buFont typeface="Arial" panose="020B0604020202020204" pitchFamily="34" charset="0"/>
              <a:buChar char="•"/>
            </a:pPr>
            <a:r>
              <a:rPr lang="fr-FR" sz="2000" dirty="0">
                <a:latin typeface="Aptos" panose="020B0004020202020204" pitchFamily="34" charset="0"/>
              </a:rPr>
              <a:t>L'analyse de la situation du patient ;</a:t>
            </a:r>
          </a:p>
          <a:p>
            <a:pPr marL="800100" lvl="1" indent="-342900">
              <a:buFont typeface="Arial" panose="020B0604020202020204" pitchFamily="34" charset="0"/>
              <a:buChar char="•"/>
            </a:pPr>
            <a:r>
              <a:rPr lang="fr-FR" sz="2000" dirty="0">
                <a:latin typeface="Aptos" panose="020B0004020202020204" pitchFamily="34" charset="0"/>
              </a:rPr>
              <a:t>L'évaluation des risques ;</a:t>
            </a:r>
          </a:p>
          <a:p>
            <a:pPr marL="800100" lvl="1" indent="-342900">
              <a:buFont typeface="Arial" panose="020B0604020202020204" pitchFamily="34" charset="0"/>
              <a:buChar char="•"/>
            </a:pPr>
            <a:r>
              <a:rPr lang="fr-FR" sz="2000" dirty="0">
                <a:latin typeface="Aptos" panose="020B0004020202020204" pitchFamily="34" charset="0"/>
              </a:rPr>
              <a:t>Le choix d'une conduite adaptée ;</a:t>
            </a:r>
          </a:p>
          <a:p>
            <a:pPr marL="800100" lvl="1" indent="-342900">
              <a:buFont typeface="Arial" panose="020B0604020202020204" pitchFamily="34" charset="0"/>
              <a:buChar char="•"/>
            </a:pPr>
            <a:r>
              <a:rPr lang="fr-FR" sz="2000" dirty="0">
                <a:latin typeface="Aptos" panose="020B0004020202020204" pitchFamily="34" charset="0"/>
              </a:rPr>
              <a:t>L'éducation thérapeutique.</a:t>
            </a:r>
          </a:p>
          <a:p>
            <a:endParaRPr lang="fr-FR" sz="2000" dirty="0">
              <a:latin typeface="Aptos" panose="020B0004020202020204" pitchFamily="34" charset="0"/>
            </a:endParaRPr>
          </a:p>
          <a:p>
            <a:r>
              <a:rPr lang="fr-FR" sz="2000" dirty="0">
                <a:latin typeface="Aptos" panose="020B0004020202020204" pitchFamily="34" charset="0"/>
              </a:rPr>
              <a:t>Le pharmacien doit toujours se poser la question :« Ce patient peut-il être pris en charge à l'officine ou doit-il être orienté vers un médecin ou un établissement de santé ? »</a:t>
            </a:r>
          </a:p>
        </p:txBody>
      </p:sp>
    </p:spTree>
    <p:extLst>
      <p:ext uri="{BB962C8B-B14F-4D97-AF65-F5344CB8AC3E}">
        <p14:creationId xmlns:p14="http://schemas.microsoft.com/office/powerpoint/2010/main" val="3646958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Conseil pharmaceutique : médicaments OTC et prescription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conseil pharmaceutique : définition et enjeux</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0775571" cy="3170099"/>
          </a:xfrm>
          <a:prstGeom prst="rect">
            <a:avLst/>
          </a:prstGeom>
          <a:noFill/>
        </p:spPr>
        <p:txBody>
          <a:bodyPr wrap="square">
            <a:spAutoFit/>
          </a:bodyPr>
          <a:lstStyle/>
          <a:p>
            <a:r>
              <a:rPr lang="fr-FR" sz="2000" b="1" dirty="0">
                <a:latin typeface="Aptos" panose="020B0004020202020204" pitchFamily="34" charset="0"/>
              </a:rPr>
              <a:t>Définition</a:t>
            </a:r>
          </a:p>
          <a:p>
            <a:r>
              <a:rPr lang="fr-FR" sz="2000" dirty="0">
                <a:latin typeface="Aptos" panose="020B0004020202020204" pitchFamily="34" charset="0"/>
              </a:rPr>
              <a:t>Le conseil pharmaceutique est l'ensemble des recommandations fournies au patient afin d'assurer un usage sûr, efficace et approprié des médicaments.</a:t>
            </a:r>
          </a:p>
          <a:p>
            <a:endParaRPr lang="fr-FR" sz="2000" dirty="0">
              <a:latin typeface="Aptos" panose="020B0004020202020204" pitchFamily="34" charset="0"/>
            </a:endParaRPr>
          </a:p>
          <a:p>
            <a:r>
              <a:rPr lang="fr-FR" sz="2000" b="1" dirty="0">
                <a:latin typeface="Aptos" panose="020B0004020202020204" pitchFamily="34" charset="0"/>
              </a:rPr>
              <a:t>Objectifs</a:t>
            </a:r>
          </a:p>
          <a:p>
            <a:pPr marL="800100" lvl="1" indent="-342900">
              <a:buFont typeface="Arial" panose="020B0604020202020204" pitchFamily="34" charset="0"/>
              <a:buChar char="•"/>
            </a:pPr>
            <a:r>
              <a:rPr lang="fr-FR" sz="2000" dirty="0">
                <a:latin typeface="Aptos" panose="020B0004020202020204" pitchFamily="34" charset="0"/>
              </a:rPr>
              <a:t>Soulager les symptômes</a:t>
            </a:r>
          </a:p>
          <a:p>
            <a:pPr marL="800100" lvl="1" indent="-342900">
              <a:buFont typeface="Arial" panose="020B0604020202020204" pitchFamily="34" charset="0"/>
              <a:buChar char="•"/>
            </a:pPr>
            <a:r>
              <a:rPr lang="fr-FR" sz="2000" dirty="0">
                <a:latin typeface="Aptos" panose="020B0004020202020204" pitchFamily="34" charset="0"/>
              </a:rPr>
              <a:t>Prévenir les complications</a:t>
            </a:r>
          </a:p>
          <a:p>
            <a:pPr marL="800100" lvl="1" indent="-342900">
              <a:buFont typeface="Arial" panose="020B0604020202020204" pitchFamily="34" charset="0"/>
              <a:buChar char="•"/>
            </a:pPr>
            <a:r>
              <a:rPr lang="fr-FR" sz="2000" dirty="0">
                <a:latin typeface="Aptos" panose="020B0004020202020204" pitchFamily="34" charset="0"/>
              </a:rPr>
              <a:t>Favoriser l'observance</a:t>
            </a:r>
          </a:p>
          <a:p>
            <a:pPr marL="800100" lvl="1" indent="-342900">
              <a:buFont typeface="Arial" panose="020B0604020202020204" pitchFamily="34" charset="0"/>
              <a:buChar char="•"/>
            </a:pPr>
            <a:r>
              <a:rPr lang="fr-FR" sz="2000" dirty="0">
                <a:latin typeface="Aptos" panose="020B0004020202020204" pitchFamily="34" charset="0"/>
              </a:rPr>
              <a:t>Réduire les risques médicamenteux</a:t>
            </a:r>
          </a:p>
          <a:p>
            <a:pPr marL="800100" lvl="1" indent="-342900">
              <a:buFont typeface="Arial" panose="020B0604020202020204" pitchFamily="34" charset="0"/>
              <a:buChar char="•"/>
            </a:pPr>
            <a:r>
              <a:rPr lang="fr-FR" sz="2000" dirty="0">
                <a:latin typeface="Aptos" panose="020B0004020202020204" pitchFamily="34" charset="0"/>
              </a:rPr>
              <a:t>Orienter si nécessaire</a:t>
            </a:r>
          </a:p>
        </p:txBody>
      </p:sp>
    </p:spTree>
    <p:extLst>
      <p:ext uri="{BB962C8B-B14F-4D97-AF65-F5344CB8AC3E}">
        <p14:creationId xmlns:p14="http://schemas.microsoft.com/office/powerpoint/2010/main" val="256853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Conseil pharmaceutique : médicaments OTC et prescription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conseil pharmaceutique : définition et enjeux</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0775571" cy="2862322"/>
          </a:xfrm>
          <a:prstGeom prst="rect">
            <a:avLst/>
          </a:prstGeom>
          <a:noFill/>
        </p:spPr>
        <p:txBody>
          <a:bodyPr wrap="square">
            <a:spAutoFit/>
          </a:bodyPr>
          <a:lstStyle/>
          <a:p>
            <a:r>
              <a:rPr lang="fr-FR" sz="2000" b="1" dirty="0">
                <a:latin typeface="Aptos" panose="020B0004020202020204" pitchFamily="34" charset="0"/>
              </a:rPr>
              <a:t>Contexte africain</a:t>
            </a:r>
          </a:p>
          <a:p>
            <a:pPr marL="800100" lvl="1" indent="-342900">
              <a:buFont typeface="Arial" panose="020B0604020202020204" pitchFamily="34" charset="0"/>
              <a:buChar char="•"/>
            </a:pPr>
            <a:r>
              <a:rPr lang="fr-FR" sz="2000" dirty="0">
                <a:latin typeface="Aptos" panose="020B0004020202020204" pitchFamily="34" charset="0"/>
              </a:rPr>
              <a:t>Dans de nombreux pays africains, l'officine est souvent le premier point de contact avec le système de santé.</a:t>
            </a:r>
          </a:p>
          <a:p>
            <a:endParaRPr lang="fr-FR" sz="2000" dirty="0">
              <a:latin typeface="Aptos" panose="020B0004020202020204" pitchFamily="34" charset="0"/>
            </a:endParaRPr>
          </a:p>
          <a:p>
            <a:pPr marL="800100" lvl="1" indent="-342900">
              <a:buFont typeface="Arial" panose="020B0604020202020204" pitchFamily="34" charset="0"/>
              <a:buChar char="•"/>
            </a:pPr>
            <a:r>
              <a:rPr lang="fr-FR" sz="2000" b="1" dirty="0">
                <a:latin typeface="Aptos" panose="020B0004020202020204" pitchFamily="34" charset="0"/>
              </a:rPr>
              <a:t>Le pharmacien joue ainsi un rôle essentiel dans :</a:t>
            </a:r>
          </a:p>
          <a:p>
            <a:pPr marL="1257300" lvl="2" indent="-342900">
              <a:buFont typeface="Courier New" panose="02070309020205020404" pitchFamily="49" charset="0"/>
              <a:buChar char="o"/>
            </a:pPr>
            <a:r>
              <a:rPr lang="fr-FR" sz="2000" dirty="0">
                <a:latin typeface="Aptos" panose="020B0004020202020204" pitchFamily="34" charset="0"/>
              </a:rPr>
              <a:t>Le triage des patients ;</a:t>
            </a:r>
          </a:p>
          <a:p>
            <a:pPr marL="1257300" lvl="2" indent="-342900">
              <a:buFont typeface="Courier New" panose="02070309020205020404" pitchFamily="49" charset="0"/>
              <a:buChar char="o"/>
            </a:pPr>
            <a:r>
              <a:rPr lang="fr-FR" sz="2000" dirty="0">
                <a:latin typeface="Aptos" panose="020B0004020202020204" pitchFamily="34" charset="0"/>
              </a:rPr>
              <a:t>L'automédication responsable ;</a:t>
            </a:r>
          </a:p>
          <a:p>
            <a:pPr marL="1257300" lvl="2" indent="-342900">
              <a:buFont typeface="Courier New" panose="02070309020205020404" pitchFamily="49" charset="0"/>
              <a:buChar char="o"/>
            </a:pPr>
            <a:r>
              <a:rPr lang="fr-FR" sz="2000" dirty="0">
                <a:latin typeface="Aptos" panose="020B0004020202020204" pitchFamily="34" charset="0"/>
              </a:rPr>
              <a:t>L'éducation sanitaire ;</a:t>
            </a:r>
          </a:p>
          <a:p>
            <a:pPr marL="1257300" lvl="2" indent="-342900">
              <a:buFont typeface="Courier New" panose="02070309020205020404" pitchFamily="49" charset="0"/>
              <a:buChar char="o"/>
            </a:pPr>
            <a:r>
              <a:rPr lang="fr-FR" sz="2000" dirty="0">
                <a:latin typeface="Aptos" panose="020B0004020202020204" pitchFamily="34" charset="0"/>
              </a:rPr>
              <a:t>La prévention.</a:t>
            </a:r>
          </a:p>
        </p:txBody>
      </p:sp>
    </p:spTree>
    <p:extLst>
      <p:ext uri="{BB962C8B-B14F-4D97-AF65-F5344CB8AC3E}">
        <p14:creationId xmlns:p14="http://schemas.microsoft.com/office/powerpoint/2010/main" val="2324965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Conseil pharmaceutique : médicaments OTC et prescription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La méthode d’entretien pharmaceutique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0775571" cy="2246769"/>
          </a:xfrm>
          <a:prstGeom prst="rect">
            <a:avLst/>
          </a:prstGeom>
          <a:noFill/>
        </p:spPr>
        <p:txBody>
          <a:bodyPr wrap="square">
            <a:spAutoFit/>
          </a:bodyPr>
          <a:lstStyle/>
          <a:p>
            <a:r>
              <a:rPr lang="fr-FR" sz="2000" b="1" dirty="0">
                <a:latin typeface="Aptos" panose="020B0004020202020204" pitchFamily="34" charset="0"/>
              </a:rPr>
              <a:t>Méthode QQOQCCP adaptée à l’officine</a:t>
            </a:r>
          </a:p>
          <a:p>
            <a:pPr marL="800100" lvl="1" indent="-342900">
              <a:buFont typeface="Arial" panose="020B0604020202020204" pitchFamily="34" charset="0"/>
              <a:buChar char="•"/>
            </a:pPr>
            <a:r>
              <a:rPr lang="fr-FR" sz="2000" dirty="0">
                <a:latin typeface="Aptos" panose="020B0004020202020204" pitchFamily="34" charset="0"/>
              </a:rPr>
              <a:t>Qui est concerné ?</a:t>
            </a:r>
          </a:p>
          <a:p>
            <a:pPr marL="800100" lvl="1" indent="-342900">
              <a:buFont typeface="Arial" panose="020B0604020202020204" pitchFamily="34" charset="0"/>
              <a:buChar char="•"/>
            </a:pPr>
            <a:r>
              <a:rPr lang="fr-FR" sz="2000" dirty="0">
                <a:latin typeface="Aptos" panose="020B0004020202020204" pitchFamily="34" charset="0"/>
              </a:rPr>
              <a:t>Quoi ?</a:t>
            </a:r>
          </a:p>
          <a:p>
            <a:pPr marL="800100" lvl="1" indent="-342900">
              <a:buFont typeface="Arial" panose="020B0604020202020204" pitchFamily="34" charset="0"/>
              <a:buChar char="•"/>
            </a:pPr>
            <a:r>
              <a:rPr lang="fr-FR" sz="2000" dirty="0">
                <a:latin typeface="Aptos" panose="020B0004020202020204" pitchFamily="34" charset="0"/>
              </a:rPr>
              <a:t>Depuis quand ?</a:t>
            </a:r>
          </a:p>
          <a:p>
            <a:pPr marL="800100" lvl="1" indent="-342900">
              <a:buFont typeface="Arial" panose="020B0604020202020204" pitchFamily="34" charset="0"/>
              <a:buChar char="•"/>
            </a:pPr>
            <a:r>
              <a:rPr lang="fr-FR" sz="2000" dirty="0">
                <a:latin typeface="Aptos" panose="020B0004020202020204" pitchFamily="34" charset="0"/>
              </a:rPr>
              <a:t>Où ?</a:t>
            </a:r>
          </a:p>
          <a:p>
            <a:pPr marL="800100" lvl="1" indent="-342900">
              <a:buFont typeface="Arial" panose="020B0604020202020204" pitchFamily="34" charset="0"/>
              <a:buChar char="•"/>
            </a:pPr>
            <a:r>
              <a:rPr lang="fr-FR" sz="2000" dirty="0">
                <a:latin typeface="Aptos" panose="020B0004020202020204" pitchFamily="34" charset="0"/>
              </a:rPr>
              <a:t>Comment ?</a:t>
            </a:r>
          </a:p>
          <a:p>
            <a:pPr marL="800100" lvl="1" indent="-342900">
              <a:buFont typeface="Arial" panose="020B0604020202020204" pitchFamily="34" charset="0"/>
              <a:buChar char="•"/>
            </a:pPr>
            <a:r>
              <a:rPr lang="fr-FR" sz="2000" dirty="0">
                <a:latin typeface="Aptos" panose="020B0004020202020204" pitchFamily="34" charset="0"/>
              </a:rPr>
              <a:t>Contexte Particulier ?</a:t>
            </a:r>
          </a:p>
        </p:txBody>
      </p:sp>
    </p:spTree>
    <p:extLst>
      <p:ext uri="{BB962C8B-B14F-4D97-AF65-F5344CB8AC3E}">
        <p14:creationId xmlns:p14="http://schemas.microsoft.com/office/powerpoint/2010/main" val="3642653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Conseil pharmaceutique : médicaments OTC et prescription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médicaments OTC</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0775571" cy="2862322"/>
          </a:xfrm>
          <a:prstGeom prst="rect">
            <a:avLst/>
          </a:prstGeom>
          <a:noFill/>
        </p:spPr>
        <p:txBody>
          <a:bodyPr wrap="square">
            <a:spAutoFit/>
          </a:bodyPr>
          <a:lstStyle/>
          <a:p>
            <a:r>
              <a:rPr lang="fr-FR" sz="2000" b="1" dirty="0">
                <a:latin typeface="Aptos" panose="020B0004020202020204" pitchFamily="34" charset="0"/>
              </a:rPr>
              <a:t>Définition OTC (Over The Counter) </a:t>
            </a:r>
            <a:r>
              <a:rPr lang="fr-FR" sz="2000" dirty="0">
                <a:latin typeface="Aptos" panose="020B0004020202020204" pitchFamily="34" charset="0"/>
              </a:rPr>
              <a:t>: Médicaments pouvant être délivrés sans prescription lorsque la réglementation nationale le permet.</a:t>
            </a:r>
          </a:p>
          <a:p>
            <a:endParaRPr lang="fr-FR" sz="2000" dirty="0">
              <a:latin typeface="Aptos" panose="020B0004020202020204" pitchFamily="34" charset="0"/>
            </a:endParaRPr>
          </a:p>
          <a:p>
            <a:r>
              <a:rPr lang="fr-FR" sz="2000" b="1" dirty="0">
                <a:latin typeface="Aptos" panose="020B0004020202020204" pitchFamily="34" charset="0"/>
              </a:rPr>
              <a:t>Conditions du conseil OTC : </a:t>
            </a:r>
          </a:p>
          <a:p>
            <a:r>
              <a:rPr lang="fr-FR" sz="2000" dirty="0">
                <a:latin typeface="Aptos" panose="020B0004020202020204" pitchFamily="34" charset="0"/>
              </a:rPr>
              <a:t>Le pharmacien doit s'assurer que :</a:t>
            </a:r>
          </a:p>
          <a:p>
            <a:pPr marL="800100" lvl="1" indent="-342900">
              <a:buFont typeface="Arial" panose="020B0604020202020204" pitchFamily="34" charset="0"/>
              <a:buChar char="•"/>
            </a:pPr>
            <a:r>
              <a:rPr lang="fr-FR" sz="2000" dirty="0">
                <a:latin typeface="Aptos" panose="020B0004020202020204" pitchFamily="34" charset="0"/>
              </a:rPr>
              <a:t>Le problème est mineur ;</a:t>
            </a:r>
          </a:p>
          <a:p>
            <a:pPr marL="800100" lvl="1" indent="-342900">
              <a:buFont typeface="Arial" panose="020B0604020202020204" pitchFamily="34" charset="0"/>
              <a:buChar char="•"/>
            </a:pPr>
            <a:r>
              <a:rPr lang="fr-FR" sz="2000" dirty="0">
                <a:latin typeface="Aptos" panose="020B0004020202020204" pitchFamily="34" charset="0"/>
              </a:rPr>
              <a:t>Le traitement est approprié ;</a:t>
            </a:r>
          </a:p>
          <a:p>
            <a:pPr marL="800100" lvl="1" indent="-342900">
              <a:buFont typeface="Arial" panose="020B0604020202020204" pitchFamily="34" charset="0"/>
              <a:buChar char="•"/>
            </a:pPr>
            <a:r>
              <a:rPr lang="fr-FR" sz="2000" dirty="0">
                <a:latin typeface="Aptos" panose="020B0004020202020204" pitchFamily="34" charset="0"/>
              </a:rPr>
              <a:t>Aucun signe de gravité n'est présent ;</a:t>
            </a:r>
          </a:p>
          <a:p>
            <a:pPr marL="800100" lvl="1" indent="-342900">
              <a:buFont typeface="Arial" panose="020B0604020202020204" pitchFamily="34" charset="0"/>
              <a:buChar char="•"/>
            </a:pPr>
            <a:r>
              <a:rPr lang="fr-FR" sz="2000" dirty="0">
                <a:latin typeface="Aptos" panose="020B0004020202020204" pitchFamily="34" charset="0"/>
              </a:rPr>
              <a:t>Aucune contre-indication n'existe.</a:t>
            </a:r>
          </a:p>
        </p:txBody>
      </p:sp>
    </p:spTree>
    <p:extLst>
      <p:ext uri="{BB962C8B-B14F-4D97-AF65-F5344CB8AC3E}">
        <p14:creationId xmlns:p14="http://schemas.microsoft.com/office/powerpoint/2010/main" val="719934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Conseil pharmaceutique : médicaments OTC et prescription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médicaments OTC</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0775571" cy="2554545"/>
          </a:xfrm>
          <a:prstGeom prst="rect">
            <a:avLst/>
          </a:prstGeom>
          <a:noFill/>
        </p:spPr>
        <p:txBody>
          <a:bodyPr wrap="square">
            <a:spAutoFit/>
          </a:bodyPr>
          <a:lstStyle/>
          <a:p>
            <a:r>
              <a:rPr lang="fr-FR" sz="2000" b="1" dirty="0">
                <a:latin typeface="Aptos" panose="020B0004020202020204" pitchFamily="34" charset="0"/>
              </a:rPr>
              <a:t>Situations courantes en officine</a:t>
            </a:r>
            <a:endParaRPr lang="fr-FR" sz="2000" dirty="0">
              <a:latin typeface="Aptos" panose="020B0004020202020204" pitchFamily="34" charset="0"/>
            </a:endParaRPr>
          </a:p>
          <a:p>
            <a:pPr marL="800100" lvl="1" indent="-342900">
              <a:buFont typeface="Arial" panose="020B0604020202020204" pitchFamily="34" charset="0"/>
              <a:buChar char="•"/>
            </a:pPr>
            <a:r>
              <a:rPr lang="fr-FR" sz="2000" dirty="0">
                <a:latin typeface="Aptos" panose="020B0004020202020204" pitchFamily="34" charset="0"/>
              </a:rPr>
              <a:t>Fièvre simple</a:t>
            </a:r>
          </a:p>
          <a:p>
            <a:pPr marL="800100" lvl="1" indent="-342900">
              <a:buFont typeface="Arial" panose="020B0604020202020204" pitchFamily="34" charset="0"/>
              <a:buChar char="•"/>
            </a:pPr>
            <a:r>
              <a:rPr lang="fr-FR" sz="2000" dirty="0">
                <a:latin typeface="Aptos" panose="020B0004020202020204" pitchFamily="34" charset="0"/>
              </a:rPr>
              <a:t>Douleurs légères</a:t>
            </a:r>
          </a:p>
          <a:p>
            <a:pPr marL="800100" lvl="1" indent="-342900">
              <a:buFont typeface="Arial" panose="020B0604020202020204" pitchFamily="34" charset="0"/>
              <a:buChar char="•"/>
            </a:pPr>
            <a:r>
              <a:rPr lang="fr-FR" sz="2000" dirty="0">
                <a:latin typeface="Aptos" panose="020B0004020202020204" pitchFamily="34" charset="0"/>
              </a:rPr>
              <a:t>Rhume</a:t>
            </a:r>
          </a:p>
          <a:p>
            <a:pPr marL="800100" lvl="1" indent="-342900">
              <a:buFont typeface="Arial" panose="020B0604020202020204" pitchFamily="34" charset="0"/>
              <a:buChar char="•"/>
            </a:pPr>
            <a:r>
              <a:rPr lang="fr-FR" sz="2000" dirty="0">
                <a:latin typeface="Aptos" panose="020B0004020202020204" pitchFamily="34" charset="0"/>
              </a:rPr>
              <a:t>Toux simple</a:t>
            </a:r>
          </a:p>
          <a:p>
            <a:pPr marL="800100" lvl="1" indent="-342900">
              <a:buFont typeface="Arial" panose="020B0604020202020204" pitchFamily="34" charset="0"/>
              <a:buChar char="•"/>
            </a:pPr>
            <a:r>
              <a:rPr lang="fr-FR" sz="2000" dirty="0">
                <a:latin typeface="Aptos" panose="020B0004020202020204" pitchFamily="34" charset="0"/>
              </a:rPr>
              <a:t>Troubles digestifs mineurs</a:t>
            </a:r>
          </a:p>
          <a:p>
            <a:pPr marL="800100" lvl="1" indent="-342900">
              <a:buFont typeface="Arial" panose="020B0604020202020204" pitchFamily="34" charset="0"/>
              <a:buChar char="•"/>
            </a:pPr>
            <a:r>
              <a:rPr lang="fr-FR" sz="2000" dirty="0">
                <a:latin typeface="Aptos" panose="020B0004020202020204" pitchFamily="34" charset="0"/>
              </a:rPr>
              <a:t>Dermatoses simples</a:t>
            </a:r>
          </a:p>
          <a:p>
            <a:pPr marL="800100" lvl="1" indent="-342900">
              <a:buFont typeface="Arial" panose="020B0604020202020204" pitchFamily="34" charset="0"/>
              <a:buChar char="•"/>
            </a:pPr>
            <a:r>
              <a:rPr lang="fr-FR" sz="2000" dirty="0">
                <a:latin typeface="Aptos" panose="020B0004020202020204" pitchFamily="34" charset="0"/>
              </a:rPr>
              <a:t>Constipation occasionnelle</a:t>
            </a:r>
          </a:p>
        </p:txBody>
      </p:sp>
    </p:spTree>
    <p:extLst>
      <p:ext uri="{BB962C8B-B14F-4D97-AF65-F5344CB8AC3E}">
        <p14:creationId xmlns:p14="http://schemas.microsoft.com/office/powerpoint/2010/main" val="216674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Conseil pharmaceutique : médicaments OTC et prescription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Limites du conseil officinal</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0775571" cy="3785652"/>
          </a:xfrm>
          <a:prstGeom prst="rect">
            <a:avLst/>
          </a:prstGeom>
          <a:noFill/>
        </p:spPr>
        <p:txBody>
          <a:bodyPr wrap="square">
            <a:spAutoFit/>
          </a:bodyPr>
          <a:lstStyle/>
          <a:p>
            <a:r>
              <a:rPr lang="fr-FR" sz="2000" dirty="0">
                <a:latin typeface="Aptos" panose="020B0004020202020204" pitchFamily="34" charset="0"/>
              </a:rPr>
              <a:t>Le pharmacien ne doit pas chercher à tout traiter.</a:t>
            </a:r>
          </a:p>
          <a:p>
            <a:endParaRPr lang="fr-FR" sz="2000" dirty="0">
              <a:latin typeface="Aptos" panose="020B0004020202020204" pitchFamily="34" charset="0"/>
            </a:endParaRPr>
          </a:p>
          <a:p>
            <a:r>
              <a:rPr lang="fr-FR" sz="2000" dirty="0">
                <a:latin typeface="Aptos" panose="020B0004020202020204" pitchFamily="34" charset="0"/>
              </a:rPr>
              <a:t>Certaines situations nécessitent impérativement une référence médicale.</a:t>
            </a:r>
          </a:p>
          <a:p>
            <a:endParaRPr lang="fr-FR" sz="2000" dirty="0">
              <a:latin typeface="Aptos" panose="020B0004020202020204" pitchFamily="34" charset="0"/>
            </a:endParaRPr>
          </a:p>
          <a:p>
            <a:r>
              <a:rPr lang="fr-FR" sz="2000" b="1" dirty="0">
                <a:latin typeface="Aptos" panose="020B0004020202020204" pitchFamily="34" charset="0"/>
              </a:rPr>
              <a:t>Signes d’alerte généraux :</a:t>
            </a:r>
          </a:p>
          <a:p>
            <a:pPr marL="800100" lvl="1" indent="-342900">
              <a:buFont typeface="Arial" panose="020B0604020202020204" pitchFamily="34" charset="0"/>
              <a:buChar char="•"/>
            </a:pPr>
            <a:r>
              <a:rPr lang="fr-FR" sz="2000" dirty="0">
                <a:latin typeface="Aptos" panose="020B0004020202020204" pitchFamily="34" charset="0"/>
              </a:rPr>
              <a:t>Fièvre persistante</a:t>
            </a:r>
          </a:p>
          <a:p>
            <a:pPr marL="800100" lvl="1" indent="-342900">
              <a:buFont typeface="Arial" panose="020B0604020202020204" pitchFamily="34" charset="0"/>
              <a:buChar char="•"/>
            </a:pPr>
            <a:r>
              <a:rPr lang="fr-FR" sz="2000" dirty="0">
                <a:latin typeface="Aptos" panose="020B0004020202020204" pitchFamily="34" charset="0"/>
              </a:rPr>
              <a:t>Difficultés respiratoires</a:t>
            </a:r>
          </a:p>
          <a:p>
            <a:pPr marL="800100" lvl="1" indent="-342900">
              <a:buFont typeface="Arial" panose="020B0604020202020204" pitchFamily="34" charset="0"/>
              <a:buChar char="•"/>
            </a:pPr>
            <a:r>
              <a:rPr lang="fr-FR" sz="2000" dirty="0">
                <a:latin typeface="Aptos" panose="020B0004020202020204" pitchFamily="34" charset="0"/>
              </a:rPr>
              <a:t>Douleur thoracique</a:t>
            </a:r>
          </a:p>
          <a:p>
            <a:pPr marL="800100" lvl="1" indent="-342900">
              <a:buFont typeface="Arial" panose="020B0604020202020204" pitchFamily="34" charset="0"/>
              <a:buChar char="•"/>
            </a:pPr>
            <a:r>
              <a:rPr lang="fr-FR" sz="2000" dirty="0">
                <a:latin typeface="Aptos" panose="020B0004020202020204" pitchFamily="34" charset="0"/>
              </a:rPr>
              <a:t>Convulsions</a:t>
            </a:r>
          </a:p>
          <a:p>
            <a:pPr marL="800100" lvl="1" indent="-342900">
              <a:buFont typeface="Arial" panose="020B0604020202020204" pitchFamily="34" charset="0"/>
              <a:buChar char="•"/>
            </a:pPr>
            <a:r>
              <a:rPr lang="fr-FR" sz="2000" dirty="0">
                <a:latin typeface="Aptos" panose="020B0004020202020204" pitchFamily="34" charset="0"/>
              </a:rPr>
              <a:t>Altération de la conscience</a:t>
            </a:r>
          </a:p>
          <a:p>
            <a:pPr marL="800100" lvl="1" indent="-342900">
              <a:buFont typeface="Arial" panose="020B0604020202020204" pitchFamily="34" charset="0"/>
              <a:buChar char="•"/>
            </a:pPr>
            <a:r>
              <a:rPr lang="fr-FR" sz="2000" dirty="0">
                <a:latin typeface="Aptos" panose="020B0004020202020204" pitchFamily="34" charset="0"/>
              </a:rPr>
              <a:t>Déshydratation sévère</a:t>
            </a:r>
          </a:p>
          <a:p>
            <a:pPr marL="800100" lvl="1" indent="-342900">
              <a:buFont typeface="Arial" panose="020B0604020202020204" pitchFamily="34" charset="0"/>
              <a:buChar char="•"/>
            </a:pPr>
            <a:r>
              <a:rPr lang="fr-FR" sz="2000" dirty="0">
                <a:latin typeface="Aptos" panose="020B0004020202020204" pitchFamily="34" charset="0"/>
              </a:rPr>
              <a:t>Saignements importants</a:t>
            </a:r>
          </a:p>
        </p:txBody>
      </p:sp>
    </p:spTree>
    <p:extLst>
      <p:ext uri="{BB962C8B-B14F-4D97-AF65-F5344CB8AC3E}">
        <p14:creationId xmlns:p14="http://schemas.microsoft.com/office/powerpoint/2010/main" val="107589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Conseil pharmaceutique : médicaments OTC et prescription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Analyse d’une prescription médicale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0775571" cy="3170099"/>
          </a:xfrm>
          <a:prstGeom prst="rect">
            <a:avLst/>
          </a:prstGeom>
          <a:noFill/>
        </p:spPr>
        <p:txBody>
          <a:bodyPr wrap="square">
            <a:spAutoFit/>
          </a:bodyPr>
          <a:lstStyle/>
          <a:p>
            <a:r>
              <a:rPr lang="fr-FR" sz="2000" dirty="0">
                <a:latin typeface="Aptos" panose="020B0004020202020204" pitchFamily="34" charset="0"/>
              </a:rPr>
              <a:t>Le pharmacien ne doit jamais être un simple exécutant.</a:t>
            </a:r>
          </a:p>
          <a:p>
            <a:r>
              <a:rPr lang="fr-FR" sz="2000" dirty="0">
                <a:latin typeface="Aptos" panose="020B0004020202020204" pitchFamily="34" charset="0"/>
              </a:rPr>
              <a:t>Chaque ordonnance doit faire l'objet d'une analyse pharmaceutique.</a:t>
            </a:r>
          </a:p>
          <a:p>
            <a:endParaRPr lang="fr-FR" sz="2000" dirty="0">
              <a:latin typeface="Aptos" panose="020B0004020202020204" pitchFamily="34" charset="0"/>
            </a:endParaRPr>
          </a:p>
          <a:p>
            <a:r>
              <a:rPr lang="fr-FR" sz="2000" b="1" dirty="0">
                <a:latin typeface="Aptos" panose="020B0004020202020204" pitchFamily="34" charset="0"/>
              </a:rPr>
              <a:t>Vérifications obligatoires </a:t>
            </a:r>
            <a:r>
              <a:rPr lang="fr-FR" sz="2000" dirty="0">
                <a:latin typeface="Aptos" panose="020B0004020202020204" pitchFamily="34" charset="0"/>
              </a:rPr>
              <a:t>:</a:t>
            </a:r>
          </a:p>
          <a:p>
            <a:pPr marL="800100" lvl="1" indent="-342900">
              <a:buFont typeface="Arial" panose="020B0604020202020204" pitchFamily="34" charset="0"/>
              <a:buChar char="•"/>
            </a:pPr>
            <a:r>
              <a:rPr lang="fr-FR" sz="2000" dirty="0">
                <a:latin typeface="Aptos" panose="020B0004020202020204" pitchFamily="34" charset="0"/>
              </a:rPr>
              <a:t>Identité du patient</a:t>
            </a:r>
          </a:p>
          <a:p>
            <a:pPr marL="800100" lvl="1" indent="-342900">
              <a:buFont typeface="Arial" panose="020B0604020202020204" pitchFamily="34" charset="0"/>
              <a:buChar char="•"/>
            </a:pPr>
            <a:r>
              <a:rPr lang="fr-FR" sz="2000" dirty="0">
                <a:latin typeface="Aptos" panose="020B0004020202020204" pitchFamily="34" charset="0"/>
              </a:rPr>
              <a:t>Date de prescription</a:t>
            </a:r>
          </a:p>
          <a:p>
            <a:pPr marL="800100" lvl="1" indent="-342900">
              <a:buFont typeface="Arial" panose="020B0604020202020204" pitchFamily="34" charset="0"/>
              <a:buChar char="•"/>
            </a:pPr>
            <a:r>
              <a:rPr lang="fr-FR" sz="2000" dirty="0">
                <a:latin typeface="Aptos" panose="020B0004020202020204" pitchFamily="34" charset="0"/>
              </a:rPr>
              <a:t>Signature du prescripteur</a:t>
            </a:r>
          </a:p>
          <a:p>
            <a:pPr marL="800100" lvl="1" indent="-342900">
              <a:buFont typeface="Arial" panose="020B0604020202020204" pitchFamily="34" charset="0"/>
              <a:buChar char="•"/>
            </a:pPr>
            <a:r>
              <a:rPr lang="fr-FR" sz="2000" dirty="0">
                <a:latin typeface="Aptos" panose="020B0004020202020204" pitchFamily="34" charset="0"/>
              </a:rPr>
              <a:t>Posologie</a:t>
            </a:r>
          </a:p>
          <a:p>
            <a:pPr marL="800100" lvl="1" indent="-342900">
              <a:buFont typeface="Arial" panose="020B0604020202020204" pitchFamily="34" charset="0"/>
              <a:buChar char="•"/>
            </a:pPr>
            <a:r>
              <a:rPr lang="fr-FR" sz="2000" dirty="0">
                <a:latin typeface="Aptos" panose="020B0004020202020204" pitchFamily="34" charset="0"/>
              </a:rPr>
              <a:t>Durée du traitement</a:t>
            </a:r>
          </a:p>
          <a:p>
            <a:pPr marL="800100" lvl="1" indent="-342900">
              <a:buFont typeface="Arial" panose="020B0604020202020204" pitchFamily="34" charset="0"/>
              <a:buChar char="•"/>
            </a:pPr>
            <a:r>
              <a:rPr lang="fr-FR" sz="2000" dirty="0">
                <a:latin typeface="Aptos" panose="020B0004020202020204" pitchFamily="34" charset="0"/>
              </a:rPr>
              <a:t>Compatibilité thérapeutique</a:t>
            </a:r>
          </a:p>
        </p:txBody>
      </p:sp>
    </p:spTree>
    <p:extLst>
      <p:ext uri="{BB962C8B-B14F-4D97-AF65-F5344CB8AC3E}">
        <p14:creationId xmlns:p14="http://schemas.microsoft.com/office/powerpoint/2010/main" val="578961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Conseil pharmaceutique : médicaments OTC et prescription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Interactions médicamenteuses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0775571" cy="3170099"/>
          </a:xfrm>
          <a:prstGeom prst="rect">
            <a:avLst/>
          </a:prstGeom>
          <a:noFill/>
        </p:spPr>
        <p:txBody>
          <a:bodyPr wrap="square">
            <a:spAutoFit/>
          </a:bodyPr>
          <a:lstStyle/>
          <a:p>
            <a:r>
              <a:rPr lang="fr-FR" sz="2000" b="1" dirty="0">
                <a:latin typeface="Aptos" panose="020B0004020202020204" pitchFamily="34" charset="0"/>
              </a:rPr>
              <a:t>Certaines interactions peuvent :</a:t>
            </a:r>
          </a:p>
          <a:p>
            <a:pPr marL="800100" lvl="1" indent="-342900">
              <a:buFont typeface="Arial" panose="020B0604020202020204" pitchFamily="34" charset="0"/>
              <a:buChar char="•"/>
            </a:pPr>
            <a:r>
              <a:rPr lang="fr-FR" sz="2000" dirty="0">
                <a:latin typeface="Aptos" panose="020B0004020202020204" pitchFamily="34" charset="0"/>
              </a:rPr>
              <a:t>Réduire l'efficacité ;</a:t>
            </a:r>
          </a:p>
          <a:p>
            <a:pPr marL="800100" lvl="1" indent="-342900">
              <a:buFont typeface="Arial" panose="020B0604020202020204" pitchFamily="34" charset="0"/>
              <a:buChar char="•"/>
            </a:pPr>
            <a:r>
              <a:rPr lang="fr-FR" sz="2000" dirty="0">
                <a:latin typeface="Aptos" panose="020B0004020202020204" pitchFamily="34" charset="0"/>
              </a:rPr>
              <a:t>Augmenter la toxicité ;</a:t>
            </a:r>
          </a:p>
          <a:p>
            <a:pPr marL="800100" lvl="1" indent="-342900">
              <a:buFont typeface="Arial" panose="020B0604020202020204" pitchFamily="34" charset="0"/>
              <a:buChar char="•"/>
            </a:pPr>
            <a:r>
              <a:rPr lang="fr-FR" sz="2000" dirty="0">
                <a:latin typeface="Aptos" panose="020B0004020202020204" pitchFamily="34" charset="0"/>
              </a:rPr>
              <a:t>Mettre la vie du patient en danger.</a:t>
            </a:r>
          </a:p>
          <a:p>
            <a:endParaRPr lang="fr-FR" sz="2000" dirty="0">
              <a:latin typeface="Aptos" panose="020B0004020202020204" pitchFamily="34" charset="0"/>
            </a:endParaRPr>
          </a:p>
          <a:p>
            <a:r>
              <a:rPr lang="fr-FR" sz="2000" b="1" dirty="0">
                <a:latin typeface="Aptos" panose="020B0004020202020204" pitchFamily="34" charset="0"/>
              </a:rPr>
              <a:t>Interactions fréquentes :</a:t>
            </a:r>
          </a:p>
          <a:p>
            <a:pPr marL="800100" lvl="1" indent="-342900">
              <a:buFont typeface="Arial" panose="020B0604020202020204" pitchFamily="34" charset="0"/>
              <a:buChar char="•"/>
            </a:pPr>
            <a:r>
              <a:rPr lang="fr-FR" sz="2000" dirty="0">
                <a:latin typeface="Aptos" panose="020B0004020202020204" pitchFamily="34" charset="0"/>
              </a:rPr>
              <a:t>AINS + anticoagulants : Risque hémorragique.</a:t>
            </a:r>
          </a:p>
          <a:p>
            <a:pPr marL="800100" lvl="1" indent="-342900">
              <a:buFont typeface="Arial" panose="020B0604020202020204" pitchFamily="34" charset="0"/>
              <a:buChar char="•"/>
            </a:pPr>
            <a:r>
              <a:rPr lang="fr-FR" sz="2000" dirty="0">
                <a:latin typeface="Aptos" panose="020B0004020202020204" pitchFamily="34" charset="0"/>
              </a:rPr>
              <a:t>IEC + potassium : Risque d'hyperkaliémie.</a:t>
            </a:r>
          </a:p>
          <a:p>
            <a:pPr marL="800100" lvl="1" indent="-342900">
              <a:buFont typeface="Arial" panose="020B0604020202020204" pitchFamily="34" charset="0"/>
              <a:buChar char="•"/>
            </a:pPr>
            <a:r>
              <a:rPr lang="fr-FR" sz="2000" dirty="0">
                <a:latin typeface="Aptos" panose="020B0004020202020204" pitchFamily="34" charset="0"/>
              </a:rPr>
              <a:t>Antidiabétiques + alcool : Risque d'hypoglycémie.</a:t>
            </a:r>
          </a:p>
          <a:p>
            <a:pPr marL="800100" lvl="1" indent="-342900">
              <a:buFont typeface="Arial" panose="020B0604020202020204" pitchFamily="34" charset="0"/>
              <a:buChar char="•"/>
            </a:pPr>
            <a:r>
              <a:rPr lang="fr-FR" sz="2000" dirty="0">
                <a:latin typeface="Aptos" panose="020B0004020202020204" pitchFamily="34" charset="0"/>
              </a:rPr>
              <a:t>Plusieurs antihypertenseurs : Risque d'hypotension.</a:t>
            </a:r>
          </a:p>
        </p:txBody>
      </p:sp>
      <p:sp>
        <p:nvSpPr>
          <p:cNvPr id="10" name="ZoneTexte 9">
            <a:extLst>
              <a:ext uri="{FF2B5EF4-FFF2-40B4-BE49-F238E27FC236}">
                <a16:creationId xmlns:a16="http://schemas.microsoft.com/office/drawing/2014/main" id="{A84E15BE-6506-40E9-83EE-469F48DA2234}"/>
              </a:ext>
            </a:extLst>
          </p:cNvPr>
          <p:cNvSpPr txBox="1"/>
          <p:nvPr/>
        </p:nvSpPr>
        <p:spPr>
          <a:xfrm>
            <a:off x="8074960" y="5508167"/>
            <a:ext cx="3713629" cy="954107"/>
          </a:xfrm>
          <a:prstGeom prst="rect">
            <a:avLst/>
          </a:prstGeom>
          <a:noFill/>
        </p:spPr>
        <p:txBody>
          <a:bodyPr wrap="square">
            <a:spAutoFit/>
          </a:bodyPr>
          <a:lstStyle/>
          <a:p>
            <a:r>
              <a:rPr lang="fr-FR" sz="1400" b="1" dirty="0">
                <a:latin typeface="Aptos" panose="020B0004020202020204" pitchFamily="34" charset="0"/>
              </a:rPr>
              <a:t>Outils : </a:t>
            </a:r>
          </a:p>
          <a:p>
            <a:pPr marL="742950" lvl="1" indent="-285750">
              <a:buFont typeface="Arial" panose="020B0604020202020204" pitchFamily="34" charset="0"/>
              <a:buChar char="•"/>
            </a:pPr>
            <a:r>
              <a:rPr lang="fr-FR" sz="1400" dirty="0">
                <a:latin typeface="Aptos" panose="020B0004020202020204" pitchFamily="34" charset="0"/>
              </a:rPr>
              <a:t>Logiciels métier</a:t>
            </a:r>
          </a:p>
          <a:p>
            <a:pPr marL="742950" lvl="1" indent="-285750">
              <a:buFont typeface="Arial" panose="020B0604020202020204" pitchFamily="34" charset="0"/>
              <a:buChar char="•"/>
            </a:pPr>
            <a:r>
              <a:rPr lang="fr-FR" sz="1400" dirty="0">
                <a:latin typeface="Aptos" panose="020B0004020202020204" pitchFamily="34" charset="0"/>
              </a:rPr>
              <a:t>Bases de données thérapeutiques</a:t>
            </a:r>
          </a:p>
          <a:p>
            <a:pPr marL="742950" lvl="1" indent="-285750">
              <a:buFont typeface="Arial" panose="020B0604020202020204" pitchFamily="34" charset="0"/>
              <a:buChar char="•"/>
            </a:pPr>
            <a:r>
              <a:rPr lang="fr-FR" sz="1400" dirty="0">
                <a:latin typeface="Aptos" panose="020B0004020202020204" pitchFamily="34" charset="0"/>
              </a:rPr>
              <a:t>Référentiels nationaux</a:t>
            </a:r>
          </a:p>
        </p:txBody>
      </p:sp>
    </p:spTree>
    <p:extLst>
      <p:ext uri="{BB962C8B-B14F-4D97-AF65-F5344CB8AC3E}">
        <p14:creationId xmlns:p14="http://schemas.microsoft.com/office/powerpoint/2010/main" val="2987950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Conseil pharmaceutique : médicaments OTC et prescription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Observance thérapeutique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0775571" cy="2554545"/>
          </a:xfrm>
          <a:prstGeom prst="rect">
            <a:avLst/>
          </a:prstGeom>
          <a:noFill/>
        </p:spPr>
        <p:txBody>
          <a:bodyPr wrap="square">
            <a:spAutoFit/>
          </a:bodyPr>
          <a:lstStyle/>
          <a:p>
            <a:r>
              <a:rPr lang="fr-FR" sz="2000" b="1" dirty="0">
                <a:latin typeface="Aptos" panose="020B0004020202020204" pitchFamily="34" charset="0"/>
              </a:rPr>
              <a:t>Définition</a:t>
            </a:r>
            <a:r>
              <a:rPr lang="fr-FR" sz="2000" dirty="0">
                <a:latin typeface="Aptos" panose="020B0004020202020204" pitchFamily="34" charset="0"/>
              </a:rPr>
              <a:t> : Capacité du patient à suivre correctement son traitement.</a:t>
            </a:r>
          </a:p>
          <a:p>
            <a:endParaRPr lang="fr-FR" sz="2000" dirty="0">
              <a:latin typeface="Aptos" panose="020B0004020202020204" pitchFamily="34" charset="0"/>
            </a:endParaRPr>
          </a:p>
          <a:p>
            <a:r>
              <a:rPr lang="fr-FR" sz="2000" b="1" dirty="0">
                <a:latin typeface="Aptos" panose="020B0004020202020204" pitchFamily="34" charset="0"/>
              </a:rPr>
              <a:t>Causes fréquentes de non-observance : </a:t>
            </a:r>
          </a:p>
          <a:p>
            <a:pPr marL="800100" lvl="1" indent="-342900">
              <a:buFont typeface="Arial" panose="020B0604020202020204" pitchFamily="34" charset="0"/>
              <a:buChar char="•"/>
            </a:pPr>
            <a:r>
              <a:rPr lang="fr-FR" sz="2000" dirty="0">
                <a:latin typeface="Aptos" panose="020B0004020202020204" pitchFamily="34" charset="0"/>
              </a:rPr>
              <a:t>Oubli</a:t>
            </a:r>
          </a:p>
          <a:p>
            <a:pPr marL="800100" lvl="1" indent="-342900">
              <a:buFont typeface="Arial" panose="020B0604020202020204" pitchFamily="34" charset="0"/>
              <a:buChar char="•"/>
            </a:pPr>
            <a:r>
              <a:rPr lang="fr-FR" sz="2000" dirty="0">
                <a:latin typeface="Aptos" panose="020B0004020202020204" pitchFamily="34" charset="0"/>
              </a:rPr>
              <a:t>Coût</a:t>
            </a:r>
          </a:p>
          <a:p>
            <a:pPr marL="800100" lvl="1" indent="-342900">
              <a:buFont typeface="Arial" panose="020B0604020202020204" pitchFamily="34" charset="0"/>
              <a:buChar char="•"/>
            </a:pPr>
            <a:r>
              <a:rPr lang="fr-FR" sz="2000" dirty="0">
                <a:latin typeface="Aptos" panose="020B0004020202020204" pitchFamily="34" charset="0"/>
              </a:rPr>
              <a:t>Effets indésirables</a:t>
            </a:r>
          </a:p>
          <a:p>
            <a:pPr marL="800100" lvl="1" indent="-342900">
              <a:buFont typeface="Arial" panose="020B0604020202020204" pitchFamily="34" charset="0"/>
              <a:buChar char="•"/>
            </a:pPr>
            <a:r>
              <a:rPr lang="fr-FR" sz="2000" dirty="0">
                <a:latin typeface="Aptos" panose="020B0004020202020204" pitchFamily="34" charset="0"/>
              </a:rPr>
              <a:t>Mauvaise compréhension</a:t>
            </a:r>
          </a:p>
          <a:p>
            <a:pPr marL="800100" lvl="1" indent="-342900">
              <a:buFont typeface="Arial" panose="020B0604020202020204" pitchFamily="34" charset="0"/>
              <a:buChar char="•"/>
            </a:pPr>
            <a:r>
              <a:rPr lang="fr-FR" sz="2000" dirty="0">
                <a:latin typeface="Aptos" panose="020B0004020202020204" pitchFamily="34" charset="0"/>
              </a:rPr>
              <a:t>Complexité du traitement</a:t>
            </a:r>
          </a:p>
        </p:txBody>
      </p:sp>
      <p:sp>
        <p:nvSpPr>
          <p:cNvPr id="10" name="ZoneTexte 9">
            <a:extLst>
              <a:ext uri="{FF2B5EF4-FFF2-40B4-BE49-F238E27FC236}">
                <a16:creationId xmlns:a16="http://schemas.microsoft.com/office/drawing/2014/main" id="{A84E15BE-6506-40E9-83EE-469F48DA2234}"/>
              </a:ext>
            </a:extLst>
          </p:cNvPr>
          <p:cNvSpPr txBox="1"/>
          <p:nvPr/>
        </p:nvSpPr>
        <p:spPr>
          <a:xfrm>
            <a:off x="753041" y="4771113"/>
            <a:ext cx="3713629" cy="1631216"/>
          </a:xfrm>
          <a:prstGeom prst="rect">
            <a:avLst/>
          </a:prstGeom>
          <a:noFill/>
        </p:spPr>
        <p:txBody>
          <a:bodyPr wrap="square">
            <a:spAutoFit/>
          </a:bodyPr>
          <a:lstStyle/>
          <a:p>
            <a:r>
              <a:rPr lang="fr-FR" sz="2000" b="1" dirty="0">
                <a:latin typeface="Aptos" panose="020B0004020202020204" pitchFamily="34" charset="0"/>
              </a:rPr>
              <a:t>Rôle du pharmacien</a:t>
            </a:r>
          </a:p>
          <a:p>
            <a:pPr marL="800100" lvl="1" indent="-342900">
              <a:buFont typeface="Arial" panose="020B0604020202020204" pitchFamily="34" charset="0"/>
              <a:buChar char="•"/>
            </a:pPr>
            <a:r>
              <a:rPr lang="fr-FR" sz="2000" dirty="0">
                <a:latin typeface="Aptos" panose="020B0004020202020204" pitchFamily="34" charset="0"/>
              </a:rPr>
              <a:t>Éduquer</a:t>
            </a:r>
          </a:p>
          <a:p>
            <a:pPr marL="800100" lvl="1" indent="-342900">
              <a:buFont typeface="Arial" panose="020B0604020202020204" pitchFamily="34" charset="0"/>
              <a:buChar char="•"/>
            </a:pPr>
            <a:r>
              <a:rPr lang="fr-FR" sz="2000" dirty="0">
                <a:latin typeface="Aptos" panose="020B0004020202020204" pitchFamily="34" charset="0"/>
              </a:rPr>
              <a:t>Simplifier</a:t>
            </a:r>
          </a:p>
          <a:p>
            <a:pPr marL="800100" lvl="1" indent="-342900">
              <a:buFont typeface="Arial" panose="020B0604020202020204" pitchFamily="34" charset="0"/>
              <a:buChar char="•"/>
            </a:pPr>
            <a:r>
              <a:rPr lang="fr-FR" sz="2000" dirty="0">
                <a:latin typeface="Aptos" panose="020B0004020202020204" pitchFamily="34" charset="0"/>
              </a:rPr>
              <a:t>Motiver</a:t>
            </a:r>
          </a:p>
          <a:p>
            <a:pPr marL="800100" lvl="1" indent="-342900">
              <a:buFont typeface="Arial" panose="020B0604020202020204" pitchFamily="34" charset="0"/>
              <a:buChar char="•"/>
            </a:pPr>
            <a:r>
              <a:rPr lang="fr-FR" sz="2000" dirty="0">
                <a:latin typeface="Aptos" panose="020B0004020202020204" pitchFamily="34" charset="0"/>
              </a:rPr>
              <a:t>Suivre</a:t>
            </a:r>
          </a:p>
        </p:txBody>
      </p:sp>
    </p:spTree>
    <p:extLst>
      <p:ext uri="{BB962C8B-B14F-4D97-AF65-F5344CB8AC3E}">
        <p14:creationId xmlns:p14="http://schemas.microsoft.com/office/powerpoint/2010/main" val="3692665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Conseil pharmaceutique : médicaments OTC et prescription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Conseil pharmaceutique dans les populations particulières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0775571" cy="2862322"/>
          </a:xfrm>
          <a:prstGeom prst="rect">
            <a:avLst/>
          </a:prstGeom>
          <a:noFill/>
        </p:spPr>
        <p:txBody>
          <a:bodyPr wrap="square">
            <a:spAutoFit/>
          </a:bodyPr>
          <a:lstStyle/>
          <a:p>
            <a:r>
              <a:rPr lang="fr-FR" sz="2000" b="1" dirty="0">
                <a:latin typeface="Aptos" panose="020B0004020202020204" pitchFamily="34" charset="0"/>
              </a:rPr>
              <a:t>Femme enceinte </a:t>
            </a:r>
            <a:r>
              <a:rPr lang="fr-FR" sz="2000" dirty="0">
                <a:latin typeface="Aptos" panose="020B0004020202020204" pitchFamily="34" charset="0"/>
              </a:rPr>
              <a:t>: Prudence maximale.</a:t>
            </a:r>
          </a:p>
          <a:p>
            <a:endParaRPr lang="fr-FR" sz="2000" dirty="0">
              <a:latin typeface="Aptos" panose="020B0004020202020204" pitchFamily="34" charset="0"/>
            </a:endParaRPr>
          </a:p>
          <a:p>
            <a:r>
              <a:rPr lang="fr-FR" sz="2000" b="1" dirty="0">
                <a:latin typeface="Aptos" panose="020B0004020202020204" pitchFamily="34" charset="0"/>
              </a:rPr>
              <a:t>Enfant</a:t>
            </a:r>
            <a:r>
              <a:rPr lang="fr-FR" sz="2000" dirty="0">
                <a:latin typeface="Aptos" panose="020B0004020202020204" pitchFamily="34" charset="0"/>
              </a:rPr>
              <a:t> : Adaptation des doses.</a:t>
            </a:r>
          </a:p>
          <a:p>
            <a:endParaRPr lang="fr-FR" sz="2000" dirty="0">
              <a:latin typeface="Aptos" panose="020B0004020202020204" pitchFamily="34" charset="0"/>
            </a:endParaRPr>
          </a:p>
          <a:p>
            <a:r>
              <a:rPr lang="fr-FR" sz="2000" b="1" dirty="0">
                <a:latin typeface="Aptos" panose="020B0004020202020204" pitchFamily="34" charset="0"/>
              </a:rPr>
              <a:t>Personne âgée </a:t>
            </a:r>
            <a:r>
              <a:rPr lang="fr-FR" sz="2000" dirty="0">
                <a:latin typeface="Aptos" panose="020B0004020202020204" pitchFamily="34" charset="0"/>
              </a:rPr>
              <a:t>: Attention aux interactions.</a:t>
            </a:r>
          </a:p>
          <a:p>
            <a:endParaRPr lang="fr-FR" sz="2000" dirty="0">
              <a:latin typeface="Aptos" panose="020B0004020202020204" pitchFamily="34" charset="0"/>
            </a:endParaRPr>
          </a:p>
          <a:p>
            <a:r>
              <a:rPr lang="fr-FR" sz="2000" b="1" dirty="0">
                <a:latin typeface="Aptos" panose="020B0004020202020204" pitchFamily="34" charset="0"/>
              </a:rPr>
              <a:t>Patient chronique </a:t>
            </a:r>
            <a:r>
              <a:rPr lang="fr-FR" sz="2000" dirty="0">
                <a:latin typeface="Aptos" panose="020B0004020202020204" pitchFamily="34" charset="0"/>
              </a:rPr>
              <a:t>: Accompagnement renforcé.</a:t>
            </a:r>
          </a:p>
          <a:p>
            <a:endParaRPr lang="fr-FR" sz="2000" dirty="0">
              <a:latin typeface="Aptos" panose="020B0004020202020204" pitchFamily="34" charset="0"/>
            </a:endParaRPr>
          </a:p>
          <a:p>
            <a:r>
              <a:rPr lang="fr-FR" sz="2000" b="1" dirty="0">
                <a:latin typeface="Aptos" panose="020B0004020202020204" pitchFamily="34" charset="0"/>
              </a:rPr>
              <a:t>Patient </a:t>
            </a:r>
            <a:r>
              <a:rPr lang="fr-FR" sz="2000" b="1" dirty="0" err="1">
                <a:latin typeface="Aptos" panose="020B0004020202020204" pitchFamily="34" charset="0"/>
              </a:rPr>
              <a:t>polymédiqué</a:t>
            </a:r>
            <a:r>
              <a:rPr lang="fr-FR" sz="2000" b="1" dirty="0">
                <a:latin typeface="Aptos" panose="020B0004020202020204" pitchFamily="34" charset="0"/>
              </a:rPr>
              <a:t> </a:t>
            </a:r>
            <a:r>
              <a:rPr lang="fr-FR" sz="2000" dirty="0">
                <a:latin typeface="Aptos" panose="020B0004020202020204" pitchFamily="34" charset="0"/>
              </a:rPr>
              <a:t>: Analyse systématique des traitements.</a:t>
            </a:r>
          </a:p>
        </p:txBody>
      </p:sp>
    </p:spTree>
    <p:extLst>
      <p:ext uri="{BB962C8B-B14F-4D97-AF65-F5344CB8AC3E}">
        <p14:creationId xmlns:p14="http://schemas.microsoft.com/office/powerpoint/2010/main" val="1222785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Conseil pharmaceutique : médicaments OTC et prescription</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Documentation du conseil pharmaceutique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0775571" cy="3477875"/>
          </a:xfrm>
          <a:prstGeom prst="rect">
            <a:avLst/>
          </a:prstGeom>
          <a:noFill/>
        </p:spPr>
        <p:txBody>
          <a:bodyPr wrap="square">
            <a:spAutoFit/>
          </a:bodyPr>
          <a:lstStyle/>
          <a:p>
            <a:r>
              <a:rPr lang="fr-FR" sz="2000" b="1" dirty="0">
                <a:latin typeface="Aptos" panose="020B0004020202020204" pitchFamily="34" charset="0"/>
              </a:rPr>
              <a:t>Pourquoi documenter :</a:t>
            </a:r>
          </a:p>
          <a:p>
            <a:pPr marL="800100" lvl="1" indent="-342900">
              <a:buFont typeface="Arial" panose="020B0604020202020204" pitchFamily="34" charset="0"/>
              <a:buChar char="•"/>
            </a:pPr>
            <a:r>
              <a:rPr lang="fr-FR" sz="2000" dirty="0">
                <a:latin typeface="Aptos" panose="020B0004020202020204" pitchFamily="34" charset="0"/>
              </a:rPr>
              <a:t>Traçabilité</a:t>
            </a:r>
          </a:p>
          <a:p>
            <a:pPr marL="800100" lvl="1" indent="-342900">
              <a:buFont typeface="Arial" panose="020B0604020202020204" pitchFamily="34" charset="0"/>
              <a:buChar char="•"/>
            </a:pPr>
            <a:r>
              <a:rPr lang="fr-FR" sz="2000" dirty="0">
                <a:latin typeface="Aptos" panose="020B0004020202020204" pitchFamily="34" charset="0"/>
              </a:rPr>
              <a:t>Qualité</a:t>
            </a:r>
          </a:p>
          <a:p>
            <a:pPr marL="800100" lvl="1" indent="-342900">
              <a:buFont typeface="Arial" panose="020B0604020202020204" pitchFamily="34" charset="0"/>
              <a:buChar char="•"/>
            </a:pPr>
            <a:r>
              <a:rPr lang="fr-FR" sz="2000" dirty="0">
                <a:latin typeface="Aptos" panose="020B0004020202020204" pitchFamily="34" charset="0"/>
              </a:rPr>
              <a:t>Gestion des risques</a:t>
            </a:r>
          </a:p>
          <a:p>
            <a:pPr marL="800100" lvl="1" indent="-342900">
              <a:buFont typeface="Arial" panose="020B0604020202020204" pitchFamily="34" charset="0"/>
              <a:buChar char="•"/>
            </a:pPr>
            <a:r>
              <a:rPr lang="fr-FR" sz="2000" dirty="0">
                <a:latin typeface="Aptos" panose="020B0004020202020204" pitchFamily="34" charset="0"/>
              </a:rPr>
              <a:t>Suivi patient</a:t>
            </a:r>
          </a:p>
          <a:p>
            <a:endParaRPr lang="fr-FR" sz="2000" dirty="0">
              <a:latin typeface="Aptos" panose="020B0004020202020204" pitchFamily="34" charset="0"/>
            </a:endParaRPr>
          </a:p>
          <a:p>
            <a:r>
              <a:rPr lang="fr-FR" sz="2000" b="1" dirty="0">
                <a:latin typeface="Aptos" panose="020B0004020202020204" pitchFamily="34" charset="0"/>
              </a:rPr>
              <a:t>Situations à documenter prioritairement :</a:t>
            </a:r>
          </a:p>
          <a:p>
            <a:pPr marL="800100" lvl="1" indent="-342900">
              <a:buFont typeface="Arial" panose="020B0604020202020204" pitchFamily="34" charset="0"/>
              <a:buChar char="•"/>
            </a:pPr>
            <a:r>
              <a:rPr lang="fr-FR" sz="2000" dirty="0">
                <a:latin typeface="Aptos" panose="020B0004020202020204" pitchFamily="34" charset="0"/>
              </a:rPr>
              <a:t>Effets indésirables</a:t>
            </a:r>
          </a:p>
          <a:p>
            <a:pPr marL="800100" lvl="1" indent="-342900">
              <a:buFont typeface="Arial" panose="020B0604020202020204" pitchFamily="34" charset="0"/>
              <a:buChar char="•"/>
            </a:pPr>
            <a:r>
              <a:rPr lang="fr-FR" sz="2000" dirty="0">
                <a:latin typeface="Aptos" panose="020B0004020202020204" pitchFamily="34" charset="0"/>
              </a:rPr>
              <a:t>Interventions pharmaceutiques</a:t>
            </a:r>
          </a:p>
          <a:p>
            <a:pPr marL="800100" lvl="1" indent="-342900">
              <a:buFont typeface="Arial" panose="020B0604020202020204" pitchFamily="34" charset="0"/>
              <a:buChar char="•"/>
            </a:pPr>
            <a:r>
              <a:rPr lang="fr-FR" sz="2000" dirty="0">
                <a:latin typeface="Aptos" panose="020B0004020202020204" pitchFamily="34" charset="0"/>
              </a:rPr>
              <a:t>Refus de dispensation</a:t>
            </a:r>
          </a:p>
          <a:p>
            <a:pPr marL="800100" lvl="1" indent="-342900">
              <a:buFont typeface="Arial" panose="020B0604020202020204" pitchFamily="34" charset="0"/>
              <a:buChar char="•"/>
            </a:pPr>
            <a:r>
              <a:rPr lang="fr-FR" sz="2000" dirty="0">
                <a:latin typeface="Aptos" panose="020B0004020202020204" pitchFamily="34" charset="0"/>
              </a:rPr>
              <a:t>Références médicales</a:t>
            </a:r>
          </a:p>
        </p:txBody>
      </p:sp>
    </p:spTree>
    <p:extLst>
      <p:ext uri="{BB962C8B-B14F-4D97-AF65-F5344CB8AC3E}">
        <p14:creationId xmlns:p14="http://schemas.microsoft.com/office/powerpoint/2010/main" val="264554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réclamations et des situations difficiles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0775571" cy="2554545"/>
          </a:xfrm>
          <a:prstGeom prst="rect">
            <a:avLst/>
          </a:prstGeom>
          <a:noFill/>
        </p:spPr>
        <p:txBody>
          <a:bodyPr wrap="square">
            <a:spAutoFit/>
          </a:bodyPr>
          <a:lstStyle/>
          <a:p>
            <a:r>
              <a:rPr lang="fr-FR" sz="2000" dirty="0">
                <a:latin typeface="Aptos" panose="020B0004020202020204" pitchFamily="34" charset="0"/>
              </a:rPr>
              <a:t>À l’issue de ce sous-module, le participant sera capable de :</a:t>
            </a:r>
          </a:p>
          <a:p>
            <a:pPr marL="800100" lvl="1" indent="-342900">
              <a:buFont typeface="Arial" panose="020B0604020202020204" pitchFamily="34" charset="0"/>
              <a:buChar char="•"/>
            </a:pPr>
            <a:r>
              <a:rPr lang="fr-FR" sz="2000" dirty="0">
                <a:latin typeface="Aptos" panose="020B0004020202020204" pitchFamily="34" charset="0"/>
              </a:rPr>
              <a:t>Comprendre les causes des réclamations en officine ;</a:t>
            </a:r>
          </a:p>
          <a:p>
            <a:pPr marL="800100" lvl="1" indent="-342900">
              <a:buFont typeface="Arial" panose="020B0604020202020204" pitchFamily="34" charset="0"/>
              <a:buChar char="•"/>
            </a:pPr>
            <a:r>
              <a:rPr lang="fr-FR" sz="2000" dirty="0">
                <a:latin typeface="Aptos" panose="020B0004020202020204" pitchFamily="34" charset="0"/>
              </a:rPr>
              <a:t>Gérer efficacement une plainte ;</a:t>
            </a:r>
          </a:p>
          <a:p>
            <a:pPr marL="800100" lvl="1" indent="-342900">
              <a:buFont typeface="Arial" panose="020B0604020202020204" pitchFamily="34" charset="0"/>
              <a:buChar char="•"/>
            </a:pPr>
            <a:r>
              <a:rPr lang="fr-FR" sz="2000" dirty="0">
                <a:latin typeface="Aptos" panose="020B0004020202020204" pitchFamily="34" charset="0"/>
              </a:rPr>
              <a:t>Désamorcer une situation conflictuelle ;</a:t>
            </a:r>
          </a:p>
          <a:p>
            <a:pPr marL="800100" lvl="1" indent="-342900">
              <a:buFont typeface="Arial" panose="020B0604020202020204" pitchFamily="34" charset="0"/>
              <a:buChar char="•"/>
            </a:pPr>
            <a:r>
              <a:rPr lang="fr-FR" sz="2000" dirty="0">
                <a:latin typeface="Aptos" panose="020B0004020202020204" pitchFamily="34" charset="0"/>
              </a:rPr>
              <a:t>Réagir face à un patient agressif ou mécontent ;</a:t>
            </a:r>
          </a:p>
          <a:p>
            <a:pPr marL="800100" lvl="1" indent="-342900">
              <a:buFont typeface="Arial" panose="020B0604020202020204" pitchFamily="34" charset="0"/>
              <a:buChar char="•"/>
            </a:pPr>
            <a:r>
              <a:rPr lang="fr-FR" sz="2000" dirty="0">
                <a:latin typeface="Aptos" panose="020B0004020202020204" pitchFamily="34" charset="0"/>
              </a:rPr>
              <a:t>Documenter les incidents ;</a:t>
            </a:r>
          </a:p>
          <a:p>
            <a:pPr marL="800100" lvl="1" indent="-342900">
              <a:buFont typeface="Arial" panose="020B0604020202020204" pitchFamily="34" charset="0"/>
              <a:buChar char="•"/>
            </a:pPr>
            <a:r>
              <a:rPr lang="fr-FR" sz="2000" dirty="0">
                <a:latin typeface="Aptos" panose="020B0004020202020204" pitchFamily="34" charset="0"/>
              </a:rPr>
              <a:t>Mettre en œuvre des actions correctives ;</a:t>
            </a:r>
          </a:p>
          <a:p>
            <a:pPr marL="800100" lvl="1" indent="-342900">
              <a:buFont typeface="Arial" panose="020B0604020202020204" pitchFamily="34" charset="0"/>
              <a:buChar char="•"/>
            </a:pPr>
            <a:r>
              <a:rPr lang="fr-FR" sz="2000" dirty="0">
                <a:latin typeface="Aptos" panose="020B0004020202020204" pitchFamily="34" charset="0"/>
              </a:rPr>
              <a:t>Préserver l'image et la réputation de l'officine.</a:t>
            </a:r>
          </a:p>
        </p:txBody>
      </p:sp>
    </p:spTree>
    <p:extLst>
      <p:ext uri="{BB962C8B-B14F-4D97-AF65-F5344CB8AC3E}">
        <p14:creationId xmlns:p14="http://schemas.microsoft.com/office/powerpoint/2010/main" val="1198703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réclamations et des situations difficiles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0775571" cy="3170099"/>
          </a:xfrm>
          <a:prstGeom prst="rect">
            <a:avLst/>
          </a:prstGeom>
          <a:noFill/>
        </p:spPr>
        <p:txBody>
          <a:bodyPr wrap="square">
            <a:spAutoFit/>
          </a:bodyPr>
          <a:lstStyle/>
          <a:p>
            <a:r>
              <a:rPr lang="fr-FR" sz="2000" dirty="0">
                <a:latin typeface="Aptos" panose="020B0004020202020204" pitchFamily="34" charset="0"/>
              </a:rPr>
              <a:t>Une réclamation n'est pas nécessairement un problème.</a:t>
            </a:r>
          </a:p>
          <a:p>
            <a:endParaRPr lang="fr-FR" sz="2000" dirty="0">
              <a:latin typeface="Aptos" panose="020B0004020202020204" pitchFamily="34" charset="0"/>
            </a:endParaRPr>
          </a:p>
          <a:p>
            <a:r>
              <a:rPr lang="fr-FR" sz="2000" dirty="0">
                <a:latin typeface="Aptos" panose="020B0004020202020204" pitchFamily="34" charset="0"/>
              </a:rPr>
              <a:t>Elle constitue souvent une opportunité :</a:t>
            </a:r>
          </a:p>
          <a:p>
            <a:pPr marL="800100" lvl="1" indent="-342900">
              <a:buFont typeface="Arial" panose="020B0604020202020204" pitchFamily="34" charset="0"/>
              <a:buChar char="•"/>
            </a:pPr>
            <a:r>
              <a:rPr lang="fr-FR" sz="2000" dirty="0">
                <a:latin typeface="Aptos" panose="020B0004020202020204" pitchFamily="34" charset="0"/>
              </a:rPr>
              <a:t>D'améliorer la qualité ;</a:t>
            </a:r>
          </a:p>
          <a:p>
            <a:pPr marL="800100" lvl="1" indent="-342900">
              <a:buFont typeface="Arial" panose="020B0604020202020204" pitchFamily="34" charset="0"/>
              <a:buChar char="•"/>
            </a:pPr>
            <a:r>
              <a:rPr lang="fr-FR" sz="2000" dirty="0">
                <a:latin typeface="Aptos" panose="020B0004020202020204" pitchFamily="34" charset="0"/>
              </a:rPr>
              <a:t>D'identifier une faiblesse ;</a:t>
            </a:r>
          </a:p>
          <a:p>
            <a:pPr marL="800100" lvl="1" indent="-342900">
              <a:buFont typeface="Arial" panose="020B0604020202020204" pitchFamily="34" charset="0"/>
              <a:buChar char="•"/>
            </a:pPr>
            <a:r>
              <a:rPr lang="fr-FR" sz="2000" dirty="0">
                <a:latin typeface="Aptos" panose="020B0004020202020204" pitchFamily="34" charset="0"/>
              </a:rPr>
              <a:t>De renforcer la satisfaction du patient.</a:t>
            </a:r>
          </a:p>
          <a:p>
            <a:endParaRPr lang="fr-FR" sz="2000" dirty="0">
              <a:latin typeface="Aptos" panose="020B0004020202020204" pitchFamily="34" charset="0"/>
            </a:endParaRPr>
          </a:p>
          <a:p>
            <a:r>
              <a:rPr lang="fr-FR" sz="2000" dirty="0">
                <a:latin typeface="Aptos" panose="020B0004020202020204" pitchFamily="34" charset="0"/>
              </a:rPr>
              <a:t>Les officines performantes ne cherchent pas à éviter les réclamations.</a:t>
            </a:r>
          </a:p>
          <a:p>
            <a:endParaRPr lang="fr-FR" sz="2000" dirty="0">
              <a:latin typeface="Aptos" panose="020B0004020202020204" pitchFamily="34" charset="0"/>
            </a:endParaRPr>
          </a:p>
          <a:p>
            <a:r>
              <a:rPr lang="fr-FR" sz="2000" dirty="0">
                <a:latin typeface="Aptos" panose="020B0004020202020204" pitchFamily="34" charset="0"/>
              </a:rPr>
              <a:t>Elles cherchent à les gérer efficacement.</a:t>
            </a:r>
          </a:p>
        </p:txBody>
      </p:sp>
    </p:spTree>
    <p:extLst>
      <p:ext uri="{BB962C8B-B14F-4D97-AF65-F5344CB8AC3E}">
        <p14:creationId xmlns:p14="http://schemas.microsoft.com/office/powerpoint/2010/main" val="2186186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réclamations et des situations difficiles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Comprendre les réclamations en 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1100602" cy="4278094"/>
          </a:xfrm>
          <a:prstGeom prst="rect">
            <a:avLst/>
          </a:prstGeom>
          <a:noFill/>
        </p:spPr>
        <p:txBody>
          <a:bodyPr wrap="square">
            <a:spAutoFit/>
          </a:bodyPr>
          <a:lstStyle/>
          <a:p>
            <a:r>
              <a:rPr lang="fr-FR" sz="2000" b="1" dirty="0">
                <a:latin typeface="Aptos" panose="020B0004020202020204" pitchFamily="34" charset="0"/>
              </a:rPr>
              <a:t>Définition : </a:t>
            </a:r>
            <a:r>
              <a:rPr lang="fr-FR" sz="2000" dirty="0">
                <a:latin typeface="Aptos" panose="020B0004020202020204" pitchFamily="34" charset="0"/>
              </a:rPr>
              <a:t>Une réclamation est l'expression d'une insatisfaction liée à un produit, un service ou une expérience vécue par le patient.</a:t>
            </a:r>
          </a:p>
          <a:p>
            <a:endParaRPr lang="fr-FR" sz="2000" dirty="0">
              <a:latin typeface="Aptos" panose="020B0004020202020204" pitchFamily="34" charset="0"/>
            </a:endParaRPr>
          </a:p>
          <a:p>
            <a:r>
              <a:rPr lang="fr-FR" sz="2000" b="1" dirty="0">
                <a:latin typeface="Aptos" panose="020B0004020202020204" pitchFamily="34" charset="0"/>
              </a:rPr>
              <a:t>Types de réclamations :</a:t>
            </a:r>
          </a:p>
          <a:p>
            <a:pPr marL="800100" lvl="1" indent="-342900">
              <a:buFont typeface="Arial" panose="020B0604020202020204" pitchFamily="34" charset="0"/>
              <a:buChar char="•"/>
            </a:pPr>
            <a:r>
              <a:rPr lang="fr-FR" sz="2000" dirty="0">
                <a:latin typeface="Aptos" panose="020B0004020202020204" pitchFamily="34" charset="0"/>
              </a:rPr>
              <a:t>Réclamations liées au produit </a:t>
            </a:r>
            <a:r>
              <a:rPr lang="fr-FR" sz="1200" dirty="0">
                <a:latin typeface="Aptos" panose="020B0004020202020204" pitchFamily="34" charset="0"/>
              </a:rPr>
              <a:t>(</a:t>
            </a:r>
            <a:r>
              <a:rPr lang="fr-FR" sz="1200" b="1" dirty="0">
                <a:latin typeface="Aptos" panose="020B0004020202020204" pitchFamily="34" charset="0"/>
              </a:rPr>
              <a:t>Exemples</a:t>
            </a:r>
            <a:r>
              <a:rPr lang="fr-FR" sz="1200" dirty="0">
                <a:latin typeface="Aptos" panose="020B0004020202020204" pitchFamily="34" charset="0"/>
              </a:rPr>
              <a:t> :produit défectueux ;produit périmé ;produit détérioré ;problème de qualité.)</a:t>
            </a:r>
          </a:p>
          <a:p>
            <a:pPr marL="800100" lvl="1" indent="-342900">
              <a:buFont typeface="Arial" panose="020B0604020202020204" pitchFamily="34" charset="0"/>
              <a:buChar char="•"/>
            </a:pPr>
            <a:r>
              <a:rPr lang="fr-FR" sz="2000" dirty="0">
                <a:latin typeface="Aptos" panose="020B0004020202020204" pitchFamily="34" charset="0"/>
              </a:rPr>
              <a:t>Réclamations liées au service </a:t>
            </a:r>
            <a:r>
              <a:rPr lang="fr-FR" sz="1200" dirty="0">
                <a:latin typeface="Aptos" panose="020B0004020202020204" pitchFamily="34" charset="0"/>
              </a:rPr>
              <a:t>(Exemples :temps d'attente ;accueil ;disponibilité du personnel.)</a:t>
            </a:r>
            <a:endParaRPr lang="fr-FR" sz="2000" dirty="0">
              <a:latin typeface="Aptos" panose="020B0004020202020204" pitchFamily="34" charset="0"/>
            </a:endParaRPr>
          </a:p>
          <a:p>
            <a:pPr marL="800100" lvl="1" indent="-342900">
              <a:buFont typeface="Arial" panose="020B0604020202020204" pitchFamily="34" charset="0"/>
              <a:buChar char="•"/>
            </a:pPr>
            <a:r>
              <a:rPr lang="fr-FR" sz="2000" dirty="0">
                <a:latin typeface="Aptos" panose="020B0004020202020204" pitchFamily="34" charset="0"/>
              </a:rPr>
              <a:t>Réclamations liées au conseil </a:t>
            </a:r>
            <a:r>
              <a:rPr lang="fr-FR" sz="1200" dirty="0">
                <a:latin typeface="Aptos" panose="020B0004020202020204" pitchFamily="34" charset="0"/>
              </a:rPr>
              <a:t>(Exemples :incompréhension ;information insuffisante ;erreur perçue.)</a:t>
            </a:r>
            <a:endParaRPr lang="fr-FR" sz="2000" dirty="0">
              <a:latin typeface="Aptos" panose="020B0004020202020204" pitchFamily="34" charset="0"/>
            </a:endParaRPr>
          </a:p>
          <a:p>
            <a:pPr marL="800100" lvl="1" indent="-342900">
              <a:buFont typeface="Arial" panose="020B0604020202020204" pitchFamily="34" charset="0"/>
              <a:buChar char="•"/>
            </a:pPr>
            <a:r>
              <a:rPr lang="fr-FR" sz="2000" dirty="0">
                <a:latin typeface="Aptos" panose="020B0004020202020204" pitchFamily="34" charset="0"/>
              </a:rPr>
              <a:t>Réclamations liées aux prix </a:t>
            </a:r>
            <a:r>
              <a:rPr lang="fr-FR" sz="1200" dirty="0">
                <a:latin typeface="Aptos" panose="020B0004020202020204" pitchFamily="34" charset="0"/>
              </a:rPr>
              <a:t>(Exemples :prix jugé élevé ;différence avec la concurrence.)</a:t>
            </a:r>
          </a:p>
          <a:p>
            <a:pPr marL="800100" lvl="1" indent="-342900">
              <a:buFont typeface="Arial" panose="020B0604020202020204" pitchFamily="34" charset="0"/>
              <a:buChar char="•"/>
            </a:pPr>
            <a:r>
              <a:rPr lang="fr-FR" sz="2000" dirty="0">
                <a:latin typeface="Aptos" panose="020B0004020202020204" pitchFamily="34" charset="0"/>
              </a:rPr>
              <a:t>Réclamations liées à la disponibilité </a:t>
            </a:r>
            <a:r>
              <a:rPr lang="fr-FR" sz="1200" dirty="0">
                <a:latin typeface="Aptos" panose="020B0004020202020204" pitchFamily="34" charset="0"/>
              </a:rPr>
              <a:t>(Exemples :rupture de stock ;commande non reçue.)</a:t>
            </a:r>
          </a:p>
          <a:p>
            <a:pPr marL="800100" lvl="1" indent="-342900">
              <a:buFont typeface="Arial" panose="020B0604020202020204" pitchFamily="34" charset="0"/>
              <a:buChar char="•"/>
            </a:pPr>
            <a:endParaRPr lang="fr-FR" sz="1200" dirty="0">
              <a:latin typeface="Aptos" panose="020B0004020202020204" pitchFamily="34" charset="0"/>
            </a:endParaRPr>
          </a:p>
          <a:p>
            <a:r>
              <a:rPr lang="fr-FR" sz="2000" b="1" dirty="0">
                <a:latin typeface="Aptos" panose="020B0004020202020204" pitchFamily="34" charset="0"/>
              </a:rPr>
              <a:t>Les causes les plus fréquentes sont </a:t>
            </a:r>
            <a:r>
              <a:rPr lang="fr-FR" sz="2000" dirty="0">
                <a:latin typeface="Aptos" panose="020B0004020202020204" pitchFamily="34" charset="0"/>
              </a:rPr>
              <a:t>: </a:t>
            </a:r>
          </a:p>
          <a:p>
            <a:pPr marL="800100" lvl="1" indent="-342900">
              <a:buFont typeface="Arial" panose="020B0604020202020204" pitchFamily="34" charset="0"/>
              <a:buChar char="•"/>
            </a:pPr>
            <a:r>
              <a:rPr lang="fr-FR" sz="2000" dirty="0">
                <a:latin typeface="Aptos" panose="020B0004020202020204" pitchFamily="34" charset="0"/>
              </a:rPr>
              <a:t>Ruptures de stock et Temps d'attente</a:t>
            </a:r>
          </a:p>
          <a:p>
            <a:pPr marL="800100" lvl="1" indent="-342900">
              <a:buFont typeface="Arial" panose="020B0604020202020204" pitchFamily="34" charset="0"/>
              <a:buChar char="•"/>
            </a:pPr>
            <a:r>
              <a:rPr lang="fr-FR" sz="2000" dirty="0">
                <a:latin typeface="Aptos" panose="020B0004020202020204" pitchFamily="34" charset="0"/>
              </a:rPr>
              <a:t>Mauvaise communication et Différences de prix</a:t>
            </a:r>
          </a:p>
          <a:p>
            <a:pPr marL="800100" lvl="1" indent="-342900">
              <a:buFont typeface="Arial" panose="020B0604020202020204" pitchFamily="34" charset="0"/>
              <a:buChar char="•"/>
            </a:pPr>
            <a:r>
              <a:rPr lang="fr-FR" sz="2000" dirty="0">
                <a:latin typeface="Aptos" panose="020B0004020202020204" pitchFamily="34" charset="0"/>
              </a:rPr>
              <a:t>Incompréhension thérapeutique</a:t>
            </a:r>
          </a:p>
        </p:txBody>
      </p:sp>
    </p:spTree>
    <p:extLst>
      <p:ext uri="{BB962C8B-B14F-4D97-AF65-F5344CB8AC3E}">
        <p14:creationId xmlns:p14="http://schemas.microsoft.com/office/powerpoint/2010/main" val="493159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réclamations et des situations difficiles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principes de gestion d'une réclamation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1100602" cy="2862322"/>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Principe 1 </a:t>
            </a:r>
            <a:r>
              <a:rPr lang="fr-FR" sz="2000" dirty="0">
                <a:latin typeface="Aptos" panose="020B0004020202020204" pitchFamily="34" charset="0"/>
              </a:rPr>
              <a:t>: Écouter, laisser le patient s'exprimer et ne pas interrompre.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Principe 2 </a:t>
            </a:r>
            <a:r>
              <a:rPr lang="fr-FR" sz="2000" dirty="0">
                <a:latin typeface="Aptos" panose="020B0004020202020204" pitchFamily="34" charset="0"/>
              </a:rPr>
              <a:t>: Reconnaître l'insatisfaction.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Principe 3 </a:t>
            </a:r>
            <a:r>
              <a:rPr lang="fr-FR" sz="2000" dirty="0">
                <a:latin typeface="Aptos" panose="020B0004020202020204" pitchFamily="34" charset="0"/>
              </a:rPr>
              <a:t>: Investiguer en recueillant les faits.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Principe 4 </a:t>
            </a:r>
            <a:r>
              <a:rPr lang="fr-FR" sz="2000" dirty="0">
                <a:latin typeface="Aptos" panose="020B0004020202020204" pitchFamily="34" charset="0"/>
              </a:rPr>
              <a:t>: Proposer une solution lorsque cela est possible.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Principe 5 </a:t>
            </a:r>
            <a:r>
              <a:rPr lang="fr-FR" sz="2000" dirty="0">
                <a:latin typeface="Aptos" panose="020B0004020202020204" pitchFamily="34" charset="0"/>
              </a:rPr>
              <a:t>: Assurer un suivi et informer le patient des actions engagées.</a:t>
            </a:r>
          </a:p>
        </p:txBody>
      </p:sp>
    </p:spTree>
    <p:extLst>
      <p:ext uri="{BB962C8B-B14F-4D97-AF65-F5344CB8AC3E}">
        <p14:creationId xmlns:p14="http://schemas.microsoft.com/office/powerpoint/2010/main" val="405874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réclamations et des situations difficiles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patients difficiles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1100602" cy="2862322"/>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Définition</a:t>
            </a:r>
            <a:r>
              <a:rPr lang="fr-FR" sz="2000" dirty="0">
                <a:latin typeface="Aptos" panose="020B0004020202020204" pitchFamily="34" charset="0"/>
              </a:rPr>
              <a:t> : Patient dont le comportement complique la communication ou la prise en charge.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Typologies fréquentes</a:t>
            </a:r>
          </a:p>
          <a:p>
            <a:pPr marL="800100" lvl="1" indent="-342900">
              <a:buFont typeface="Courier New" panose="02070309020205020404" pitchFamily="49" charset="0"/>
              <a:buChar char="o"/>
            </a:pPr>
            <a:r>
              <a:rPr lang="fr-FR" sz="2000" dirty="0">
                <a:latin typeface="Aptos" panose="020B0004020202020204" pitchFamily="34" charset="0"/>
              </a:rPr>
              <a:t>Patient agressif</a:t>
            </a:r>
          </a:p>
          <a:p>
            <a:pPr marL="800100" lvl="1" indent="-342900">
              <a:buFont typeface="Courier New" panose="02070309020205020404" pitchFamily="49" charset="0"/>
              <a:buChar char="o"/>
            </a:pPr>
            <a:r>
              <a:rPr lang="fr-FR" sz="2000" dirty="0">
                <a:latin typeface="Aptos" panose="020B0004020202020204" pitchFamily="34" charset="0"/>
              </a:rPr>
              <a:t>Patient impatient</a:t>
            </a:r>
          </a:p>
          <a:p>
            <a:pPr marL="800100" lvl="1" indent="-342900">
              <a:buFont typeface="Courier New" panose="02070309020205020404" pitchFamily="49" charset="0"/>
              <a:buChar char="o"/>
            </a:pPr>
            <a:r>
              <a:rPr lang="fr-FR" sz="2000" dirty="0">
                <a:latin typeface="Aptos" panose="020B0004020202020204" pitchFamily="34" charset="0"/>
              </a:rPr>
              <a:t>Patient méfiant</a:t>
            </a:r>
          </a:p>
          <a:p>
            <a:pPr marL="800100" lvl="1" indent="-342900">
              <a:buFont typeface="Courier New" panose="02070309020205020404" pitchFamily="49" charset="0"/>
              <a:buChar char="o"/>
            </a:pPr>
            <a:r>
              <a:rPr lang="fr-FR" sz="2000" dirty="0">
                <a:latin typeface="Aptos" panose="020B0004020202020204" pitchFamily="34" charset="0"/>
              </a:rPr>
              <a:t>Patient anxieux</a:t>
            </a:r>
          </a:p>
          <a:p>
            <a:pPr marL="800100" lvl="1" indent="-342900">
              <a:buFont typeface="Courier New" panose="02070309020205020404" pitchFamily="49" charset="0"/>
              <a:buChar char="o"/>
            </a:pPr>
            <a:r>
              <a:rPr lang="fr-FR" sz="2000" dirty="0">
                <a:latin typeface="Aptos" panose="020B0004020202020204" pitchFamily="34" charset="0"/>
              </a:rPr>
              <a:t>Patient revendicateur</a:t>
            </a:r>
          </a:p>
          <a:p>
            <a:pPr marL="800100" lvl="1" indent="-342900">
              <a:buFont typeface="Courier New" panose="02070309020205020404" pitchFamily="49" charset="0"/>
              <a:buChar char="o"/>
            </a:pPr>
            <a:r>
              <a:rPr lang="fr-FR" sz="2000" dirty="0">
                <a:latin typeface="Aptos" panose="020B0004020202020204" pitchFamily="34" charset="0"/>
              </a:rPr>
              <a:t>Patient influencé par Internet.</a:t>
            </a:r>
          </a:p>
        </p:txBody>
      </p:sp>
      <p:sp>
        <p:nvSpPr>
          <p:cNvPr id="10" name="ZoneTexte 9">
            <a:extLst>
              <a:ext uri="{FF2B5EF4-FFF2-40B4-BE49-F238E27FC236}">
                <a16:creationId xmlns:a16="http://schemas.microsoft.com/office/drawing/2014/main" id="{774DF7EE-FA4C-40E4-A7FD-DB68072FA800}"/>
              </a:ext>
            </a:extLst>
          </p:cNvPr>
          <p:cNvSpPr txBox="1"/>
          <p:nvPr/>
        </p:nvSpPr>
        <p:spPr>
          <a:xfrm>
            <a:off x="7227857" y="4933005"/>
            <a:ext cx="4291792" cy="1384995"/>
          </a:xfrm>
          <a:prstGeom prst="rect">
            <a:avLst/>
          </a:prstGeom>
          <a:noFill/>
        </p:spPr>
        <p:txBody>
          <a:bodyPr wrap="square">
            <a:spAutoFit/>
          </a:bodyPr>
          <a:lstStyle/>
          <a:p>
            <a:pPr marL="285750" indent="-285750">
              <a:buFont typeface="Arial" panose="020B0604020202020204" pitchFamily="34" charset="0"/>
              <a:buChar char="•"/>
            </a:pPr>
            <a:r>
              <a:rPr lang="fr-FR" sz="1400" dirty="0">
                <a:latin typeface="Aptos" panose="020B0004020202020204" pitchFamily="34" charset="0"/>
              </a:rPr>
              <a:t>Avec l'utilisation croissante des réseaux sociaux, il est fréquent que certains patients arrivent avec :</a:t>
            </a:r>
          </a:p>
          <a:p>
            <a:pPr marL="742950" lvl="1" indent="-285750">
              <a:buFont typeface="Courier New" panose="02070309020205020404" pitchFamily="49" charset="0"/>
              <a:buChar char="o"/>
            </a:pPr>
            <a:r>
              <a:rPr lang="fr-FR" sz="1400" dirty="0">
                <a:latin typeface="Aptos" panose="020B0004020202020204" pitchFamily="34" charset="0"/>
              </a:rPr>
              <a:t>des informations incomplètes ;</a:t>
            </a:r>
          </a:p>
          <a:p>
            <a:pPr marL="742950" lvl="1" indent="-285750">
              <a:buFont typeface="Courier New" panose="02070309020205020404" pitchFamily="49" charset="0"/>
              <a:buChar char="o"/>
            </a:pPr>
            <a:r>
              <a:rPr lang="fr-FR" sz="1400" dirty="0">
                <a:latin typeface="Aptos" panose="020B0004020202020204" pitchFamily="34" charset="0"/>
              </a:rPr>
              <a:t>des conseils trouvés en ligne ;</a:t>
            </a:r>
          </a:p>
          <a:p>
            <a:pPr marL="742950" lvl="1" indent="-285750">
              <a:buFont typeface="Courier New" panose="02070309020205020404" pitchFamily="49" charset="0"/>
              <a:buChar char="o"/>
            </a:pPr>
            <a:r>
              <a:rPr lang="fr-FR" sz="1400" dirty="0">
                <a:latin typeface="Aptos" panose="020B0004020202020204" pitchFamily="34" charset="0"/>
              </a:rPr>
              <a:t>des croyances fortement ancrées.</a:t>
            </a:r>
          </a:p>
          <a:p>
            <a:pPr marL="285750" indent="-285750">
              <a:buFont typeface="Arial" panose="020B0604020202020204" pitchFamily="34" charset="0"/>
              <a:buChar char="•"/>
            </a:pPr>
            <a:r>
              <a:rPr lang="fr-FR" sz="1400" dirty="0">
                <a:latin typeface="Aptos" panose="020B0004020202020204" pitchFamily="34" charset="0"/>
              </a:rPr>
              <a:t>Le pharmacien doit savoir corriger sans humilier.</a:t>
            </a:r>
          </a:p>
        </p:txBody>
      </p:sp>
    </p:spTree>
    <p:extLst>
      <p:ext uri="{BB962C8B-B14F-4D97-AF65-F5344CB8AC3E}">
        <p14:creationId xmlns:p14="http://schemas.microsoft.com/office/powerpoint/2010/main" val="1755314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réclamations et des situations difficiles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Gérer un patient agressif</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4831971" cy="4093428"/>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Causes fréquentes</a:t>
            </a:r>
          </a:p>
          <a:p>
            <a:pPr marL="800100" lvl="1" indent="-342900">
              <a:buFont typeface="Courier New" panose="02070309020205020404" pitchFamily="49" charset="0"/>
              <a:buChar char="o"/>
            </a:pPr>
            <a:r>
              <a:rPr lang="fr-FR" sz="2000" dirty="0">
                <a:latin typeface="Aptos" panose="020B0004020202020204" pitchFamily="34" charset="0"/>
              </a:rPr>
              <a:t>Douleur</a:t>
            </a:r>
          </a:p>
          <a:p>
            <a:pPr marL="800100" lvl="1" indent="-342900">
              <a:buFont typeface="Courier New" panose="02070309020205020404" pitchFamily="49" charset="0"/>
              <a:buChar char="o"/>
            </a:pPr>
            <a:r>
              <a:rPr lang="fr-FR" sz="2000" dirty="0">
                <a:latin typeface="Aptos" panose="020B0004020202020204" pitchFamily="34" charset="0"/>
              </a:rPr>
              <a:t>Stress</a:t>
            </a:r>
          </a:p>
          <a:p>
            <a:pPr marL="800100" lvl="1" indent="-342900">
              <a:buFont typeface="Courier New" panose="02070309020205020404" pitchFamily="49" charset="0"/>
              <a:buChar char="o"/>
            </a:pPr>
            <a:r>
              <a:rPr lang="fr-FR" sz="2000" dirty="0">
                <a:latin typeface="Aptos" panose="020B0004020202020204" pitchFamily="34" charset="0"/>
              </a:rPr>
              <a:t>Temps d'attente</a:t>
            </a:r>
          </a:p>
          <a:p>
            <a:pPr marL="800100" lvl="1" indent="-342900">
              <a:buFont typeface="Courier New" panose="02070309020205020404" pitchFamily="49" charset="0"/>
              <a:buChar char="o"/>
            </a:pPr>
            <a:r>
              <a:rPr lang="fr-FR" sz="2000" dirty="0">
                <a:latin typeface="Aptos" panose="020B0004020202020204" pitchFamily="34" charset="0"/>
              </a:rPr>
              <a:t>Mauvaise expérience passée</a:t>
            </a:r>
          </a:p>
          <a:p>
            <a:pPr marL="800100" lvl="1" indent="-342900">
              <a:buFont typeface="Courier New" panose="02070309020205020404" pitchFamily="49" charset="0"/>
              <a:buChar char="o"/>
            </a:pPr>
            <a:r>
              <a:rPr lang="fr-FR" sz="2000" dirty="0">
                <a:latin typeface="Aptos" panose="020B0004020202020204" pitchFamily="34" charset="0"/>
              </a:rPr>
              <a:t>Incompréhension</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Méthode CALME</a:t>
            </a:r>
          </a:p>
          <a:p>
            <a:pPr marL="800100" lvl="1" indent="-342900">
              <a:buFont typeface="Courier New" panose="02070309020205020404" pitchFamily="49" charset="0"/>
              <a:buChar char="o"/>
            </a:pPr>
            <a:r>
              <a:rPr lang="fr-FR" sz="2000" dirty="0">
                <a:latin typeface="Aptos" panose="020B0004020202020204" pitchFamily="34" charset="0"/>
              </a:rPr>
              <a:t>C = Conserver son calme</a:t>
            </a:r>
          </a:p>
          <a:p>
            <a:pPr marL="800100" lvl="1" indent="-342900">
              <a:buFont typeface="Courier New" panose="02070309020205020404" pitchFamily="49" charset="0"/>
              <a:buChar char="o"/>
            </a:pPr>
            <a:r>
              <a:rPr lang="fr-FR" sz="2000" dirty="0">
                <a:latin typeface="Aptos" panose="020B0004020202020204" pitchFamily="34" charset="0"/>
              </a:rPr>
              <a:t>A = Accueillir l'émotion</a:t>
            </a:r>
          </a:p>
          <a:p>
            <a:pPr marL="800100" lvl="1" indent="-342900">
              <a:buFont typeface="Courier New" panose="02070309020205020404" pitchFamily="49" charset="0"/>
              <a:buChar char="o"/>
            </a:pPr>
            <a:r>
              <a:rPr lang="fr-FR" sz="2000" dirty="0">
                <a:latin typeface="Aptos" panose="020B0004020202020204" pitchFamily="34" charset="0"/>
              </a:rPr>
              <a:t>L = Laisser parler</a:t>
            </a:r>
          </a:p>
          <a:p>
            <a:pPr marL="800100" lvl="1" indent="-342900">
              <a:buFont typeface="Courier New" panose="02070309020205020404" pitchFamily="49" charset="0"/>
              <a:buChar char="o"/>
            </a:pPr>
            <a:r>
              <a:rPr lang="fr-FR" sz="2000" dirty="0">
                <a:latin typeface="Aptos" panose="020B0004020202020204" pitchFamily="34" charset="0"/>
              </a:rPr>
              <a:t>M = Montrer de l'empathie</a:t>
            </a:r>
          </a:p>
          <a:p>
            <a:pPr marL="800100" lvl="1" indent="-342900">
              <a:buFont typeface="Courier New" panose="02070309020205020404" pitchFamily="49" charset="0"/>
              <a:buChar char="o"/>
            </a:pPr>
            <a:r>
              <a:rPr lang="fr-FR" sz="2000" dirty="0">
                <a:latin typeface="Aptos" panose="020B0004020202020204" pitchFamily="34" charset="0"/>
              </a:rPr>
              <a:t>E = Explorer des solutions</a:t>
            </a:r>
          </a:p>
        </p:txBody>
      </p:sp>
      <p:sp>
        <p:nvSpPr>
          <p:cNvPr id="13" name="ZoneTexte 12">
            <a:extLst>
              <a:ext uri="{FF2B5EF4-FFF2-40B4-BE49-F238E27FC236}">
                <a16:creationId xmlns:a16="http://schemas.microsoft.com/office/drawing/2014/main" id="{833916AF-E260-43B5-8584-49A5426F49DE}"/>
              </a:ext>
            </a:extLst>
          </p:cNvPr>
          <p:cNvSpPr txBox="1"/>
          <p:nvPr/>
        </p:nvSpPr>
        <p:spPr>
          <a:xfrm>
            <a:off x="6106886" y="4326545"/>
            <a:ext cx="5535705" cy="1938992"/>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À éviter</a:t>
            </a:r>
          </a:p>
          <a:p>
            <a:pPr marL="800100" lvl="1" indent="-342900">
              <a:buFont typeface="Courier New" panose="02070309020205020404" pitchFamily="49" charset="0"/>
              <a:buChar char="o"/>
            </a:pPr>
            <a:r>
              <a:rPr lang="fr-FR" sz="2000" dirty="0">
                <a:latin typeface="Aptos" panose="020B0004020202020204" pitchFamily="34" charset="0"/>
              </a:rPr>
              <a:t>Hausser le ton</a:t>
            </a:r>
          </a:p>
          <a:p>
            <a:pPr marL="800100" lvl="1" indent="-342900">
              <a:buFont typeface="Courier New" panose="02070309020205020404" pitchFamily="49" charset="0"/>
              <a:buChar char="o"/>
            </a:pPr>
            <a:r>
              <a:rPr lang="fr-FR" sz="2000" dirty="0">
                <a:latin typeface="Aptos" panose="020B0004020202020204" pitchFamily="34" charset="0"/>
              </a:rPr>
              <a:t>Couper la parole</a:t>
            </a:r>
          </a:p>
          <a:p>
            <a:pPr marL="800100" lvl="1" indent="-342900">
              <a:buFont typeface="Courier New" panose="02070309020205020404" pitchFamily="49" charset="0"/>
              <a:buChar char="o"/>
            </a:pPr>
            <a:r>
              <a:rPr lang="fr-FR" sz="2000" dirty="0">
                <a:latin typeface="Aptos" panose="020B0004020202020204" pitchFamily="34" charset="0"/>
              </a:rPr>
              <a:t>Se justifier immédiatement</a:t>
            </a:r>
          </a:p>
          <a:p>
            <a:pPr marL="800100" lvl="1" indent="-342900">
              <a:buFont typeface="Courier New" panose="02070309020205020404" pitchFamily="49" charset="0"/>
              <a:buChar char="o"/>
            </a:pPr>
            <a:r>
              <a:rPr lang="fr-FR" sz="2000" dirty="0">
                <a:latin typeface="Aptos" panose="020B0004020202020204" pitchFamily="34" charset="0"/>
              </a:rPr>
              <a:t>Répondre sous le coup de l'émotion</a:t>
            </a:r>
          </a:p>
          <a:p>
            <a:pPr marL="800100" lvl="1" indent="-342900">
              <a:buFont typeface="Courier New" panose="02070309020205020404" pitchFamily="49" charset="0"/>
              <a:buChar char="o"/>
            </a:pPr>
            <a:endParaRPr lang="fr-FR" sz="2000" dirty="0">
              <a:latin typeface="Aptos" panose="020B0004020202020204" pitchFamily="34" charset="0"/>
            </a:endParaRPr>
          </a:p>
        </p:txBody>
      </p:sp>
    </p:spTree>
    <p:extLst>
      <p:ext uri="{BB962C8B-B14F-4D97-AF65-F5344CB8AC3E}">
        <p14:creationId xmlns:p14="http://schemas.microsoft.com/office/powerpoint/2010/main" val="1987012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réclamations et des situations difficiles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Erreurs de dispensation et incidents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5535705" cy="2862322"/>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Définition</a:t>
            </a:r>
            <a:r>
              <a:rPr lang="fr-FR" sz="2000" dirty="0">
                <a:latin typeface="Aptos" panose="020B0004020202020204" pitchFamily="34" charset="0"/>
              </a:rPr>
              <a:t> : Erreur survenue lors du processus de délivrance.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Types d'erreurs</a:t>
            </a:r>
          </a:p>
          <a:p>
            <a:pPr marL="800100" lvl="1" indent="-342900">
              <a:buFont typeface="Courier New" panose="02070309020205020404" pitchFamily="49" charset="0"/>
              <a:buChar char="o"/>
            </a:pPr>
            <a:r>
              <a:rPr lang="fr-FR" sz="2000" dirty="0">
                <a:latin typeface="Aptos" panose="020B0004020202020204" pitchFamily="34" charset="0"/>
              </a:rPr>
              <a:t>Mauvais médicament</a:t>
            </a:r>
          </a:p>
          <a:p>
            <a:pPr marL="800100" lvl="1" indent="-342900">
              <a:buFont typeface="Courier New" panose="02070309020205020404" pitchFamily="49" charset="0"/>
              <a:buChar char="o"/>
            </a:pPr>
            <a:r>
              <a:rPr lang="fr-FR" sz="2000" dirty="0">
                <a:latin typeface="Aptos" panose="020B0004020202020204" pitchFamily="34" charset="0"/>
              </a:rPr>
              <a:t>Mauvais dosage</a:t>
            </a:r>
          </a:p>
          <a:p>
            <a:pPr marL="800100" lvl="1" indent="-342900">
              <a:buFont typeface="Courier New" panose="02070309020205020404" pitchFamily="49" charset="0"/>
              <a:buChar char="o"/>
            </a:pPr>
            <a:r>
              <a:rPr lang="fr-FR" sz="2000" dirty="0">
                <a:latin typeface="Aptos" panose="020B0004020202020204" pitchFamily="34" charset="0"/>
              </a:rPr>
              <a:t>Mauvais patient</a:t>
            </a:r>
          </a:p>
          <a:p>
            <a:pPr marL="800100" lvl="1" indent="-342900">
              <a:buFont typeface="Courier New" panose="02070309020205020404" pitchFamily="49" charset="0"/>
              <a:buChar char="o"/>
            </a:pPr>
            <a:r>
              <a:rPr lang="fr-FR" sz="2000" dirty="0">
                <a:latin typeface="Aptos" panose="020B0004020202020204" pitchFamily="34" charset="0"/>
              </a:rPr>
              <a:t>Mauvaise durée</a:t>
            </a:r>
          </a:p>
          <a:p>
            <a:pPr marL="800100" lvl="1" indent="-342900">
              <a:buFont typeface="Courier New" panose="02070309020205020404" pitchFamily="49" charset="0"/>
              <a:buChar char="o"/>
            </a:pPr>
            <a:r>
              <a:rPr lang="fr-FR" sz="2000" dirty="0">
                <a:latin typeface="Aptos" panose="020B0004020202020204" pitchFamily="34" charset="0"/>
              </a:rPr>
              <a:t>Mauvaise explication</a:t>
            </a:r>
          </a:p>
        </p:txBody>
      </p:sp>
      <p:sp>
        <p:nvSpPr>
          <p:cNvPr id="13" name="ZoneTexte 12">
            <a:extLst>
              <a:ext uri="{FF2B5EF4-FFF2-40B4-BE49-F238E27FC236}">
                <a16:creationId xmlns:a16="http://schemas.microsoft.com/office/drawing/2014/main" id="{833916AF-E260-43B5-8584-49A5426F49DE}"/>
              </a:ext>
            </a:extLst>
          </p:cNvPr>
          <p:cNvSpPr txBox="1"/>
          <p:nvPr/>
        </p:nvSpPr>
        <p:spPr>
          <a:xfrm>
            <a:off x="5990345" y="3095439"/>
            <a:ext cx="5535705" cy="1938992"/>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Conduite à tenir</a:t>
            </a:r>
          </a:p>
          <a:p>
            <a:pPr marL="800100" lvl="1" indent="-342900">
              <a:buFont typeface="Courier New" panose="02070309020205020404" pitchFamily="49" charset="0"/>
              <a:buChar char="o"/>
            </a:pPr>
            <a:r>
              <a:rPr lang="fr-FR" sz="2000" dirty="0">
                <a:latin typeface="Aptos" panose="020B0004020202020204" pitchFamily="34" charset="0"/>
              </a:rPr>
              <a:t>Sécuriser immédiatement le patient</a:t>
            </a:r>
          </a:p>
          <a:p>
            <a:pPr marL="800100" lvl="1" indent="-342900">
              <a:buFont typeface="Courier New" panose="02070309020205020404" pitchFamily="49" charset="0"/>
              <a:buChar char="o"/>
            </a:pPr>
            <a:r>
              <a:rPr lang="fr-FR" sz="2000" dirty="0">
                <a:latin typeface="Aptos" panose="020B0004020202020204" pitchFamily="34" charset="0"/>
              </a:rPr>
              <a:t>Informer le pharmacien responsable</a:t>
            </a:r>
          </a:p>
          <a:p>
            <a:pPr marL="800100" lvl="1" indent="-342900">
              <a:buFont typeface="Courier New" panose="02070309020205020404" pitchFamily="49" charset="0"/>
              <a:buChar char="o"/>
            </a:pPr>
            <a:r>
              <a:rPr lang="fr-FR" sz="2000" dirty="0">
                <a:latin typeface="Aptos" panose="020B0004020202020204" pitchFamily="34" charset="0"/>
              </a:rPr>
              <a:t>Évaluer le risque clinique</a:t>
            </a:r>
          </a:p>
          <a:p>
            <a:pPr marL="800100" lvl="1" indent="-342900">
              <a:buFont typeface="Courier New" panose="02070309020205020404" pitchFamily="49" charset="0"/>
              <a:buChar char="o"/>
            </a:pPr>
            <a:r>
              <a:rPr lang="fr-FR" sz="2000" dirty="0">
                <a:latin typeface="Aptos" panose="020B0004020202020204" pitchFamily="34" charset="0"/>
              </a:rPr>
              <a:t>Documenter l'incident</a:t>
            </a:r>
          </a:p>
          <a:p>
            <a:pPr marL="800100" lvl="1" indent="-342900">
              <a:buFont typeface="Courier New" panose="02070309020205020404" pitchFamily="49" charset="0"/>
              <a:buChar char="o"/>
            </a:pPr>
            <a:r>
              <a:rPr lang="fr-FR" sz="2000" dirty="0">
                <a:latin typeface="Aptos" panose="020B0004020202020204" pitchFamily="34" charset="0"/>
              </a:rPr>
              <a:t>Mettre en œuvre des actions correctives</a:t>
            </a:r>
          </a:p>
        </p:txBody>
      </p:sp>
      <p:sp>
        <p:nvSpPr>
          <p:cNvPr id="15" name="ZoneTexte 14">
            <a:extLst>
              <a:ext uri="{FF2B5EF4-FFF2-40B4-BE49-F238E27FC236}">
                <a16:creationId xmlns:a16="http://schemas.microsoft.com/office/drawing/2014/main" id="{8EEC3AD7-BD8E-4700-9DD3-115433557680}"/>
              </a:ext>
            </a:extLst>
          </p:cNvPr>
          <p:cNvSpPr txBox="1"/>
          <p:nvPr/>
        </p:nvSpPr>
        <p:spPr>
          <a:xfrm>
            <a:off x="1082384" y="5361657"/>
            <a:ext cx="10771259" cy="861774"/>
          </a:xfrm>
          <a:prstGeom prst="rect">
            <a:avLst/>
          </a:prstGeom>
          <a:noFill/>
        </p:spPr>
        <p:txBody>
          <a:bodyPr wrap="square">
            <a:spAutoFit/>
          </a:bodyPr>
          <a:lstStyle/>
          <a:p>
            <a:r>
              <a:rPr lang="fr-FR" sz="1600" b="1" dirty="0">
                <a:latin typeface="Aptos" panose="020B0004020202020204" pitchFamily="34" charset="0"/>
              </a:rPr>
              <a:t>Cas pratique : </a:t>
            </a:r>
          </a:p>
          <a:p>
            <a:pPr marL="285750" indent="-285750">
              <a:buFont typeface="Arial" panose="020B0604020202020204" pitchFamily="34" charset="0"/>
              <a:buChar char="•"/>
            </a:pPr>
            <a:r>
              <a:rPr lang="fr-FR" sz="1600" dirty="0">
                <a:latin typeface="Aptos" panose="020B0004020202020204" pitchFamily="34" charset="0"/>
              </a:rPr>
              <a:t>Un patient revient :Le médicament remis n'est pas celui figurant sur l'ordonnance.</a:t>
            </a:r>
          </a:p>
          <a:p>
            <a:pPr marL="285750" indent="-285750">
              <a:buFont typeface="Arial" panose="020B0604020202020204" pitchFamily="34" charset="0"/>
              <a:buChar char="•"/>
            </a:pPr>
            <a:r>
              <a:rPr lang="fr-FR" sz="1600" dirty="0">
                <a:latin typeface="Aptos" panose="020B0004020202020204" pitchFamily="34" charset="0"/>
              </a:rPr>
              <a:t>Que faire ?</a:t>
            </a:r>
          </a:p>
        </p:txBody>
      </p:sp>
    </p:spTree>
    <p:extLst>
      <p:ext uri="{BB962C8B-B14F-4D97-AF65-F5344CB8AC3E}">
        <p14:creationId xmlns:p14="http://schemas.microsoft.com/office/powerpoint/2010/main" val="428721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réclamations et des situations difficiles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Gestion des ruptures de stock et des plaintes associées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1100602" cy="3785652"/>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Pourquoi les patients se plaignent-ils ?</a:t>
            </a:r>
          </a:p>
          <a:p>
            <a:pPr marL="800100" lvl="1" indent="-342900">
              <a:buFont typeface="Courier New" panose="02070309020205020404" pitchFamily="49" charset="0"/>
              <a:buChar char="o"/>
            </a:pPr>
            <a:r>
              <a:rPr lang="fr-FR" sz="2000" dirty="0">
                <a:latin typeface="Aptos" panose="020B0004020202020204" pitchFamily="34" charset="0"/>
              </a:rPr>
              <a:t>Parce qu'ils associent souvent rupture de stock et mauvais service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Communication recommandée</a:t>
            </a:r>
          </a:p>
          <a:p>
            <a:pPr marL="800100" lvl="1" indent="-342900">
              <a:buFont typeface="Courier New" panose="02070309020205020404" pitchFamily="49" charset="0"/>
              <a:buChar char="o"/>
            </a:pPr>
            <a:r>
              <a:rPr lang="fr-FR" sz="2000" dirty="0">
                <a:latin typeface="Aptos" panose="020B0004020202020204" pitchFamily="34" charset="0"/>
              </a:rPr>
              <a:t>Être transparent</a:t>
            </a:r>
          </a:p>
          <a:p>
            <a:pPr marL="800100" lvl="1" indent="-342900">
              <a:buFont typeface="Courier New" panose="02070309020205020404" pitchFamily="49" charset="0"/>
              <a:buChar char="o"/>
            </a:pPr>
            <a:r>
              <a:rPr lang="fr-FR" sz="2000" dirty="0">
                <a:latin typeface="Aptos" panose="020B0004020202020204" pitchFamily="34" charset="0"/>
              </a:rPr>
              <a:t>Expliquer la situation</a:t>
            </a:r>
          </a:p>
          <a:p>
            <a:pPr marL="800100" lvl="1" indent="-342900">
              <a:buFont typeface="Courier New" panose="02070309020205020404" pitchFamily="49" charset="0"/>
              <a:buChar char="o"/>
            </a:pPr>
            <a:r>
              <a:rPr lang="fr-FR" sz="2000" dirty="0">
                <a:latin typeface="Aptos" panose="020B0004020202020204" pitchFamily="34" charset="0"/>
              </a:rPr>
              <a:t>Proposer une alternative</a:t>
            </a:r>
          </a:p>
          <a:p>
            <a:pPr marL="800100" lvl="1" indent="-342900">
              <a:buFont typeface="Courier New" panose="02070309020205020404" pitchFamily="49" charset="0"/>
              <a:buChar char="o"/>
            </a:pPr>
            <a:r>
              <a:rPr lang="fr-FR" sz="2000" dirty="0">
                <a:latin typeface="Aptos" panose="020B0004020202020204" pitchFamily="34" charset="0"/>
              </a:rPr>
              <a:t>Proposer un suivi</a:t>
            </a:r>
          </a:p>
          <a:p>
            <a:pPr marL="342900" indent="-342900">
              <a:buFont typeface="Arial" panose="020B0604020202020204" pitchFamily="34" charset="0"/>
              <a:buChar char="•"/>
            </a:pPr>
            <a:endParaRPr lang="fr-FR" sz="2000" dirty="0">
              <a:latin typeface="Aptos" panose="020B0004020202020204" pitchFamily="34" charset="0"/>
            </a:endParaRPr>
          </a:p>
          <a:p>
            <a:pPr marL="800100" lvl="1" indent="-342900">
              <a:buFont typeface="Courier New" panose="02070309020205020404" pitchFamily="49" charset="0"/>
              <a:buChar char="o"/>
            </a:pPr>
            <a:r>
              <a:rPr lang="fr-FR" sz="2000" b="1" dirty="0">
                <a:latin typeface="Aptos" panose="020B0004020202020204" pitchFamily="34" charset="0"/>
              </a:rPr>
              <a:t>Exemple : </a:t>
            </a:r>
            <a:r>
              <a:rPr lang="fr-FR" sz="2000" dirty="0">
                <a:latin typeface="Aptos" panose="020B0004020202020204" pitchFamily="34" charset="0"/>
              </a:rPr>
              <a:t>« Ce produit est actuellement en rupture chez plusieurs fournisseurs. Nous pouvons toutefois vous proposer une alternative validée ou vous informer dès sa disponibilité. »</a:t>
            </a:r>
          </a:p>
        </p:txBody>
      </p:sp>
    </p:spTree>
    <p:extLst>
      <p:ext uri="{BB962C8B-B14F-4D97-AF65-F5344CB8AC3E}">
        <p14:creationId xmlns:p14="http://schemas.microsoft.com/office/powerpoint/2010/main" val="2865442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réclamations et des situations difficiles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Gestion des réclamations sur les réseaux sociaux</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1100602" cy="3170099"/>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Réalité actuelle</a:t>
            </a:r>
          </a:p>
          <a:p>
            <a:pPr marL="800100" lvl="1" indent="-342900">
              <a:buFont typeface="Courier New" panose="02070309020205020404" pitchFamily="49" charset="0"/>
              <a:buChar char="o"/>
            </a:pPr>
            <a:r>
              <a:rPr lang="fr-FR" sz="2000" dirty="0">
                <a:latin typeface="Aptos" panose="020B0004020202020204" pitchFamily="34" charset="0"/>
              </a:rPr>
              <a:t>Les patients peuvent publier un avis Google, Facebook, WhatsApp, </a:t>
            </a:r>
            <a:r>
              <a:rPr lang="fr-FR" sz="2000" dirty="0" err="1">
                <a:latin typeface="Aptos" panose="020B0004020202020204" pitchFamily="34" charset="0"/>
              </a:rPr>
              <a:t>TikTok</a:t>
            </a:r>
            <a:r>
              <a:rPr lang="fr-FR" sz="2000" dirty="0">
                <a:latin typeface="Aptos" panose="020B0004020202020204" pitchFamily="34" charset="0"/>
              </a:rPr>
              <a:t> ou Instagram.</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Risques</a:t>
            </a:r>
            <a:r>
              <a:rPr lang="fr-FR" sz="2000" dirty="0">
                <a:latin typeface="Aptos" panose="020B0004020202020204" pitchFamily="34" charset="0"/>
              </a:rPr>
              <a:t> : Atteinte à la réputation, perte de clientèle et diffusion rapide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Bonnes pratiques :</a:t>
            </a:r>
          </a:p>
          <a:p>
            <a:pPr marL="800100" lvl="1" indent="-342900">
              <a:buFont typeface="Courier New" panose="02070309020205020404" pitchFamily="49" charset="0"/>
              <a:buChar char="o"/>
            </a:pPr>
            <a:r>
              <a:rPr lang="fr-FR" sz="2000" dirty="0">
                <a:latin typeface="Aptos" panose="020B0004020202020204" pitchFamily="34" charset="0"/>
              </a:rPr>
              <a:t>Répondre rapidement</a:t>
            </a:r>
          </a:p>
          <a:p>
            <a:pPr marL="800100" lvl="1" indent="-342900">
              <a:buFont typeface="Courier New" panose="02070309020205020404" pitchFamily="49" charset="0"/>
              <a:buChar char="o"/>
            </a:pPr>
            <a:r>
              <a:rPr lang="fr-FR" sz="2000" dirty="0">
                <a:latin typeface="Aptos" panose="020B0004020202020204" pitchFamily="34" charset="0"/>
              </a:rPr>
              <a:t>Rester professionnel</a:t>
            </a:r>
          </a:p>
          <a:p>
            <a:pPr marL="800100" lvl="1" indent="-342900">
              <a:buFont typeface="Courier New" panose="02070309020205020404" pitchFamily="49" charset="0"/>
              <a:buChar char="o"/>
            </a:pPr>
            <a:r>
              <a:rPr lang="fr-FR" sz="2000" dirty="0">
                <a:latin typeface="Aptos" panose="020B0004020202020204" pitchFamily="34" charset="0"/>
              </a:rPr>
              <a:t>Éviter les débats publics</a:t>
            </a:r>
          </a:p>
          <a:p>
            <a:pPr marL="800100" lvl="1" indent="-342900">
              <a:buFont typeface="Courier New" panose="02070309020205020404" pitchFamily="49" charset="0"/>
              <a:buChar char="o"/>
            </a:pPr>
            <a:r>
              <a:rPr lang="fr-FR" sz="2000" dirty="0">
                <a:latin typeface="Aptos" panose="020B0004020202020204" pitchFamily="34" charset="0"/>
              </a:rPr>
              <a:t>Proposer un contact privé</a:t>
            </a:r>
          </a:p>
        </p:txBody>
      </p:sp>
      <p:sp>
        <p:nvSpPr>
          <p:cNvPr id="10" name="ZoneTexte 9">
            <a:extLst>
              <a:ext uri="{FF2B5EF4-FFF2-40B4-BE49-F238E27FC236}">
                <a16:creationId xmlns:a16="http://schemas.microsoft.com/office/drawing/2014/main" id="{3FCB952F-9310-4884-9E09-7604703AB270}"/>
              </a:ext>
            </a:extLst>
          </p:cNvPr>
          <p:cNvSpPr txBox="1"/>
          <p:nvPr/>
        </p:nvSpPr>
        <p:spPr>
          <a:xfrm>
            <a:off x="6577853" y="5259173"/>
            <a:ext cx="5614147" cy="1169551"/>
          </a:xfrm>
          <a:prstGeom prst="rect">
            <a:avLst/>
          </a:prstGeom>
          <a:noFill/>
        </p:spPr>
        <p:txBody>
          <a:bodyPr wrap="square">
            <a:spAutoFit/>
          </a:bodyPr>
          <a:lstStyle/>
          <a:p>
            <a:r>
              <a:rPr lang="fr-FR" sz="1400" b="1" dirty="0">
                <a:latin typeface="Aptos" panose="020B0004020202020204" pitchFamily="34" charset="0"/>
              </a:rPr>
              <a:t>Exemple</a:t>
            </a:r>
          </a:p>
          <a:p>
            <a:pPr marL="285750" indent="-285750">
              <a:buFont typeface="Arial" panose="020B0604020202020204" pitchFamily="34" charset="0"/>
              <a:buChar char="•"/>
            </a:pPr>
            <a:r>
              <a:rPr lang="fr-FR" sz="1400" b="1" dirty="0">
                <a:latin typeface="Aptos" panose="020B0004020202020204" pitchFamily="34" charset="0"/>
              </a:rPr>
              <a:t>Avis négatif </a:t>
            </a:r>
            <a:r>
              <a:rPr lang="fr-FR" sz="1400" dirty="0">
                <a:latin typeface="Aptos" panose="020B0004020202020204" pitchFamily="34" charset="0"/>
              </a:rPr>
              <a:t>: « Très mauvais accueil. »</a:t>
            </a:r>
          </a:p>
          <a:p>
            <a:pPr marL="285750" indent="-285750">
              <a:buFont typeface="Arial" panose="020B0604020202020204" pitchFamily="34" charset="0"/>
              <a:buChar char="•"/>
            </a:pPr>
            <a:r>
              <a:rPr lang="fr-FR" sz="1400" b="1" dirty="0">
                <a:latin typeface="Aptos" panose="020B0004020202020204" pitchFamily="34" charset="0"/>
              </a:rPr>
              <a:t>Réponse</a:t>
            </a:r>
            <a:r>
              <a:rPr lang="fr-FR" sz="1400" dirty="0">
                <a:latin typeface="Aptos" panose="020B0004020202020204" pitchFamily="34" charset="0"/>
              </a:rPr>
              <a:t> :« Nous sommes désolés que votre expérience n'ait pas répondu à vos attentes. Nous souhaiterions échanger avec vous afin de mieux comprendre la situation et nous améliorer. »</a:t>
            </a:r>
          </a:p>
        </p:txBody>
      </p:sp>
    </p:spTree>
    <p:extLst>
      <p:ext uri="{BB962C8B-B14F-4D97-AF65-F5344CB8AC3E}">
        <p14:creationId xmlns:p14="http://schemas.microsoft.com/office/powerpoint/2010/main" val="1415606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réclamations et des situations difficiles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Documentation des réclamations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1100602" cy="3170099"/>
          </a:xfrm>
          <a:prstGeom prst="rect">
            <a:avLst/>
          </a:prstGeom>
          <a:noFill/>
        </p:spPr>
        <p:txBody>
          <a:bodyPr wrap="square">
            <a:spAutoFit/>
          </a:bodyPr>
          <a:lstStyle/>
          <a:p>
            <a:r>
              <a:rPr lang="fr-FR" sz="2000" b="1" dirty="0">
                <a:latin typeface="Aptos" panose="020B0004020202020204" pitchFamily="34" charset="0"/>
              </a:rPr>
              <a:t>Pourquoi documenter ?</a:t>
            </a:r>
          </a:p>
          <a:p>
            <a:pPr marL="800100" lvl="1" indent="-342900">
              <a:buFont typeface="Arial" panose="020B0604020202020204" pitchFamily="34" charset="0"/>
              <a:buChar char="•"/>
            </a:pPr>
            <a:r>
              <a:rPr lang="fr-FR" sz="2000" dirty="0">
                <a:latin typeface="Aptos" panose="020B0004020202020204" pitchFamily="34" charset="0"/>
              </a:rPr>
              <a:t>Pour :</a:t>
            </a:r>
          </a:p>
          <a:p>
            <a:pPr marL="1257300" lvl="2" indent="-342900">
              <a:buFont typeface="Courier New" panose="02070309020205020404" pitchFamily="49" charset="0"/>
              <a:buChar char="o"/>
            </a:pPr>
            <a:r>
              <a:rPr lang="fr-FR" sz="2000" dirty="0">
                <a:latin typeface="Aptos" panose="020B0004020202020204" pitchFamily="34" charset="0"/>
              </a:rPr>
              <a:t>Analyser ;</a:t>
            </a:r>
          </a:p>
          <a:p>
            <a:pPr marL="1257300" lvl="2" indent="-342900">
              <a:buFont typeface="Courier New" panose="02070309020205020404" pitchFamily="49" charset="0"/>
              <a:buChar char="o"/>
            </a:pPr>
            <a:r>
              <a:rPr lang="fr-FR" sz="2000" dirty="0">
                <a:latin typeface="Aptos" panose="020B0004020202020204" pitchFamily="34" charset="0"/>
              </a:rPr>
              <a:t>Corriger ;</a:t>
            </a:r>
          </a:p>
          <a:p>
            <a:pPr marL="1257300" lvl="2" indent="-342900">
              <a:buFont typeface="Courier New" panose="02070309020205020404" pitchFamily="49" charset="0"/>
              <a:buChar char="o"/>
            </a:pPr>
            <a:r>
              <a:rPr lang="fr-FR" sz="2000" dirty="0">
                <a:latin typeface="Aptos" panose="020B0004020202020204" pitchFamily="34" charset="0"/>
              </a:rPr>
              <a:t>Prévenir.</a:t>
            </a:r>
          </a:p>
          <a:p>
            <a:pPr marL="1257300" lvl="2" indent="-342900">
              <a:buFont typeface="Courier New" panose="02070309020205020404" pitchFamily="49" charset="0"/>
              <a:buChar char="o"/>
            </a:pPr>
            <a:endParaRPr lang="fr-FR" sz="2000" dirty="0">
              <a:latin typeface="Aptos" panose="020B0004020202020204" pitchFamily="34" charset="0"/>
            </a:endParaRPr>
          </a:p>
          <a:p>
            <a:r>
              <a:rPr lang="fr-FR" sz="2000" b="1" dirty="0">
                <a:latin typeface="Aptos" panose="020B0004020202020204" pitchFamily="34" charset="0"/>
              </a:rPr>
              <a:t>Classification</a:t>
            </a:r>
          </a:p>
          <a:p>
            <a:pPr marL="800100" lvl="1" indent="-342900">
              <a:buFont typeface="Arial" panose="020B0604020202020204" pitchFamily="34" charset="0"/>
              <a:buChar char="•"/>
            </a:pPr>
            <a:r>
              <a:rPr lang="fr-FR" sz="2000" dirty="0">
                <a:latin typeface="Aptos" panose="020B0004020202020204" pitchFamily="34" charset="0"/>
              </a:rPr>
              <a:t>Mineure</a:t>
            </a:r>
          </a:p>
          <a:p>
            <a:pPr marL="800100" lvl="1" indent="-342900">
              <a:buFont typeface="Arial" panose="020B0604020202020204" pitchFamily="34" charset="0"/>
              <a:buChar char="•"/>
            </a:pPr>
            <a:r>
              <a:rPr lang="fr-FR" sz="2000" dirty="0">
                <a:latin typeface="Aptos" panose="020B0004020202020204" pitchFamily="34" charset="0"/>
              </a:rPr>
              <a:t>Majeure</a:t>
            </a:r>
          </a:p>
          <a:p>
            <a:pPr marL="800100" lvl="1" indent="-342900">
              <a:buFont typeface="Arial" panose="020B0604020202020204" pitchFamily="34" charset="0"/>
              <a:buChar char="•"/>
            </a:pPr>
            <a:r>
              <a:rPr lang="fr-FR" sz="2000" dirty="0">
                <a:latin typeface="Aptos" panose="020B0004020202020204" pitchFamily="34" charset="0"/>
              </a:rPr>
              <a:t>Critique</a:t>
            </a:r>
          </a:p>
        </p:txBody>
      </p:sp>
    </p:spTree>
    <p:extLst>
      <p:ext uri="{BB962C8B-B14F-4D97-AF65-F5344CB8AC3E}">
        <p14:creationId xmlns:p14="http://schemas.microsoft.com/office/powerpoint/2010/main" val="2562087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réclamations et des situations difficiles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Culture de service en 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1100602" cy="4093428"/>
          </a:xfrm>
          <a:prstGeom prst="rect">
            <a:avLst/>
          </a:prstGeom>
          <a:noFill/>
        </p:spPr>
        <p:txBody>
          <a:bodyPr wrap="square">
            <a:spAutoFit/>
          </a:bodyPr>
          <a:lstStyle/>
          <a:p>
            <a:r>
              <a:rPr lang="fr-FR" sz="2000" dirty="0">
                <a:latin typeface="Aptos" panose="020B0004020202020204" pitchFamily="34" charset="0"/>
              </a:rPr>
              <a:t>Les meilleures officines ne cherchent pas à avoir zéro plainte.</a:t>
            </a:r>
          </a:p>
          <a:p>
            <a:r>
              <a:rPr lang="fr-FR" sz="2000" b="1" dirty="0">
                <a:latin typeface="Aptos" panose="020B0004020202020204" pitchFamily="34" charset="0"/>
              </a:rPr>
              <a:t>Elles cherchent à :</a:t>
            </a:r>
          </a:p>
          <a:p>
            <a:pPr marL="800100" lvl="1" indent="-342900">
              <a:buFont typeface="Arial" panose="020B0604020202020204" pitchFamily="34" charset="0"/>
              <a:buChar char="•"/>
            </a:pPr>
            <a:r>
              <a:rPr lang="fr-FR" sz="2000" dirty="0">
                <a:latin typeface="Aptos" panose="020B0004020202020204" pitchFamily="34" charset="0"/>
              </a:rPr>
              <a:t>Écouter ;</a:t>
            </a:r>
          </a:p>
          <a:p>
            <a:pPr marL="800100" lvl="1" indent="-342900">
              <a:buFont typeface="Arial" panose="020B0604020202020204" pitchFamily="34" charset="0"/>
              <a:buChar char="•"/>
            </a:pPr>
            <a:r>
              <a:rPr lang="fr-FR" sz="2000" dirty="0">
                <a:latin typeface="Aptos" panose="020B0004020202020204" pitchFamily="34" charset="0"/>
              </a:rPr>
              <a:t>Apprendre ;</a:t>
            </a:r>
          </a:p>
          <a:p>
            <a:pPr marL="800100" lvl="1" indent="-342900">
              <a:buFont typeface="Arial" panose="020B0604020202020204" pitchFamily="34" charset="0"/>
              <a:buChar char="•"/>
            </a:pPr>
            <a:r>
              <a:rPr lang="fr-FR" sz="2000" dirty="0">
                <a:latin typeface="Aptos" panose="020B0004020202020204" pitchFamily="34" charset="0"/>
              </a:rPr>
              <a:t>Corriger ;</a:t>
            </a:r>
          </a:p>
          <a:p>
            <a:pPr marL="800100" lvl="1" indent="-342900">
              <a:buFont typeface="Arial" panose="020B0604020202020204" pitchFamily="34" charset="0"/>
              <a:buChar char="•"/>
            </a:pPr>
            <a:r>
              <a:rPr lang="fr-FR" sz="2000" dirty="0">
                <a:latin typeface="Aptos" panose="020B0004020202020204" pitchFamily="34" charset="0"/>
              </a:rPr>
              <a:t>Améliorer.</a:t>
            </a:r>
          </a:p>
          <a:p>
            <a:endParaRPr lang="fr-FR" sz="2000" dirty="0">
              <a:latin typeface="Aptos" panose="020B0004020202020204" pitchFamily="34" charset="0"/>
            </a:endParaRPr>
          </a:p>
          <a:p>
            <a:r>
              <a:rPr lang="fr-FR" sz="2000" b="1" dirty="0">
                <a:latin typeface="Aptos" panose="020B0004020202020204" pitchFamily="34" charset="0"/>
              </a:rPr>
              <a:t>Indicateurs de qualité</a:t>
            </a:r>
          </a:p>
          <a:p>
            <a:pPr marL="800100" lvl="1" indent="-342900">
              <a:buFont typeface="Arial" panose="020B0604020202020204" pitchFamily="34" charset="0"/>
              <a:buChar char="•"/>
            </a:pPr>
            <a:r>
              <a:rPr lang="fr-FR" sz="2000" dirty="0">
                <a:latin typeface="Aptos" panose="020B0004020202020204" pitchFamily="34" charset="0"/>
              </a:rPr>
              <a:t>Nombre de réclamations</a:t>
            </a:r>
          </a:p>
          <a:p>
            <a:pPr marL="800100" lvl="1" indent="-342900">
              <a:buFont typeface="Arial" panose="020B0604020202020204" pitchFamily="34" charset="0"/>
              <a:buChar char="•"/>
            </a:pPr>
            <a:r>
              <a:rPr lang="fr-FR" sz="2000" dirty="0">
                <a:latin typeface="Aptos" panose="020B0004020202020204" pitchFamily="34" charset="0"/>
              </a:rPr>
              <a:t>Temps de traitement</a:t>
            </a:r>
          </a:p>
          <a:p>
            <a:pPr marL="800100" lvl="1" indent="-342900">
              <a:buFont typeface="Arial" panose="020B0604020202020204" pitchFamily="34" charset="0"/>
              <a:buChar char="•"/>
            </a:pPr>
            <a:r>
              <a:rPr lang="fr-FR" sz="2000" dirty="0">
                <a:latin typeface="Aptos" panose="020B0004020202020204" pitchFamily="34" charset="0"/>
              </a:rPr>
              <a:t>Satisfaction client</a:t>
            </a:r>
          </a:p>
          <a:p>
            <a:pPr marL="800100" lvl="1" indent="-342900">
              <a:buFont typeface="Arial" panose="020B0604020202020204" pitchFamily="34" charset="0"/>
              <a:buChar char="•"/>
            </a:pPr>
            <a:r>
              <a:rPr lang="fr-FR" sz="2000" dirty="0">
                <a:latin typeface="Aptos" panose="020B0004020202020204" pitchFamily="34" charset="0"/>
              </a:rPr>
              <a:t>Fidélisation</a:t>
            </a:r>
          </a:p>
          <a:p>
            <a:pPr marL="800100" lvl="1" indent="-342900">
              <a:buFont typeface="Arial" panose="020B0604020202020204" pitchFamily="34" charset="0"/>
              <a:buChar char="•"/>
            </a:pPr>
            <a:r>
              <a:rPr lang="fr-FR" sz="2000" dirty="0">
                <a:latin typeface="Aptos" panose="020B0004020202020204" pitchFamily="34" charset="0"/>
              </a:rPr>
              <a:t>Taux de résolution</a:t>
            </a:r>
          </a:p>
        </p:txBody>
      </p:sp>
    </p:spTree>
    <p:extLst>
      <p:ext uri="{BB962C8B-B14F-4D97-AF65-F5344CB8AC3E}">
        <p14:creationId xmlns:p14="http://schemas.microsoft.com/office/powerpoint/2010/main" val="3866066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des réclamations et des situations difficiles</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Message clé à retenir</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1100602" cy="2554545"/>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Une plainte n'est pas un échec.</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C'est une information précieuse qui permet à l'officine d'améliorer ses services, de réduire ses risques et de renforcer la confiance des patients.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Les officines les plus performantes ne sont pas celles qui n'ont jamais de réclamations.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Ce sont celles qui savent les transformer en opportunités d'amélioration.</a:t>
            </a:r>
          </a:p>
        </p:txBody>
      </p:sp>
    </p:spTree>
    <p:extLst>
      <p:ext uri="{BB962C8B-B14F-4D97-AF65-F5344CB8AC3E}">
        <p14:creationId xmlns:p14="http://schemas.microsoft.com/office/powerpoint/2010/main" val="4095570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Fidélisation de la clientèle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172109"/>
            <a:ext cx="11100602" cy="2554545"/>
          </a:xfrm>
          <a:prstGeom prst="rect">
            <a:avLst/>
          </a:prstGeom>
          <a:noFill/>
        </p:spPr>
        <p:txBody>
          <a:bodyPr wrap="square">
            <a:spAutoFit/>
          </a:bodyPr>
          <a:lstStyle/>
          <a:p>
            <a:r>
              <a:rPr lang="fr-FR" sz="2000" dirty="0">
                <a:latin typeface="Aptos" panose="020B0004020202020204" pitchFamily="34" charset="0"/>
              </a:rPr>
              <a:t>À l’issue de ce sous-module, le participant sera capable de :</a:t>
            </a:r>
          </a:p>
          <a:p>
            <a:pPr marL="342900" indent="-342900">
              <a:buFont typeface="Arial" panose="020B0604020202020204" pitchFamily="34" charset="0"/>
              <a:buChar char="•"/>
            </a:pPr>
            <a:r>
              <a:rPr lang="fr-FR" sz="2000" dirty="0">
                <a:latin typeface="Aptos" panose="020B0004020202020204" pitchFamily="34" charset="0"/>
              </a:rPr>
              <a:t>Comprendre les mécanismes de fidélisation en officine ;</a:t>
            </a:r>
          </a:p>
          <a:p>
            <a:pPr marL="342900" indent="-342900">
              <a:buFont typeface="Arial" panose="020B0604020202020204" pitchFamily="34" charset="0"/>
              <a:buChar char="•"/>
            </a:pPr>
            <a:r>
              <a:rPr lang="fr-FR" sz="2000" dirty="0">
                <a:latin typeface="Aptos" panose="020B0004020202020204" pitchFamily="34" charset="0"/>
              </a:rPr>
              <a:t>Construire une expérience patient différenciante ;</a:t>
            </a:r>
          </a:p>
          <a:p>
            <a:pPr marL="342900" indent="-342900">
              <a:buFont typeface="Arial" panose="020B0604020202020204" pitchFamily="34" charset="0"/>
              <a:buChar char="•"/>
            </a:pPr>
            <a:r>
              <a:rPr lang="fr-FR" sz="2000" dirty="0">
                <a:latin typeface="Aptos" panose="020B0004020202020204" pitchFamily="34" charset="0"/>
              </a:rPr>
              <a:t>Développer des services à valeur ajoutée ;</a:t>
            </a:r>
          </a:p>
          <a:p>
            <a:pPr marL="342900" indent="-342900">
              <a:buFont typeface="Arial" panose="020B0604020202020204" pitchFamily="34" charset="0"/>
              <a:buChar char="•"/>
            </a:pPr>
            <a:r>
              <a:rPr lang="fr-FR" sz="2000" dirty="0">
                <a:latin typeface="Aptos" panose="020B0004020202020204" pitchFamily="34" charset="0"/>
              </a:rPr>
              <a:t>Mettre en place des outils de suivi de la satisfaction ;</a:t>
            </a:r>
          </a:p>
          <a:p>
            <a:pPr marL="342900" indent="-342900">
              <a:buFont typeface="Arial" panose="020B0604020202020204" pitchFamily="34" charset="0"/>
              <a:buChar char="•"/>
            </a:pPr>
            <a:r>
              <a:rPr lang="fr-FR" sz="2000" dirty="0">
                <a:latin typeface="Aptos" panose="020B0004020202020204" pitchFamily="34" charset="0"/>
              </a:rPr>
              <a:t>Renforcer la rétention de la clientèle ;</a:t>
            </a:r>
          </a:p>
          <a:p>
            <a:pPr marL="342900" indent="-342900">
              <a:buFont typeface="Arial" panose="020B0604020202020204" pitchFamily="34" charset="0"/>
              <a:buChar char="•"/>
            </a:pPr>
            <a:r>
              <a:rPr lang="fr-FR" sz="2000" dirty="0">
                <a:latin typeface="Aptos" panose="020B0004020202020204" pitchFamily="34" charset="0"/>
              </a:rPr>
              <a:t>Développer une relation durable avec les patients tout en respectant la réglementation et la déontologie.</a:t>
            </a:r>
          </a:p>
        </p:txBody>
      </p:sp>
    </p:spTree>
    <p:extLst>
      <p:ext uri="{BB962C8B-B14F-4D97-AF65-F5344CB8AC3E}">
        <p14:creationId xmlns:p14="http://schemas.microsoft.com/office/powerpoint/2010/main" val="400774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Fidélisation de la clientèle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r>
              <a:rPr lang="fr-FR" sz="2000" dirty="0">
                <a:latin typeface="Aptos" panose="020B0004020202020204" pitchFamily="34" charset="0"/>
              </a:rPr>
              <a:t>Une officine ne fidélise pas uniquement grâce à ses médicaments.</a:t>
            </a:r>
          </a:p>
          <a:p>
            <a:endParaRPr lang="fr-FR" sz="2000" dirty="0">
              <a:latin typeface="Aptos" panose="020B0004020202020204" pitchFamily="34" charset="0"/>
            </a:endParaRPr>
          </a:p>
          <a:p>
            <a:r>
              <a:rPr lang="fr-FR" sz="2000" b="1" dirty="0">
                <a:latin typeface="Aptos" panose="020B0004020202020204" pitchFamily="34" charset="0"/>
              </a:rPr>
              <a:t>Elle fidélise grâce à :</a:t>
            </a:r>
          </a:p>
          <a:p>
            <a:pPr marL="800100" lvl="1" indent="-342900">
              <a:buFont typeface="Arial" panose="020B0604020202020204" pitchFamily="34" charset="0"/>
              <a:buChar char="•"/>
            </a:pPr>
            <a:r>
              <a:rPr lang="fr-FR" sz="2000" dirty="0">
                <a:latin typeface="Aptos" panose="020B0004020202020204" pitchFamily="34" charset="0"/>
              </a:rPr>
              <a:t>la confiance, </a:t>
            </a:r>
          </a:p>
          <a:p>
            <a:pPr marL="800100" lvl="1" indent="-342900">
              <a:buFont typeface="Arial" panose="020B0604020202020204" pitchFamily="34" charset="0"/>
              <a:buChar char="•"/>
            </a:pPr>
            <a:r>
              <a:rPr lang="fr-FR" sz="2000" dirty="0">
                <a:latin typeface="Aptos" panose="020B0004020202020204" pitchFamily="34" charset="0"/>
              </a:rPr>
              <a:t>la qualité du conseil, </a:t>
            </a:r>
          </a:p>
          <a:p>
            <a:pPr marL="800100" lvl="1" indent="-342900">
              <a:buFont typeface="Arial" panose="020B0604020202020204" pitchFamily="34" charset="0"/>
              <a:buChar char="•"/>
            </a:pPr>
            <a:r>
              <a:rPr lang="fr-FR" sz="2000" dirty="0">
                <a:latin typeface="Aptos" panose="020B0004020202020204" pitchFamily="34" charset="0"/>
              </a:rPr>
              <a:t>l’accueil, </a:t>
            </a:r>
          </a:p>
          <a:p>
            <a:pPr marL="800100" lvl="1" indent="-342900">
              <a:buFont typeface="Arial" panose="020B0604020202020204" pitchFamily="34" charset="0"/>
              <a:buChar char="•"/>
            </a:pPr>
            <a:r>
              <a:rPr lang="fr-FR" sz="2000" dirty="0">
                <a:latin typeface="Aptos" panose="020B0004020202020204" pitchFamily="34" charset="0"/>
              </a:rPr>
              <a:t>la disponibilité et </a:t>
            </a:r>
          </a:p>
          <a:p>
            <a:pPr marL="800100" lvl="1" indent="-342900">
              <a:buFont typeface="Arial" panose="020B0604020202020204" pitchFamily="34" charset="0"/>
              <a:buChar char="•"/>
            </a:pPr>
            <a:r>
              <a:rPr lang="fr-FR" sz="2000" dirty="0">
                <a:latin typeface="Aptos" panose="020B0004020202020204" pitchFamily="34" charset="0"/>
              </a:rPr>
              <a:t>la constance du service.</a:t>
            </a:r>
          </a:p>
          <a:p>
            <a:endParaRPr lang="fr-FR" sz="2000" dirty="0">
              <a:latin typeface="Aptos" panose="020B0004020202020204" pitchFamily="34" charset="0"/>
            </a:endParaRPr>
          </a:p>
          <a:p>
            <a:r>
              <a:rPr lang="fr-FR" sz="2000" b="1" dirty="0">
                <a:latin typeface="Aptos" panose="020B0004020202020204" pitchFamily="34" charset="0"/>
              </a:rPr>
              <a:t>Un patient satisfait peut :</a:t>
            </a:r>
          </a:p>
          <a:p>
            <a:pPr marL="800100" lvl="1" indent="-342900">
              <a:buFont typeface="Arial" panose="020B0604020202020204" pitchFamily="34" charset="0"/>
              <a:buChar char="•"/>
            </a:pPr>
            <a:r>
              <a:rPr lang="fr-FR" sz="2000" dirty="0">
                <a:latin typeface="Aptos" panose="020B0004020202020204" pitchFamily="34" charset="0"/>
              </a:rPr>
              <a:t>Revenir régulièrement ;</a:t>
            </a:r>
          </a:p>
          <a:p>
            <a:pPr marL="800100" lvl="1" indent="-342900">
              <a:buFont typeface="Arial" panose="020B0604020202020204" pitchFamily="34" charset="0"/>
              <a:buChar char="•"/>
            </a:pPr>
            <a:r>
              <a:rPr lang="fr-FR" sz="2000" dirty="0">
                <a:latin typeface="Aptos" panose="020B0004020202020204" pitchFamily="34" charset="0"/>
              </a:rPr>
              <a:t>Recommander l’officine à son entourage ;</a:t>
            </a:r>
          </a:p>
          <a:p>
            <a:pPr marL="800100" lvl="1" indent="-342900">
              <a:buFont typeface="Arial" panose="020B0604020202020204" pitchFamily="34" charset="0"/>
              <a:buChar char="•"/>
            </a:pPr>
            <a:r>
              <a:rPr lang="fr-FR" sz="2000" dirty="0">
                <a:latin typeface="Aptos" panose="020B0004020202020204" pitchFamily="34" charset="0"/>
              </a:rPr>
              <a:t>Accepter plus facilement les conseils du pharmacien ;</a:t>
            </a:r>
          </a:p>
          <a:p>
            <a:pPr marL="800100" lvl="1" indent="-342900">
              <a:buFont typeface="Arial" panose="020B0604020202020204" pitchFamily="34" charset="0"/>
              <a:buChar char="•"/>
            </a:pPr>
            <a:r>
              <a:rPr lang="fr-FR" sz="2000" dirty="0">
                <a:latin typeface="Aptos" panose="020B0004020202020204" pitchFamily="34" charset="0"/>
              </a:rPr>
              <a:t>Contribuer au développement durable de l’officine.</a:t>
            </a:r>
          </a:p>
        </p:txBody>
      </p:sp>
    </p:spTree>
    <p:extLst>
      <p:ext uri="{BB962C8B-B14F-4D97-AF65-F5344CB8AC3E}">
        <p14:creationId xmlns:p14="http://schemas.microsoft.com/office/powerpoint/2010/main" val="1666677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Fidélisation de la clientèle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Comprendre la fidélisation en 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785652"/>
          </a:xfrm>
          <a:prstGeom prst="rect">
            <a:avLst/>
          </a:prstGeom>
          <a:noFill/>
        </p:spPr>
        <p:txBody>
          <a:bodyPr wrap="square">
            <a:spAutoFit/>
          </a:bodyPr>
          <a:lstStyle/>
          <a:p>
            <a:r>
              <a:rPr lang="fr-FR" sz="2000" b="1" dirty="0">
                <a:latin typeface="Aptos" panose="020B0004020202020204" pitchFamily="34" charset="0"/>
              </a:rPr>
              <a:t>Définition</a:t>
            </a:r>
            <a:r>
              <a:rPr lang="fr-FR" sz="2000" dirty="0">
                <a:latin typeface="Aptos" panose="020B0004020202020204" pitchFamily="34" charset="0"/>
              </a:rPr>
              <a:t> : La fidélisation est l’ensemble des actions visant à encourager un patient à revenir régulièrement dans la même officine.</a:t>
            </a:r>
          </a:p>
          <a:p>
            <a:endParaRPr lang="fr-FR" sz="2000" dirty="0">
              <a:latin typeface="Aptos" panose="020B0004020202020204" pitchFamily="34" charset="0"/>
            </a:endParaRPr>
          </a:p>
          <a:p>
            <a:r>
              <a:rPr lang="fr-FR" sz="2000" b="1" dirty="0">
                <a:latin typeface="Aptos" panose="020B0004020202020204" pitchFamily="34" charset="0"/>
              </a:rPr>
              <a:t>Pourquoi fidéliser ? </a:t>
            </a:r>
            <a:r>
              <a:rPr lang="fr-FR" sz="2000" dirty="0">
                <a:latin typeface="Aptos" panose="020B0004020202020204" pitchFamily="34" charset="0"/>
              </a:rPr>
              <a:t>: Acquérir un nouveau client coûte généralement plus cher que conserver un client existant.</a:t>
            </a:r>
          </a:p>
          <a:p>
            <a:endParaRPr lang="fr-FR" sz="2000" dirty="0">
              <a:latin typeface="Aptos" panose="020B0004020202020204" pitchFamily="34" charset="0"/>
            </a:endParaRPr>
          </a:p>
          <a:p>
            <a:r>
              <a:rPr lang="fr-FR" sz="2000" b="1" dirty="0">
                <a:latin typeface="Aptos" panose="020B0004020202020204" pitchFamily="34" charset="0"/>
              </a:rPr>
              <a:t>Avantages</a:t>
            </a:r>
            <a:r>
              <a:rPr lang="fr-FR" sz="2000" dirty="0">
                <a:latin typeface="Aptos" panose="020B0004020202020204" pitchFamily="34" charset="0"/>
              </a:rPr>
              <a:t>:</a:t>
            </a:r>
          </a:p>
          <a:p>
            <a:pPr marL="800100" lvl="1" indent="-342900">
              <a:buFont typeface="Arial" panose="020B0604020202020204" pitchFamily="34" charset="0"/>
              <a:buChar char="•"/>
            </a:pPr>
            <a:r>
              <a:rPr lang="fr-FR" sz="2000" dirty="0">
                <a:latin typeface="Aptos" panose="020B0004020202020204" pitchFamily="34" charset="0"/>
              </a:rPr>
              <a:t>Augmentation du chiffre d’affaires</a:t>
            </a:r>
          </a:p>
          <a:p>
            <a:pPr marL="800100" lvl="1" indent="-342900">
              <a:buFont typeface="Arial" panose="020B0604020202020204" pitchFamily="34" charset="0"/>
              <a:buChar char="•"/>
            </a:pPr>
            <a:r>
              <a:rPr lang="fr-FR" sz="2000" dirty="0">
                <a:latin typeface="Aptos" panose="020B0004020202020204" pitchFamily="34" charset="0"/>
              </a:rPr>
              <a:t>Meilleure observance thérapeutique</a:t>
            </a:r>
          </a:p>
          <a:p>
            <a:pPr marL="800100" lvl="1" indent="-342900">
              <a:buFont typeface="Arial" panose="020B0604020202020204" pitchFamily="34" charset="0"/>
              <a:buChar char="•"/>
            </a:pPr>
            <a:r>
              <a:rPr lang="fr-FR" sz="2000" dirty="0">
                <a:latin typeface="Aptos" panose="020B0004020202020204" pitchFamily="34" charset="0"/>
              </a:rPr>
              <a:t>Réputation positive</a:t>
            </a:r>
          </a:p>
          <a:p>
            <a:pPr marL="800100" lvl="1" indent="-342900">
              <a:buFont typeface="Arial" panose="020B0604020202020204" pitchFamily="34" charset="0"/>
              <a:buChar char="•"/>
            </a:pPr>
            <a:r>
              <a:rPr lang="fr-FR" sz="2000" dirty="0">
                <a:latin typeface="Aptos" panose="020B0004020202020204" pitchFamily="34" charset="0"/>
              </a:rPr>
              <a:t>Réduction des coûts marketing</a:t>
            </a:r>
          </a:p>
          <a:p>
            <a:pPr marL="800100" lvl="1" indent="-342900">
              <a:buFont typeface="Arial" panose="020B0604020202020204" pitchFamily="34" charset="0"/>
              <a:buChar char="•"/>
            </a:pPr>
            <a:r>
              <a:rPr lang="fr-FR" sz="2000" dirty="0">
                <a:latin typeface="Aptos" panose="020B0004020202020204" pitchFamily="34" charset="0"/>
              </a:rPr>
              <a:t>Relation de confiance durable</a:t>
            </a:r>
          </a:p>
        </p:txBody>
      </p:sp>
    </p:spTree>
    <p:extLst>
      <p:ext uri="{BB962C8B-B14F-4D97-AF65-F5344CB8AC3E}">
        <p14:creationId xmlns:p14="http://schemas.microsoft.com/office/powerpoint/2010/main" val="562791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Fidélisation de la clientèle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facteurs de fidélisation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r>
              <a:rPr lang="fr-FR" sz="2000" b="1" dirty="0">
                <a:latin typeface="Aptos" panose="020B0004020202020204" pitchFamily="34" charset="0"/>
              </a:rPr>
              <a:t>Facteur 1 </a:t>
            </a:r>
            <a:r>
              <a:rPr lang="fr-FR" sz="2000" dirty="0">
                <a:latin typeface="Aptos" panose="020B0004020202020204" pitchFamily="34" charset="0"/>
              </a:rPr>
              <a:t>: Disponibilité des produits</a:t>
            </a:r>
          </a:p>
          <a:p>
            <a:pPr lvl="1"/>
            <a:r>
              <a:rPr lang="fr-FR" sz="2000" dirty="0">
                <a:latin typeface="Aptos" panose="020B0004020202020204" pitchFamily="34" charset="0"/>
              </a:rPr>
              <a:t>Un patient qui trouve régulièrement ses traitements est plus susceptible de revenir.</a:t>
            </a:r>
          </a:p>
          <a:p>
            <a:endParaRPr lang="fr-FR" sz="2000" dirty="0">
              <a:latin typeface="Aptos" panose="020B0004020202020204" pitchFamily="34" charset="0"/>
            </a:endParaRPr>
          </a:p>
          <a:p>
            <a:r>
              <a:rPr lang="fr-FR" sz="2000" b="1" dirty="0">
                <a:latin typeface="Aptos" panose="020B0004020202020204" pitchFamily="34" charset="0"/>
              </a:rPr>
              <a:t>Facteur 2 </a:t>
            </a:r>
            <a:r>
              <a:rPr lang="fr-FR" sz="2000" dirty="0">
                <a:latin typeface="Aptos" panose="020B0004020202020204" pitchFamily="34" charset="0"/>
              </a:rPr>
              <a:t>: Qualité du conseil</a:t>
            </a:r>
          </a:p>
          <a:p>
            <a:pPr lvl="1"/>
            <a:r>
              <a:rPr lang="fr-FR" sz="2000" dirty="0">
                <a:latin typeface="Aptos" panose="020B0004020202020204" pitchFamily="34" charset="0"/>
              </a:rPr>
              <a:t>Le patient doit percevoir une réelle valeur ajoutée professionnelle.</a:t>
            </a:r>
          </a:p>
          <a:p>
            <a:endParaRPr lang="fr-FR" sz="2000" dirty="0">
              <a:latin typeface="Aptos" panose="020B0004020202020204" pitchFamily="34" charset="0"/>
            </a:endParaRPr>
          </a:p>
          <a:p>
            <a:r>
              <a:rPr lang="fr-FR" sz="2000" b="1" dirty="0">
                <a:latin typeface="Aptos" panose="020B0004020202020204" pitchFamily="34" charset="0"/>
              </a:rPr>
              <a:t>Facteur 3 </a:t>
            </a:r>
            <a:r>
              <a:rPr lang="fr-FR" sz="2000" dirty="0">
                <a:latin typeface="Aptos" panose="020B0004020202020204" pitchFamily="34" charset="0"/>
              </a:rPr>
              <a:t>: Qualité de l’accueil</a:t>
            </a:r>
          </a:p>
          <a:p>
            <a:pPr lvl="1"/>
            <a:r>
              <a:rPr lang="fr-FR" sz="2000" dirty="0">
                <a:latin typeface="Aptos" panose="020B0004020202020204" pitchFamily="34" charset="0"/>
              </a:rPr>
              <a:t>L’expérience vécue influence fortement le retour du patient.</a:t>
            </a:r>
          </a:p>
          <a:p>
            <a:endParaRPr lang="fr-FR" sz="2000" dirty="0">
              <a:latin typeface="Aptos" panose="020B0004020202020204" pitchFamily="34" charset="0"/>
            </a:endParaRPr>
          </a:p>
          <a:p>
            <a:r>
              <a:rPr lang="fr-FR" sz="2000" b="1" dirty="0">
                <a:latin typeface="Aptos" panose="020B0004020202020204" pitchFamily="34" charset="0"/>
              </a:rPr>
              <a:t>Facteur 4 </a:t>
            </a:r>
            <a:r>
              <a:rPr lang="fr-FR" sz="2000" dirty="0">
                <a:latin typeface="Aptos" panose="020B0004020202020204" pitchFamily="34" charset="0"/>
              </a:rPr>
              <a:t>: Rapidité du service</a:t>
            </a:r>
          </a:p>
          <a:p>
            <a:pPr lvl="1"/>
            <a:r>
              <a:rPr lang="fr-FR" sz="2000" dirty="0">
                <a:latin typeface="Aptos" panose="020B0004020202020204" pitchFamily="34" charset="0"/>
              </a:rPr>
              <a:t>Temps d’attente raisonnable.</a:t>
            </a:r>
          </a:p>
          <a:p>
            <a:endParaRPr lang="fr-FR" sz="2000" dirty="0">
              <a:latin typeface="Aptos" panose="020B0004020202020204" pitchFamily="34" charset="0"/>
            </a:endParaRPr>
          </a:p>
          <a:p>
            <a:r>
              <a:rPr lang="fr-FR" sz="2000" b="1" dirty="0">
                <a:latin typeface="Aptos" panose="020B0004020202020204" pitchFamily="34" charset="0"/>
              </a:rPr>
              <a:t>Facteur 5 </a:t>
            </a:r>
            <a:r>
              <a:rPr lang="fr-FR" sz="2000" dirty="0">
                <a:latin typeface="Aptos" panose="020B0004020202020204" pitchFamily="34" charset="0"/>
              </a:rPr>
              <a:t>: Fiabilité</a:t>
            </a:r>
          </a:p>
          <a:p>
            <a:pPr lvl="1"/>
            <a:r>
              <a:rPr lang="fr-FR" sz="2000" dirty="0">
                <a:latin typeface="Aptos" panose="020B0004020202020204" pitchFamily="34" charset="0"/>
              </a:rPr>
              <a:t>Le patient doit avoir confiance dans les produits, les conseils et l’équipe.</a:t>
            </a:r>
          </a:p>
        </p:txBody>
      </p:sp>
    </p:spTree>
    <p:extLst>
      <p:ext uri="{BB962C8B-B14F-4D97-AF65-F5344CB8AC3E}">
        <p14:creationId xmlns:p14="http://schemas.microsoft.com/office/powerpoint/2010/main" val="2188747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Fidélisation de la clientèle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facteurs de fidélisation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r>
              <a:rPr lang="fr-FR" sz="2000" b="1" dirty="0">
                <a:latin typeface="Aptos" panose="020B0004020202020204" pitchFamily="34" charset="0"/>
              </a:rPr>
              <a:t>Facteur 1 </a:t>
            </a:r>
            <a:r>
              <a:rPr lang="fr-FR" sz="2000" dirty="0">
                <a:latin typeface="Aptos" panose="020B0004020202020204" pitchFamily="34" charset="0"/>
              </a:rPr>
              <a:t>: Disponibilité des produits</a:t>
            </a:r>
          </a:p>
          <a:p>
            <a:pPr lvl="1"/>
            <a:r>
              <a:rPr lang="fr-FR" sz="2000" dirty="0">
                <a:latin typeface="Aptos" panose="020B0004020202020204" pitchFamily="34" charset="0"/>
              </a:rPr>
              <a:t>Un patient qui trouve régulièrement ses traitements est plus susceptible de revenir.</a:t>
            </a:r>
          </a:p>
          <a:p>
            <a:endParaRPr lang="fr-FR" sz="2000" dirty="0">
              <a:latin typeface="Aptos" panose="020B0004020202020204" pitchFamily="34" charset="0"/>
            </a:endParaRPr>
          </a:p>
          <a:p>
            <a:r>
              <a:rPr lang="fr-FR" sz="2000" b="1" dirty="0">
                <a:latin typeface="Aptos" panose="020B0004020202020204" pitchFamily="34" charset="0"/>
              </a:rPr>
              <a:t>Facteur 2 </a:t>
            </a:r>
            <a:r>
              <a:rPr lang="fr-FR" sz="2000" dirty="0">
                <a:latin typeface="Aptos" panose="020B0004020202020204" pitchFamily="34" charset="0"/>
              </a:rPr>
              <a:t>: Qualité du conseil</a:t>
            </a:r>
          </a:p>
          <a:p>
            <a:pPr lvl="1"/>
            <a:r>
              <a:rPr lang="fr-FR" sz="2000" dirty="0">
                <a:latin typeface="Aptos" panose="020B0004020202020204" pitchFamily="34" charset="0"/>
              </a:rPr>
              <a:t>Le patient doit percevoir une réelle valeur ajoutée professionnelle.</a:t>
            </a:r>
          </a:p>
          <a:p>
            <a:endParaRPr lang="fr-FR" sz="2000" dirty="0">
              <a:latin typeface="Aptos" panose="020B0004020202020204" pitchFamily="34" charset="0"/>
            </a:endParaRPr>
          </a:p>
          <a:p>
            <a:r>
              <a:rPr lang="fr-FR" sz="2000" b="1" dirty="0">
                <a:latin typeface="Aptos" panose="020B0004020202020204" pitchFamily="34" charset="0"/>
              </a:rPr>
              <a:t>Facteur 3 </a:t>
            </a:r>
            <a:r>
              <a:rPr lang="fr-FR" sz="2000" dirty="0">
                <a:latin typeface="Aptos" panose="020B0004020202020204" pitchFamily="34" charset="0"/>
              </a:rPr>
              <a:t>: Qualité de l’accueil</a:t>
            </a:r>
          </a:p>
          <a:p>
            <a:pPr lvl="1"/>
            <a:r>
              <a:rPr lang="fr-FR" sz="2000" dirty="0">
                <a:latin typeface="Aptos" panose="020B0004020202020204" pitchFamily="34" charset="0"/>
              </a:rPr>
              <a:t>L’expérience vécue influence fortement le retour du patient.</a:t>
            </a:r>
          </a:p>
          <a:p>
            <a:endParaRPr lang="fr-FR" sz="2000" dirty="0">
              <a:latin typeface="Aptos" panose="020B0004020202020204" pitchFamily="34" charset="0"/>
            </a:endParaRPr>
          </a:p>
          <a:p>
            <a:r>
              <a:rPr lang="fr-FR" sz="2000" b="1" dirty="0">
                <a:latin typeface="Aptos" panose="020B0004020202020204" pitchFamily="34" charset="0"/>
              </a:rPr>
              <a:t>Facteur 4 </a:t>
            </a:r>
            <a:r>
              <a:rPr lang="fr-FR" sz="2000" dirty="0">
                <a:latin typeface="Aptos" panose="020B0004020202020204" pitchFamily="34" charset="0"/>
              </a:rPr>
              <a:t>: Rapidité du service</a:t>
            </a:r>
          </a:p>
          <a:p>
            <a:pPr lvl="1"/>
            <a:r>
              <a:rPr lang="fr-FR" sz="2000" dirty="0">
                <a:latin typeface="Aptos" panose="020B0004020202020204" pitchFamily="34" charset="0"/>
              </a:rPr>
              <a:t>Temps d’attente raisonnable.</a:t>
            </a:r>
          </a:p>
          <a:p>
            <a:endParaRPr lang="fr-FR" sz="2000" dirty="0">
              <a:latin typeface="Aptos" panose="020B0004020202020204" pitchFamily="34" charset="0"/>
            </a:endParaRPr>
          </a:p>
          <a:p>
            <a:r>
              <a:rPr lang="fr-FR" sz="2000" b="1" dirty="0">
                <a:latin typeface="Aptos" panose="020B0004020202020204" pitchFamily="34" charset="0"/>
              </a:rPr>
              <a:t>Facteur 5 </a:t>
            </a:r>
            <a:r>
              <a:rPr lang="fr-FR" sz="2000" dirty="0">
                <a:latin typeface="Aptos" panose="020B0004020202020204" pitchFamily="34" charset="0"/>
              </a:rPr>
              <a:t>: Fiabilité</a:t>
            </a:r>
          </a:p>
          <a:p>
            <a:pPr lvl="1"/>
            <a:r>
              <a:rPr lang="fr-FR" sz="2000" dirty="0">
                <a:latin typeface="Aptos" panose="020B0004020202020204" pitchFamily="34" charset="0"/>
              </a:rPr>
              <a:t>Le patient doit avoir confiance dans les produits, les conseils et l’équipe.</a:t>
            </a:r>
          </a:p>
        </p:txBody>
      </p:sp>
    </p:spTree>
    <p:extLst>
      <p:ext uri="{BB962C8B-B14F-4D97-AF65-F5344CB8AC3E}">
        <p14:creationId xmlns:p14="http://schemas.microsoft.com/office/powerpoint/2010/main" val="420651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Fidélisation de la clientèle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L’expérience patient en 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785652"/>
          </a:xfrm>
          <a:prstGeom prst="rect">
            <a:avLst/>
          </a:prstGeom>
          <a:noFill/>
        </p:spPr>
        <p:txBody>
          <a:bodyPr wrap="square">
            <a:spAutoFit/>
          </a:bodyPr>
          <a:lstStyle/>
          <a:p>
            <a:r>
              <a:rPr lang="fr-FR" sz="2000" b="1" dirty="0">
                <a:latin typeface="Aptos" panose="020B0004020202020204" pitchFamily="34" charset="0"/>
              </a:rPr>
              <a:t>Définition</a:t>
            </a:r>
            <a:r>
              <a:rPr lang="fr-FR" sz="2000" dirty="0">
                <a:latin typeface="Aptos" panose="020B0004020202020204" pitchFamily="34" charset="0"/>
              </a:rPr>
              <a:t> : L’expérience patient correspond à l’ensemble des interactions entre le patient et l’officine.</a:t>
            </a:r>
          </a:p>
          <a:p>
            <a:endParaRPr lang="fr-FR" sz="2000" dirty="0">
              <a:latin typeface="Aptos" panose="020B0004020202020204" pitchFamily="34" charset="0"/>
            </a:endParaRPr>
          </a:p>
          <a:p>
            <a:r>
              <a:rPr lang="fr-FR" sz="2000" b="1" dirty="0">
                <a:latin typeface="Aptos" panose="020B0004020202020204" pitchFamily="34" charset="0"/>
              </a:rPr>
              <a:t>Parcours du patient</a:t>
            </a:r>
          </a:p>
          <a:p>
            <a:pPr marL="457200" indent="-457200">
              <a:buFont typeface="+mj-lt"/>
              <a:buAutoNum type="arabicPeriod"/>
            </a:pPr>
            <a:r>
              <a:rPr lang="fr-FR" sz="2000" dirty="0">
                <a:latin typeface="Aptos" panose="020B0004020202020204" pitchFamily="34" charset="0"/>
              </a:rPr>
              <a:t>Recherche de l’officine</a:t>
            </a:r>
          </a:p>
          <a:p>
            <a:pPr marL="457200" indent="-457200">
              <a:buFont typeface="+mj-lt"/>
              <a:buAutoNum type="arabicPeriod"/>
            </a:pPr>
            <a:r>
              <a:rPr lang="fr-FR" sz="2000" dirty="0">
                <a:latin typeface="Aptos" panose="020B0004020202020204" pitchFamily="34" charset="0"/>
              </a:rPr>
              <a:t>Arrivée</a:t>
            </a:r>
          </a:p>
          <a:p>
            <a:pPr marL="457200" indent="-457200">
              <a:buFont typeface="+mj-lt"/>
              <a:buAutoNum type="arabicPeriod"/>
            </a:pPr>
            <a:r>
              <a:rPr lang="fr-FR" sz="2000" dirty="0">
                <a:latin typeface="Aptos" panose="020B0004020202020204" pitchFamily="34" charset="0"/>
              </a:rPr>
              <a:t>Accueil</a:t>
            </a:r>
          </a:p>
          <a:p>
            <a:pPr marL="457200" indent="-457200">
              <a:buFont typeface="+mj-lt"/>
              <a:buAutoNum type="arabicPeriod"/>
            </a:pPr>
            <a:r>
              <a:rPr lang="fr-FR" sz="2000" dirty="0">
                <a:latin typeface="Aptos" panose="020B0004020202020204" pitchFamily="34" charset="0"/>
              </a:rPr>
              <a:t>Attente</a:t>
            </a:r>
          </a:p>
          <a:p>
            <a:pPr marL="457200" indent="-457200">
              <a:buFont typeface="+mj-lt"/>
              <a:buAutoNum type="arabicPeriod"/>
            </a:pPr>
            <a:r>
              <a:rPr lang="fr-FR" sz="2000" dirty="0">
                <a:latin typeface="Aptos" panose="020B0004020202020204" pitchFamily="34" charset="0"/>
              </a:rPr>
              <a:t>Conseil</a:t>
            </a:r>
          </a:p>
          <a:p>
            <a:pPr marL="457200" indent="-457200">
              <a:buFont typeface="+mj-lt"/>
              <a:buAutoNum type="arabicPeriod"/>
            </a:pPr>
            <a:r>
              <a:rPr lang="fr-FR" sz="2000" dirty="0">
                <a:latin typeface="Aptos" panose="020B0004020202020204" pitchFamily="34" charset="0"/>
              </a:rPr>
              <a:t>Achat</a:t>
            </a:r>
          </a:p>
          <a:p>
            <a:pPr marL="457200" indent="-457200">
              <a:buFont typeface="+mj-lt"/>
              <a:buAutoNum type="arabicPeriod"/>
            </a:pPr>
            <a:r>
              <a:rPr lang="fr-FR" sz="2000" dirty="0">
                <a:latin typeface="Aptos" panose="020B0004020202020204" pitchFamily="34" charset="0"/>
              </a:rPr>
              <a:t>Départ</a:t>
            </a:r>
          </a:p>
          <a:p>
            <a:pPr marL="457200" indent="-457200">
              <a:buFont typeface="+mj-lt"/>
              <a:buAutoNum type="arabicPeriod"/>
            </a:pPr>
            <a:r>
              <a:rPr lang="fr-FR" sz="2000" dirty="0">
                <a:latin typeface="Aptos" panose="020B0004020202020204" pitchFamily="34" charset="0"/>
              </a:rPr>
              <a:t>Suivi éventuel</a:t>
            </a:r>
          </a:p>
        </p:txBody>
      </p:sp>
      <p:sp>
        <p:nvSpPr>
          <p:cNvPr id="10" name="ZoneTexte 9">
            <a:extLst>
              <a:ext uri="{FF2B5EF4-FFF2-40B4-BE49-F238E27FC236}">
                <a16:creationId xmlns:a16="http://schemas.microsoft.com/office/drawing/2014/main" id="{8677E978-862A-41B4-894E-974FF1427F6A}"/>
              </a:ext>
            </a:extLst>
          </p:cNvPr>
          <p:cNvSpPr txBox="1"/>
          <p:nvPr/>
        </p:nvSpPr>
        <p:spPr>
          <a:xfrm>
            <a:off x="6303342" y="4578914"/>
            <a:ext cx="5341811" cy="2000548"/>
          </a:xfrm>
          <a:prstGeom prst="rect">
            <a:avLst/>
          </a:prstGeom>
          <a:noFill/>
        </p:spPr>
        <p:txBody>
          <a:bodyPr wrap="square">
            <a:spAutoFit/>
          </a:bodyPr>
          <a:lstStyle/>
          <a:p>
            <a:r>
              <a:rPr lang="fr-FR" sz="2000" b="1" dirty="0">
                <a:latin typeface="Aptos" panose="020B0004020202020204" pitchFamily="34" charset="0"/>
              </a:rPr>
              <a:t>Analyse des points critiques</a:t>
            </a:r>
          </a:p>
          <a:p>
            <a:pPr marL="800100" lvl="1" indent="-342900">
              <a:buFont typeface="Arial" panose="020B0604020202020204" pitchFamily="34" charset="0"/>
              <a:buChar char="•"/>
            </a:pPr>
            <a:r>
              <a:rPr lang="fr-FR" sz="2000" dirty="0">
                <a:latin typeface="Aptos" panose="020B0004020202020204" pitchFamily="34" charset="0"/>
              </a:rPr>
              <a:t>Difficulté de stationnement</a:t>
            </a:r>
          </a:p>
          <a:p>
            <a:pPr marL="800100" lvl="1" indent="-342900">
              <a:buFont typeface="Arial" panose="020B0604020202020204" pitchFamily="34" charset="0"/>
              <a:buChar char="•"/>
            </a:pPr>
            <a:r>
              <a:rPr lang="fr-FR" sz="2000" dirty="0">
                <a:latin typeface="Aptos" panose="020B0004020202020204" pitchFamily="34" charset="0"/>
              </a:rPr>
              <a:t>Attente excessive</a:t>
            </a:r>
          </a:p>
          <a:p>
            <a:pPr marL="800100" lvl="1" indent="-342900">
              <a:buFont typeface="Arial" panose="020B0604020202020204" pitchFamily="34" charset="0"/>
              <a:buChar char="•"/>
            </a:pPr>
            <a:r>
              <a:rPr lang="fr-FR" sz="2000" dirty="0">
                <a:latin typeface="Aptos" panose="020B0004020202020204" pitchFamily="34" charset="0"/>
              </a:rPr>
              <a:t>Ruptures fréquentes</a:t>
            </a:r>
          </a:p>
          <a:p>
            <a:pPr marL="800100" lvl="1" indent="-342900">
              <a:buFont typeface="Arial" panose="020B0604020202020204" pitchFamily="34" charset="0"/>
              <a:buChar char="•"/>
            </a:pPr>
            <a:r>
              <a:rPr lang="fr-FR" sz="2000" dirty="0">
                <a:latin typeface="Aptos" panose="020B0004020202020204" pitchFamily="34" charset="0"/>
              </a:rPr>
              <a:t>Mauvaise communication</a:t>
            </a:r>
          </a:p>
          <a:p>
            <a:pPr marL="800100" lvl="1" indent="-342900">
              <a:buFont typeface="Arial" panose="020B0604020202020204" pitchFamily="34" charset="0"/>
              <a:buChar char="•"/>
            </a:pPr>
            <a:r>
              <a:rPr lang="fr-FR" sz="2000" dirty="0">
                <a:latin typeface="Aptos" panose="020B0004020202020204" pitchFamily="34" charset="0"/>
              </a:rPr>
              <a:t>Absence de suivi</a:t>
            </a:r>
          </a:p>
        </p:txBody>
      </p:sp>
    </p:spTree>
    <p:extLst>
      <p:ext uri="{BB962C8B-B14F-4D97-AF65-F5344CB8AC3E}">
        <p14:creationId xmlns:p14="http://schemas.microsoft.com/office/powerpoint/2010/main" val="709144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Fidélisation de la clientèle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Segmentation de la clientèle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093428"/>
          </a:xfrm>
          <a:prstGeom prst="rect">
            <a:avLst/>
          </a:prstGeom>
          <a:noFill/>
        </p:spPr>
        <p:txBody>
          <a:bodyPr wrap="square">
            <a:spAutoFit/>
          </a:bodyPr>
          <a:lstStyle/>
          <a:p>
            <a:r>
              <a:rPr lang="fr-FR" sz="2000" dirty="0">
                <a:latin typeface="Aptos" panose="020B0004020202020204" pitchFamily="34" charset="0"/>
              </a:rPr>
              <a:t>Tous les patients n’ont pas les mêmes besoins.</a:t>
            </a:r>
          </a:p>
          <a:p>
            <a:endParaRPr lang="fr-FR" sz="2000" dirty="0">
              <a:latin typeface="Aptos" panose="020B0004020202020204" pitchFamily="34" charset="0"/>
            </a:endParaRPr>
          </a:p>
          <a:p>
            <a:r>
              <a:rPr lang="fr-FR" sz="2000" b="1" dirty="0">
                <a:latin typeface="Aptos" panose="020B0004020202020204" pitchFamily="34" charset="0"/>
              </a:rPr>
              <a:t>Patients chroniques</a:t>
            </a:r>
          </a:p>
          <a:p>
            <a:r>
              <a:rPr lang="fr-FR" sz="2000" dirty="0">
                <a:latin typeface="Aptos" panose="020B0004020202020204" pitchFamily="34" charset="0"/>
              </a:rPr>
              <a:t>Attentes : Disponibilité permanente - Conseils réguliers - Suivi</a:t>
            </a:r>
          </a:p>
          <a:p>
            <a:pPr marL="457200" indent="-457200">
              <a:buAutoNum type="arabicPeriod"/>
            </a:pPr>
            <a:endParaRPr lang="fr-FR" sz="2000" dirty="0">
              <a:latin typeface="Aptos" panose="020B0004020202020204" pitchFamily="34" charset="0"/>
            </a:endParaRPr>
          </a:p>
          <a:p>
            <a:r>
              <a:rPr lang="fr-FR" sz="2000" b="1" dirty="0">
                <a:latin typeface="Aptos" panose="020B0004020202020204" pitchFamily="34" charset="0"/>
              </a:rPr>
              <a:t>Patients occasionnels</a:t>
            </a:r>
          </a:p>
          <a:p>
            <a:r>
              <a:rPr lang="fr-FR" sz="2000" dirty="0">
                <a:latin typeface="Aptos" panose="020B0004020202020204" pitchFamily="34" charset="0"/>
              </a:rPr>
              <a:t>Attentes : Rapidité - Disponibilité immédiate</a:t>
            </a:r>
          </a:p>
          <a:p>
            <a:pPr marL="457200" indent="-457200">
              <a:buAutoNum type="arabicPeriod"/>
            </a:pPr>
            <a:endParaRPr lang="fr-FR" sz="2000" dirty="0">
              <a:latin typeface="Aptos" panose="020B0004020202020204" pitchFamily="34" charset="0"/>
            </a:endParaRPr>
          </a:p>
          <a:p>
            <a:r>
              <a:rPr lang="fr-FR" sz="2000" b="1" dirty="0">
                <a:latin typeface="Aptos" panose="020B0004020202020204" pitchFamily="34" charset="0"/>
              </a:rPr>
              <a:t>Parents d’enfants</a:t>
            </a:r>
          </a:p>
          <a:p>
            <a:r>
              <a:rPr lang="fr-FR" sz="2000" dirty="0">
                <a:latin typeface="Aptos" panose="020B0004020202020204" pitchFamily="34" charset="0"/>
              </a:rPr>
              <a:t>Attentes : Réassurance - Conseils pratiques</a:t>
            </a:r>
          </a:p>
          <a:p>
            <a:pPr marL="457200" indent="-457200">
              <a:buAutoNum type="arabicPeriod"/>
            </a:pPr>
            <a:endParaRPr lang="fr-FR" sz="2000" dirty="0">
              <a:latin typeface="Aptos" panose="020B0004020202020204" pitchFamily="34" charset="0"/>
            </a:endParaRPr>
          </a:p>
          <a:p>
            <a:r>
              <a:rPr lang="fr-FR" sz="2000" b="1" dirty="0">
                <a:latin typeface="Aptos" panose="020B0004020202020204" pitchFamily="34" charset="0"/>
              </a:rPr>
              <a:t>Personnes âgées</a:t>
            </a:r>
          </a:p>
          <a:p>
            <a:r>
              <a:rPr lang="fr-FR" sz="2000" dirty="0">
                <a:latin typeface="Aptos" panose="020B0004020202020204" pitchFamily="34" charset="0"/>
              </a:rPr>
              <a:t>Attentes : Accompagnement - Patience - Explications claires</a:t>
            </a:r>
          </a:p>
        </p:txBody>
      </p:sp>
    </p:spTree>
    <p:extLst>
      <p:ext uri="{BB962C8B-B14F-4D97-AF65-F5344CB8AC3E}">
        <p14:creationId xmlns:p14="http://schemas.microsoft.com/office/powerpoint/2010/main" val="2616125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Fidélisation de la clientèle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services à valeur ajoutée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170099"/>
          </a:xfrm>
          <a:prstGeom prst="rect">
            <a:avLst/>
          </a:prstGeom>
          <a:noFill/>
        </p:spPr>
        <p:txBody>
          <a:bodyPr wrap="square">
            <a:spAutoFit/>
          </a:bodyPr>
          <a:lstStyle/>
          <a:p>
            <a:r>
              <a:rPr lang="fr-FR" sz="2000" b="1" dirty="0">
                <a:latin typeface="Aptos" panose="020B0004020202020204" pitchFamily="34" charset="0"/>
              </a:rPr>
              <a:t>Définition</a:t>
            </a:r>
            <a:r>
              <a:rPr lang="fr-FR" sz="2000" dirty="0">
                <a:latin typeface="Aptos" panose="020B0004020202020204" pitchFamily="34" charset="0"/>
              </a:rPr>
              <a:t> : Services qui renforcent la qualité de prise en charge sans se limiter à la vente de médicaments.</a:t>
            </a:r>
          </a:p>
          <a:p>
            <a:endParaRPr lang="fr-FR" sz="2000" dirty="0">
              <a:latin typeface="Aptos" panose="020B0004020202020204" pitchFamily="34" charset="0"/>
            </a:endParaRPr>
          </a:p>
          <a:p>
            <a:r>
              <a:rPr lang="fr-FR" sz="2000" b="1" dirty="0">
                <a:latin typeface="Aptos" panose="020B0004020202020204" pitchFamily="34" charset="0"/>
              </a:rPr>
              <a:t>Exemples compatibles avec le rôle du pharmacien : </a:t>
            </a:r>
          </a:p>
          <a:p>
            <a:pPr marL="800100" lvl="1" indent="-342900">
              <a:buFont typeface="Arial" panose="020B0604020202020204" pitchFamily="34" charset="0"/>
              <a:buChar char="•"/>
            </a:pPr>
            <a:r>
              <a:rPr lang="fr-FR" sz="2000" dirty="0">
                <a:latin typeface="Aptos" panose="020B0004020202020204" pitchFamily="34" charset="0"/>
              </a:rPr>
              <a:t>Mesure de la tension artérielle</a:t>
            </a:r>
          </a:p>
          <a:p>
            <a:pPr marL="800100" lvl="1" indent="-342900">
              <a:buFont typeface="Arial" panose="020B0604020202020204" pitchFamily="34" charset="0"/>
              <a:buChar char="•"/>
            </a:pPr>
            <a:r>
              <a:rPr lang="fr-FR" sz="2000" dirty="0">
                <a:latin typeface="Aptos" panose="020B0004020202020204" pitchFamily="34" charset="0"/>
              </a:rPr>
              <a:t>Suivi de l’observance</a:t>
            </a:r>
          </a:p>
          <a:p>
            <a:pPr marL="800100" lvl="1" indent="-342900">
              <a:buFont typeface="Arial" panose="020B0604020202020204" pitchFamily="34" charset="0"/>
              <a:buChar char="•"/>
            </a:pPr>
            <a:r>
              <a:rPr lang="fr-FR" sz="2000" dirty="0">
                <a:latin typeface="Aptos" panose="020B0004020202020204" pitchFamily="34" charset="0"/>
              </a:rPr>
              <a:t>Conseils nutritionnels de base</a:t>
            </a:r>
          </a:p>
          <a:p>
            <a:pPr marL="800100" lvl="1" indent="-342900">
              <a:buFont typeface="Arial" panose="020B0604020202020204" pitchFamily="34" charset="0"/>
              <a:buChar char="•"/>
            </a:pPr>
            <a:r>
              <a:rPr lang="fr-FR" sz="2000" dirty="0">
                <a:latin typeface="Aptos" panose="020B0004020202020204" pitchFamily="34" charset="0"/>
              </a:rPr>
              <a:t>Dépistages autorisés par la réglementation</a:t>
            </a:r>
          </a:p>
          <a:p>
            <a:pPr marL="800100" lvl="1" indent="-342900">
              <a:buFont typeface="Arial" panose="020B0604020202020204" pitchFamily="34" charset="0"/>
              <a:buChar char="•"/>
            </a:pPr>
            <a:r>
              <a:rPr lang="fr-FR" sz="2000" dirty="0">
                <a:latin typeface="Aptos" panose="020B0004020202020204" pitchFamily="34" charset="0"/>
              </a:rPr>
              <a:t>Accompagnement des patients chroniques</a:t>
            </a:r>
          </a:p>
          <a:p>
            <a:pPr marL="800100" lvl="1" indent="-342900">
              <a:buFont typeface="Arial" panose="020B0604020202020204" pitchFamily="34" charset="0"/>
              <a:buChar char="•"/>
            </a:pPr>
            <a:r>
              <a:rPr lang="fr-FR" sz="2000" dirty="0">
                <a:latin typeface="Aptos" panose="020B0004020202020204" pitchFamily="34" charset="0"/>
              </a:rPr>
              <a:t>Education thérapeutique</a:t>
            </a:r>
          </a:p>
        </p:txBody>
      </p:sp>
    </p:spTree>
    <p:extLst>
      <p:ext uri="{BB962C8B-B14F-4D97-AF65-F5344CB8AC3E}">
        <p14:creationId xmlns:p14="http://schemas.microsoft.com/office/powerpoint/2010/main" val="1814613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Fidélisation de la clientèle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Programmes de fidélité</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5131392" cy="3785652"/>
          </a:xfrm>
          <a:prstGeom prst="rect">
            <a:avLst/>
          </a:prstGeom>
          <a:noFill/>
        </p:spPr>
        <p:txBody>
          <a:bodyPr wrap="square">
            <a:spAutoFit/>
          </a:bodyPr>
          <a:lstStyle/>
          <a:p>
            <a:r>
              <a:rPr lang="fr-FR" sz="2000" b="1" dirty="0">
                <a:latin typeface="Aptos" panose="020B0004020202020204" pitchFamily="34" charset="0"/>
              </a:rPr>
              <a:t>Point de vigilance réglementaire</a:t>
            </a:r>
          </a:p>
          <a:p>
            <a:r>
              <a:rPr lang="fr-FR" sz="2000" dirty="0">
                <a:latin typeface="Aptos" panose="020B0004020202020204" pitchFamily="34" charset="0"/>
              </a:rPr>
              <a:t>Les programmes de fidélité doivent toujours respecter :</a:t>
            </a:r>
          </a:p>
          <a:p>
            <a:pPr marL="342900" indent="-342900">
              <a:buFont typeface="Arial" panose="020B0604020202020204" pitchFamily="34" charset="0"/>
              <a:buChar char="•"/>
            </a:pPr>
            <a:r>
              <a:rPr lang="fr-FR" sz="2000" dirty="0">
                <a:latin typeface="Aptos" panose="020B0004020202020204" pitchFamily="34" charset="0"/>
              </a:rPr>
              <a:t>la déontologie ;</a:t>
            </a:r>
          </a:p>
          <a:p>
            <a:pPr marL="342900" indent="-342900">
              <a:buFont typeface="Arial" panose="020B0604020202020204" pitchFamily="34" charset="0"/>
              <a:buChar char="•"/>
            </a:pPr>
            <a:r>
              <a:rPr lang="fr-FR" sz="2000" dirty="0">
                <a:latin typeface="Aptos" panose="020B0004020202020204" pitchFamily="34" charset="0"/>
              </a:rPr>
              <a:t>la réglementation pharmaceutique ;</a:t>
            </a:r>
          </a:p>
          <a:p>
            <a:pPr marL="342900" indent="-342900">
              <a:buFont typeface="Arial" panose="020B0604020202020204" pitchFamily="34" charset="0"/>
              <a:buChar char="•"/>
            </a:pPr>
            <a:r>
              <a:rPr lang="fr-FR" sz="2000" dirty="0">
                <a:latin typeface="Aptos" panose="020B0004020202020204" pitchFamily="34" charset="0"/>
              </a:rPr>
              <a:t>les règles relatives à la publicité.</a:t>
            </a:r>
          </a:p>
          <a:p>
            <a:endParaRPr lang="fr-FR" sz="2000" dirty="0">
              <a:latin typeface="Aptos" panose="020B0004020202020204" pitchFamily="34" charset="0"/>
            </a:endParaRPr>
          </a:p>
          <a:p>
            <a:r>
              <a:rPr lang="fr-FR" sz="2000" b="1" dirty="0">
                <a:latin typeface="Aptos" panose="020B0004020202020204" pitchFamily="34" charset="0"/>
              </a:rPr>
              <a:t>Exemples de programmes acceptables</a:t>
            </a:r>
          </a:p>
          <a:p>
            <a:pPr marL="342900" indent="-342900">
              <a:buFont typeface="Arial" panose="020B0604020202020204" pitchFamily="34" charset="0"/>
              <a:buChar char="•"/>
            </a:pPr>
            <a:r>
              <a:rPr lang="fr-FR" sz="2000" dirty="0">
                <a:latin typeface="Aptos" panose="020B0004020202020204" pitchFamily="34" charset="0"/>
              </a:rPr>
              <a:t>Rappels de renouvellement</a:t>
            </a:r>
          </a:p>
          <a:p>
            <a:pPr marL="342900" indent="-342900">
              <a:buFont typeface="Arial" panose="020B0604020202020204" pitchFamily="34" charset="0"/>
              <a:buChar char="•"/>
            </a:pPr>
            <a:r>
              <a:rPr lang="fr-FR" sz="2000" dirty="0">
                <a:latin typeface="Aptos" panose="020B0004020202020204" pitchFamily="34" charset="0"/>
              </a:rPr>
              <a:t>Information santé</a:t>
            </a:r>
          </a:p>
          <a:p>
            <a:pPr marL="342900" indent="-342900">
              <a:buFont typeface="Arial" panose="020B0604020202020204" pitchFamily="34" charset="0"/>
              <a:buChar char="•"/>
            </a:pPr>
            <a:r>
              <a:rPr lang="fr-FR" sz="2000" dirty="0">
                <a:latin typeface="Aptos" panose="020B0004020202020204" pitchFamily="34" charset="0"/>
              </a:rPr>
              <a:t>Suivi thérapeutique</a:t>
            </a:r>
          </a:p>
          <a:p>
            <a:pPr marL="342900" indent="-342900">
              <a:buFont typeface="Arial" panose="020B0604020202020204" pitchFamily="34" charset="0"/>
              <a:buChar char="•"/>
            </a:pPr>
            <a:r>
              <a:rPr lang="fr-FR" sz="2000" dirty="0">
                <a:latin typeface="Aptos" panose="020B0004020202020204" pitchFamily="34" charset="0"/>
              </a:rPr>
              <a:t>Journées de sensibilisation</a:t>
            </a:r>
          </a:p>
        </p:txBody>
      </p:sp>
      <p:sp>
        <p:nvSpPr>
          <p:cNvPr id="10" name="ZoneTexte 9">
            <a:extLst>
              <a:ext uri="{FF2B5EF4-FFF2-40B4-BE49-F238E27FC236}">
                <a16:creationId xmlns:a16="http://schemas.microsoft.com/office/drawing/2014/main" id="{946CDB20-6BF6-43F7-8E5F-2325526FACDA}"/>
              </a:ext>
            </a:extLst>
          </p:cNvPr>
          <p:cNvSpPr txBox="1"/>
          <p:nvPr/>
        </p:nvSpPr>
        <p:spPr>
          <a:xfrm>
            <a:off x="6106886" y="2073494"/>
            <a:ext cx="5866504" cy="3785652"/>
          </a:xfrm>
          <a:prstGeom prst="rect">
            <a:avLst/>
          </a:prstGeom>
          <a:noFill/>
        </p:spPr>
        <p:txBody>
          <a:bodyPr wrap="square">
            <a:spAutoFit/>
          </a:bodyPr>
          <a:lstStyle/>
          <a:p>
            <a:r>
              <a:rPr lang="fr-FR" sz="2000" b="1" dirty="0">
                <a:latin typeface="Aptos" panose="020B0004020202020204" pitchFamily="34" charset="0"/>
              </a:rPr>
              <a:t>Exemples à risque :</a:t>
            </a:r>
          </a:p>
          <a:p>
            <a:pPr marL="342900" indent="-342900">
              <a:buFont typeface="Arial" panose="020B0604020202020204" pitchFamily="34" charset="0"/>
              <a:buChar char="•"/>
            </a:pPr>
            <a:r>
              <a:rPr lang="fr-FR" sz="2000" dirty="0">
                <a:latin typeface="Aptos" panose="020B0004020202020204" pitchFamily="34" charset="0"/>
              </a:rPr>
              <a:t>Incitations excessives à l’achat</a:t>
            </a:r>
          </a:p>
          <a:p>
            <a:pPr marL="342900" indent="-342900">
              <a:buFont typeface="Arial" panose="020B0604020202020204" pitchFamily="34" charset="0"/>
              <a:buChar char="•"/>
            </a:pPr>
            <a:r>
              <a:rPr lang="fr-FR" sz="2000" dirty="0">
                <a:latin typeface="Aptos" panose="020B0004020202020204" pitchFamily="34" charset="0"/>
              </a:rPr>
              <a:t>Publicité trompeuse</a:t>
            </a:r>
          </a:p>
          <a:p>
            <a:pPr marL="342900" indent="-342900">
              <a:buFont typeface="Arial" panose="020B0604020202020204" pitchFamily="34" charset="0"/>
              <a:buChar char="•"/>
            </a:pPr>
            <a:r>
              <a:rPr lang="fr-FR" sz="2000" dirty="0">
                <a:latin typeface="Aptos" panose="020B0004020202020204" pitchFamily="34" charset="0"/>
              </a:rPr>
              <a:t>Récompenses susceptibles d’influencer de manière inappropriée la consommation de médicaments</a:t>
            </a:r>
          </a:p>
          <a:p>
            <a:endParaRPr lang="fr-FR" sz="2000" dirty="0">
              <a:latin typeface="Aptos" panose="020B0004020202020204" pitchFamily="34" charset="0"/>
            </a:endParaRPr>
          </a:p>
          <a:p>
            <a:r>
              <a:rPr lang="fr-FR" sz="2000" b="1" dirty="0">
                <a:latin typeface="Aptos" panose="020B0004020202020204" pitchFamily="34" charset="0"/>
              </a:rPr>
              <a:t>Application au Bénin : </a:t>
            </a:r>
          </a:p>
          <a:p>
            <a:r>
              <a:rPr lang="fr-FR" sz="2000" dirty="0">
                <a:latin typeface="Aptos" panose="020B0004020202020204" pitchFamily="34" charset="0"/>
              </a:rPr>
              <a:t>Le pharmacien doit toujours vérifier que ses actions de fidélisation restent compatibles avec les règles déontologiques et les orientations de l’Ordre et de l’ABMed.</a:t>
            </a:r>
          </a:p>
        </p:txBody>
      </p:sp>
    </p:spTree>
    <p:extLst>
      <p:ext uri="{BB962C8B-B14F-4D97-AF65-F5344CB8AC3E}">
        <p14:creationId xmlns:p14="http://schemas.microsoft.com/office/powerpoint/2010/main" val="190326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Fidélisation de la clientèle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Utilisation des outils digitaux</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r>
              <a:rPr lang="fr-FR" sz="2000" b="1" dirty="0">
                <a:latin typeface="Aptos" panose="020B0004020202020204" pitchFamily="34" charset="0"/>
              </a:rPr>
              <a:t>Pourquoi utiliser le digital ?</a:t>
            </a:r>
          </a:p>
          <a:p>
            <a:pPr lvl="1"/>
            <a:r>
              <a:rPr lang="fr-FR" sz="2000" dirty="0">
                <a:latin typeface="Aptos" panose="020B0004020202020204" pitchFamily="34" charset="0"/>
              </a:rPr>
              <a:t>Les patients utilisent de plus en plus : WhatsApp, Facebook, Instagram e Google </a:t>
            </a:r>
            <a:r>
              <a:rPr lang="fr-FR" sz="2000" dirty="0" err="1">
                <a:latin typeface="Aptos" panose="020B0004020202020204" pitchFamily="34" charset="0"/>
              </a:rPr>
              <a:t>Maps</a:t>
            </a:r>
            <a:r>
              <a:rPr lang="fr-FR" sz="2000" dirty="0">
                <a:latin typeface="Aptos" panose="020B0004020202020204" pitchFamily="34" charset="0"/>
              </a:rPr>
              <a:t>.</a:t>
            </a:r>
          </a:p>
          <a:p>
            <a:endParaRPr lang="fr-FR" sz="2000" dirty="0">
              <a:latin typeface="Aptos" panose="020B0004020202020204" pitchFamily="34" charset="0"/>
            </a:endParaRPr>
          </a:p>
          <a:p>
            <a:r>
              <a:rPr lang="fr-FR" sz="2000" b="1" dirty="0">
                <a:latin typeface="Aptos" panose="020B0004020202020204" pitchFamily="34" charset="0"/>
              </a:rPr>
              <a:t>Applications utiles : </a:t>
            </a:r>
          </a:p>
          <a:p>
            <a:pPr marL="800100" lvl="1" indent="-342900">
              <a:buFont typeface="Arial" panose="020B0604020202020204" pitchFamily="34" charset="0"/>
              <a:buChar char="•"/>
            </a:pPr>
            <a:r>
              <a:rPr lang="fr-FR" sz="2000" dirty="0">
                <a:latin typeface="Aptos" panose="020B0004020202020204" pitchFamily="34" charset="0"/>
              </a:rPr>
              <a:t>Notifications de disponibilité</a:t>
            </a:r>
          </a:p>
          <a:p>
            <a:pPr marL="800100" lvl="1" indent="-342900">
              <a:buFont typeface="Arial" panose="020B0604020202020204" pitchFamily="34" charset="0"/>
              <a:buChar char="•"/>
            </a:pPr>
            <a:r>
              <a:rPr lang="fr-FR" sz="2000" dirty="0">
                <a:latin typeface="Aptos" panose="020B0004020202020204" pitchFamily="34" charset="0"/>
              </a:rPr>
              <a:t>Rappels de renouvellement</a:t>
            </a:r>
          </a:p>
          <a:p>
            <a:pPr marL="800100" lvl="1" indent="-342900">
              <a:buFont typeface="Arial" panose="020B0604020202020204" pitchFamily="34" charset="0"/>
              <a:buChar char="•"/>
            </a:pPr>
            <a:r>
              <a:rPr lang="fr-FR" sz="2000" dirty="0">
                <a:latin typeface="Aptos" panose="020B0004020202020204" pitchFamily="34" charset="0"/>
              </a:rPr>
              <a:t>Messages éducatifs</a:t>
            </a:r>
          </a:p>
          <a:p>
            <a:pPr marL="800100" lvl="1" indent="-342900">
              <a:buFont typeface="Arial" panose="020B0604020202020204" pitchFamily="34" charset="0"/>
              <a:buChar char="•"/>
            </a:pPr>
            <a:r>
              <a:rPr lang="fr-FR" sz="2000" dirty="0">
                <a:latin typeface="Aptos" panose="020B0004020202020204" pitchFamily="34" charset="0"/>
              </a:rPr>
              <a:t>Information sur les horaires</a:t>
            </a:r>
          </a:p>
          <a:p>
            <a:pPr marL="800100" lvl="1" indent="-342900">
              <a:buFont typeface="Arial" panose="020B0604020202020204" pitchFamily="34" charset="0"/>
              <a:buChar char="•"/>
            </a:pPr>
            <a:r>
              <a:rPr lang="fr-FR" sz="2000" dirty="0">
                <a:latin typeface="Aptos" panose="020B0004020202020204" pitchFamily="34" charset="0"/>
              </a:rPr>
              <a:t>Communication de santé publique</a:t>
            </a:r>
          </a:p>
          <a:p>
            <a:endParaRPr lang="fr-FR" sz="2000" dirty="0">
              <a:latin typeface="Aptos" panose="020B0004020202020204" pitchFamily="34" charset="0"/>
            </a:endParaRPr>
          </a:p>
          <a:p>
            <a:r>
              <a:rPr lang="fr-FR" sz="2000" b="1" dirty="0">
                <a:latin typeface="Aptos" panose="020B0004020202020204" pitchFamily="34" charset="0"/>
              </a:rPr>
              <a:t>Bonnes pratiques : </a:t>
            </a:r>
          </a:p>
          <a:p>
            <a:pPr marL="800100" lvl="1" indent="-342900">
              <a:buFont typeface="Arial" panose="020B0604020202020204" pitchFamily="34" charset="0"/>
              <a:buChar char="•"/>
            </a:pPr>
            <a:r>
              <a:rPr lang="fr-FR" sz="2000" dirty="0">
                <a:latin typeface="Aptos" panose="020B0004020202020204" pitchFamily="34" charset="0"/>
              </a:rPr>
              <a:t>Respect de la confidentialité</a:t>
            </a:r>
          </a:p>
          <a:p>
            <a:pPr marL="800100" lvl="1" indent="-342900">
              <a:buFont typeface="Arial" panose="020B0604020202020204" pitchFamily="34" charset="0"/>
              <a:buChar char="•"/>
            </a:pPr>
            <a:r>
              <a:rPr lang="fr-FR" sz="2000" dirty="0">
                <a:latin typeface="Aptos" panose="020B0004020202020204" pitchFamily="34" charset="0"/>
              </a:rPr>
              <a:t>Consentement du patient</a:t>
            </a:r>
          </a:p>
          <a:p>
            <a:pPr marL="800100" lvl="1" indent="-342900">
              <a:buFont typeface="Arial" panose="020B0604020202020204" pitchFamily="34" charset="0"/>
              <a:buChar char="•"/>
            </a:pPr>
            <a:r>
              <a:rPr lang="fr-FR" sz="2000" dirty="0">
                <a:latin typeface="Aptos" panose="020B0004020202020204" pitchFamily="34" charset="0"/>
              </a:rPr>
              <a:t>Communication professionnelle</a:t>
            </a:r>
          </a:p>
        </p:txBody>
      </p:sp>
    </p:spTree>
    <p:extLst>
      <p:ext uri="{BB962C8B-B14F-4D97-AF65-F5344CB8AC3E}">
        <p14:creationId xmlns:p14="http://schemas.microsoft.com/office/powerpoint/2010/main" val="2374263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Fidélisation de la clientèle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Mesure de la satisfaction client</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r>
              <a:rPr lang="fr-FR" sz="2000" b="1" dirty="0">
                <a:latin typeface="Aptos" panose="020B0004020202020204" pitchFamily="34" charset="0"/>
              </a:rPr>
              <a:t>Pourquoi mesurer ?</a:t>
            </a:r>
          </a:p>
          <a:p>
            <a:pPr lvl="1"/>
            <a:r>
              <a:rPr lang="fr-FR" sz="2000" dirty="0">
                <a:latin typeface="Aptos" panose="020B0004020202020204" pitchFamily="34" charset="0"/>
              </a:rPr>
              <a:t>On ne peut améliorer que ce que l’on mesure.</a:t>
            </a:r>
          </a:p>
          <a:p>
            <a:endParaRPr lang="fr-FR" sz="2000" dirty="0">
              <a:latin typeface="Aptos" panose="020B0004020202020204" pitchFamily="34" charset="0"/>
            </a:endParaRPr>
          </a:p>
          <a:p>
            <a:r>
              <a:rPr lang="fr-FR" sz="2000" b="1" dirty="0">
                <a:latin typeface="Aptos" panose="020B0004020202020204" pitchFamily="34" charset="0"/>
              </a:rPr>
              <a:t>Méthodes :</a:t>
            </a:r>
          </a:p>
          <a:p>
            <a:pPr marL="800100" lvl="1" indent="-342900">
              <a:buFont typeface="Arial" panose="020B0604020202020204" pitchFamily="34" charset="0"/>
              <a:buChar char="•"/>
            </a:pPr>
            <a:r>
              <a:rPr lang="fr-FR" sz="2000" dirty="0">
                <a:latin typeface="Aptos" panose="020B0004020202020204" pitchFamily="34" charset="0"/>
              </a:rPr>
              <a:t>Questionnaires</a:t>
            </a:r>
          </a:p>
          <a:p>
            <a:pPr marL="800100" lvl="1" indent="-342900">
              <a:buFont typeface="Arial" panose="020B0604020202020204" pitchFamily="34" charset="0"/>
              <a:buChar char="•"/>
            </a:pPr>
            <a:r>
              <a:rPr lang="fr-FR" sz="2000" dirty="0">
                <a:latin typeface="Aptos" panose="020B0004020202020204" pitchFamily="34" charset="0"/>
              </a:rPr>
              <a:t>Boîte à suggestions</a:t>
            </a:r>
          </a:p>
          <a:p>
            <a:pPr marL="800100" lvl="1" indent="-342900">
              <a:buFont typeface="Arial" panose="020B0604020202020204" pitchFamily="34" charset="0"/>
              <a:buChar char="•"/>
            </a:pPr>
            <a:r>
              <a:rPr lang="fr-FR" sz="2000" dirty="0">
                <a:latin typeface="Aptos" panose="020B0004020202020204" pitchFamily="34" charset="0"/>
              </a:rPr>
              <a:t>Entretiens</a:t>
            </a:r>
          </a:p>
          <a:p>
            <a:pPr marL="800100" lvl="1" indent="-342900">
              <a:buFont typeface="Arial" panose="020B0604020202020204" pitchFamily="34" charset="0"/>
              <a:buChar char="•"/>
            </a:pPr>
            <a:r>
              <a:rPr lang="fr-FR" sz="2000" dirty="0">
                <a:latin typeface="Aptos" panose="020B0004020202020204" pitchFamily="34" charset="0"/>
              </a:rPr>
              <a:t>Avis en ligne</a:t>
            </a:r>
          </a:p>
          <a:p>
            <a:endParaRPr lang="fr-FR" sz="2000" dirty="0">
              <a:latin typeface="Aptos" panose="020B0004020202020204" pitchFamily="34" charset="0"/>
            </a:endParaRPr>
          </a:p>
          <a:p>
            <a:r>
              <a:rPr lang="fr-FR" sz="2000" b="1" dirty="0">
                <a:latin typeface="Aptos" panose="020B0004020202020204" pitchFamily="34" charset="0"/>
              </a:rPr>
              <a:t>Indicateurs clés : </a:t>
            </a:r>
          </a:p>
          <a:p>
            <a:pPr marL="800100" lvl="1" indent="-342900">
              <a:buFont typeface="Arial" panose="020B0604020202020204" pitchFamily="34" charset="0"/>
              <a:buChar char="•"/>
            </a:pPr>
            <a:r>
              <a:rPr lang="fr-FR" sz="2000" dirty="0">
                <a:latin typeface="Aptos" panose="020B0004020202020204" pitchFamily="34" charset="0"/>
              </a:rPr>
              <a:t>Taux de satisfaction</a:t>
            </a:r>
          </a:p>
          <a:p>
            <a:pPr marL="800100" lvl="1" indent="-342900">
              <a:buFont typeface="Arial" panose="020B0604020202020204" pitchFamily="34" charset="0"/>
              <a:buChar char="•"/>
            </a:pPr>
            <a:r>
              <a:rPr lang="fr-FR" sz="2000" dirty="0">
                <a:latin typeface="Aptos" panose="020B0004020202020204" pitchFamily="34" charset="0"/>
              </a:rPr>
              <a:t>Taux de réclamation</a:t>
            </a:r>
          </a:p>
          <a:p>
            <a:pPr marL="800100" lvl="1" indent="-342900">
              <a:buFont typeface="Arial" panose="020B0604020202020204" pitchFamily="34" charset="0"/>
              <a:buChar char="•"/>
            </a:pPr>
            <a:r>
              <a:rPr lang="fr-FR" sz="2000" dirty="0">
                <a:latin typeface="Aptos" panose="020B0004020202020204" pitchFamily="34" charset="0"/>
              </a:rPr>
              <a:t>Taux de retour des clients</a:t>
            </a:r>
          </a:p>
          <a:p>
            <a:pPr marL="800100" lvl="1" indent="-342900">
              <a:buFont typeface="Arial" panose="020B0604020202020204" pitchFamily="34" charset="0"/>
              <a:buChar char="•"/>
            </a:pPr>
            <a:r>
              <a:rPr lang="fr-FR" sz="2000" dirty="0">
                <a:latin typeface="Aptos" panose="020B0004020202020204" pitchFamily="34" charset="0"/>
              </a:rPr>
              <a:t>Recommandations</a:t>
            </a:r>
          </a:p>
        </p:txBody>
      </p:sp>
    </p:spTree>
    <p:extLst>
      <p:ext uri="{BB962C8B-B14F-4D97-AF65-F5344CB8AC3E}">
        <p14:creationId xmlns:p14="http://schemas.microsoft.com/office/powerpoint/2010/main" val="1132643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Fidélisation de la clientèle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Construire une marque d’officine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785652"/>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Qu’est-ce qu’une marque d’officine ?</a:t>
            </a:r>
          </a:p>
          <a:p>
            <a:pPr marL="342900" indent="-342900">
              <a:buFont typeface="Arial" panose="020B0604020202020204" pitchFamily="34" charset="0"/>
              <a:buChar char="•"/>
            </a:pPr>
            <a:r>
              <a:rPr lang="fr-FR" sz="2000" dirty="0">
                <a:latin typeface="Aptos" panose="020B0004020202020204" pitchFamily="34" charset="0"/>
              </a:rPr>
              <a:t>La perception que les patients ont de votre pharmacie.</a:t>
            </a:r>
          </a:p>
          <a:p>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Éléments constitutifs</a:t>
            </a:r>
          </a:p>
          <a:p>
            <a:pPr marL="800100" lvl="1" indent="-342900">
              <a:buFont typeface="Courier New" panose="02070309020205020404" pitchFamily="49" charset="0"/>
              <a:buChar char="o"/>
            </a:pPr>
            <a:r>
              <a:rPr lang="fr-FR" sz="2000" dirty="0">
                <a:latin typeface="Aptos" panose="020B0004020202020204" pitchFamily="34" charset="0"/>
              </a:rPr>
              <a:t>Réputation</a:t>
            </a:r>
          </a:p>
          <a:p>
            <a:pPr marL="800100" lvl="1" indent="-342900">
              <a:buFont typeface="Courier New" panose="02070309020205020404" pitchFamily="49" charset="0"/>
              <a:buChar char="o"/>
            </a:pPr>
            <a:r>
              <a:rPr lang="fr-FR" sz="2000" dirty="0">
                <a:latin typeface="Aptos" panose="020B0004020202020204" pitchFamily="34" charset="0"/>
              </a:rPr>
              <a:t>Professionnalisme</a:t>
            </a:r>
          </a:p>
          <a:p>
            <a:pPr marL="800100" lvl="1" indent="-342900">
              <a:buFont typeface="Courier New" panose="02070309020205020404" pitchFamily="49" charset="0"/>
              <a:buChar char="o"/>
            </a:pPr>
            <a:r>
              <a:rPr lang="fr-FR" sz="2000" dirty="0">
                <a:latin typeface="Aptos" panose="020B0004020202020204" pitchFamily="34" charset="0"/>
              </a:rPr>
              <a:t>Qualité du conseil</a:t>
            </a:r>
          </a:p>
          <a:p>
            <a:pPr marL="800100" lvl="1" indent="-342900">
              <a:buFont typeface="Courier New" panose="02070309020205020404" pitchFamily="49" charset="0"/>
              <a:buChar char="o"/>
            </a:pPr>
            <a:r>
              <a:rPr lang="fr-FR" sz="2000" dirty="0">
                <a:latin typeface="Aptos" panose="020B0004020202020204" pitchFamily="34" charset="0"/>
              </a:rPr>
              <a:t>Disponibilité</a:t>
            </a:r>
          </a:p>
          <a:p>
            <a:pPr marL="800100" lvl="1" indent="-342900">
              <a:buFont typeface="Courier New" panose="02070309020205020404" pitchFamily="49" charset="0"/>
              <a:buChar char="o"/>
            </a:pPr>
            <a:r>
              <a:rPr lang="fr-FR" sz="2000" dirty="0">
                <a:latin typeface="Aptos" panose="020B0004020202020204" pitchFamily="34" charset="0"/>
              </a:rPr>
              <a:t>Image visuelle</a:t>
            </a:r>
          </a:p>
          <a:p>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Exemple</a:t>
            </a:r>
            <a:r>
              <a:rPr lang="fr-FR" sz="2000" dirty="0">
                <a:latin typeface="Aptos" panose="020B0004020202020204" pitchFamily="34" charset="0"/>
              </a:rPr>
              <a:t> : Lorsque les habitants d’un quartier disent :« Va à cette pharmacie, ils prennent vraiment le temps d’expliquer. » L’officine possède déjà une marque forte.</a:t>
            </a:r>
          </a:p>
        </p:txBody>
      </p:sp>
    </p:spTree>
    <p:extLst>
      <p:ext uri="{BB962C8B-B14F-4D97-AF65-F5344CB8AC3E}">
        <p14:creationId xmlns:p14="http://schemas.microsoft.com/office/powerpoint/2010/main" val="4119021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Fidélisation de la clientèle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Plan de fidélisation de l’officine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862322"/>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Étape 1 </a:t>
            </a:r>
            <a:r>
              <a:rPr lang="fr-FR" sz="2000" dirty="0">
                <a:latin typeface="Aptos" panose="020B0004020202020204" pitchFamily="34" charset="0"/>
              </a:rPr>
              <a:t>: Analyser les patients.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Étape 2 </a:t>
            </a:r>
            <a:r>
              <a:rPr lang="fr-FR" sz="2000" dirty="0">
                <a:latin typeface="Aptos" panose="020B0004020202020204" pitchFamily="34" charset="0"/>
              </a:rPr>
              <a:t>: Identifier les attentes.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Étape 3 </a:t>
            </a:r>
            <a:r>
              <a:rPr lang="fr-FR" sz="2000" dirty="0">
                <a:latin typeface="Aptos" panose="020B0004020202020204" pitchFamily="34" charset="0"/>
              </a:rPr>
              <a:t>: Développer des services adaptés.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Étape 4 </a:t>
            </a:r>
            <a:r>
              <a:rPr lang="fr-FR" sz="2000" dirty="0">
                <a:latin typeface="Aptos" panose="020B0004020202020204" pitchFamily="34" charset="0"/>
              </a:rPr>
              <a:t>: Mesurer la satisfaction.</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Étape 5 </a:t>
            </a:r>
            <a:r>
              <a:rPr lang="fr-FR" sz="2000" dirty="0">
                <a:latin typeface="Aptos" panose="020B0004020202020204" pitchFamily="34" charset="0"/>
              </a:rPr>
              <a:t>: Améliorer continuellement.</a:t>
            </a:r>
          </a:p>
        </p:txBody>
      </p:sp>
    </p:spTree>
    <p:extLst>
      <p:ext uri="{BB962C8B-B14F-4D97-AF65-F5344CB8AC3E}">
        <p14:creationId xmlns:p14="http://schemas.microsoft.com/office/powerpoint/2010/main" val="1723391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Fidélisation de la clientèle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Étude de cas complète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Officine située à Abomey-Calavi.</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Constats :</a:t>
            </a:r>
          </a:p>
          <a:p>
            <a:pPr marL="800100" lvl="1" indent="-342900">
              <a:buFont typeface="Courier New" panose="02070309020205020404" pitchFamily="49" charset="0"/>
              <a:buChar char="o"/>
            </a:pPr>
            <a:r>
              <a:rPr lang="fr-FR" sz="2000" dirty="0">
                <a:latin typeface="Aptos" panose="020B0004020202020204" pitchFamily="34" charset="0"/>
              </a:rPr>
              <a:t>forte concurrence ;</a:t>
            </a:r>
          </a:p>
          <a:p>
            <a:pPr marL="800100" lvl="1" indent="-342900">
              <a:buFont typeface="Courier New" panose="02070309020205020404" pitchFamily="49" charset="0"/>
              <a:buChar char="o"/>
            </a:pPr>
            <a:r>
              <a:rPr lang="fr-FR" sz="2000" dirty="0">
                <a:latin typeface="Aptos" panose="020B0004020202020204" pitchFamily="34" charset="0"/>
              </a:rPr>
              <a:t>baisse de fréquentation ;</a:t>
            </a:r>
          </a:p>
          <a:p>
            <a:pPr marL="800100" lvl="1" indent="-342900">
              <a:buFont typeface="Courier New" panose="02070309020205020404" pitchFamily="49" charset="0"/>
              <a:buChar char="o"/>
            </a:pPr>
            <a:r>
              <a:rPr lang="fr-FR" sz="2000" dirty="0">
                <a:latin typeface="Aptos" panose="020B0004020202020204" pitchFamily="34" charset="0"/>
              </a:rPr>
              <a:t>nombreux patients chroniques ;</a:t>
            </a:r>
          </a:p>
          <a:p>
            <a:pPr marL="800100" lvl="1" indent="-342900">
              <a:buFont typeface="Courier New" panose="02070309020205020404" pitchFamily="49" charset="0"/>
              <a:buChar char="o"/>
            </a:pPr>
            <a:r>
              <a:rPr lang="fr-FR" sz="2000" dirty="0">
                <a:latin typeface="Aptos" panose="020B0004020202020204" pitchFamily="34" charset="0"/>
              </a:rPr>
              <a:t>présence active des concurrents sur les réseaux sociaux.</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Travail demandé </a:t>
            </a:r>
          </a:p>
          <a:p>
            <a:pPr marL="800100" lvl="1" indent="-342900">
              <a:buFont typeface="Courier New" panose="02070309020205020404" pitchFamily="49" charset="0"/>
              <a:buChar char="o"/>
            </a:pPr>
            <a:r>
              <a:rPr lang="fr-FR" sz="2000" dirty="0">
                <a:latin typeface="Aptos" panose="020B0004020202020204" pitchFamily="34" charset="0"/>
              </a:rPr>
              <a:t>Identifier les causes possibles de la baisse de fidélité.</a:t>
            </a:r>
          </a:p>
          <a:p>
            <a:pPr marL="800100" lvl="1" indent="-342900">
              <a:buFont typeface="Courier New" panose="02070309020205020404" pitchFamily="49" charset="0"/>
              <a:buChar char="o"/>
            </a:pPr>
            <a:r>
              <a:rPr lang="fr-FR" sz="2000" dirty="0">
                <a:latin typeface="Aptos" panose="020B0004020202020204" pitchFamily="34" charset="0"/>
              </a:rPr>
              <a:t>Définir trois services à valeur ajoutée.</a:t>
            </a:r>
          </a:p>
          <a:p>
            <a:pPr marL="800100" lvl="1" indent="-342900">
              <a:buFont typeface="Courier New" panose="02070309020205020404" pitchFamily="49" charset="0"/>
              <a:buChar char="o"/>
            </a:pPr>
            <a:r>
              <a:rPr lang="fr-FR" sz="2000" dirty="0">
                <a:latin typeface="Aptos" panose="020B0004020202020204" pitchFamily="34" charset="0"/>
              </a:rPr>
              <a:t>Élaborer une stratégie digitale simple.</a:t>
            </a:r>
          </a:p>
          <a:p>
            <a:pPr marL="800100" lvl="1" indent="-342900">
              <a:buFont typeface="Courier New" panose="02070309020205020404" pitchFamily="49" charset="0"/>
              <a:buChar char="o"/>
            </a:pPr>
            <a:r>
              <a:rPr lang="fr-FR" sz="2000" dirty="0">
                <a:latin typeface="Aptos" panose="020B0004020202020204" pitchFamily="34" charset="0"/>
              </a:rPr>
              <a:t>Définir cinq indicateurs de suivi.</a:t>
            </a:r>
          </a:p>
          <a:p>
            <a:pPr marL="800100" lvl="1" indent="-342900">
              <a:buFont typeface="Courier New" panose="02070309020205020404" pitchFamily="49" charset="0"/>
              <a:buChar char="o"/>
            </a:pPr>
            <a:r>
              <a:rPr lang="fr-FR" sz="2000" dirty="0">
                <a:latin typeface="Aptos" panose="020B0004020202020204" pitchFamily="34" charset="0"/>
              </a:rPr>
              <a:t>Construire un plan de fidélisation sur 12 mois.</a:t>
            </a:r>
          </a:p>
        </p:txBody>
      </p:sp>
    </p:spTree>
    <p:extLst>
      <p:ext uri="{BB962C8B-B14F-4D97-AF65-F5344CB8AC3E}">
        <p14:creationId xmlns:p14="http://schemas.microsoft.com/office/powerpoint/2010/main" val="1144809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Fidélisation de la clientèle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Message clé à retenir</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862322"/>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La fidélisation en officine ne se construit ni par la publicité agressive ni par les promotions excessives.</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Elle se construit par la confiance, la qualité du conseil, la disponibilité, l’écoute et l’accompagnement du patient.</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Les patients oublient parfois le prix.</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Ils oublient rarement la manière dont ils ont été accueillis et accompagnés.</a:t>
            </a:r>
          </a:p>
        </p:txBody>
      </p:sp>
    </p:spTree>
    <p:extLst>
      <p:ext uri="{BB962C8B-B14F-4D97-AF65-F5344CB8AC3E}">
        <p14:creationId xmlns:p14="http://schemas.microsoft.com/office/powerpoint/2010/main" val="2333266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5604B0-EF89-4CCD-9A70-88801B695330}"/>
              </a:ext>
            </a:extLst>
          </p:cNvPr>
          <p:cNvSpPr/>
          <p:nvPr/>
        </p:nvSpPr>
        <p:spPr>
          <a:xfrm>
            <a:off x="233266" y="205274"/>
            <a:ext cx="11747240" cy="5057192"/>
          </a:xfrm>
          <a:prstGeom prst="rect">
            <a:avLst/>
          </a:prstGeom>
          <a:solidFill>
            <a:srgbClr val="FD7B0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59298" y="1948057"/>
            <a:ext cx="481069" cy="1571625"/>
          </a:xfrm>
          <a:prstGeom prst="roundRect">
            <a:avLst>
              <a:gd name="adj" fmla="val 50000"/>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40366" y="2447698"/>
            <a:ext cx="10343495" cy="584775"/>
          </a:xfrm>
          <a:prstGeom prst="rect">
            <a:avLst/>
          </a:prstGeom>
          <a:noFill/>
        </p:spPr>
        <p:txBody>
          <a:bodyPr wrap="square">
            <a:spAutoFit/>
          </a:bodyPr>
          <a:lstStyle/>
          <a:p>
            <a:r>
              <a:rPr lang="fr-FR" sz="3200" b="1" dirty="0">
                <a:solidFill>
                  <a:schemeClr val="bg1"/>
                </a:solidFill>
                <a:latin typeface="Aptos" panose="020B0004020202020204" pitchFamily="34" charset="0"/>
                <a:ea typeface="Calibri" panose="020F0502020204030204" pitchFamily="34" charset="0"/>
                <a:cs typeface="Calibri" panose="020F0502020204030204" pitchFamily="34" charset="0"/>
              </a:rPr>
              <a:t>Comptabilité et rentabilité de l'officine </a:t>
            </a:r>
          </a:p>
        </p:txBody>
      </p:sp>
      <p:pic>
        <p:nvPicPr>
          <p:cNvPr id="7" name="Image 6">
            <a:extLst>
              <a:ext uri="{FF2B5EF4-FFF2-40B4-BE49-F238E27FC236}">
                <a16:creationId xmlns:a16="http://schemas.microsoft.com/office/drawing/2014/main" id="{E2F6D796-76F1-49E6-8701-619808DA4C96}"/>
              </a:ext>
            </a:extLst>
          </p:cNvPr>
          <p:cNvPicPr>
            <a:picLocks noChangeAspect="1"/>
          </p:cNvPicPr>
          <p:nvPr/>
        </p:nvPicPr>
        <p:blipFill rotWithShape="1">
          <a:blip r:embed="rId2">
            <a:extLst>
              <a:ext uri="{28A0092B-C50C-407E-A947-70E740481C1C}">
                <a14:useLocalDpi xmlns:a14="http://schemas.microsoft.com/office/drawing/2010/main" val="0"/>
              </a:ext>
            </a:extLst>
          </a:blip>
          <a:srcRect t="21545" b="12625"/>
          <a:stretch/>
        </p:blipFill>
        <p:spPr>
          <a:xfrm>
            <a:off x="8709840" y="221037"/>
            <a:ext cx="1944000" cy="592467"/>
          </a:xfrm>
          <a:prstGeom prst="rect">
            <a:avLst/>
          </a:prstGeom>
        </p:spPr>
      </p:pic>
      <p:sp>
        <p:nvSpPr>
          <p:cNvPr id="9" name="ZoneTexte 8">
            <a:extLst>
              <a:ext uri="{FF2B5EF4-FFF2-40B4-BE49-F238E27FC236}">
                <a16:creationId xmlns:a16="http://schemas.microsoft.com/office/drawing/2014/main" id="{4A6EF384-4FA4-47D7-961A-157F9FFD1774}"/>
              </a:ext>
            </a:extLst>
          </p:cNvPr>
          <p:cNvSpPr txBox="1"/>
          <p:nvPr/>
        </p:nvSpPr>
        <p:spPr>
          <a:xfrm>
            <a:off x="7404946" y="813504"/>
            <a:ext cx="4553788" cy="307777"/>
          </a:xfrm>
          <a:prstGeom prst="rect">
            <a:avLst/>
          </a:prstGeom>
          <a:noFill/>
        </p:spPr>
        <p:txBody>
          <a:bodyPr wrap="square">
            <a:spAutoFit/>
          </a:bodyPr>
          <a:lstStyle/>
          <a:p>
            <a:pPr algn="ctr"/>
            <a:r>
              <a:rPr lang="fr-FR" sz="1400" dirty="0">
                <a:solidFill>
                  <a:schemeClr val="bg1"/>
                </a:solidFill>
                <a:latin typeface="Aptos" panose="020B0004020202020204" pitchFamily="34" charset="0"/>
                <a:ea typeface="Calibri" panose="020F0502020204030204" pitchFamily="34" charset="0"/>
                <a:cs typeface="Calibri" panose="020F0502020204030204" pitchFamily="34" charset="0"/>
              </a:rPr>
              <a:t>GESTION D’UNE OFFICINE MODERNE </a:t>
            </a:r>
          </a:p>
        </p:txBody>
      </p:sp>
      <p:pic>
        <p:nvPicPr>
          <p:cNvPr id="13" name="Image 12">
            <a:extLst>
              <a:ext uri="{FF2B5EF4-FFF2-40B4-BE49-F238E27FC236}">
                <a16:creationId xmlns:a16="http://schemas.microsoft.com/office/drawing/2014/main" id="{5FC12CEA-3333-4B55-A99F-80B86F71D5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4" name="Connecteur droit 13">
            <a:extLst>
              <a:ext uri="{FF2B5EF4-FFF2-40B4-BE49-F238E27FC236}">
                <a16:creationId xmlns:a16="http://schemas.microsoft.com/office/drawing/2014/main" id="{96CFDAD8-C39D-4C4B-AED8-A6D929694CED}"/>
              </a:ext>
            </a:extLst>
          </p:cNvPr>
          <p:cNvCxnSpPr>
            <a:cxnSpLocks/>
            <a:stCxn id="13"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5" name="Image 14">
            <a:extLst>
              <a:ext uri="{FF2B5EF4-FFF2-40B4-BE49-F238E27FC236}">
                <a16:creationId xmlns:a16="http://schemas.microsoft.com/office/drawing/2014/main" id="{1D7E960A-1BE1-48DA-96CC-0E811CE310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297" y="2493333"/>
            <a:ext cx="481069" cy="481069"/>
          </a:xfrm>
          <a:prstGeom prst="rect">
            <a:avLst/>
          </a:prstGeom>
        </p:spPr>
      </p:pic>
    </p:spTree>
    <p:extLst>
      <p:ext uri="{BB962C8B-B14F-4D97-AF65-F5344CB8AC3E}">
        <p14:creationId xmlns:p14="http://schemas.microsoft.com/office/powerpoint/2010/main" val="1274863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82384" y="2410703"/>
            <a:ext cx="10049004" cy="646331"/>
          </a:xfrm>
          <a:prstGeom prst="rect">
            <a:avLst/>
          </a:prstGeom>
          <a:noFill/>
        </p:spPr>
        <p:txBody>
          <a:bodyPr wrap="square">
            <a:spAutoFit/>
          </a:bodyPr>
          <a:lstStyle/>
          <a:p>
            <a:r>
              <a:rPr lang="fr-FR" sz="3600" b="1" dirty="0">
                <a:solidFill>
                  <a:schemeClr val="bg1"/>
                </a:solidFill>
                <a:effectLst/>
                <a:latin typeface="Aptos" panose="020B0004020202020204" pitchFamily="34" charset="0"/>
                <a:ea typeface="Calibri" panose="020F0502020204030204" pitchFamily="34" charset="0"/>
                <a:cs typeface="Calibri" panose="020F0502020204030204" pitchFamily="34" charset="0"/>
              </a:rPr>
              <a:t>Gestion des approvisionnements et des stocks</a:t>
            </a:r>
            <a:r>
              <a:rPr lang="fr-FR" sz="3600" dirty="0">
                <a:solidFill>
                  <a:schemeClr val="bg1"/>
                </a:solidFill>
                <a:effectLst/>
                <a:latin typeface="Aptos" panose="020B0004020202020204" pitchFamily="34" charset="0"/>
                <a:ea typeface="Calibri" panose="020F0502020204030204" pitchFamily="34" charset="0"/>
                <a:cs typeface="Calibri" panose="020F0502020204030204" pitchFamily="34" charset="0"/>
              </a:rPr>
              <a:t> </a:t>
            </a:r>
            <a:endParaRPr lang="en-US" sz="3600" dirty="0">
              <a:solidFill>
                <a:schemeClr val="bg1"/>
              </a:solidFill>
              <a:latin typeface="Aptos" panose="020B0004020202020204" pitchFamily="34" charset="0"/>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Plan</a:t>
            </a:r>
            <a:endParaRPr lang="en-US" sz="2800" dirty="0">
              <a:solidFill>
                <a:schemeClr val="tx1">
                  <a:lumMod val="75000"/>
                  <a:lumOff val="25000"/>
                </a:schemeClr>
              </a:solidFill>
              <a:latin typeface="Aptos" panose="020B0004020202020204" pitchFamily="34" charset="0"/>
            </a:endParaRPr>
          </a:p>
        </p:txBody>
      </p:sp>
      <p:sp>
        <p:nvSpPr>
          <p:cNvPr id="13" name="Content Placeholder 3">
            <a:extLst>
              <a:ext uri="{FF2B5EF4-FFF2-40B4-BE49-F238E27FC236}">
                <a16:creationId xmlns:a16="http://schemas.microsoft.com/office/drawing/2014/main" id="{94B8DB2E-A3E6-45FB-A31A-70487A5468F3}"/>
              </a:ext>
            </a:extLst>
          </p:cNvPr>
          <p:cNvSpPr txBox="1">
            <a:spLocks/>
          </p:cNvSpPr>
          <p:nvPr/>
        </p:nvSpPr>
        <p:spPr>
          <a:xfrm>
            <a:off x="617220" y="1584961"/>
            <a:ext cx="10965180" cy="249174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200"/>
              </a:spcBef>
              <a:buClr>
                <a:srgbClr val="6C6463"/>
              </a:buClr>
              <a:buFont typeface="Arial" panose="020B0604020202020204" pitchFamily="34" charset="0"/>
              <a:buChar char="•"/>
              <a:defRPr sz="2800" kern="1200">
                <a:solidFill>
                  <a:srgbClr val="6C6463"/>
                </a:solidFill>
                <a:latin typeface="+mn-lt"/>
                <a:ea typeface="+mn-ea"/>
                <a:cs typeface="+mn-cs"/>
              </a:defRPr>
            </a:lvl1pPr>
            <a:lvl2pPr marL="457200" indent="0" algn="l" defTabSz="914400" rtl="0" eaLnBrk="1" latinLnBrk="0" hangingPunct="1">
              <a:lnSpc>
                <a:spcPct val="100000"/>
              </a:lnSpc>
              <a:spcBef>
                <a:spcPts val="300"/>
              </a:spcBef>
              <a:buClr>
                <a:srgbClr val="6C6463"/>
              </a:buClr>
              <a:buSzPct val="80000"/>
              <a:buFont typeface="Courier New" panose="02070309020205020404" pitchFamily="49" charset="0"/>
              <a:buNone/>
              <a:defRPr sz="2400" kern="1200">
                <a:solidFill>
                  <a:srgbClr val="6C6463"/>
                </a:solidFill>
                <a:latin typeface="+mn-lt"/>
                <a:ea typeface="+mn-ea"/>
                <a:cs typeface="+mn-cs"/>
              </a:defRPr>
            </a:lvl2pPr>
            <a:lvl3pPr marL="1143000" indent="-228600" algn="l" defTabSz="914400" rtl="0" eaLnBrk="1" latinLnBrk="0" hangingPunct="1">
              <a:lnSpc>
                <a:spcPct val="100000"/>
              </a:lnSpc>
              <a:spcBef>
                <a:spcPts val="300"/>
              </a:spcBef>
              <a:buClr>
                <a:srgbClr val="6C6463"/>
              </a:buClr>
              <a:buFont typeface="Gill Sans MT" panose="020B0502020104020203" pitchFamily="34" charset="0"/>
              <a:buChar char="–"/>
              <a:defRPr sz="2000" kern="1200">
                <a:solidFill>
                  <a:srgbClr val="6C6463"/>
                </a:solidFill>
                <a:latin typeface="+mn-lt"/>
                <a:ea typeface="+mn-ea"/>
                <a:cs typeface="+mn-cs"/>
              </a:defRPr>
            </a:lvl3pPr>
            <a:lvl4pPr marL="16002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4pPr>
            <a:lvl5pPr marL="20574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5pPr>
            <a:lvl6pPr marL="25146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6pPr>
            <a:lvl7pPr marL="29718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7pPr>
            <a:lvl8pPr marL="34290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Lecture et analyse des états financiers d'une officine</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Calcul des marges et du seuil de rentabilité</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Gestion de la trésorerie et du BFR</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119ADA14-3019-42A4-A2F9-8053E29963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Tree>
    <p:extLst>
      <p:ext uri="{BB962C8B-B14F-4D97-AF65-F5344CB8AC3E}">
        <p14:creationId xmlns:p14="http://schemas.microsoft.com/office/powerpoint/2010/main" val="1423393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Lecture et analyse des états financiers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246769"/>
          </a:xfrm>
          <a:prstGeom prst="rect">
            <a:avLst/>
          </a:prstGeom>
          <a:noFill/>
        </p:spPr>
        <p:txBody>
          <a:bodyPr wrap="square">
            <a:spAutoFit/>
          </a:bodyPr>
          <a:lstStyle/>
          <a:p>
            <a:r>
              <a:rPr lang="fr-FR" sz="2000" dirty="0">
                <a:latin typeface="Aptos" panose="020B0004020202020204" pitchFamily="34" charset="0"/>
              </a:rPr>
              <a:t>À l’issue de ce sous-module, le participant sera capable de :</a:t>
            </a:r>
          </a:p>
          <a:p>
            <a:pPr marL="800100" lvl="1" indent="-342900">
              <a:buFont typeface="Arial" panose="020B0604020202020204" pitchFamily="34" charset="0"/>
              <a:buChar char="•"/>
            </a:pPr>
            <a:r>
              <a:rPr lang="fr-FR" sz="2000" dirty="0">
                <a:latin typeface="Aptos" panose="020B0004020202020204" pitchFamily="34" charset="0"/>
              </a:rPr>
              <a:t>Comprendre les principaux états financiers ;</a:t>
            </a:r>
          </a:p>
          <a:p>
            <a:pPr marL="800100" lvl="1" indent="-342900">
              <a:buFont typeface="Arial" panose="020B0604020202020204" pitchFamily="34" charset="0"/>
              <a:buChar char="•"/>
            </a:pPr>
            <a:r>
              <a:rPr lang="fr-FR" sz="2000" dirty="0">
                <a:latin typeface="Aptos" panose="020B0004020202020204" pitchFamily="34" charset="0"/>
              </a:rPr>
              <a:t>Lire un bilan ;</a:t>
            </a:r>
          </a:p>
          <a:p>
            <a:pPr marL="800100" lvl="1" indent="-342900">
              <a:buFont typeface="Arial" panose="020B0604020202020204" pitchFamily="34" charset="0"/>
              <a:buChar char="•"/>
            </a:pPr>
            <a:r>
              <a:rPr lang="fr-FR" sz="2000" dirty="0">
                <a:latin typeface="Aptos" panose="020B0004020202020204" pitchFamily="34" charset="0"/>
              </a:rPr>
              <a:t>Lire un compte de résultat ;</a:t>
            </a:r>
          </a:p>
          <a:p>
            <a:pPr marL="800100" lvl="1" indent="-342900">
              <a:buFont typeface="Arial" panose="020B0604020202020204" pitchFamily="34" charset="0"/>
              <a:buChar char="•"/>
            </a:pPr>
            <a:r>
              <a:rPr lang="fr-FR" sz="2000" dirty="0">
                <a:latin typeface="Aptos" panose="020B0004020202020204" pitchFamily="34" charset="0"/>
              </a:rPr>
              <a:t>Identifier les indicateurs financiers essentiels ;</a:t>
            </a:r>
          </a:p>
          <a:p>
            <a:pPr marL="800100" lvl="1" indent="-342900">
              <a:buFont typeface="Arial" panose="020B0604020202020204" pitchFamily="34" charset="0"/>
              <a:buChar char="•"/>
            </a:pPr>
            <a:r>
              <a:rPr lang="fr-FR" sz="2000" dirty="0">
                <a:latin typeface="Aptos" panose="020B0004020202020204" pitchFamily="34" charset="0"/>
              </a:rPr>
              <a:t>Évaluer la santé financière de son officine ;</a:t>
            </a:r>
          </a:p>
          <a:p>
            <a:pPr marL="800100" lvl="1" indent="-342900">
              <a:buFont typeface="Arial" panose="020B0604020202020204" pitchFamily="34" charset="0"/>
              <a:buChar char="•"/>
            </a:pPr>
            <a:r>
              <a:rPr lang="fr-FR" sz="2000" dirty="0">
                <a:latin typeface="Aptos" panose="020B0004020202020204" pitchFamily="34" charset="0"/>
              </a:rPr>
              <a:t>Utiliser les données financières pour la prise de décision.</a:t>
            </a:r>
          </a:p>
        </p:txBody>
      </p:sp>
    </p:spTree>
    <p:extLst>
      <p:ext uri="{BB962C8B-B14F-4D97-AF65-F5344CB8AC3E}">
        <p14:creationId xmlns:p14="http://schemas.microsoft.com/office/powerpoint/2010/main" val="3262633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Lecture et analyse des états financiers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états financiers d’une 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862322"/>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Les trois documents fondamentaux : </a:t>
            </a:r>
          </a:p>
          <a:p>
            <a:pPr marL="914400" lvl="1" indent="-457200">
              <a:buFont typeface="Arial" panose="020B0604020202020204" pitchFamily="34" charset="0"/>
              <a:buChar char="•"/>
            </a:pPr>
            <a:r>
              <a:rPr lang="fr-FR" sz="2000" b="1" dirty="0">
                <a:latin typeface="Aptos" panose="020B0004020202020204" pitchFamily="34" charset="0"/>
              </a:rPr>
              <a:t>Le bilan </a:t>
            </a:r>
          </a:p>
          <a:p>
            <a:pPr marL="1371600" lvl="2" indent="-457200">
              <a:buFont typeface="Courier New" panose="02070309020205020404" pitchFamily="49" charset="0"/>
              <a:buChar char="o"/>
            </a:pPr>
            <a:r>
              <a:rPr lang="fr-FR" sz="2000" dirty="0">
                <a:latin typeface="Aptos" panose="020B0004020202020204" pitchFamily="34" charset="0"/>
              </a:rPr>
              <a:t>Que possède l'officine ?</a:t>
            </a:r>
          </a:p>
          <a:p>
            <a:pPr marL="1371600" lvl="2" indent="-457200">
              <a:buFont typeface="Arial" panose="020B0604020202020204" pitchFamily="34" charset="0"/>
              <a:buChar char="•"/>
            </a:pPr>
            <a:endParaRPr lang="fr-FR" sz="2000" dirty="0">
              <a:latin typeface="Aptos" panose="020B0004020202020204" pitchFamily="34" charset="0"/>
            </a:endParaRPr>
          </a:p>
          <a:p>
            <a:pPr marL="914400" lvl="1" indent="-457200">
              <a:buFont typeface="Arial" panose="020B0604020202020204" pitchFamily="34" charset="0"/>
              <a:buChar char="•"/>
            </a:pPr>
            <a:r>
              <a:rPr lang="fr-FR" sz="2000" b="1" dirty="0">
                <a:latin typeface="Aptos" panose="020B0004020202020204" pitchFamily="34" charset="0"/>
              </a:rPr>
              <a:t>Le compte de résultat</a:t>
            </a:r>
          </a:p>
          <a:p>
            <a:pPr marL="1371600" lvl="2" indent="-457200">
              <a:buFont typeface="Courier New" panose="02070309020205020404" pitchFamily="49" charset="0"/>
              <a:buChar char="o"/>
            </a:pPr>
            <a:r>
              <a:rPr lang="fr-FR" sz="2000" dirty="0">
                <a:latin typeface="Aptos" panose="020B0004020202020204" pitchFamily="34" charset="0"/>
              </a:rPr>
              <a:t>L'officine gagne-t-elle de l'argent ?</a:t>
            </a:r>
          </a:p>
          <a:p>
            <a:pPr marL="1371600" lvl="2" indent="-457200">
              <a:buFont typeface="Arial" panose="020B0604020202020204" pitchFamily="34" charset="0"/>
              <a:buChar char="•"/>
            </a:pPr>
            <a:endParaRPr lang="fr-FR" sz="2000" dirty="0">
              <a:latin typeface="Aptos" panose="020B0004020202020204" pitchFamily="34" charset="0"/>
            </a:endParaRPr>
          </a:p>
          <a:p>
            <a:pPr marL="914400" lvl="1" indent="-457200">
              <a:buFont typeface="Arial" panose="020B0604020202020204" pitchFamily="34" charset="0"/>
              <a:buChar char="•"/>
            </a:pPr>
            <a:r>
              <a:rPr lang="fr-FR" sz="2000" b="1" dirty="0">
                <a:latin typeface="Aptos" panose="020B0004020202020204" pitchFamily="34" charset="0"/>
              </a:rPr>
              <a:t>Le tableau des flux de trésorerie</a:t>
            </a:r>
          </a:p>
          <a:p>
            <a:pPr marL="1371600" lvl="2" indent="-457200">
              <a:buFont typeface="Courier New" panose="02070309020205020404" pitchFamily="49" charset="0"/>
              <a:buChar char="o"/>
            </a:pPr>
            <a:r>
              <a:rPr lang="fr-FR" sz="2000" dirty="0">
                <a:latin typeface="Aptos" panose="020B0004020202020204" pitchFamily="34" charset="0"/>
              </a:rPr>
              <a:t>L'officine dispose-t-elle réellement de liquidités ?</a:t>
            </a:r>
          </a:p>
        </p:txBody>
      </p:sp>
    </p:spTree>
    <p:extLst>
      <p:ext uri="{BB962C8B-B14F-4D97-AF65-F5344CB8AC3E}">
        <p14:creationId xmlns:p14="http://schemas.microsoft.com/office/powerpoint/2010/main" val="2263244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Lecture et analyse des états financiers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bilan de l’officine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5647759" cy="4093428"/>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Définition</a:t>
            </a:r>
            <a:r>
              <a:rPr lang="fr-FR" sz="2000" dirty="0">
                <a:latin typeface="Aptos" panose="020B0004020202020204" pitchFamily="34" charset="0"/>
              </a:rPr>
              <a:t> : Photographie financière de l'entreprise à une date donnée.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Structure : ACTIF = PASSIF</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ACTIF : Ce que possède l'officine.</a:t>
            </a:r>
          </a:p>
          <a:p>
            <a:pPr marL="800100" lvl="1" indent="-342900">
              <a:buFont typeface="Courier New" panose="02070309020205020404" pitchFamily="49" charset="0"/>
              <a:buChar char="o"/>
            </a:pPr>
            <a:r>
              <a:rPr lang="fr-FR" sz="2000" dirty="0">
                <a:latin typeface="Aptos" panose="020B0004020202020204" pitchFamily="34" charset="0"/>
              </a:rPr>
              <a:t>Immobilisations (Local, Mobilier, Réfrigérateurs, Informatique, Véhicules)</a:t>
            </a:r>
          </a:p>
          <a:p>
            <a:pPr marL="800100" lvl="1" indent="-342900">
              <a:buFont typeface="Courier New" panose="02070309020205020404" pitchFamily="49" charset="0"/>
              <a:buChar char="o"/>
            </a:pPr>
            <a:r>
              <a:rPr lang="fr-FR" sz="2000" dirty="0">
                <a:latin typeface="Aptos" panose="020B0004020202020204" pitchFamily="34" charset="0"/>
              </a:rPr>
              <a:t>Stocks (Médicaments, Dispositifs médicaux; Parapharmacie)</a:t>
            </a:r>
          </a:p>
          <a:p>
            <a:pPr marL="800100" lvl="1" indent="-342900">
              <a:buFont typeface="Courier New" panose="02070309020205020404" pitchFamily="49" charset="0"/>
              <a:buChar char="o"/>
            </a:pPr>
            <a:r>
              <a:rPr lang="fr-FR" sz="2000" dirty="0">
                <a:latin typeface="Aptos" panose="020B0004020202020204" pitchFamily="34" charset="0"/>
              </a:rPr>
              <a:t>Créances (Clients, Assurances, Organismes payeurs)</a:t>
            </a:r>
          </a:p>
          <a:p>
            <a:pPr marL="800100" lvl="1" indent="-342900">
              <a:buFont typeface="Courier New" panose="02070309020205020404" pitchFamily="49" charset="0"/>
              <a:buChar char="o"/>
            </a:pPr>
            <a:r>
              <a:rPr lang="fr-FR" sz="2000" dirty="0">
                <a:latin typeface="Aptos" panose="020B0004020202020204" pitchFamily="34" charset="0"/>
              </a:rPr>
              <a:t>Trésorerie (Banque, Caisse)</a:t>
            </a:r>
          </a:p>
        </p:txBody>
      </p:sp>
      <p:sp>
        <p:nvSpPr>
          <p:cNvPr id="10" name="ZoneTexte 9">
            <a:extLst>
              <a:ext uri="{FF2B5EF4-FFF2-40B4-BE49-F238E27FC236}">
                <a16:creationId xmlns:a16="http://schemas.microsoft.com/office/drawing/2014/main" id="{2B1371CD-1CCC-4932-B985-89C3281D74F2}"/>
              </a:ext>
            </a:extLst>
          </p:cNvPr>
          <p:cNvSpPr txBox="1"/>
          <p:nvPr/>
        </p:nvSpPr>
        <p:spPr>
          <a:xfrm>
            <a:off x="6096000" y="3627942"/>
            <a:ext cx="5852160" cy="2246769"/>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PASSIF : Comment ces actifs ont été financés.</a:t>
            </a:r>
          </a:p>
          <a:p>
            <a:pPr marL="800100" lvl="1" indent="-342900">
              <a:buFont typeface="Courier New" panose="02070309020205020404" pitchFamily="49" charset="0"/>
              <a:buChar char="o"/>
            </a:pPr>
            <a:r>
              <a:rPr lang="fr-FR" sz="2000" dirty="0">
                <a:latin typeface="Aptos" panose="020B0004020202020204" pitchFamily="34" charset="0"/>
              </a:rPr>
              <a:t>Capital (Apports du propriétaire).</a:t>
            </a:r>
          </a:p>
          <a:p>
            <a:pPr marL="800100" lvl="1" indent="-342900">
              <a:buFont typeface="Courier New" panose="02070309020205020404" pitchFamily="49" charset="0"/>
              <a:buChar char="o"/>
            </a:pPr>
            <a:r>
              <a:rPr lang="fr-FR" sz="2000" dirty="0">
                <a:latin typeface="Aptos" panose="020B0004020202020204" pitchFamily="34" charset="0"/>
              </a:rPr>
              <a:t>Réserves (Bénéfices accumulés).</a:t>
            </a:r>
          </a:p>
          <a:p>
            <a:pPr marL="800100" lvl="1" indent="-342900">
              <a:buFont typeface="Courier New" panose="02070309020205020404" pitchFamily="49" charset="0"/>
              <a:buChar char="o"/>
            </a:pPr>
            <a:r>
              <a:rPr lang="fr-FR" sz="2000" dirty="0">
                <a:latin typeface="Aptos" panose="020B0004020202020204" pitchFamily="34" charset="0"/>
              </a:rPr>
              <a:t>Emprunts</a:t>
            </a:r>
          </a:p>
          <a:p>
            <a:pPr marL="800100" lvl="1" indent="-342900">
              <a:buFont typeface="Courier New" panose="02070309020205020404" pitchFamily="49" charset="0"/>
              <a:buChar char="o"/>
            </a:pPr>
            <a:r>
              <a:rPr lang="fr-FR" sz="2000" dirty="0">
                <a:latin typeface="Aptos" panose="020B0004020202020204" pitchFamily="34" charset="0"/>
              </a:rPr>
              <a:t>Dettes fournisseurs</a:t>
            </a:r>
          </a:p>
          <a:p>
            <a:pPr marL="800100" lvl="1" indent="-342900">
              <a:buFont typeface="Courier New" panose="02070309020205020404" pitchFamily="49" charset="0"/>
              <a:buChar char="o"/>
            </a:pPr>
            <a:r>
              <a:rPr lang="fr-FR" sz="2000" dirty="0">
                <a:latin typeface="Aptos" panose="020B0004020202020204" pitchFamily="34" charset="0"/>
              </a:rPr>
              <a:t>Dettes fiscales</a:t>
            </a:r>
          </a:p>
          <a:p>
            <a:pPr marL="800100" lvl="1" indent="-342900">
              <a:buFont typeface="Courier New" panose="02070309020205020404" pitchFamily="49" charset="0"/>
              <a:buChar char="o"/>
            </a:pPr>
            <a:r>
              <a:rPr lang="fr-FR" sz="2000" dirty="0">
                <a:latin typeface="Aptos" panose="020B0004020202020204" pitchFamily="34" charset="0"/>
              </a:rPr>
              <a:t>Dettes sociales</a:t>
            </a:r>
          </a:p>
        </p:txBody>
      </p:sp>
    </p:spTree>
    <p:extLst>
      <p:ext uri="{BB962C8B-B14F-4D97-AF65-F5344CB8AC3E}">
        <p14:creationId xmlns:p14="http://schemas.microsoft.com/office/powerpoint/2010/main" val="3790246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Lecture et analyse des états financiers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compte de résultat</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0607034" cy="1631216"/>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Définition</a:t>
            </a:r>
            <a:r>
              <a:rPr lang="fr-FR" sz="2000" dirty="0">
                <a:latin typeface="Aptos" panose="020B0004020202020204" pitchFamily="34" charset="0"/>
              </a:rPr>
              <a:t> : Document qui mesure la performance sur une période donnée.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Structure simplifiée</a:t>
            </a:r>
          </a:p>
          <a:p>
            <a:pPr marL="800100" lvl="1" indent="-342900">
              <a:buFont typeface="Courier New" panose="02070309020205020404" pitchFamily="49" charset="0"/>
              <a:buChar char="o"/>
            </a:pPr>
            <a:r>
              <a:rPr lang="fr-FR" sz="2000" dirty="0">
                <a:latin typeface="Aptos" panose="020B0004020202020204" pitchFamily="34" charset="0"/>
              </a:rPr>
              <a:t>Chiffre d'affaires- Achats = Marge brute </a:t>
            </a:r>
          </a:p>
          <a:p>
            <a:pPr marL="800100" lvl="1" indent="-342900">
              <a:buFont typeface="Courier New" panose="02070309020205020404" pitchFamily="49" charset="0"/>
              <a:buChar char="o"/>
            </a:pPr>
            <a:r>
              <a:rPr lang="fr-FR" sz="2000" dirty="0">
                <a:latin typeface="Aptos" panose="020B0004020202020204" pitchFamily="34" charset="0"/>
              </a:rPr>
              <a:t>Marge brute-Charges = Résultat net</a:t>
            </a:r>
          </a:p>
        </p:txBody>
      </p:sp>
    </p:spTree>
    <p:extLst>
      <p:ext uri="{BB962C8B-B14F-4D97-AF65-F5344CB8AC3E}">
        <p14:creationId xmlns:p14="http://schemas.microsoft.com/office/powerpoint/2010/main" val="1034023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Lecture et analyse des états financiers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charges de l’officine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0607034" cy="317009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Charges d'exploitation</a:t>
            </a:r>
          </a:p>
          <a:p>
            <a:pPr marL="800100" lvl="1" indent="-342900">
              <a:buFont typeface="Courier New" panose="02070309020205020404" pitchFamily="49" charset="0"/>
              <a:buChar char="o"/>
            </a:pPr>
            <a:r>
              <a:rPr lang="fr-FR" sz="2000" dirty="0">
                <a:latin typeface="Aptos" panose="020B0004020202020204" pitchFamily="34" charset="0"/>
              </a:rPr>
              <a:t>Salaires</a:t>
            </a:r>
          </a:p>
          <a:p>
            <a:pPr marL="800100" lvl="1" indent="-342900">
              <a:buFont typeface="Courier New" panose="02070309020205020404" pitchFamily="49" charset="0"/>
              <a:buChar char="o"/>
            </a:pPr>
            <a:r>
              <a:rPr lang="fr-FR" sz="2000" dirty="0">
                <a:latin typeface="Aptos" panose="020B0004020202020204" pitchFamily="34" charset="0"/>
              </a:rPr>
              <a:t>Loyer</a:t>
            </a:r>
          </a:p>
          <a:p>
            <a:pPr marL="800100" lvl="1" indent="-342900">
              <a:buFont typeface="Courier New" panose="02070309020205020404" pitchFamily="49" charset="0"/>
              <a:buChar char="o"/>
            </a:pPr>
            <a:r>
              <a:rPr lang="fr-FR" sz="2000" dirty="0">
                <a:latin typeface="Aptos" panose="020B0004020202020204" pitchFamily="34" charset="0"/>
              </a:rPr>
              <a:t>Électricité</a:t>
            </a:r>
          </a:p>
          <a:p>
            <a:pPr marL="800100" lvl="1" indent="-342900">
              <a:buFont typeface="Courier New" panose="02070309020205020404" pitchFamily="49" charset="0"/>
              <a:buChar char="o"/>
            </a:pPr>
            <a:r>
              <a:rPr lang="fr-FR" sz="2000" dirty="0">
                <a:latin typeface="Aptos" panose="020B0004020202020204" pitchFamily="34" charset="0"/>
              </a:rPr>
              <a:t>Internet</a:t>
            </a:r>
          </a:p>
          <a:p>
            <a:pPr marL="800100" lvl="1" indent="-342900">
              <a:buFont typeface="Courier New" panose="02070309020205020404" pitchFamily="49" charset="0"/>
              <a:buChar char="o"/>
            </a:pPr>
            <a:r>
              <a:rPr lang="fr-FR" sz="2000" dirty="0">
                <a:latin typeface="Aptos" panose="020B0004020202020204" pitchFamily="34" charset="0"/>
              </a:rPr>
              <a:t>Logiciels</a:t>
            </a:r>
          </a:p>
          <a:p>
            <a:pPr marL="800100" lvl="1" indent="-342900">
              <a:buFont typeface="Courier New" panose="02070309020205020404" pitchFamily="49" charset="0"/>
              <a:buChar char="o"/>
            </a:pPr>
            <a:r>
              <a:rPr lang="fr-FR" sz="2000" dirty="0">
                <a:latin typeface="Aptos" panose="020B0004020202020204" pitchFamily="34" charset="0"/>
              </a:rPr>
              <a:t>Entretien</a:t>
            </a:r>
          </a:p>
          <a:p>
            <a:pPr marL="800100" lvl="1" indent="-342900">
              <a:buFont typeface="Courier New" panose="02070309020205020404" pitchFamily="49" charset="0"/>
              <a:buChar char="o"/>
            </a:pPr>
            <a:r>
              <a:rPr lang="fr-FR" sz="2000" dirty="0">
                <a:latin typeface="Aptos" panose="020B0004020202020204" pitchFamily="34" charset="0"/>
              </a:rPr>
              <a:t>Transport</a:t>
            </a:r>
          </a:p>
          <a:p>
            <a:pPr marL="800100" lvl="1" indent="-342900">
              <a:buFont typeface="Courier New" panose="02070309020205020404" pitchFamily="49" charset="0"/>
              <a:buChar char="o"/>
            </a:pPr>
            <a:r>
              <a:rPr lang="fr-FR" sz="2000" dirty="0">
                <a:latin typeface="Aptos" panose="020B0004020202020204" pitchFamily="34" charset="0"/>
              </a:rPr>
              <a:t>Assurances</a:t>
            </a:r>
          </a:p>
          <a:p>
            <a:pPr marL="800100" lvl="1" indent="-342900">
              <a:buFont typeface="Courier New" panose="02070309020205020404" pitchFamily="49" charset="0"/>
              <a:buChar char="o"/>
            </a:pPr>
            <a:r>
              <a:rPr lang="fr-FR" sz="2000" dirty="0">
                <a:latin typeface="Aptos" panose="020B0004020202020204" pitchFamily="34" charset="0"/>
              </a:rPr>
              <a:t>Taxes</a:t>
            </a:r>
          </a:p>
        </p:txBody>
      </p:sp>
    </p:spTree>
    <p:extLst>
      <p:ext uri="{BB962C8B-B14F-4D97-AF65-F5344CB8AC3E}">
        <p14:creationId xmlns:p14="http://schemas.microsoft.com/office/powerpoint/2010/main" val="4060929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Lecture et analyse des états financiers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indicateurs financiers clés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0607034" cy="4093428"/>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Marge brute : CA – Achats</a:t>
            </a:r>
          </a:p>
          <a:p>
            <a:pPr marL="800100" lvl="1" indent="-342900">
              <a:buFont typeface="Courier New" panose="02070309020205020404" pitchFamily="49" charset="0"/>
              <a:buChar char="o"/>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Marge brute % : Marge brute ÷ CA ×100</a:t>
            </a:r>
          </a:p>
          <a:p>
            <a:pPr marL="800100" lvl="1" indent="-342900">
              <a:buFont typeface="Courier New" panose="02070309020205020404" pitchFamily="49" charset="0"/>
              <a:buChar char="o"/>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Résultat net</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Rentabilité</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Trésorerie disponible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Rotation du stock</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Endettement</a:t>
            </a:r>
          </a:p>
        </p:txBody>
      </p:sp>
    </p:spTree>
    <p:extLst>
      <p:ext uri="{BB962C8B-B14F-4D97-AF65-F5344CB8AC3E}">
        <p14:creationId xmlns:p14="http://schemas.microsoft.com/office/powerpoint/2010/main" val="1908340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Lecture et analyse des états financiers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Analyse de la santé financière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0607034" cy="4093428"/>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Questions essentielles</a:t>
            </a:r>
          </a:p>
          <a:p>
            <a:pPr marL="800100" lvl="1" indent="-342900">
              <a:buFont typeface="Courier New" panose="02070309020205020404" pitchFamily="49" charset="0"/>
              <a:buChar char="o"/>
            </a:pPr>
            <a:r>
              <a:rPr lang="fr-FR" sz="2000" dirty="0">
                <a:latin typeface="Aptos" panose="020B0004020202020204" pitchFamily="34" charset="0"/>
              </a:rPr>
              <a:t>L'officine est-elle rentable ?</a:t>
            </a:r>
          </a:p>
          <a:p>
            <a:pPr marL="800100" lvl="1" indent="-342900">
              <a:buFont typeface="Courier New" panose="02070309020205020404" pitchFamily="49" charset="0"/>
              <a:buChar char="o"/>
            </a:pPr>
            <a:r>
              <a:rPr lang="fr-FR" sz="2000" dirty="0">
                <a:latin typeface="Aptos" panose="020B0004020202020204" pitchFamily="34" charset="0"/>
              </a:rPr>
              <a:t>Dispose-t-elle de liquidités ?</a:t>
            </a:r>
          </a:p>
          <a:p>
            <a:pPr marL="800100" lvl="1" indent="-342900">
              <a:buFont typeface="Courier New" panose="02070309020205020404" pitchFamily="49" charset="0"/>
              <a:buChar char="o"/>
            </a:pPr>
            <a:r>
              <a:rPr lang="fr-FR" sz="2000" dirty="0">
                <a:latin typeface="Aptos" panose="020B0004020202020204" pitchFamily="34" charset="0"/>
              </a:rPr>
              <a:t>Le stock est-il maîtrisé ?</a:t>
            </a:r>
          </a:p>
          <a:p>
            <a:pPr marL="800100" lvl="1" indent="-342900">
              <a:buFont typeface="Courier New" panose="02070309020205020404" pitchFamily="49" charset="0"/>
              <a:buChar char="o"/>
            </a:pPr>
            <a:r>
              <a:rPr lang="fr-FR" sz="2000" dirty="0">
                <a:latin typeface="Aptos" panose="020B0004020202020204" pitchFamily="34" charset="0"/>
              </a:rPr>
              <a:t>Les dettes sont-elles soutenables ?</a:t>
            </a:r>
          </a:p>
          <a:p>
            <a:pPr marL="800100" lvl="1" indent="-342900">
              <a:buFont typeface="Courier New" panose="02070309020205020404" pitchFamily="49" charset="0"/>
              <a:buChar char="o"/>
            </a:pPr>
            <a:r>
              <a:rPr lang="fr-FR" sz="2000" dirty="0">
                <a:latin typeface="Aptos" panose="020B0004020202020204" pitchFamily="34" charset="0"/>
              </a:rPr>
              <a:t>Les investissements sont-ils raisonnables ?</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Signaux d'alerte</a:t>
            </a:r>
          </a:p>
          <a:p>
            <a:pPr marL="800100" lvl="1" indent="-342900">
              <a:buFont typeface="Courier New" panose="02070309020205020404" pitchFamily="49" charset="0"/>
              <a:buChar char="o"/>
            </a:pPr>
            <a:r>
              <a:rPr lang="fr-FR" sz="2000" dirty="0">
                <a:latin typeface="Aptos" panose="020B0004020202020204" pitchFamily="34" charset="0"/>
              </a:rPr>
              <a:t>Trésorerie négative</a:t>
            </a:r>
          </a:p>
          <a:p>
            <a:pPr marL="800100" lvl="1" indent="-342900">
              <a:buFont typeface="Courier New" panose="02070309020205020404" pitchFamily="49" charset="0"/>
              <a:buChar char="o"/>
            </a:pPr>
            <a:r>
              <a:rPr lang="fr-FR" sz="2000" dirty="0">
                <a:latin typeface="Aptos" panose="020B0004020202020204" pitchFamily="34" charset="0"/>
              </a:rPr>
              <a:t>Endettement élevé</a:t>
            </a:r>
          </a:p>
          <a:p>
            <a:pPr marL="800100" lvl="1" indent="-342900">
              <a:buFont typeface="Courier New" panose="02070309020205020404" pitchFamily="49" charset="0"/>
              <a:buChar char="o"/>
            </a:pPr>
            <a:r>
              <a:rPr lang="fr-FR" sz="2000" dirty="0">
                <a:latin typeface="Aptos" panose="020B0004020202020204" pitchFamily="34" charset="0"/>
              </a:rPr>
              <a:t>Stock excessif</a:t>
            </a:r>
          </a:p>
          <a:p>
            <a:pPr marL="800100" lvl="1" indent="-342900">
              <a:buFont typeface="Courier New" panose="02070309020205020404" pitchFamily="49" charset="0"/>
              <a:buChar char="o"/>
            </a:pPr>
            <a:r>
              <a:rPr lang="fr-FR" sz="2000" dirty="0">
                <a:latin typeface="Aptos" panose="020B0004020202020204" pitchFamily="34" charset="0"/>
              </a:rPr>
              <a:t>Baisse continue de la marge</a:t>
            </a:r>
          </a:p>
          <a:p>
            <a:pPr marL="800100" lvl="1" indent="-342900">
              <a:buFont typeface="Courier New" panose="02070309020205020404" pitchFamily="49" charset="0"/>
              <a:buChar char="o"/>
            </a:pPr>
            <a:r>
              <a:rPr lang="fr-FR" sz="2000" dirty="0">
                <a:latin typeface="Aptos" panose="020B0004020202020204" pitchFamily="34" charset="0"/>
              </a:rPr>
              <a:t>Retards fournisseurs</a:t>
            </a:r>
          </a:p>
        </p:txBody>
      </p:sp>
    </p:spTree>
    <p:extLst>
      <p:ext uri="{BB962C8B-B14F-4D97-AF65-F5344CB8AC3E}">
        <p14:creationId xmlns:p14="http://schemas.microsoft.com/office/powerpoint/2010/main" val="2025716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Lecture et analyse des états financiers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Particularités financières des officines africaines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0607034" cy="3477875"/>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Fréquences observées</a:t>
            </a:r>
          </a:p>
          <a:p>
            <a:pPr marL="800100" lvl="1" indent="-342900">
              <a:buFont typeface="Courier New" panose="02070309020205020404" pitchFamily="49" charset="0"/>
              <a:buChar char="o"/>
            </a:pPr>
            <a:r>
              <a:rPr lang="fr-FR" sz="2000" dirty="0">
                <a:latin typeface="Aptos" panose="020B0004020202020204" pitchFamily="34" charset="0"/>
              </a:rPr>
              <a:t>Surstockage</a:t>
            </a:r>
          </a:p>
          <a:p>
            <a:pPr marL="800100" lvl="1" indent="-342900">
              <a:buFont typeface="Courier New" panose="02070309020205020404" pitchFamily="49" charset="0"/>
              <a:buChar char="o"/>
            </a:pPr>
            <a:r>
              <a:rPr lang="fr-FR" sz="2000" dirty="0">
                <a:latin typeface="Aptos" panose="020B0004020202020204" pitchFamily="34" charset="0"/>
              </a:rPr>
              <a:t>Crédit excessif aux clients</a:t>
            </a:r>
          </a:p>
          <a:p>
            <a:pPr marL="800100" lvl="1" indent="-342900">
              <a:buFont typeface="Courier New" panose="02070309020205020404" pitchFamily="49" charset="0"/>
              <a:buChar char="o"/>
            </a:pPr>
            <a:r>
              <a:rPr lang="fr-FR" sz="2000" dirty="0">
                <a:latin typeface="Aptos" panose="020B0004020202020204" pitchFamily="34" charset="0"/>
              </a:rPr>
              <a:t>Retards de remboursement</a:t>
            </a:r>
          </a:p>
          <a:p>
            <a:pPr marL="800100" lvl="1" indent="-342900">
              <a:buFont typeface="Courier New" panose="02070309020205020404" pitchFamily="49" charset="0"/>
              <a:buChar char="o"/>
            </a:pPr>
            <a:r>
              <a:rPr lang="fr-FR" sz="2000" dirty="0">
                <a:latin typeface="Aptos" panose="020B0004020202020204" pitchFamily="34" charset="0"/>
              </a:rPr>
              <a:t>Dépendance à quelques produits</a:t>
            </a:r>
          </a:p>
          <a:p>
            <a:pPr marL="800100" lvl="1" indent="-342900">
              <a:buFont typeface="Courier New" panose="02070309020205020404" pitchFamily="49" charset="0"/>
              <a:buChar char="o"/>
            </a:pPr>
            <a:r>
              <a:rPr lang="fr-FR" sz="2000" dirty="0">
                <a:latin typeface="Aptos" panose="020B0004020202020204" pitchFamily="34" charset="0"/>
              </a:rPr>
              <a:t>Faible culture financière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Application au Bénin</a:t>
            </a:r>
          </a:p>
          <a:p>
            <a:pPr marL="800100" lvl="1" indent="-342900">
              <a:buFont typeface="Courier New" panose="02070309020205020404" pitchFamily="49" charset="0"/>
              <a:buChar char="o"/>
            </a:pPr>
            <a:r>
              <a:rPr lang="fr-FR" sz="2000" dirty="0">
                <a:latin typeface="Aptos" panose="020B0004020202020204" pitchFamily="34" charset="0"/>
              </a:rPr>
              <a:t>De nombreuses officines ont une valeur de stock très élevée mais une trésorerie insuffisante.</a:t>
            </a:r>
          </a:p>
          <a:p>
            <a:pPr marL="800100" lvl="1" indent="-342900">
              <a:buFont typeface="Courier New" panose="02070309020205020404" pitchFamily="49" charset="0"/>
              <a:buChar char="o"/>
            </a:pPr>
            <a:r>
              <a:rPr lang="fr-FR" sz="2000" dirty="0">
                <a:latin typeface="Aptos" panose="020B0004020202020204" pitchFamily="34" charset="0"/>
              </a:rPr>
              <a:t>Cela crée un risque majeur de tension financière malgré un chiffre d'affaires important.</a:t>
            </a:r>
          </a:p>
        </p:txBody>
      </p:sp>
    </p:spTree>
    <p:extLst>
      <p:ext uri="{BB962C8B-B14F-4D97-AF65-F5344CB8AC3E}">
        <p14:creationId xmlns:p14="http://schemas.microsoft.com/office/powerpoint/2010/main" val="235271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Lecture et analyse des états financiers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Tableau de bord du pharmacien titulaire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0607034" cy="2862322"/>
          </a:xfrm>
          <a:prstGeom prst="rect">
            <a:avLst/>
          </a:prstGeom>
          <a:noFill/>
        </p:spPr>
        <p:txBody>
          <a:bodyPr wrap="square">
            <a:spAutoFit/>
          </a:bodyPr>
          <a:lstStyle/>
          <a:p>
            <a:pPr marL="342900" indent="-342900">
              <a:buFont typeface="Arial" panose="020B0604020202020204" pitchFamily="34" charset="0"/>
              <a:buChar char="•"/>
            </a:pPr>
            <a:r>
              <a:rPr lang="fr-FR" sz="2000" b="1" dirty="0">
                <a:latin typeface="Aptos" panose="020B0004020202020204" pitchFamily="34" charset="0"/>
              </a:rPr>
              <a:t>Indicateurs à suivre chaque mois</a:t>
            </a:r>
          </a:p>
          <a:p>
            <a:pPr marL="800100" lvl="1" indent="-342900">
              <a:buFont typeface="Courier New" panose="02070309020205020404" pitchFamily="49" charset="0"/>
              <a:buChar char="o"/>
            </a:pPr>
            <a:r>
              <a:rPr lang="fr-FR" sz="2000" dirty="0">
                <a:latin typeface="Aptos" panose="020B0004020202020204" pitchFamily="34" charset="0"/>
              </a:rPr>
              <a:t>Chiffre d'affaires</a:t>
            </a:r>
          </a:p>
          <a:p>
            <a:pPr marL="800100" lvl="1" indent="-342900">
              <a:buFont typeface="Courier New" panose="02070309020205020404" pitchFamily="49" charset="0"/>
              <a:buChar char="o"/>
            </a:pPr>
            <a:r>
              <a:rPr lang="fr-FR" sz="2000" dirty="0">
                <a:latin typeface="Aptos" panose="020B0004020202020204" pitchFamily="34" charset="0"/>
              </a:rPr>
              <a:t>Marge brute</a:t>
            </a:r>
          </a:p>
          <a:p>
            <a:pPr marL="800100" lvl="1" indent="-342900">
              <a:buFont typeface="Courier New" panose="02070309020205020404" pitchFamily="49" charset="0"/>
              <a:buChar char="o"/>
            </a:pPr>
            <a:r>
              <a:rPr lang="fr-FR" sz="2000" dirty="0">
                <a:latin typeface="Aptos" panose="020B0004020202020204" pitchFamily="34" charset="0"/>
              </a:rPr>
              <a:t>Résultat net</a:t>
            </a:r>
          </a:p>
          <a:p>
            <a:pPr marL="800100" lvl="1" indent="-342900">
              <a:buFont typeface="Courier New" panose="02070309020205020404" pitchFamily="49" charset="0"/>
              <a:buChar char="o"/>
            </a:pPr>
            <a:r>
              <a:rPr lang="fr-FR" sz="2000" dirty="0">
                <a:latin typeface="Aptos" panose="020B0004020202020204" pitchFamily="34" charset="0"/>
              </a:rPr>
              <a:t>Valeur du stock</a:t>
            </a:r>
          </a:p>
          <a:p>
            <a:pPr marL="800100" lvl="1" indent="-342900">
              <a:buFont typeface="Courier New" panose="02070309020205020404" pitchFamily="49" charset="0"/>
              <a:buChar char="o"/>
            </a:pPr>
            <a:r>
              <a:rPr lang="fr-FR" sz="2000" dirty="0">
                <a:latin typeface="Aptos" panose="020B0004020202020204" pitchFamily="34" charset="0"/>
              </a:rPr>
              <a:t>Trésorerie</a:t>
            </a:r>
          </a:p>
          <a:p>
            <a:pPr marL="800100" lvl="1" indent="-342900">
              <a:buFont typeface="Courier New" panose="02070309020205020404" pitchFamily="49" charset="0"/>
              <a:buChar char="o"/>
            </a:pPr>
            <a:r>
              <a:rPr lang="fr-FR" sz="2000" dirty="0">
                <a:latin typeface="Aptos" panose="020B0004020202020204" pitchFamily="34" charset="0"/>
              </a:rPr>
              <a:t>Créances</a:t>
            </a:r>
          </a:p>
          <a:p>
            <a:pPr marL="800100" lvl="1" indent="-342900">
              <a:buFont typeface="Courier New" panose="02070309020205020404" pitchFamily="49" charset="0"/>
              <a:buChar char="o"/>
            </a:pPr>
            <a:r>
              <a:rPr lang="fr-FR" sz="2000" dirty="0">
                <a:latin typeface="Aptos" panose="020B0004020202020204" pitchFamily="34" charset="0"/>
              </a:rPr>
              <a:t>Dettes fournisseurs</a:t>
            </a:r>
          </a:p>
          <a:p>
            <a:pPr marL="800100" lvl="1" indent="-342900">
              <a:buFont typeface="Courier New" panose="02070309020205020404" pitchFamily="49" charset="0"/>
              <a:buChar char="o"/>
            </a:pPr>
            <a:r>
              <a:rPr lang="fr-FR" sz="2000" dirty="0">
                <a:latin typeface="Aptos" panose="020B0004020202020204" pitchFamily="34" charset="0"/>
              </a:rPr>
              <a:t>Produits périmés</a:t>
            </a:r>
          </a:p>
        </p:txBody>
      </p:sp>
    </p:spTree>
    <p:extLst>
      <p:ext uri="{BB962C8B-B14F-4D97-AF65-F5344CB8AC3E}">
        <p14:creationId xmlns:p14="http://schemas.microsoft.com/office/powerpoint/2010/main" val="4014776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Lecture et analyse des états financiers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Message clé à retenir</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0607034" cy="224676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Le chiffre d'affaires n'est pas la richesse.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Une officine peut vendre beaucoup, avoir des rayons pleins et pourtant être en difficulté financière.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Le rôle du pharmacien titulaire est de transformer l'activité commerciale en rentabilité durable grâce à une bonne lecture des données financières.</a:t>
            </a:r>
          </a:p>
        </p:txBody>
      </p:sp>
    </p:spTree>
    <p:extLst>
      <p:ext uri="{BB962C8B-B14F-4D97-AF65-F5344CB8AC3E}">
        <p14:creationId xmlns:p14="http://schemas.microsoft.com/office/powerpoint/2010/main" val="275676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Calcul des marges et du seuil de rentabilité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0607034" cy="2246769"/>
          </a:xfrm>
          <a:prstGeom prst="rect">
            <a:avLst/>
          </a:prstGeom>
          <a:noFill/>
        </p:spPr>
        <p:txBody>
          <a:bodyPr wrap="square">
            <a:spAutoFit/>
          </a:bodyPr>
          <a:lstStyle/>
          <a:p>
            <a:r>
              <a:rPr lang="fr-FR" sz="2000" dirty="0">
                <a:latin typeface="Aptos" panose="020B0004020202020204" pitchFamily="34" charset="0"/>
              </a:rPr>
              <a:t>À l’issue de ce sous-module, le participant sera capable de :</a:t>
            </a:r>
          </a:p>
          <a:p>
            <a:pPr marL="800100" lvl="1" indent="-342900">
              <a:buFont typeface="Arial" panose="020B0604020202020204" pitchFamily="34" charset="0"/>
              <a:buChar char="•"/>
            </a:pPr>
            <a:r>
              <a:rPr lang="fr-FR" sz="2000" dirty="0">
                <a:latin typeface="Aptos" panose="020B0004020202020204" pitchFamily="34" charset="0"/>
              </a:rPr>
              <a:t>Calculer les différents types de marges ;</a:t>
            </a:r>
          </a:p>
          <a:p>
            <a:pPr marL="800100" lvl="1" indent="-342900">
              <a:buFont typeface="Arial" panose="020B0604020202020204" pitchFamily="34" charset="0"/>
              <a:buChar char="•"/>
            </a:pPr>
            <a:r>
              <a:rPr lang="fr-FR" sz="2000" dirty="0">
                <a:latin typeface="Aptos" panose="020B0004020202020204" pitchFamily="34" charset="0"/>
              </a:rPr>
              <a:t>Identifier les produits rentables ;</a:t>
            </a:r>
          </a:p>
          <a:p>
            <a:pPr marL="800100" lvl="1" indent="-342900">
              <a:buFont typeface="Arial" panose="020B0604020202020204" pitchFamily="34" charset="0"/>
              <a:buChar char="•"/>
            </a:pPr>
            <a:r>
              <a:rPr lang="fr-FR" sz="2000" dirty="0">
                <a:latin typeface="Aptos" panose="020B0004020202020204" pitchFamily="34" charset="0"/>
              </a:rPr>
              <a:t>Déterminer le seuil de rentabilité de son officine ;</a:t>
            </a:r>
          </a:p>
          <a:p>
            <a:pPr marL="800100" lvl="1" indent="-342900">
              <a:buFont typeface="Arial" panose="020B0604020202020204" pitchFamily="34" charset="0"/>
              <a:buChar char="•"/>
            </a:pPr>
            <a:r>
              <a:rPr lang="fr-FR" sz="2000" dirty="0">
                <a:latin typeface="Aptos" panose="020B0004020202020204" pitchFamily="34" charset="0"/>
              </a:rPr>
              <a:t>Analyser la contribution des différentes catégories de produits ;</a:t>
            </a:r>
          </a:p>
          <a:p>
            <a:pPr marL="800100" lvl="1" indent="-342900">
              <a:buFont typeface="Arial" panose="020B0604020202020204" pitchFamily="34" charset="0"/>
              <a:buChar char="•"/>
            </a:pPr>
            <a:r>
              <a:rPr lang="fr-FR" sz="2000" dirty="0">
                <a:latin typeface="Aptos" panose="020B0004020202020204" pitchFamily="34" charset="0"/>
              </a:rPr>
              <a:t>Construire des objectifs financiers réalistes ;</a:t>
            </a:r>
          </a:p>
          <a:p>
            <a:pPr marL="800100" lvl="1" indent="-342900">
              <a:buFont typeface="Arial" panose="020B0604020202020204" pitchFamily="34" charset="0"/>
              <a:buChar char="•"/>
            </a:pPr>
            <a:r>
              <a:rPr lang="fr-FR" sz="2000" dirty="0">
                <a:latin typeface="Aptos" panose="020B0004020202020204" pitchFamily="34" charset="0"/>
              </a:rPr>
              <a:t>Prendre des décisions basées sur les données économiques.</a:t>
            </a:r>
          </a:p>
        </p:txBody>
      </p:sp>
    </p:spTree>
    <p:extLst>
      <p:ext uri="{BB962C8B-B14F-4D97-AF65-F5344CB8AC3E}">
        <p14:creationId xmlns:p14="http://schemas.microsoft.com/office/powerpoint/2010/main" val="401309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Calcul des marges et du seuil de rentabilité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0607034" cy="4093428"/>
          </a:xfrm>
          <a:prstGeom prst="rect">
            <a:avLst/>
          </a:prstGeom>
          <a:noFill/>
        </p:spPr>
        <p:txBody>
          <a:bodyPr wrap="square">
            <a:spAutoFit/>
          </a:bodyPr>
          <a:lstStyle/>
          <a:p>
            <a:r>
              <a:rPr lang="fr-FR" sz="2000" dirty="0">
                <a:latin typeface="Aptos" panose="020B0004020202020204" pitchFamily="34" charset="0"/>
              </a:rPr>
              <a:t>La rentabilité constitue l’un des principaux indicateurs de performance d’une officine.</a:t>
            </a:r>
          </a:p>
          <a:p>
            <a:endParaRPr lang="fr-FR" sz="2000" dirty="0">
              <a:latin typeface="Aptos" panose="020B0004020202020204" pitchFamily="34" charset="0"/>
            </a:endParaRPr>
          </a:p>
          <a:p>
            <a:r>
              <a:rPr lang="fr-FR" sz="2000" dirty="0">
                <a:latin typeface="Aptos" panose="020B0004020202020204" pitchFamily="34" charset="0"/>
              </a:rPr>
              <a:t>Une pharmacie durablement performante doit :</a:t>
            </a:r>
          </a:p>
          <a:p>
            <a:pPr marL="800100" lvl="1" indent="-342900">
              <a:buFont typeface="Arial" panose="020B0604020202020204" pitchFamily="34" charset="0"/>
              <a:buChar char="•"/>
            </a:pPr>
            <a:r>
              <a:rPr lang="fr-FR" sz="2000" dirty="0">
                <a:latin typeface="Aptos" panose="020B0004020202020204" pitchFamily="34" charset="0"/>
              </a:rPr>
              <a:t>couvrir ses charges ;</a:t>
            </a:r>
          </a:p>
          <a:p>
            <a:pPr marL="800100" lvl="1" indent="-342900">
              <a:buFont typeface="Arial" panose="020B0604020202020204" pitchFamily="34" charset="0"/>
              <a:buChar char="•"/>
            </a:pPr>
            <a:r>
              <a:rPr lang="fr-FR" sz="2000" dirty="0">
                <a:latin typeface="Aptos" panose="020B0004020202020204" pitchFamily="34" charset="0"/>
              </a:rPr>
              <a:t>dégager un bénéfice ;</a:t>
            </a:r>
          </a:p>
          <a:p>
            <a:pPr marL="800100" lvl="1" indent="-342900">
              <a:buFont typeface="Arial" panose="020B0604020202020204" pitchFamily="34" charset="0"/>
              <a:buChar char="•"/>
            </a:pPr>
            <a:r>
              <a:rPr lang="fr-FR" sz="2000" dirty="0">
                <a:latin typeface="Aptos" panose="020B0004020202020204" pitchFamily="34" charset="0"/>
              </a:rPr>
              <a:t>financer sa croissance ;</a:t>
            </a:r>
          </a:p>
          <a:p>
            <a:pPr marL="800100" lvl="1" indent="-342900">
              <a:buFont typeface="Arial" panose="020B0604020202020204" pitchFamily="34" charset="0"/>
              <a:buChar char="•"/>
            </a:pPr>
            <a:r>
              <a:rPr lang="fr-FR" sz="2000" dirty="0">
                <a:latin typeface="Aptos" panose="020B0004020202020204" pitchFamily="34" charset="0"/>
              </a:rPr>
              <a:t>investir ;</a:t>
            </a:r>
          </a:p>
          <a:p>
            <a:pPr marL="800100" lvl="1" indent="-342900">
              <a:buFont typeface="Arial" panose="020B0604020202020204" pitchFamily="34" charset="0"/>
              <a:buChar char="•"/>
            </a:pPr>
            <a:r>
              <a:rPr lang="fr-FR" sz="2000" dirty="0">
                <a:latin typeface="Aptos" panose="020B0004020202020204" pitchFamily="34" charset="0"/>
              </a:rPr>
              <a:t>absorber les imprévus.</a:t>
            </a:r>
          </a:p>
          <a:p>
            <a:endParaRPr lang="fr-FR" sz="2000" dirty="0">
              <a:latin typeface="Aptos" panose="020B0004020202020204" pitchFamily="34" charset="0"/>
            </a:endParaRPr>
          </a:p>
          <a:p>
            <a:r>
              <a:rPr lang="fr-FR" sz="2000" dirty="0">
                <a:latin typeface="Aptos" panose="020B0004020202020204" pitchFamily="34" charset="0"/>
              </a:rPr>
              <a:t>Pour cela, le pharmacien doit comprendre :</a:t>
            </a:r>
          </a:p>
          <a:p>
            <a:pPr marL="800100" lvl="1" indent="-342900">
              <a:buFont typeface="Arial" panose="020B0604020202020204" pitchFamily="34" charset="0"/>
              <a:buChar char="•"/>
            </a:pPr>
            <a:r>
              <a:rPr lang="fr-FR" sz="2000" dirty="0">
                <a:latin typeface="Aptos" panose="020B0004020202020204" pitchFamily="34" charset="0"/>
              </a:rPr>
              <a:t>ce qu’est une marge ;</a:t>
            </a:r>
          </a:p>
          <a:p>
            <a:pPr marL="800100" lvl="1" indent="-342900">
              <a:buFont typeface="Arial" panose="020B0604020202020204" pitchFamily="34" charset="0"/>
              <a:buChar char="•"/>
            </a:pPr>
            <a:r>
              <a:rPr lang="fr-FR" sz="2000" dirty="0">
                <a:latin typeface="Aptos" panose="020B0004020202020204" pitchFamily="34" charset="0"/>
              </a:rPr>
              <a:t>comment elle se calcule ;</a:t>
            </a:r>
          </a:p>
          <a:p>
            <a:pPr marL="800100" lvl="1" indent="-342900">
              <a:buFont typeface="Arial" panose="020B0604020202020204" pitchFamily="34" charset="0"/>
              <a:buChar char="•"/>
            </a:pPr>
            <a:r>
              <a:rPr lang="fr-FR" sz="2000" dirty="0">
                <a:latin typeface="Aptos" panose="020B0004020202020204" pitchFamily="34" charset="0"/>
              </a:rPr>
              <a:t>comment elle influence la rentabilité globale.</a:t>
            </a:r>
          </a:p>
        </p:txBody>
      </p:sp>
    </p:spTree>
    <p:extLst>
      <p:ext uri="{BB962C8B-B14F-4D97-AF65-F5344CB8AC3E}">
        <p14:creationId xmlns:p14="http://schemas.microsoft.com/office/powerpoint/2010/main" val="3012730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Calcul des marges et du seuil de rentabilité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différents types de marges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0607034" cy="2246769"/>
          </a:xfrm>
          <a:prstGeom prst="rect">
            <a:avLst/>
          </a:prstGeom>
          <a:noFill/>
        </p:spPr>
        <p:txBody>
          <a:bodyPr wrap="square">
            <a:spAutoFit/>
          </a:bodyPr>
          <a:lstStyle/>
          <a:p>
            <a:r>
              <a:rPr lang="fr-FR" sz="2000" b="1" dirty="0">
                <a:latin typeface="Aptos" panose="020B0004020202020204" pitchFamily="34" charset="0"/>
              </a:rPr>
              <a:t>Pourquoi mesurer les marges ?</a:t>
            </a:r>
          </a:p>
          <a:p>
            <a:pPr marL="800100" lvl="1" indent="-342900">
              <a:buFont typeface="Arial" panose="020B0604020202020204" pitchFamily="34" charset="0"/>
              <a:buChar char="•"/>
            </a:pPr>
            <a:r>
              <a:rPr lang="fr-FR" sz="2000" dirty="0">
                <a:latin typeface="Aptos" panose="020B0004020202020204" pitchFamily="34" charset="0"/>
              </a:rPr>
              <a:t>Parce qu’elles indiquent combien l’officine gagne réellement sur ses ventes.</a:t>
            </a:r>
          </a:p>
          <a:p>
            <a:endParaRPr lang="fr-FR" sz="2000" dirty="0">
              <a:latin typeface="Aptos" panose="020B0004020202020204" pitchFamily="34" charset="0"/>
            </a:endParaRPr>
          </a:p>
          <a:p>
            <a:r>
              <a:rPr lang="fr-FR" sz="2000" b="1" dirty="0">
                <a:latin typeface="Aptos" panose="020B0004020202020204" pitchFamily="34" charset="0"/>
              </a:rPr>
              <a:t>Les trois niveaux principaux :</a:t>
            </a:r>
          </a:p>
          <a:p>
            <a:pPr marL="800100" lvl="1" indent="-342900">
              <a:buFont typeface="Arial" panose="020B0604020202020204" pitchFamily="34" charset="0"/>
              <a:buChar char="•"/>
            </a:pPr>
            <a:r>
              <a:rPr lang="fr-FR" sz="2000" dirty="0">
                <a:latin typeface="Aptos" panose="020B0004020202020204" pitchFamily="34" charset="0"/>
              </a:rPr>
              <a:t>Marge commerciale (ou marge brute)</a:t>
            </a:r>
          </a:p>
          <a:p>
            <a:pPr marL="800100" lvl="1" indent="-342900">
              <a:buFont typeface="Arial" panose="020B0604020202020204" pitchFamily="34" charset="0"/>
              <a:buChar char="•"/>
            </a:pPr>
            <a:r>
              <a:rPr lang="fr-FR" sz="2000" dirty="0">
                <a:latin typeface="Aptos" panose="020B0004020202020204" pitchFamily="34" charset="0"/>
              </a:rPr>
              <a:t>Marge d’exploitation</a:t>
            </a:r>
          </a:p>
          <a:p>
            <a:pPr marL="800100" lvl="1" indent="-342900">
              <a:buFont typeface="Arial" panose="020B0604020202020204" pitchFamily="34" charset="0"/>
              <a:buChar char="•"/>
            </a:pPr>
            <a:r>
              <a:rPr lang="fr-FR" sz="2000" dirty="0">
                <a:latin typeface="Aptos" panose="020B0004020202020204" pitchFamily="34" charset="0"/>
              </a:rPr>
              <a:t>Marge nette</a:t>
            </a:r>
          </a:p>
        </p:txBody>
      </p:sp>
    </p:spTree>
    <p:extLst>
      <p:ext uri="{BB962C8B-B14F-4D97-AF65-F5344CB8AC3E}">
        <p14:creationId xmlns:p14="http://schemas.microsoft.com/office/powerpoint/2010/main" val="38298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Calcul des marges et du seuil de rentabilité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La marge brute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0607034" cy="3170099"/>
          </a:xfrm>
          <a:prstGeom prst="rect">
            <a:avLst/>
          </a:prstGeom>
          <a:noFill/>
        </p:spPr>
        <p:txBody>
          <a:bodyPr wrap="square">
            <a:spAutoFit/>
          </a:bodyPr>
          <a:lstStyle/>
          <a:p>
            <a:r>
              <a:rPr lang="fr-FR" sz="2000" b="1" dirty="0">
                <a:latin typeface="Aptos" panose="020B0004020202020204" pitchFamily="34" charset="0"/>
              </a:rPr>
              <a:t>Définition</a:t>
            </a:r>
            <a:r>
              <a:rPr lang="fr-FR" sz="2000" dirty="0">
                <a:latin typeface="Aptos" panose="020B0004020202020204" pitchFamily="34" charset="0"/>
              </a:rPr>
              <a:t> : </a:t>
            </a:r>
          </a:p>
          <a:p>
            <a:r>
              <a:rPr lang="fr-FR" sz="2000" dirty="0">
                <a:latin typeface="Aptos" panose="020B0004020202020204" pitchFamily="34" charset="0"/>
              </a:rPr>
              <a:t>Différence entre :</a:t>
            </a:r>
          </a:p>
          <a:p>
            <a:pPr marL="800100" lvl="1" indent="-342900">
              <a:buFont typeface="Arial" panose="020B0604020202020204" pitchFamily="34" charset="0"/>
              <a:buChar char="•"/>
            </a:pPr>
            <a:r>
              <a:rPr lang="fr-FR" sz="2000" dirty="0">
                <a:latin typeface="Aptos" panose="020B0004020202020204" pitchFamily="34" charset="0"/>
              </a:rPr>
              <a:t>Prix de vente et</a:t>
            </a:r>
          </a:p>
          <a:p>
            <a:pPr marL="800100" lvl="1" indent="-342900">
              <a:buFont typeface="Arial" panose="020B0604020202020204" pitchFamily="34" charset="0"/>
              <a:buChar char="•"/>
            </a:pPr>
            <a:r>
              <a:rPr lang="fr-FR" sz="2000" dirty="0">
                <a:latin typeface="Aptos" panose="020B0004020202020204" pitchFamily="34" charset="0"/>
              </a:rPr>
              <a:t>Coût d'achat</a:t>
            </a:r>
          </a:p>
          <a:p>
            <a:endParaRPr lang="fr-FR" sz="2000" dirty="0">
              <a:latin typeface="Aptos" panose="020B0004020202020204" pitchFamily="34" charset="0"/>
            </a:endParaRPr>
          </a:p>
          <a:p>
            <a:r>
              <a:rPr lang="fr-FR" sz="2000" b="1" dirty="0">
                <a:latin typeface="Aptos" panose="020B0004020202020204" pitchFamily="34" charset="0"/>
              </a:rPr>
              <a:t>Formule</a:t>
            </a:r>
          </a:p>
          <a:p>
            <a:pPr marL="800100" lvl="1" indent="-342900">
              <a:buFont typeface="Arial" panose="020B0604020202020204" pitchFamily="34" charset="0"/>
              <a:buChar char="•"/>
            </a:pPr>
            <a:r>
              <a:rPr lang="fr-FR" sz="2000" dirty="0">
                <a:latin typeface="Aptos" panose="020B0004020202020204" pitchFamily="34" charset="0"/>
              </a:rPr>
              <a:t>Marge brute = Prix de vente − Prix d'achat</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Taux de marge : </a:t>
            </a:r>
          </a:p>
          <a:p>
            <a:pPr marL="800100" lvl="1" indent="-342900">
              <a:buFont typeface="Arial" panose="020B0604020202020204" pitchFamily="34" charset="0"/>
              <a:buChar char="•"/>
            </a:pPr>
            <a:r>
              <a:rPr lang="fr-FR" sz="2000" dirty="0">
                <a:latin typeface="Aptos" panose="020B0004020202020204" pitchFamily="34" charset="0"/>
              </a:rPr>
              <a:t>Formule : Taux de marge = Marge brute ÷ Prix d'achat ×100</a:t>
            </a:r>
          </a:p>
        </p:txBody>
      </p:sp>
    </p:spTree>
    <p:extLst>
      <p:ext uri="{BB962C8B-B14F-4D97-AF65-F5344CB8AC3E}">
        <p14:creationId xmlns:p14="http://schemas.microsoft.com/office/powerpoint/2010/main" val="538254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Calcul des marges et du seuil de rentabilité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seuil de rentabilité</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0607034" cy="3170099"/>
          </a:xfrm>
          <a:prstGeom prst="rect">
            <a:avLst/>
          </a:prstGeom>
          <a:noFill/>
        </p:spPr>
        <p:txBody>
          <a:bodyPr wrap="square">
            <a:spAutoFit/>
          </a:bodyPr>
          <a:lstStyle/>
          <a:p>
            <a:r>
              <a:rPr lang="fr-FR" sz="2000" b="1" dirty="0">
                <a:latin typeface="Aptos" panose="020B0004020202020204" pitchFamily="34" charset="0"/>
              </a:rPr>
              <a:t>Définition</a:t>
            </a:r>
            <a:r>
              <a:rPr lang="fr-FR" sz="2000" dirty="0">
                <a:latin typeface="Aptos" panose="020B0004020202020204" pitchFamily="34" charset="0"/>
              </a:rPr>
              <a:t> : Niveau minimum de chiffre d'affaires nécessaire pour couvrir toutes les charges.</a:t>
            </a:r>
          </a:p>
          <a:p>
            <a:endParaRPr lang="fr-FR" sz="2000" dirty="0">
              <a:latin typeface="Aptos" panose="020B0004020202020204" pitchFamily="34" charset="0"/>
            </a:endParaRPr>
          </a:p>
          <a:p>
            <a:r>
              <a:rPr lang="fr-FR" sz="2000" b="1" dirty="0">
                <a:latin typeface="Aptos" panose="020B0004020202020204" pitchFamily="34" charset="0"/>
              </a:rPr>
              <a:t>Question clé </a:t>
            </a:r>
            <a:r>
              <a:rPr lang="fr-FR" sz="2000" dirty="0">
                <a:latin typeface="Aptos" panose="020B0004020202020204" pitchFamily="34" charset="0"/>
              </a:rPr>
              <a:t>: À partir de quel niveau de ventes l'officine commence-t-elle réellement à gagner de l'argent ?</a:t>
            </a:r>
          </a:p>
          <a:p>
            <a:endParaRPr lang="fr-FR" sz="2000" dirty="0">
              <a:latin typeface="Aptos" panose="020B0004020202020204" pitchFamily="34" charset="0"/>
            </a:endParaRPr>
          </a:p>
          <a:p>
            <a:r>
              <a:rPr lang="fr-FR" sz="2000" b="1" dirty="0">
                <a:latin typeface="Aptos" panose="020B0004020202020204" pitchFamily="34" charset="0"/>
              </a:rPr>
              <a:t>Formule simplifiée </a:t>
            </a:r>
            <a:r>
              <a:rPr lang="fr-FR" sz="2000" dirty="0">
                <a:latin typeface="Aptos" panose="020B0004020202020204" pitchFamily="34" charset="0"/>
              </a:rPr>
              <a:t>: Seuil de rentabilité = Charges fixes ÷ Taux de marge sur coûts variables</a:t>
            </a:r>
          </a:p>
          <a:p>
            <a:endParaRPr lang="fr-FR" sz="2000" dirty="0">
              <a:latin typeface="Aptos" panose="020B0004020202020204" pitchFamily="34" charset="0"/>
            </a:endParaRPr>
          </a:p>
          <a:p>
            <a:r>
              <a:rPr lang="fr-FR" sz="2000" b="1" dirty="0">
                <a:latin typeface="Aptos" panose="020B0004020202020204" pitchFamily="34" charset="0"/>
              </a:rPr>
              <a:t>Interprétation</a:t>
            </a:r>
          </a:p>
          <a:p>
            <a:pPr marL="800100" lvl="1" indent="-342900">
              <a:buFont typeface="Arial" panose="020B0604020202020204" pitchFamily="34" charset="0"/>
              <a:buChar char="•"/>
            </a:pPr>
            <a:r>
              <a:rPr lang="fr-FR" sz="2000" dirty="0">
                <a:latin typeface="Aptos" panose="020B0004020202020204" pitchFamily="34" charset="0"/>
              </a:rPr>
              <a:t>En dessous : perte.</a:t>
            </a:r>
          </a:p>
          <a:p>
            <a:pPr marL="800100" lvl="1" indent="-342900">
              <a:buFont typeface="Arial" panose="020B0604020202020204" pitchFamily="34" charset="0"/>
              <a:buChar char="•"/>
            </a:pPr>
            <a:r>
              <a:rPr lang="fr-FR" sz="2000" dirty="0">
                <a:latin typeface="Aptos" panose="020B0004020202020204" pitchFamily="34" charset="0"/>
              </a:rPr>
              <a:t>Au-dessus : bénéfice.</a:t>
            </a:r>
          </a:p>
        </p:txBody>
      </p:sp>
    </p:spTree>
    <p:extLst>
      <p:ext uri="{BB962C8B-B14F-4D97-AF65-F5344CB8AC3E}">
        <p14:creationId xmlns:p14="http://schemas.microsoft.com/office/powerpoint/2010/main" val="1980498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Calcul des marges et du seuil de rentabilité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Point mort</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0607034" cy="2862322"/>
          </a:xfrm>
          <a:prstGeom prst="rect">
            <a:avLst/>
          </a:prstGeom>
          <a:noFill/>
        </p:spPr>
        <p:txBody>
          <a:bodyPr wrap="square">
            <a:spAutoFit/>
          </a:bodyPr>
          <a:lstStyle/>
          <a:p>
            <a:r>
              <a:rPr lang="fr-FR" sz="2000" b="1" dirty="0">
                <a:latin typeface="Aptos" panose="020B0004020202020204" pitchFamily="34" charset="0"/>
              </a:rPr>
              <a:t>Définition</a:t>
            </a:r>
            <a:r>
              <a:rPr lang="fr-FR" sz="2000" dirty="0">
                <a:latin typeface="Aptos" panose="020B0004020202020204" pitchFamily="34" charset="0"/>
              </a:rPr>
              <a:t> : Date à laquelle le seuil de rentabilité est atteint dans l’année.</a:t>
            </a:r>
          </a:p>
          <a:p>
            <a:endParaRPr lang="fr-FR" sz="2000" dirty="0">
              <a:latin typeface="Aptos" panose="020B0004020202020204" pitchFamily="34" charset="0"/>
            </a:endParaRPr>
          </a:p>
          <a:p>
            <a:r>
              <a:rPr lang="fr-FR" sz="2000" b="1" dirty="0">
                <a:latin typeface="Aptos" panose="020B0004020202020204" pitchFamily="34" charset="0"/>
              </a:rPr>
              <a:t>Exemple</a:t>
            </a:r>
          </a:p>
          <a:p>
            <a:pPr marL="800100" lvl="1" indent="-342900">
              <a:buFont typeface="Arial" panose="020B0604020202020204" pitchFamily="34" charset="0"/>
              <a:buChar char="•"/>
            </a:pPr>
            <a:r>
              <a:rPr lang="fr-FR" sz="2000" dirty="0">
                <a:latin typeface="Aptos" panose="020B0004020202020204" pitchFamily="34" charset="0"/>
              </a:rPr>
              <a:t>Seuil :120 millions FCFA</a:t>
            </a:r>
          </a:p>
          <a:p>
            <a:pPr marL="800100" lvl="1" indent="-342900">
              <a:buFont typeface="Arial" panose="020B0604020202020204" pitchFamily="34" charset="0"/>
              <a:buChar char="•"/>
            </a:pPr>
            <a:r>
              <a:rPr lang="fr-FR" sz="2000" dirty="0">
                <a:latin typeface="Aptos" panose="020B0004020202020204" pitchFamily="34" charset="0"/>
              </a:rPr>
              <a:t>CA annuel :240 millions FCFA</a:t>
            </a:r>
          </a:p>
          <a:p>
            <a:pPr marL="800100" lvl="1" indent="-342900">
              <a:buFont typeface="Arial" panose="020B0604020202020204" pitchFamily="34" charset="0"/>
              <a:buChar char="•"/>
            </a:pPr>
            <a:r>
              <a:rPr lang="fr-FR" sz="2000" dirty="0">
                <a:latin typeface="Aptos" panose="020B0004020202020204" pitchFamily="34" charset="0"/>
              </a:rPr>
              <a:t>Point mort :6 mois</a:t>
            </a:r>
          </a:p>
          <a:p>
            <a:endParaRPr lang="fr-FR" sz="2000" dirty="0">
              <a:latin typeface="Aptos" panose="020B0004020202020204" pitchFamily="34" charset="0"/>
            </a:endParaRPr>
          </a:p>
          <a:p>
            <a:r>
              <a:rPr lang="fr-FR" sz="2000" b="1" dirty="0">
                <a:latin typeface="Aptos" panose="020B0004020202020204" pitchFamily="34" charset="0"/>
              </a:rPr>
              <a:t>Interprétation</a:t>
            </a:r>
          </a:p>
          <a:p>
            <a:pPr marL="342900" indent="-342900">
              <a:buFont typeface="Arial" panose="020B0604020202020204" pitchFamily="34" charset="0"/>
              <a:buChar char="•"/>
            </a:pPr>
            <a:r>
              <a:rPr lang="fr-FR" sz="2000" dirty="0">
                <a:latin typeface="Aptos" panose="020B0004020202020204" pitchFamily="34" charset="0"/>
              </a:rPr>
              <a:t>À partir du 1er juillet : l’officine commence à générer du profit.</a:t>
            </a:r>
          </a:p>
        </p:txBody>
      </p:sp>
    </p:spTree>
    <p:extLst>
      <p:ext uri="{BB962C8B-B14F-4D97-AF65-F5344CB8AC3E}">
        <p14:creationId xmlns:p14="http://schemas.microsoft.com/office/powerpoint/2010/main" val="1565720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Calcul des marges et du seuil de rentabilité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Produits rentables et produits non rentables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0607034" cy="2862322"/>
          </a:xfrm>
          <a:prstGeom prst="rect">
            <a:avLst/>
          </a:prstGeom>
          <a:noFill/>
        </p:spPr>
        <p:txBody>
          <a:bodyPr wrap="square">
            <a:spAutoFit/>
          </a:bodyPr>
          <a:lstStyle/>
          <a:p>
            <a:r>
              <a:rPr lang="fr-FR" sz="2000" b="1" dirty="0">
                <a:latin typeface="Aptos" panose="020B0004020202020204" pitchFamily="34" charset="0"/>
              </a:rPr>
              <a:t>Erreur fréquente : </a:t>
            </a:r>
          </a:p>
          <a:p>
            <a:pPr marL="800100" lvl="1" indent="-342900">
              <a:buFont typeface="Arial" panose="020B0604020202020204" pitchFamily="34" charset="0"/>
              <a:buChar char="•"/>
            </a:pPr>
            <a:r>
              <a:rPr lang="fr-FR" sz="2000" dirty="0">
                <a:latin typeface="Aptos" panose="020B0004020202020204" pitchFamily="34" charset="0"/>
              </a:rPr>
              <a:t>Se focaliser uniquement sur les ventes.</a:t>
            </a:r>
          </a:p>
          <a:p>
            <a:endParaRPr lang="fr-FR" sz="2000" dirty="0">
              <a:latin typeface="Aptos" panose="020B0004020202020204" pitchFamily="34" charset="0"/>
            </a:endParaRPr>
          </a:p>
          <a:p>
            <a:r>
              <a:rPr lang="fr-FR" sz="2000" b="1" dirty="0">
                <a:latin typeface="Aptos" panose="020B0004020202020204" pitchFamily="34" charset="0"/>
              </a:rPr>
              <a:t>Analyse recommandée : </a:t>
            </a:r>
          </a:p>
          <a:p>
            <a:r>
              <a:rPr lang="fr-FR" sz="2000" dirty="0">
                <a:latin typeface="Aptos" panose="020B0004020202020204" pitchFamily="34" charset="0"/>
              </a:rPr>
              <a:t>Croiser :</a:t>
            </a:r>
          </a:p>
          <a:p>
            <a:pPr marL="800100" lvl="1" indent="-342900">
              <a:buFont typeface="Arial" panose="020B0604020202020204" pitchFamily="34" charset="0"/>
              <a:buChar char="•"/>
            </a:pPr>
            <a:r>
              <a:rPr lang="fr-FR" sz="2000" dirty="0">
                <a:latin typeface="Aptos" panose="020B0004020202020204" pitchFamily="34" charset="0"/>
              </a:rPr>
              <a:t>Volume de vente</a:t>
            </a:r>
          </a:p>
          <a:p>
            <a:pPr marL="800100" lvl="1" indent="-342900">
              <a:buFont typeface="Arial" panose="020B0604020202020204" pitchFamily="34" charset="0"/>
              <a:buChar char="•"/>
            </a:pPr>
            <a:r>
              <a:rPr lang="fr-FR" sz="2000" dirty="0">
                <a:latin typeface="Aptos" panose="020B0004020202020204" pitchFamily="34" charset="0"/>
              </a:rPr>
              <a:t>Marge</a:t>
            </a:r>
          </a:p>
          <a:p>
            <a:pPr marL="800100" lvl="1" indent="-342900">
              <a:buFont typeface="Arial" panose="020B0604020202020204" pitchFamily="34" charset="0"/>
              <a:buChar char="•"/>
            </a:pPr>
            <a:r>
              <a:rPr lang="fr-FR" sz="2000" dirty="0">
                <a:latin typeface="Aptos" panose="020B0004020202020204" pitchFamily="34" charset="0"/>
              </a:rPr>
              <a:t>Rotation</a:t>
            </a:r>
          </a:p>
          <a:p>
            <a:pPr marL="800100" lvl="1" indent="-342900">
              <a:buFont typeface="Arial" panose="020B0604020202020204" pitchFamily="34" charset="0"/>
              <a:buChar char="•"/>
            </a:pPr>
            <a:r>
              <a:rPr lang="fr-FR" sz="2000" dirty="0">
                <a:latin typeface="Aptos" panose="020B0004020202020204" pitchFamily="34" charset="0"/>
              </a:rPr>
              <a:t>Immobilisation du stock</a:t>
            </a:r>
          </a:p>
        </p:txBody>
      </p:sp>
    </p:spTree>
    <p:extLst>
      <p:ext uri="{BB962C8B-B14F-4D97-AF65-F5344CB8AC3E}">
        <p14:creationId xmlns:p14="http://schemas.microsoft.com/office/powerpoint/2010/main" val="1080581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Calcul des marges et du seuil de rentabilité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Pilotage de la rentabilité</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0607034" cy="2246769"/>
          </a:xfrm>
          <a:prstGeom prst="rect">
            <a:avLst/>
          </a:prstGeom>
          <a:noFill/>
        </p:spPr>
        <p:txBody>
          <a:bodyPr wrap="square">
            <a:spAutoFit/>
          </a:bodyPr>
          <a:lstStyle/>
          <a:p>
            <a:r>
              <a:rPr lang="fr-FR" sz="2000" b="1" dirty="0">
                <a:latin typeface="Aptos" panose="020B0004020202020204" pitchFamily="34" charset="0"/>
              </a:rPr>
              <a:t>Leviers d'amélioration :</a:t>
            </a:r>
          </a:p>
          <a:p>
            <a:pPr marL="800100" lvl="1" indent="-342900">
              <a:buFont typeface="Arial" panose="020B0604020202020204" pitchFamily="34" charset="0"/>
              <a:buChar char="•"/>
            </a:pPr>
            <a:r>
              <a:rPr lang="fr-FR" sz="2000" dirty="0">
                <a:latin typeface="Aptos" panose="020B0004020202020204" pitchFamily="34" charset="0"/>
              </a:rPr>
              <a:t>Optimiser les achats</a:t>
            </a:r>
          </a:p>
          <a:p>
            <a:pPr marL="800100" lvl="1" indent="-342900">
              <a:buFont typeface="Arial" panose="020B0604020202020204" pitchFamily="34" charset="0"/>
              <a:buChar char="•"/>
            </a:pPr>
            <a:r>
              <a:rPr lang="fr-FR" sz="2000" dirty="0">
                <a:latin typeface="Aptos" panose="020B0004020202020204" pitchFamily="34" charset="0"/>
              </a:rPr>
              <a:t>Réduire les périmés</a:t>
            </a:r>
          </a:p>
          <a:p>
            <a:pPr marL="800100" lvl="1" indent="-342900">
              <a:buFont typeface="Arial" panose="020B0604020202020204" pitchFamily="34" charset="0"/>
              <a:buChar char="•"/>
            </a:pPr>
            <a:r>
              <a:rPr lang="fr-FR" sz="2000" dirty="0">
                <a:latin typeface="Aptos" panose="020B0004020202020204" pitchFamily="34" charset="0"/>
              </a:rPr>
              <a:t>Réduire les ruptures</a:t>
            </a:r>
          </a:p>
          <a:p>
            <a:pPr marL="800100" lvl="1" indent="-342900">
              <a:buFont typeface="Arial" panose="020B0604020202020204" pitchFamily="34" charset="0"/>
              <a:buChar char="•"/>
            </a:pPr>
            <a:r>
              <a:rPr lang="fr-FR" sz="2000" dirty="0">
                <a:latin typeface="Aptos" panose="020B0004020202020204" pitchFamily="34" charset="0"/>
              </a:rPr>
              <a:t>Développer les catégories à forte marge</a:t>
            </a:r>
          </a:p>
          <a:p>
            <a:pPr marL="800100" lvl="1" indent="-342900">
              <a:buFont typeface="Arial" panose="020B0604020202020204" pitchFamily="34" charset="0"/>
              <a:buChar char="•"/>
            </a:pPr>
            <a:r>
              <a:rPr lang="fr-FR" sz="2000" dirty="0">
                <a:latin typeface="Aptos" panose="020B0004020202020204" pitchFamily="34" charset="0"/>
              </a:rPr>
              <a:t>Contrôler les charges</a:t>
            </a:r>
          </a:p>
          <a:p>
            <a:pPr marL="800100" lvl="1" indent="-342900">
              <a:buFont typeface="Arial" panose="020B0604020202020204" pitchFamily="34" charset="0"/>
              <a:buChar char="•"/>
            </a:pPr>
            <a:r>
              <a:rPr lang="fr-FR" sz="2000" dirty="0">
                <a:latin typeface="Aptos" panose="020B0004020202020204" pitchFamily="34" charset="0"/>
              </a:rPr>
              <a:t>Optimiser les stocks</a:t>
            </a:r>
          </a:p>
        </p:txBody>
      </p:sp>
      <p:sp>
        <p:nvSpPr>
          <p:cNvPr id="10" name="ZoneTexte 9">
            <a:extLst>
              <a:ext uri="{FF2B5EF4-FFF2-40B4-BE49-F238E27FC236}">
                <a16:creationId xmlns:a16="http://schemas.microsoft.com/office/drawing/2014/main" id="{8A427693-03FE-45B9-8DA9-2CAE44D45B1E}"/>
              </a:ext>
            </a:extLst>
          </p:cNvPr>
          <p:cNvSpPr txBox="1"/>
          <p:nvPr/>
        </p:nvSpPr>
        <p:spPr>
          <a:xfrm>
            <a:off x="5878545" y="4164970"/>
            <a:ext cx="5975098" cy="2308324"/>
          </a:xfrm>
          <a:prstGeom prst="rect">
            <a:avLst/>
          </a:prstGeom>
          <a:noFill/>
        </p:spPr>
        <p:txBody>
          <a:bodyPr wrap="square">
            <a:spAutoFit/>
          </a:bodyPr>
          <a:lstStyle/>
          <a:p>
            <a:r>
              <a:rPr lang="fr-FR" b="1" dirty="0">
                <a:latin typeface="Aptos" panose="020B0004020202020204" pitchFamily="34" charset="0"/>
              </a:rPr>
              <a:t>Contexte bénin</a:t>
            </a:r>
          </a:p>
          <a:p>
            <a:r>
              <a:rPr lang="fr-FR" dirty="0">
                <a:latin typeface="Aptos" panose="020B0004020202020204" pitchFamily="34" charset="0"/>
              </a:rPr>
              <a:t>Dans de nombreuses officines béninoises, les principales opportunités d'amélioration de la rentabilité sont :</a:t>
            </a:r>
          </a:p>
          <a:p>
            <a:pPr marL="742950" lvl="1" indent="-285750">
              <a:buFont typeface="Arial" panose="020B0604020202020204" pitchFamily="34" charset="0"/>
              <a:buChar char="•"/>
            </a:pPr>
            <a:r>
              <a:rPr lang="fr-FR" dirty="0">
                <a:latin typeface="Aptos" panose="020B0004020202020204" pitchFamily="34" charset="0"/>
              </a:rPr>
              <a:t>Réduction du surstockage ;</a:t>
            </a:r>
          </a:p>
          <a:p>
            <a:pPr marL="742950" lvl="1" indent="-285750">
              <a:buFont typeface="Arial" panose="020B0604020202020204" pitchFamily="34" charset="0"/>
              <a:buChar char="•"/>
            </a:pPr>
            <a:r>
              <a:rPr lang="fr-FR" dirty="0">
                <a:latin typeface="Aptos" panose="020B0004020202020204" pitchFamily="34" charset="0"/>
              </a:rPr>
              <a:t>Amélioration de la rotation ;</a:t>
            </a:r>
          </a:p>
          <a:p>
            <a:pPr marL="742950" lvl="1" indent="-285750">
              <a:buFont typeface="Arial" panose="020B0604020202020204" pitchFamily="34" charset="0"/>
              <a:buChar char="•"/>
            </a:pPr>
            <a:r>
              <a:rPr lang="fr-FR" dirty="0">
                <a:latin typeface="Aptos" panose="020B0004020202020204" pitchFamily="34" charset="0"/>
              </a:rPr>
              <a:t>Diminution des périmés ;</a:t>
            </a:r>
          </a:p>
          <a:p>
            <a:pPr marL="742950" lvl="1" indent="-285750">
              <a:buFont typeface="Arial" panose="020B0604020202020204" pitchFamily="34" charset="0"/>
              <a:buChar char="•"/>
            </a:pPr>
            <a:r>
              <a:rPr lang="fr-FR" dirty="0">
                <a:latin typeface="Aptos" panose="020B0004020202020204" pitchFamily="34" charset="0"/>
              </a:rPr>
              <a:t>Optimisation du mix produits ;</a:t>
            </a:r>
          </a:p>
          <a:p>
            <a:pPr marL="742950" lvl="1" indent="-285750">
              <a:buFont typeface="Arial" panose="020B0604020202020204" pitchFamily="34" charset="0"/>
              <a:buChar char="•"/>
            </a:pPr>
            <a:r>
              <a:rPr lang="fr-FR" dirty="0">
                <a:latin typeface="Aptos" panose="020B0004020202020204" pitchFamily="34" charset="0"/>
              </a:rPr>
              <a:t>Maîtrise des coûts énergétiques.</a:t>
            </a:r>
          </a:p>
        </p:txBody>
      </p:sp>
    </p:spTree>
    <p:extLst>
      <p:ext uri="{BB962C8B-B14F-4D97-AF65-F5344CB8AC3E}">
        <p14:creationId xmlns:p14="http://schemas.microsoft.com/office/powerpoint/2010/main" val="4202765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Calcul des marges et du seuil de rentabilité</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Message clé à retenir</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554545"/>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Le chiffre d'affaires mesure l'activité.</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La marge mesure la création de valeur.</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Le bénéfice mesure la performance réelle.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Une officine performante n'est pas celle qui vend le plus, mais celle qui transforme efficacement ses ventes en rentabilité durable.</a:t>
            </a:r>
          </a:p>
        </p:txBody>
      </p:sp>
    </p:spTree>
    <p:extLst>
      <p:ext uri="{BB962C8B-B14F-4D97-AF65-F5344CB8AC3E}">
        <p14:creationId xmlns:p14="http://schemas.microsoft.com/office/powerpoint/2010/main" val="3997454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 la trésorerie et du besoin en fonds de roulement (BFR)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246769"/>
          </a:xfrm>
          <a:prstGeom prst="rect">
            <a:avLst/>
          </a:prstGeom>
          <a:noFill/>
        </p:spPr>
        <p:txBody>
          <a:bodyPr wrap="square">
            <a:spAutoFit/>
          </a:bodyPr>
          <a:lstStyle/>
          <a:p>
            <a:r>
              <a:rPr lang="fr-FR" sz="2000" dirty="0">
                <a:latin typeface="Aptos" panose="020B0004020202020204" pitchFamily="34" charset="0"/>
              </a:rPr>
              <a:t>À l’issue de ce sous-module, le participant sera capable de :</a:t>
            </a:r>
          </a:p>
          <a:p>
            <a:pPr marL="800100" lvl="1" indent="-342900">
              <a:buFont typeface="Arial" panose="020B0604020202020204" pitchFamily="34" charset="0"/>
              <a:buChar char="•"/>
            </a:pPr>
            <a:r>
              <a:rPr lang="fr-FR" sz="2000" dirty="0">
                <a:latin typeface="Aptos" panose="020B0004020202020204" pitchFamily="34" charset="0"/>
              </a:rPr>
              <a:t>Comprendre les mécanismes de la trésorerie ;</a:t>
            </a:r>
          </a:p>
          <a:p>
            <a:pPr marL="800100" lvl="1" indent="-342900">
              <a:buFont typeface="Arial" panose="020B0604020202020204" pitchFamily="34" charset="0"/>
              <a:buChar char="•"/>
            </a:pPr>
            <a:r>
              <a:rPr lang="fr-FR" sz="2000" dirty="0">
                <a:latin typeface="Aptos" panose="020B0004020202020204" pitchFamily="34" charset="0"/>
              </a:rPr>
              <a:t>Différencier bénéfice et trésorerie ;</a:t>
            </a:r>
          </a:p>
          <a:p>
            <a:pPr marL="800100" lvl="1" indent="-342900">
              <a:buFont typeface="Arial" panose="020B0604020202020204" pitchFamily="34" charset="0"/>
              <a:buChar char="•"/>
            </a:pPr>
            <a:r>
              <a:rPr lang="fr-FR" sz="2000" dirty="0">
                <a:latin typeface="Aptos" panose="020B0004020202020204" pitchFamily="34" charset="0"/>
              </a:rPr>
              <a:t>Calculer le Besoin en Fonds de Roulement (BFR) ;</a:t>
            </a:r>
          </a:p>
          <a:p>
            <a:pPr marL="800100" lvl="1" indent="-342900">
              <a:buFont typeface="Arial" panose="020B0604020202020204" pitchFamily="34" charset="0"/>
              <a:buChar char="•"/>
            </a:pPr>
            <a:r>
              <a:rPr lang="fr-FR" sz="2000" dirty="0">
                <a:latin typeface="Aptos" panose="020B0004020202020204" pitchFamily="34" charset="0"/>
              </a:rPr>
              <a:t>Identifier les causes des tensions de trésorerie ;</a:t>
            </a:r>
          </a:p>
          <a:p>
            <a:pPr marL="800100" lvl="1" indent="-342900">
              <a:buFont typeface="Arial" panose="020B0604020202020204" pitchFamily="34" charset="0"/>
              <a:buChar char="•"/>
            </a:pPr>
            <a:r>
              <a:rPr lang="fr-FR" sz="2000" dirty="0">
                <a:latin typeface="Aptos" panose="020B0004020202020204" pitchFamily="34" charset="0"/>
              </a:rPr>
              <a:t>Améliorer les flux financiers de l’officine ;</a:t>
            </a:r>
          </a:p>
          <a:p>
            <a:pPr marL="800100" lvl="1" indent="-342900">
              <a:buFont typeface="Arial" panose="020B0604020202020204" pitchFamily="34" charset="0"/>
              <a:buChar char="•"/>
            </a:pPr>
            <a:r>
              <a:rPr lang="fr-FR" sz="2000" dirty="0">
                <a:latin typeface="Aptos" panose="020B0004020202020204" pitchFamily="34" charset="0"/>
              </a:rPr>
              <a:t>Construire un plan de trésorerie prévisionnel.</a:t>
            </a:r>
          </a:p>
        </p:txBody>
      </p:sp>
    </p:spTree>
    <p:extLst>
      <p:ext uri="{BB962C8B-B14F-4D97-AF65-F5344CB8AC3E}">
        <p14:creationId xmlns:p14="http://schemas.microsoft.com/office/powerpoint/2010/main" val="1110846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 la trésorerie et du besoin en fonds de roulement (BFR)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170099"/>
          </a:xfrm>
          <a:prstGeom prst="rect">
            <a:avLst/>
          </a:prstGeom>
          <a:noFill/>
        </p:spPr>
        <p:txBody>
          <a:bodyPr wrap="square">
            <a:spAutoFit/>
          </a:bodyPr>
          <a:lstStyle/>
          <a:p>
            <a:r>
              <a:rPr lang="fr-FR" sz="2000" dirty="0">
                <a:latin typeface="Aptos" panose="020B0004020202020204" pitchFamily="34" charset="0"/>
              </a:rPr>
              <a:t>La trésorerie est souvent décrite comme : « Le sang qui circule dans l’entreprise. »</a:t>
            </a:r>
          </a:p>
          <a:p>
            <a:endParaRPr lang="fr-FR" sz="2000" dirty="0">
              <a:latin typeface="Aptos" panose="020B0004020202020204" pitchFamily="34" charset="0"/>
            </a:endParaRPr>
          </a:p>
          <a:p>
            <a:r>
              <a:rPr lang="fr-FR" sz="2000" dirty="0">
                <a:latin typeface="Aptos" panose="020B0004020202020204" pitchFamily="34" charset="0"/>
              </a:rPr>
              <a:t>Sans trésorerie :</a:t>
            </a:r>
          </a:p>
          <a:p>
            <a:pPr marL="800100" lvl="1" indent="-342900">
              <a:buFont typeface="Arial" panose="020B0604020202020204" pitchFamily="34" charset="0"/>
              <a:buChar char="•"/>
            </a:pPr>
            <a:r>
              <a:rPr lang="fr-FR" sz="2000" dirty="0">
                <a:latin typeface="Aptos" panose="020B0004020202020204" pitchFamily="34" charset="0"/>
              </a:rPr>
              <a:t>Impossible de payer les fournisseurs ;</a:t>
            </a:r>
          </a:p>
          <a:p>
            <a:pPr marL="800100" lvl="1" indent="-342900">
              <a:buFont typeface="Arial" panose="020B0604020202020204" pitchFamily="34" charset="0"/>
              <a:buChar char="•"/>
            </a:pPr>
            <a:r>
              <a:rPr lang="fr-FR" sz="2000" dirty="0">
                <a:latin typeface="Aptos" panose="020B0004020202020204" pitchFamily="34" charset="0"/>
              </a:rPr>
              <a:t>Impossible de payer les salaires ;</a:t>
            </a:r>
          </a:p>
          <a:p>
            <a:pPr marL="800100" lvl="1" indent="-342900">
              <a:buFont typeface="Arial" panose="020B0604020202020204" pitchFamily="34" charset="0"/>
              <a:buChar char="•"/>
            </a:pPr>
            <a:r>
              <a:rPr lang="fr-FR" sz="2000" dirty="0">
                <a:latin typeface="Aptos" panose="020B0004020202020204" pitchFamily="34" charset="0"/>
              </a:rPr>
              <a:t>Impossible de renouveler les stocks ;</a:t>
            </a:r>
          </a:p>
          <a:p>
            <a:pPr marL="800100" lvl="1" indent="-342900">
              <a:buFont typeface="Arial" panose="020B0604020202020204" pitchFamily="34" charset="0"/>
              <a:buChar char="•"/>
            </a:pPr>
            <a:r>
              <a:rPr lang="fr-FR" sz="2000" dirty="0">
                <a:latin typeface="Aptos" panose="020B0004020202020204" pitchFamily="34" charset="0"/>
              </a:rPr>
              <a:t>Impossible d’investir.</a:t>
            </a:r>
          </a:p>
          <a:p>
            <a:endParaRPr lang="fr-FR" sz="2000" dirty="0">
              <a:latin typeface="Aptos" panose="020B0004020202020204" pitchFamily="34" charset="0"/>
            </a:endParaRPr>
          </a:p>
          <a:p>
            <a:r>
              <a:rPr lang="fr-FR" sz="2000" dirty="0">
                <a:latin typeface="Aptos" panose="020B0004020202020204" pitchFamily="34" charset="0"/>
              </a:rPr>
              <a:t>Une officine peut afficher un bénéfice annuel important tout en étant incapable de faire face à ses obligations quotidiennes.</a:t>
            </a:r>
          </a:p>
        </p:txBody>
      </p:sp>
    </p:spTree>
    <p:extLst>
      <p:ext uri="{BB962C8B-B14F-4D97-AF65-F5344CB8AC3E}">
        <p14:creationId xmlns:p14="http://schemas.microsoft.com/office/powerpoint/2010/main" val="925056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 la trésorerie et du besoin en fonds de roulement (BFR)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Comprendre la trésorerie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785652"/>
          </a:xfrm>
          <a:prstGeom prst="rect">
            <a:avLst/>
          </a:prstGeom>
          <a:noFill/>
        </p:spPr>
        <p:txBody>
          <a:bodyPr wrap="square">
            <a:spAutoFit/>
          </a:bodyPr>
          <a:lstStyle/>
          <a:p>
            <a:r>
              <a:rPr lang="fr-FR" sz="2000" dirty="0">
                <a:latin typeface="Aptos" panose="020B0004020202020204" pitchFamily="34" charset="0"/>
              </a:rPr>
              <a:t>Définition : La trésorerie représente les liquidités immédiatement disponibles.</a:t>
            </a:r>
          </a:p>
          <a:p>
            <a:endParaRPr lang="fr-FR" sz="2000" dirty="0">
              <a:latin typeface="Aptos" panose="020B0004020202020204" pitchFamily="34" charset="0"/>
            </a:endParaRPr>
          </a:p>
          <a:p>
            <a:r>
              <a:rPr lang="fr-FR" sz="2000" b="1" dirty="0">
                <a:latin typeface="Aptos" panose="020B0004020202020204" pitchFamily="34" charset="0"/>
              </a:rPr>
              <a:t>Elle comprend :</a:t>
            </a:r>
          </a:p>
          <a:p>
            <a:pPr marL="800100" lvl="1" indent="-342900">
              <a:buFont typeface="Arial" panose="020B0604020202020204" pitchFamily="34" charset="0"/>
              <a:buChar char="•"/>
            </a:pPr>
            <a:r>
              <a:rPr lang="fr-FR" sz="2000" dirty="0">
                <a:latin typeface="Aptos" panose="020B0004020202020204" pitchFamily="34" charset="0"/>
              </a:rPr>
              <a:t>Solde bancaire</a:t>
            </a:r>
          </a:p>
          <a:p>
            <a:pPr marL="800100" lvl="1" indent="-342900">
              <a:buFont typeface="Arial" panose="020B0604020202020204" pitchFamily="34" charset="0"/>
              <a:buChar char="•"/>
            </a:pPr>
            <a:r>
              <a:rPr lang="fr-FR" sz="2000" dirty="0">
                <a:latin typeface="Aptos" panose="020B0004020202020204" pitchFamily="34" charset="0"/>
              </a:rPr>
              <a:t>Caisse</a:t>
            </a:r>
          </a:p>
          <a:p>
            <a:pPr marL="800100" lvl="1" indent="-342900">
              <a:buFont typeface="Arial" panose="020B0604020202020204" pitchFamily="34" charset="0"/>
              <a:buChar char="•"/>
            </a:pPr>
            <a:r>
              <a:rPr lang="fr-FR" sz="2000" dirty="0">
                <a:latin typeface="Aptos" panose="020B0004020202020204" pitchFamily="34" charset="0"/>
              </a:rPr>
              <a:t>Placements très liquides</a:t>
            </a:r>
          </a:p>
          <a:p>
            <a:endParaRPr lang="fr-FR" sz="2000" dirty="0">
              <a:latin typeface="Aptos" panose="020B0004020202020204" pitchFamily="34" charset="0"/>
            </a:endParaRPr>
          </a:p>
          <a:p>
            <a:r>
              <a:rPr lang="fr-FR" sz="2000" b="1" dirty="0">
                <a:latin typeface="Aptos" panose="020B0004020202020204" pitchFamily="34" charset="0"/>
              </a:rPr>
              <a:t>Ce qui n'est PAS de la trésorerie :</a:t>
            </a:r>
          </a:p>
          <a:p>
            <a:pPr marL="800100" lvl="1" indent="-342900">
              <a:buFont typeface="Arial" panose="020B0604020202020204" pitchFamily="34" charset="0"/>
              <a:buChar char="•"/>
            </a:pPr>
            <a:r>
              <a:rPr lang="fr-FR" sz="2000" dirty="0">
                <a:latin typeface="Aptos" panose="020B0004020202020204" pitchFamily="34" charset="0"/>
              </a:rPr>
              <a:t>Les stocks</a:t>
            </a:r>
          </a:p>
          <a:p>
            <a:pPr marL="800100" lvl="1" indent="-342900">
              <a:buFont typeface="Arial" panose="020B0604020202020204" pitchFamily="34" charset="0"/>
              <a:buChar char="•"/>
            </a:pPr>
            <a:r>
              <a:rPr lang="fr-FR" sz="2000" dirty="0">
                <a:latin typeface="Aptos" panose="020B0004020202020204" pitchFamily="34" charset="0"/>
              </a:rPr>
              <a:t>Les créances clients</a:t>
            </a:r>
          </a:p>
          <a:p>
            <a:pPr marL="800100" lvl="1" indent="-342900">
              <a:buFont typeface="Arial" panose="020B0604020202020204" pitchFamily="34" charset="0"/>
              <a:buChar char="•"/>
            </a:pPr>
            <a:r>
              <a:rPr lang="fr-FR" sz="2000" dirty="0">
                <a:latin typeface="Aptos" panose="020B0004020202020204" pitchFamily="34" charset="0"/>
              </a:rPr>
              <a:t>Les médicaments en rayon</a:t>
            </a:r>
          </a:p>
          <a:p>
            <a:pPr marL="800100" lvl="1" indent="-342900">
              <a:buFont typeface="Arial" panose="020B0604020202020204" pitchFamily="34" charset="0"/>
              <a:buChar char="•"/>
            </a:pPr>
            <a:r>
              <a:rPr lang="fr-FR" sz="2000" dirty="0">
                <a:latin typeface="Aptos" panose="020B0004020202020204" pitchFamily="34" charset="0"/>
              </a:rPr>
              <a:t>Les équipements</a:t>
            </a:r>
          </a:p>
        </p:txBody>
      </p:sp>
    </p:spTree>
    <p:extLst>
      <p:ext uri="{BB962C8B-B14F-4D97-AF65-F5344CB8AC3E}">
        <p14:creationId xmlns:p14="http://schemas.microsoft.com/office/powerpoint/2010/main" val="374389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 la trésorerie et du besoin en fonds de roulement (BFR)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Différence entre bénéfice et trésorerie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1323439"/>
          </a:xfrm>
          <a:prstGeom prst="rect">
            <a:avLst/>
          </a:prstGeom>
          <a:noFill/>
        </p:spPr>
        <p:txBody>
          <a:bodyPr wrap="square">
            <a:spAutoFit/>
          </a:bodyPr>
          <a:lstStyle/>
          <a:p>
            <a:r>
              <a:rPr lang="fr-FR" sz="2000" b="1" dirty="0">
                <a:latin typeface="Aptos" panose="020B0004020202020204" pitchFamily="34" charset="0"/>
              </a:rPr>
              <a:t>Erreur fréquente :</a:t>
            </a:r>
          </a:p>
          <a:p>
            <a:r>
              <a:rPr lang="fr-FR" sz="2000" dirty="0">
                <a:latin typeface="Aptos" panose="020B0004020202020204" pitchFamily="34" charset="0"/>
              </a:rPr>
              <a:t>Confondre :</a:t>
            </a:r>
          </a:p>
          <a:p>
            <a:pPr marL="800100" lvl="1" indent="-342900">
              <a:buFont typeface="Arial" panose="020B0604020202020204" pitchFamily="34" charset="0"/>
              <a:buChar char="•"/>
            </a:pPr>
            <a:r>
              <a:rPr lang="fr-FR" sz="2000" dirty="0">
                <a:latin typeface="Aptos" panose="020B0004020202020204" pitchFamily="34" charset="0"/>
              </a:rPr>
              <a:t>Résultat comptable et </a:t>
            </a:r>
          </a:p>
          <a:p>
            <a:pPr marL="800100" lvl="1" indent="-342900">
              <a:buFont typeface="Arial" panose="020B0604020202020204" pitchFamily="34" charset="0"/>
              <a:buChar char="•"/>
            </a:pPr>
            <a:r>
              <a:rPr lang="fr-FR" sz="2000" dirty="0">
                <a:latin typeface="Aptos" panose="020B0004020202020204" pitchFamily="34" charset="0"/>
              </a:rPr>
              <a:t>Argent disponible</a:t>
            </a:r>
          </a:p>
        </p:txBody>
      </p:sp>
    </p:spTree>
    <p:extLst>
      <p:ext uri="{BB962C8B-B14F-4D97-AF65-F5344CB8AC3E}">
        <p14:creationId xmlns:p14="http://schemas.microsoft.com/office/powerpoint/2010/main" val="4026608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 la trésorerie et du besoin en fonds de roulement (BFR)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besoin en fonds de roulement (BFR)</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477875"/>
          </a:xfrm>
          <a:prstGeom prst="rect">
            <a:avLst/>
          </a:prstGeom>
          <a:noFill/>
        </p:spPr>
        <p:txBody>
          <a:bodyPr wrap="square">
            <a:spAutoFit/>
          </a:bodyPr>
          <a:lstStyle/>
          <a:p>
            <a:r>
              <a:rPr lang="fr-FR" sz="2000" b="1" dirty="0">
                <a:latin typeface="Aptos" panose="020B0004020202020204" pitchFamily="34" charset="0"/>
              </a:rPr>
              <a:t>Définition</a:t>
            </a:r>
            <a:r>
              <a:rPr lang="fr-FR" sz="2000" dirty="0">
                <a:latin typeface="Aptos" panose="020B0004020202020204" pitchFamily="34" charset="0"/>
              </a:rPr>
              <a:t> : Montant nécessaire pour financer le cycle d’exploitation.</a:t>
            </a:r>
          </a:p>
          <a:p>
            <a:endParaRPr lang="fr-FR" sz="2000" dirty="0">
              <a:latin typeface="Aptos" panose="020B0004020202020204" pitchFamily="34" charset="0"/>
            </a:endParaRPr>
          </a:p>
          <a:p>
            <a:r>
              <a:rPr lang="fr-FR" sz="2000" b="1" dirty="0">
                <a:latin typeface="Aptos" panose="020B0004020202020204" pitchFamily="34" charset="0"/>
              </a:rPr>
              <a:t>Formule simplifiée : </a:t>
            </a:r>
          </a:p>
          <a:p>
            <a:pPr lvl="1"/>
            <a:r>
              <a:rPr lang="fr-FR" sz="2000" dirty="0">
                <a:latin typeface="Aptos" panose="020B0004020202020204" pitchFamily="34" charset="0"/>
              </a:rPr>
              <a:t>BFR = Stocks + Créances - Dettes fournisseurs</a:t>
            </a:r>
          </a:p>
          <a:p>
            <a:endParaRPr lang="fr-FR" sz="2000" dirty="0">
              <a:latin typeface="Aptos" panose="020B0004020202020204" pitchFamily="34" charset="0"/>
            </a:endParaRPr>
          </a:p>
          <a:p>
            <a:r>
              <a:rPr lang="fr-FR" sz="2000" b="1" dirty="0">
                <a:latin typeface="Aptos" panose="020B0004020202020204" pitchFamily="34" charset="0"/>
              </a:rPr>
              <a:t>Exemple</a:t>
            </a:r>
          </a:p>
          <a:p>
            <a:pPr marL="800100" lvl="1" indent="-342900">
              <a:buFont typeface="Arial" panose="020B0604020202020204" pitchFamily="34" charset="0"/>
              <a:buChar char="•"/>
            </a:pPr>
            <a:r>
              <a:rPr lang="fr-FR" sz="2000" dirty="0">
                <a:latin typeface="Aptos" panose="020B0004020202020204" pitchFamily="34" charset="0"/>
              </a:rPr>
              <a:t>Stock : 50 millions FCFA </a:t>
            </a:r>
          </a:p>
          <a:p>
            <a:pPr marL="800100" lvl="1" indent="-342900">
              <a:buFont typeface="Arial" panose="020B0604020202020204" pitchFamily="34" charset="0"/>
              <a:buChar char="•"/>
            </a:pPr>
            <a:r>
              <a:rPr lang="fr-FR" sz="2000" dirty="0">
                <a:latin typeface="Aptos" panose="020B0004020202020204" pitchFamily="34" charset="0"/>
              </a:rPr>
              <a:t>Créances : 20 millions FCFA</a:t>
            </a:r>
          </a:p>
          <a:p>
            <a:pPr marL="800100" lvl="1" indent="-342900">
              <a:buFont typeface="Arial" panose="020B0604020202020204" pitchFamily="34" charset="0"/>
              <a:buChar char="•"/>
            </a:pPr>
            <a:r>
              <a:rPr lang="fr-FR" sz="2000" dirty="0">
                <a:latin typeface="Aptos" panose="020B0004020202020204" pitchFamily="34" charset="0"/>
              </a:rPr>
              <a:t>Dettes fournisseurs : 30 millions FCFA</a:t>
            </a:r>
          </a:p>
          <a:p>
            <a:pPr marL="800100" lvl="1" indent="-342900">
              <a:buFont typeface="Arial" panose="020B0604020202020204" pitchFamily="34" charset="0"/>
              <a:buChar char="•"/>
            </a:pPr>
            <a:r>
              <a:rPr lang="fr-FR" sz="2000" b="1" dirty="0">
                <a:latin typeface="Aptos" panose="020B0004020202020204" pitchFamily="34" charset="0"/>
              </a:rPr>
              <a:t>BFR = 50 + 20 – 30 = 40 millions FCFA</a:t>
            </a:r>
          </a:p>
          <a:p>
            <a:pPr marL="800100" lvl="1" indent="-342900">
              <a:buFont typeface="Arial" panose="020B0604020202020204" pitchFamily="34" charset="0"/>
              <a:buChar char="•"/>
            </a:pPr>
            <a:r>
              <a:rPr lang="fr-FR" sz="2000" b="1" dirty="0">
                <a:latin typeface="Aptos" panose="020B0004020202020204" pitchFamily="34" charset="0"/>
              </a:rPr>
              <a:t>Interprétation</a:t>
            </a:r>
            <a:r>
              <a:rPr lang="fr-FR" sz="2000" dirty="0">
                <a:latin typeface="Aptos" panose="020B0004020202020204" pitchFamily="34" charset="0"/>
              </a:rPr>
              <a:t> : L’officine doit mobiliser 40 millions FCFA pour financer son activité.</a:t>
            </a:r>
          </a:p>
        </p:txBody>
      </p:sp>
    </p:spTree>
    <p:extLst>
      <p:ext uri="{BB962C8B-B14F-4D97-AF65-F5344CB8AC3E}">
        <p14:creationId xmlns:p14="http://schemas.microsoft.com/office/powerpoint/2010/main" val="2956621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 la trésorerie et du besoin en fonds de roulement (BFR)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Pourquoi le BFR est élevé dans les officines ?</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r>
              <a:rPr lang="fr-FR" sz="2000" b="1" dirty="0">
                <a:latin typeface="Aptos" panose="020B0004020202020204" pitchFamily="34" charset="0"/>
              </a:rPr>
              <a:t>Contexte africain :</a:t>
            </a:r>
          </a:p>
          <a:p>
            <a:r>
              <a:rPr lang="fr-FR" sz="2000" dirty="0">
                <a:latin typeface="Aptos" panose="020B0004020202020204" pitchFamily="34" charset="0"/>
              </a:rPr>
              <a:t>Les officines sont souvent confrontées à :</a:t>
            </a:r>
          </a:p>
          <a:p>
            <a:pPr marL="800100" lvl="1" indent="-342900">
              <a:buFont typeface="Arial" panose="020B0604020202020204" pitchFamily="34" charset="0"/>
              <a:buChar char="•"/>
            </a:pPr>
            <a:r>
              <a:rPr lang="fr-FR" sz="2000" dirty="0">
                <a:latin typeface="Aptos" panose="020B0004020202020204" pitchFamily="34" charset="0"/>
              </a:rPr>
              <a:t>Surstockage</a:t>
            </a:r>
          </a:p>
          <a:p>
            <a:pPr marL="800100" lvl="1" indent="-342900">
              <a:buFont typeface="Arial" panose="020B0604020202020204" pitchFamily="34" charset="0"/>
              <a:buChar char="•"/>
            </a:pPr>
            <a:r>
              <a:rPr lang="fr-FR" sz="2000" dirty="0">
                <a:latin typeface="Aptos" panose="020B0004020202020204" pitchFamily="34" charset="0"/>
              </a:rPr>
              <a:t>Délais de remboursement</a:t>
            </a:r>
          </a:p>
          <a:p>
            <a:pPr marL="800100" lvl="1" indent="-342900">
              <a:buFont typeface="Arial" panose="020B0604020202020204" pitchFamily="34" charset="0"/>
              <a:buChar char="•"/>
            </a:pPr>
            <a:r>
              <a:rPr lang="fr-FR" sz="2000" dirty="0">
                <a:latin typeface="Aptos" panose="020B0004020202020204" pitchFamily="34" charset="0"/>
              </a:rPr>
              <a:t>Crédits accordés aux clients</a:t>
            </a:r>
          </a:p>
          <a:p>
            <a:pPr marL="800100" lvl="1" indent="-342900">
              <a:buFont typeface="Arial" panose="020B0604020202020204" pitchFamily="34" charset="0"/>
              <a:buChar char="•"/>
            </a:pPr>
            <a:r>
              <a:rPr lang="fr-FR" sz="2000" dirty="0">
                <a:latin typeface="Aptos" panose="020B0004020202020204" pitchFamily="34" charset="0"/>
              </a:rPr>
              <a:t>Retards de paiement institutionnels</a:t>
            </a:r>
          </a:p>
          <a:p>
            <a:pPr marL="800100" lvl="1" indent="-342900">
              <a:buFont typeface="Arial" panose="020B0604020202020204" pitchFamily="34" charset="0"/>
              <a:buChar char="•"/>
            </a:pPr>
            <a:r>
              <a:rPr lang="fr-FR" sz="2000" dirty="0">
                <a:latin typeface="Aptos" panose="020B0004020202020204" pitchFamily="34" charset="0"/>
              </a:rPr>
              <a:t>Mauvaise rotation des stocks</a:t>
            </a:r>
          </a:p>
          <a:p>
            <a:endParaRPr lang="fr-FR" sz="2000" dirty="0">
              <a:latin typeface="Aptos" panose="020B0004020202020204" pitchFamily="34" charset="0"/>
            </a:endParaRPr>
          </a:p>
          <a:p>
            <a:r>
              <a:rPr lang="fr-FR" sz="2000" b="1" dirty="0">
                <a:latin typeface="Aptos" panose="020B0004020202020204" pitchFamily="34" charset="0"/>
              </a:rPr>
              <a:t>Application au Bénin : </a:t>
            </a:r>
          </a:p>
          <a:p>
            <a:r>
              <a:rPr lang="fr-FR" sz="2000" dirty="0">
                <a:latin typeface="Aptos" panose="020B0004020202020204" pitchFamily="34" charset="0"/>
              </a:rPr>
              <a:t>Les officines travaillant avec :</a:t>
            </a:r>
          </a:p>
          <a:p>
            <a:pPr marL="800100" lvl="1" indent="-342900">
              <a:buFont typeface="Arial" panose="020B0604020202020204" pitchFamily="34" charset="0"/>
              <a:buChar char="•"/>
            </a:pPr>
            <a:r>
              <a:rPr lang="fr-FR" sz="2000" dirty="0">
                <a:latin typeface="Aptos" panose="020B0004020202020204" pitchFamily="34" charset="0"/>
              </a:rPr>
              <a:t>Entreprises ;</a:t>
            </a:r>
          </a:p>
          <a:p>
            <a:pPr marL="800100" lvl="1" indent="-342900">
              <a:buFont typeface="Arial" panose="020B0604020202020204" pitchFamily="34" charset="0"/>
              <a:buChar char="•"/>
            </a:pPr>
            <a:r>
              <a:rPr lang="fr-FR" sz="2000" dirty="0">
                <a:latin typeface="Aptos" panose="020B0004020202020204" pitchFamily="34" charset="0"/>
              </a:rPr>
              <a:t>Assurances ;</a:t>
            </a:r>
          </a:p>
          <a:p>
            <a:pPr marL="800100" lvl="1" indent="-342900">
              <a:buFont typeface="Arial" panose="020B0604020202020204" pitchFamily="34" charset="0"/>
              <a:buChar char="•"/>
            </a:pPr>
            <a:r>
              <a:rPr lang="fr-FR" sz="2000" dirty="0">
                <a:latin typeface="Aptos" panose="020B0004020202020204" pitchFamily="34" charset="0"/>
              </a:rPr>
              <a:t>Mutuelles ;</a:t>
            </a:r>
          </a:p>
          <a:p>
            <a:r>
              <a:rPr lang="fr-FR" sz="2000" dirty="0">
                <a:latin typeface="Aptos" panose="020B0004020202020204" pitchFamily="34" charset="0"/>
              </a:rPr>
              <a:t>peuvent être confrontées à des délais de paiement importants qui augmentent le BFR.</a:t>
            </a:r>
          </a:p>
        </p:txBody>
      </p:sp>
    </p:spTree>
    <p:extLst>
      <p:ext uri="{BB962C8B-B14F-4D97-AF65-F5344CB8AC3E}">
        <p14:creationId xmlns:p14="http://schemas.microsoft.com/office/powerpoint/2010/main" val="653845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 la trésorerie et du besoin en fonds de roulement (BFR)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Analyse du stock comme consommateur de trésorerie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170099"/>
          </a:xfrm>
          <a:prstGeom prst="rect">
            <a:avLst/>
          </a:prstGeom>
          <a:noFill/>
        </p:spPr>
        <p:txBody>
          <a:bodyPr wrap="square">
            <a:spAutoFit/>
          </a:bodyPr>
          <a:lstStyle/>
          <a:p>
            <a:r>
              <a:rPr lang="fr-FR" sz="2000" b="1" dirty="0">
                <a:latin typeface="Aptos" panose="020B0004020202020204" pitchFamily="34" charset="0"/>
              </a:rPr>
              <a:t>Réalité</a:t>
            </a:r>
          </a:p>
          <a:p>
            <a:pPr marL="800100" lvl="1" indent="-342900">
              <a:buFont typeface="Arial" panose="020B0604020202020204" pitchFamily="34" charset="0"/>
              <a:buChar char="•"/>
            </a:pPr>
            <a:r>
              <a:rPr lang="fr-FR" sz="2000" dirty="0">
                <a:latin typeface="Aptos" panose="020B0004020202020204" pitchFamily="34" charset="0"/>
              </a:rPr>
              <a:t>Le stock est souvent le principal poste d’immobilisation financière.</a:t>
            </a:r>
          </a:p>
          <a:p>
            <a:endParaRPr lang="fr-FR" sz="2000" dirty="0">
              <a:latin typeface="Aptos" panose="020B0004020202020204" pitchFamily="34" charset="0"/>
            </a:endParaRPr>
          </a:p>
          <a:p>
            <a:r>
              <a:rPr lang="fr-FR" sz="2000" b="1" dirty="0">
                <a:latin typeface="Aptos" panose="020B0004020202020204" pitchFamily="34" charset="0"/>
              </a:rPr>
              <a:t>Exemple</a:t>
            </a:r>
          </a:p>
          <a:p>
            <a:pPr marL="800100" lvl="1" indent="-342900">
              <a:buFont typeface="Arial" panose="020B0604020202020204" pitchFamily="34" charset="0"/>
              <a:buChar char="•"/>
            </a:pPr>
            <a:r>
              <a:rPr lang="fr-FR" sz="2000" dirty="0">
                <a:latin typeface="Aptos" panose="020B0004020202020204" pitchFamily="34" charset="0"/>
              </a:rPr>
              <a:t>Stock :150 millions FCFA</a:t>
            </a:r>
          </a:p>
          <a:p>
            <a:pPr marL="800100" lvl="1" indent="-342900">
              <a:buFont typeface="Arial" panose="020B0604020202020204" pitchFamily="34" charset="0"/>
              <a:buChar char="•"/>
            </a:pPr>
            <a:r>
              <a:rPr lang="fr-FR" sz="2000" dirty="0">
                <a:latin typeface="Aptos" panose="020B0004020202020204" pitchFamily="34" charset="0"/>
              </a:rPr>
              <a:t>Rotation :1 fois/an</a:t>
            </a:r>
          </a:p>
          <a:p>
            <a:pPr marL="800100" lvl="1" indent="-342900">
              <a:buFont typeface="Arial" panose="020B0604020202020204" pitchFamily="34" charset="0"/>
              <a:buChar char="•"/>
            </a:pPr>
            <a:r>
              <a:rPr lang="fr-FR" sz="2000" dirty="0">
                <a:latin typeface="Aptos" panose="020B0004020202020204" pitchFamily="34" charset="0"/>
              </a:rPr>
              <a:t>Conséquence :150 millions immobilisés.</a:t>
            </a:r>
          </a:p>
          <a:p>
            <a:endParaRPr lang="fr-FR" sz="2000" dirty="0">
              <a:latin typeface="Aptos" panose="020B0004020202020204" pitchFamily="34" charset="0"/>
            </a:endParaRPr>
          </a:p>
          <a:p>
            <a:r>
              <a:rPr lang="fr-FR" sz="2000" b="1" dirty="0">
                <a:latin typeface="Aptos" panose="020B0004020202020204" pitchFamily="34" charset="0"/>
              </a:rPr>
              <a:t>Question</a:t>
            </a:r>
          </a:p>
          <a:p>
            <a:pPr marL="800100" lvl="1" indent="-342900">
              <a:buFont typeface="Arial" panose="020B0604020202020204" pitchFamily="34" charset="0"/>
              <a:buChar char="•"/>
            </a:pPr>
            <a:r>
              <a:rPr lang="fr-FR" sz="2000" dirty="0">
                <a:latin typeface="Aptos" panose="020B0004020202020204" pitchFamily="34" charset="0"/>
              </a:rPr>
              <a:t>Combien de liquidités pourraient être libérées en améliorant la rotation ?</a:t>
            </a:r>
          </a:p>
        </p:txBody>
      </p:sp>
    </p:spTree>
    <p:extLst>
      <p:ext uri="{BB962C8B-B14F-4D97-AF65-F5344CB8AC3E}">
        <p14:creationId xmlns:p14="http://schemas.microsoft.com/office/powerpoint/2010/main" val="2518884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 la trésorerie et du besoin en fonds de roulement (BFR)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Gestion des créances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4840935" cy="4093428"/>
          </a:xfrm>
          <a:prstGeom prst="rect">
            <a:avLst/>
          </a:prstGeom>
          <a:noFill/>
        </p:spPr>
        <p:txBody>
          <a:bodyPr wrap="square">
            <a:spAutoFit/>
          </a:bodyPr>
          <a:lstStyle/>
          <a:p>
            <a:r>
              <a:rPr lang="fr-FR" sz="2000" b="1" dirty="0">
                <a:latin typeface="Aptos" panose="020B0004020202020204" pitchFamily="34" charset="0"/>
              </a:rPr>
              <a:t>Définition</a:t>
            </a:r>
          </a:p>
          <a:p>
            <a:pPr marL="342900" indent="-342900">
              <a:buFont typeface="Arial" panose="020B0604020202020204" pitchFamily="34" charset="0"/>
              <a:buChar char="•"/>
            </a:pPr>
            <a:r>
              <a:rPr lang="fr-FR" sz="2000" dirty="0">
                <a:latin typeface="Aptos" panose="020B0004020202020204" pitchFamily="34" charset="0"/>
              </a:rPr>
              <a:t>Sommes dues à l’officine.</a:t>
            </a:r>
          </a:p>
          <a:p>
            <a:endParaRPr lang="fr-FR" sz="2000" dirty="0">
              <a:latin typeface="Aptos" panose="020B0004020202020204" pitchFamily="34" charset="0"/>
            </a:endParaRPr>
          </a:p>
          <a:p>
            <a:r>
              <a:rPr lang="fr-FR" sz="2000" b="1" dirty="0">
                <a:latin typeface="Aptos" panose="020B0004020202020204" pitchFamily="34" charset="0"/>
              </a:rPr>
              <a:t>Exemples</a:t>
            </a:r>
          </a:p>
          <a:p>
            <a:pPr marL="800100" lvl="1" indent="-342900">
              <a:buFont typeface="Arial" panose="020B0604020202020204" pitchFamily="34" charset="0"/>
              <a:buChar char="•"/>
            </a:pPr>
            <a:r>
              <a:rPr lang="fr-FR" sz="2000" dirty="0">
                <a:latin typeface="Aptos" panose="020B0004020202020204" pitchFamily="34" charset="0"/>
              </a:rPr>
              <a:t>Assurances</a:t>
            </a:r>
          </a:p>
          <a:p>
            <a:pPr marL="800100" lvl="1" indent="-342900">
              <a:buFont typeface="Arial" panose="020B0604020202020204" pitchFamily="34" charset="0"/>
              <a:buChar char="•"/>
            </a:pPr>
            <a:r>
              <a:rPr lang="fr-FR" sz="2000" dirty="0">
                <a:latin typeface="Aptos" panose="020B0004020202020204" pitchFamily="34" charset="0"/>
              </a:rPr>
              <a:t>Entreprises</a:t>
            </a:r>
          </a:p>
          <a:p>
            <a:pPr marL="800100" lvl="1" indent="-342900">
              <a:buFont typeface="Arial" panose="020B0604020202020204" pitchFamily="34" charset="0"/>
              <a:buChar char="•"/>
            </a:pPr>
            <a:r>
              <a:rPr lang="fr-FR" sz="2000" dirty="0">
                <a:latin typeface="Aptos" panose="020B0004020202020204" pitchFamily="34" charset="0"/>
              </a:rPr>
              <a:t>Mutuelles</a:t>
            </a:r>
          </a:p>
          <a:p>
            <a:pPr marL="800100" lvl="1" indent="-342900">
              <a:buFont typeface="Arial" panose="020B0604020202020204" pitchFamily="34" charset="0"/>
              <a:buChar char="•"/>
            </a:pPr>
            <a:r>
              <a:rPr lang="fr-FR" sz="2000" dirty="0">
                <a:latin typeface="Aptos" panose="020B0004020202020204" pitchFamily="34" charset="0"/>
              </a:rPr>
              <a:t>Institutions</a:t>
            </a:r>
          </a:p>
          <a:p>
            <a:endParaRPr lang="fr-FR" sz="2000" dirty="0">
              <a:latin typeface="Aptos" panose="020B0004020202020204" pitchFamily="34" charset="0"/>
            </a:endParaRPr>
          </a:p>
          <a:p>
            <a:r>
              <a:rPr lang="fr-FR" sz="2000" b="1" dirty="0">
                <a:latin typeface="Aptos" panose="020B0004020202020204" pitchFamily="34" charset="0"/>
              </a:rPr>
              <a:t>Risques</a:t>
            </a:r>
          </a:p>
          <a:p>
            <a:pPr marL="800100" lvl="1" indent="-342900">
              <a:buFont typeface="Arial" panose="020B0604020202020204" pitchFamily="34" charset="0"/>
              <a:buChar char="•"/>
            </a:pPr>
            <a:r>
              <a:rPr lang="fr-FR" sz="2000" dirty="0">
                <a:latin typeface="Aptos" panose="020B0004020202020204" pitchFamily="34" charset="0"/>
              </a:rPr>
              <a:t>Retards de paiement</a:t>
            </a:r>
          </a:p>
          <a:p>
            <a:pPr marL="800100" lvl="1" indent="-342900">
              <a:buFont typeface="Arial" panose="020B0604020202020204" pitchFamily="34" charset="0"/>
              <a:buChar char="•"/>
            </a:pPr>
            <a:r>
              <a:rPr lang="fr-FR" sz="2000" dirty="0">
                <a:latin typeface="Aptos" panose="020B0004020202020204" pitchFamily="34" charset="0"/>
              </a:rPr>
              <a:t>Impayés</a:t>
            </a:r>
          </a:p>
          <a:p>
            <a:pPr marL="800100" lvl="1" indent="-342900">
              <a:buFont typeface="Arial" panose="020B0604020202020204" pitchFamily="34" charset="0"/>
              <a:buChar char="•"/>
            </a:pPr>
            <a:r>
              <a:rPr lang="fr-FR" sz="2000" dirty="0">
                <a:latin typeface="Aptos" panose="020B0004020202020204" pitchFamily="34" charset="0"/>
              </a:rPr>
              <a:t>Difficultés de recouvrement</a:t>
            </a:r>
          </a:p>
        </p:txBody>
      </p:sp>
      <p:sp>
        <p:nvSpPr>
          <p:cNvPr id="10" name="ZoneTexte 9">
            <a:extLst>
              <a:ext uri="{FF2B5EF4-FFF2-40B4-BE49-F238E27FC236}">
                <a16:creationId xmlns:a16="http://schemas.microsoft.com/office/drawing/2014/main" id="{64ACB706-3B28-4486-91C1-6CC283380A9A}"/>
              </a:ext>
            </a:extLst>
          </p:cNvPr>
          <p:cNvSpPr txBox="1"/>
          <p:nvPr/>
        </p:nvSpPr>
        <p:spPr>
          <a:xfrm>
            <a:off x="7086000" y="3304600"/>
            <a:ext cx="4084324" cy="1631216"/>
          </a:xfrm>
          <a:prstGeom prst="rect">
            <a:avLst/>
          </a:prstGeom>
          <a:noFill/>
        </p:spPr>
        <p:txBody>
          <a:bodyPr wrap="square">
            <a:spAutoFit/>
          </a:bodyPr>
          <a:lstStyle/>
          <a:p>
            <a:r>
              <a:rPr lang="fr-FR" sz="2000" b="1" dirty="0">
                <a:latin typeface="Aptos" panose="020B0004020202020204" pitchFamily="34" charset="0"/>
              </a:rPr>
              <a:t>Bonnes pratiques</a:t>
            </a:r>
          </a:p>
          <a:p>
            <a:pPr marL="800100" lvl="1" indent="-342900">
              <a:buFont typeface="Arial" panose="020B0604020202020204" pitchFamily="34" charset="0"/>
              <a:buChar char="•"/>
            </a:pPr>
            <a:r>
              <a:rPr lang="fr-FR" sz="2000" dirty="0">
                <a:latin typeface="Aptos" panose="020B0004020202020204" pitchFamily="34" charset="0"/>
              </a:rPr>
              <a:t>Contrats écrits</a:t>
            </a:r>
          </a:p>
          <a:p>
            <a:pPr marL="800100" lvl="1" indent="-342900">
              <a:buFont typeface="Arial" panose="020B0604020202020204" pitchFamily="34" charset="0"/>
              <a:buChar char="•"/>
            </a:pPr>
            <a:r>
              <a:rPr lang="fr-FR" sz="2000" dirty="0">
                <a:latin typeface="Aptos" panose="020B0004020202020204" pitchFamily="34" charset="0"/>
              </a:rPr>
              <a:t>Délais définis</a:t>
            </a:r>
          </a:p>
          <a:p>
            <a:pPr marL="800100" lvl="1" indent="-342900">
              <a:buFont typeface="Arial" panose="020B0604020202020204" pitchFamily="34" charset="0"/>
              <a:buChar char="•"/>
            </a:pPr>
            <a:r>
              <a:rPr lang="fr-FR" sz="2000" dirty="0">
                <a:latin typeface="Aptos" panose="020B0004020202020204" pitchFamily="34" charset="0"/>
              </a:rPr>
              <a:t>Relances systématiques</a:t>
            </a:r>
          </a:p>
          <a:p>
            <a:pPr marL="800100" lvl="1" indent="-342900">
              <a:buFont typeface="Arial" panose="020B0604020202020204" pitchFamily="34" charset="0"/>
              <a:buChar char="•"/>
            </a:pPr>
            <a:r>
              <a:rPr lang="fr-FR" sz="2000" dirty="0">
                <a:latin typeface="Aptos" panose="020B0004020202020204" pitchFamily="34" charset="0"/>
              </a:rPr>
              <a:t>Suivi mensuel</a:t>
            </a:r>
            <a:endParaRPr lang="fr-FR" sz="2000" dirty="0"/>
          </a:p>
        </p:txBody>
      </p:sp>
    </p:spTree>
    <p:extLst>
      <p:ext uri="{BB962C8B-B14F-4D97-AF65-F5344CB8AC3E}">
        <p14:creationId xmlns:p14="http://schemas.microsoft.com/office/powerpoint/2010/main" val="42581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 la trésorerie et du besoin en fonds de roulement (BFR)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Gestion des dettes fournisseurs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5626244" cy="3785652"/>
          </a:xfrm>
          <a:prstGeom prst="rect">
            <a:avLst/>
          </a:prstGeom>
          <a:noFill/>
        </p:spPr>
        <p:txBody>
          <a:bodyPr wrap="square">
            <a:spAutoFit/>
          </a:bodyPr>
          <a:lstStyle/>
          <a:p>
            <a:r>
              <a:rPr lang="fr-FR" sz="2000" b="1" dirty="0">
                <a:latin typeface="Aptos" panose="020B0004020202020204" pitchFamily="34" charset="0"/>
              </a:rPr>
              <a:t>Pourquoi les dettes fournisseurs sont utiles ?</a:t>
            </a:r>
          </a:p>
          <a:p>
            <a:pPr marL="800100" lvl="1" indent="-342900">
              <a:buFont typeface="Arial" panose="020B0604020202020204" pitchFamily="34" charset="0"/>
              <a:buChar char="•"/>
            </a:pPr>
            <a:r>
              <a:rPr lang="fr-FR" sz="2000" dirty="0">
                <a:latin typeface="Aptos" panose="020B0004020202020204" pitchFamily="34" charset="0"/>
              </a:rPr>
              <a:t>Elles financent une partie du cycle d'exploitation.</a:t>
            </a:r>
          </a:p>
          <a:p>
            <a:endParaRPr lang="fr-FR" sz="2000" dirty="0">
              <a:latin typeface="Aptos" panose="020B0004020202020204" pitchFamily="34" charset="0"/>
            </a:endParaRPr>
          </a:p>
          <a:p>
            <a:r>
              <a:rPr lang="fr-FR" sz="2000" b="1" dirty="0">
                <a:latin typeface="Aptos" panose="020B0004020202020204" pitchFamily="34" charset="0"/>
              </a:rPr>
              <a:t>Attention</a:t>
            </a:r>
          </a:p>
          <a:p>
            <a:pPr marL="800100" lvl="1" indent="-342900">
              <a:buFont typeface="Arial" panose="020B0604020202020204" pitchFamily="34" charset="0"/>
              <a:buChar char="•"/>
            </a:pPr>
            <a:r>
              <a:rPr lang="fr-FR" sz="2000" dirty="0">
                <a:latin typeface="Aptos" panose="020B0004020202020204" pitchFamily="34" charset="0"/>
              </a:rPr>
              <a:t>Une dette fournisseur :n'est pas une ressource permanente.</a:t>
            </a:r>
          </a:p>
          <a:p>
            <a:endParaRPr lang="fr-FR" sz="2000" dirty="0">
              <a:latin typeface="Aptos" panose="020B0004020202020204" pitchFamily="34" charset="0"/>
            </a:endParaRPr>
          </a:p>
          <a:p>
            <a:r>
              <a:rPr lang="fr-FR" sz="2000" b="1" dirty="0">
                <a:latin typeface="Aptos" panose="020B0004020202020204" pitchFamily="34" charset="0"/>
              </a:rPr>
              <a:t>Risques</a:t>
            </a:r>
          </a:p>
          <a:p>
            <a:pPr marL="800100" lvl="1" indent="-342900">
              <a:buFont typeface="Arial" panose="020B0604020202020204" pitchFamily="34" charset="0"/>
              <a:buChar char="•"/>
            </a:pPr>
            <a:r>
              <a:rPr lang="fr-FR" sz="2000" dirty="0">
                <a:latin typeface="Aptos" panose="020B0004020202020204" pitchFamily="34" charset="0"/>
              </a:rPr>
              <a:t>Suspension des livraisons</a:t>
            </a:r>
          </a:p>
          <a:p>
            <a:pPr marL="800100" lvl="1" indent="-342900">
              <a:buFont typeface="Arial" panose="020B0604020202020204" pitchFamily="34" charset="0"/>
              <a:buChar char="•"/>
            </a:pPr>
            <a:r>
              <a:rPr lang="fr-FR" sz="2000" dirty="0">
                <a:latin typeface="Aptos" panose="020B0004020202020204" pitchFamily="34" charset="0"/>
              </a:rPr>
              <a:t>Pénalités</a:t>
            </a:r>
          </a:p>
          <a:p>
            <a:pPr marL="800100" lvl="1" indent="-342900">
              <a:buFont typeface="Arial" panose="020B0604020202020204" pitchFamily="34" charset="0"/>
              <a:buChar char="•"/>
            </a:pPr>
            <a:r>
              <a:rPr lang="fr-FR" sz="2000" dirty="0">
                <a:latin typeface="Aptos" panose="020B0004020202020204" pitchFamily="34" charset="0"/>
              </a:rPr>
              <a:t>Perte de confiance</a:t>
            </a:r>
          </a:p>
        </p:txBody>
      </p:sp>
      <p:sp>
        <p:nvSpPr>
          <p:cNvPr id="10" name="ZoneTexte 9">
            <a:extLst>
              <a:ext uri="{FF2B5EF4-FFF2-40B4-BE49-F238E27FC236}">
                <a16:creationId xmlns:a16="http://schemas.microsoft.com/office/drawing/2014/main" id="{64ACB706-3B28-4486-91C1-6CC283380A9A}"/>
              </a:ext>
            </a:extLst>
          </p:cNvPr>
          <p:cNvSpPr txBox="1"/>
          <p:nvPr/>
        </p:nvSpPr>
        <p:spPr>
          <a:xfrm>
            <a:off x="7086000" y="3304600"/>
            <a:ext cx="4084324" cy="1323439"/>
          </a:xfrm>
          <a:prstGeom prst="rect">
            <a:avLst/>
          </a:prstGeom>
          <a:noFill/>
        </p:spPr>
        <p:txBody>
          <a:bodyPr wrap="square">
            <a:spAutoFit/>
          </a:bodyPr>
          <a:lstStyle/>
          <a:p>
            <a:r>
              <a:rPr lang="fr-FR" sz="2000" b="1" dirty="0">
                <a:latin typeface="Aptos" panose="020B0004020202020204" pitchFamily="34" charset="0"/>
              </a:rPr>
              <a:t>Bonnes pratiques</a:t>
            </a:r>
          </a:p>
          <a:p>
            <a:pPr marL="800100" lvl="1" indent="-342900">
              <a:buFont typeface="Arial" panose="020B0604020202020204" pitchFamily="34" charset="0"/>
              <a:buChar char="•"/>
            </a:pPr>
            <a:r>
              <a:rPr lang="fr-FR" sz="2000" dirty="0">
                <a:latin typeface="Aptos" panose="020B0004020202020204" pitchFamily="34" charset="0"/>
              </a:rPr>
              <a:t>Respect des échéances</a:t>
            </a:r>
          </a:p>
          <a:p>
            <a:pPr marL="800100" lvl="1" indent="-342900">
              <a:buFont typeface="Arial" panose="020B0604020202020204" pitchFamily="34" charset="0"/>
              <a:buChar char="•"/>
            </a:pPr>
            <a:r>
              <a:rPr lang="fr-FR" sz="2000" dirty="0">
                <a:latin typeface="Aptos" panose="020B0004020202020204" pitchFamily="34" charset="0"/>
              </a:rPr>
              <a:t>Négociation des délais</a:t>
            </a:r>
          </a:p>
          <a:p>
            <a:pPr marL="800100" lvl="1" indent="-342900">
              <a:buFont typeface="Arial" panose="020B0604020202020204" pitchFamily="34" charset="0"/>
              <a:buChar char="•"/>
            </a:pPr>
            <a:r>
              <a:rPr lang="fr-FR" sz="2000" dirty="0">
                <a:latin typeface="Aptos" panose="020B0004020202020204" pitchFamily="34" charset="0"/>
              </a:rPr>
              <a:t>Priorisation des paiements</a:t>
            </a:r>
            <a:endParaRPr lang="fr-FR" sz="2000" dirty="0"/>
          </a:p>
        </p:txBody>
      </p:sp>
    </p:spTree>
    <p:extLst>
      <p:ext uri="{BB962C8B-B14F-4D97-AF65-F5344CB8AC3E}">
        <p14:creationId xmlns:p14="http://schemas.microsoft.com/office/powerpoint/2010/main" val="3089663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 la trésorerie et du besoin en fonds de roulement (BFR)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plan de trésorerie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0" y="2073494"/>
            <a:ext cx="11100601" cy="4401205"/>
          </a:xfrm>
          <a:prstGeom prst="rect">
            <a:avLst/>
          </a:prstGeom>
          <a:noFill/>
        </p:spPr>
        <p:txBody>
          <a:bodyPr wrap="square">
            <a:spAutoFit/>
          </a:bodyPr>
          <a:lstStyle/>
          <a:p>
            <a:r>
              <a:rPr lang="fr-FR" sz="2000" b="1" dirty="0">
                <a:latin typeface="Aptos" panose="020B0004020202020204" pitchFamily="34" charset="0"/>
              </a:rPr>
              <a:t>Définition</a:t>
            </a:r>
            <a:r>
              <a:rPr lang="fr-FR" sz="2000" dirty="0">
                <a:latin typeface="Aptos" panose="020B0004020202020204" pitchFamily="34" charset="0"/>
              </a:rPr>
              <a:t> : Prévision des entrées et sorties de liquidités. Il permet d’anticiper les difficultés.</a:t>
            </a:r>
          </a:p>
          <a:p>
            <a:endParaRPr lang="fr-FR" sz="2000" dirty="0">
              <a:latin typeface="Aptos" panose="020B0004020202020204" pitchFamily="34" charset="0"/>
            </a:endParaRPr>
          </a:p>
          <a:p>
            <a:r>
              <a:rPr lang="fr-FR" sz="2000" b="1" dirty="0">
                <a:latin typeface="Aptos" panose="020B0004020202020204" pitchFamily="34" charset="0"/>
              </a:rPr>
              <a:t>Structure</a:t>
            </a:r>
          </a:p>
          <a:p>
            <a:pPr marL="800100" lvl="1" indent="-342900">
              <a:buFont typeface="Arial" panose="020B0604020202020204" pitchFamily="34" charset="0"/>
              <a:buChar char="•"/>
            </a:pPr>
            <a:r>
              <a:rPr lang="fr-FR" sz="2000" b="1" dirty="0">
                <a:latin typeface="Aptos" panose="020B0004020202020204" pitchFamily="34" charset="0"/>
              </a:rPr>
              <a:t>Encaissements</a:t>
            </a:r>
          </a:p>
          <a:p>
            <a:pPr marL="1257300" lvl="2" indent="-342900">
              <a:buFont typeface="Courier New" panose="02070309020205020404" pitchFamily="49" charset="0"/>
              <a:buChar char="o"/>
            </a:pPr>
            <a:r>
              <a:rPr lang="fr-FR" sz="2000" dirty="0">
                <a:latin typeface="Aptos" panose="020B0004020202020204" pitchFamily="34" charset="0"/>
              </a:rPr>
              <a:t>Ventes comptant</a:t>
            </a:r>
          </a:p>
          <a:p>
            <a:pPr marL="1257300" lvl="2" indent="-342900">
              <a:buFont typeface="Courier New" panose="02070309020205020404" pitchFamily="49" charset="0"/>
              <a:buChar char="o"/>
            </a:pPr>
            <a:r>
              <a:rPr lang="fr-FR" sz="2000" dirty="0">
                <a:latin typeface="Aptos" panose="020B0004020202020204" pitchFamily="34" charset="0"/>
              </a:rPr>
              <a:t>Recouvrements</a:t>
            </a:r>
          </a:p>
          <a:p>
            <a:pPr marL="1257300" lvl="2" indent="-342900">
              <a:buFont typeface="Courier New" panose="02070309020205020404" pitchFamily="49" charset="0"/>
              <a:buChar char="o"/>
            </a:pPr>
            <a:r>
              <a:rPr lang="fr-FR" sz="2000" dirty="0">
                <a:latin typeface="Aptos" panose="020B0004020202020204" pitchFamily="34" charset="0"/>
              </a:rPr>
              <a:t>Financements</a:t>
            </a:r>
          </a:p>
          <a:p>
            <a:pPr marL="1257300" lvl="2" indent="-342900">
              <a:buFont typeface="Courier New" panose="02070309020205020404" pitchFamily="49" charset="0"/>
              <a:buChar char="o"/>
            </a:pPr>
            <a:endParaRPr lang="fr-FR" sz="2000" dirty="0">
              <a:latin typeface="Aptos" panose="020B0004020202020204" pitchFamily="34" charset="0"/>
            </a:endParaRPr>
          </a:p>
          <a:p>
            <a:pPr marL="800100" lvl="1" indent="-342900">
              <a:buFont typeface="Arial" panose="020B0604020202020204" pitchFamily="34" charset="0"/>
              <a:buChar char="•"/>
            </a:pPr>
            <a:r>
              <a:rPr lang="fr-FR" sz="2000" b="1" dirty="0">
                <a:latin typeface="Aptos" panose="020B0004020202020204" pitchFamily="34" charset="0"/>
              </a:rPr>
              <a:t>Décaissements</a:t>
            </a:r>
          </a:p>
          <a:p>
            <a:pPr marL="1257300" lvl="2" indent="-342900">
              <a:buFont typeface="Courier New" panose="02070309020205020404" pitchFamily="49" charset="0"/>
              <a:buChar char="o"/>
            </a:pPr>
            <a:r>
              <a:rPr lang="fr-FR" sz="2000" dirty="0">
                <a:latin typeface="Aptos" panose="020B0004020202020204" pitchFamily="34" charset="0"/>
              </a:rPr>
              <a:t>Fournisseurs</a:t>
            </a:r>
          </a:p>
          <a:p>
            <a:pPr marL="1257300" lvl="2" indent="-342900">
              <a:buFont typeface="Courier New" panose="02070309020205020404" pitchFamily="49" charset="0"/>
              <a:buChar char="o"/>
            </a:pPr>
            <a:r>
              <a:rPr lang="fr-FR" sz="2000" dirty="0">
                <a:latin typeface="Aptos" panose="020B0004020202020204" pitchFamily="34" charset="0"/>
              </a:rPr>
              <a:t>Salaires</a:t>
            </a:r>
          </a:p>
          <a:p>
            <a:pPr marL="1257300" lvl="2" indent="-342900">
              <a:buFont typeface="Courier New" panose="02070309020205020404" pitchFamily="49" charset="0"/>
              <a:buChar char="o"/>
            </a:pPr>
            <a:r>
              <a:rPr lang="fr-FR" sz="2000" dirty="0">
                <a:latin typeface="Aptos" panose="020B0004020202020204" pitchFamily="34" charset="0"/>
              </a:rPr>
              <a:t>Charges</a:t>
            </a:r>
          </a:p>
          <a:p>
            <a:pPr marL="1257300" lvl="2" indent="-342900">
              <a:buFont typeface="Courier New" panose="02070309020205020404" pitchFamily="49" charset="0"/>
              <a:buChar char="o"/>
            </a:pPr>
            <a:r>
              <a:rPr lang="fr-FR" sz="2000" dirty="0">
                <a:latin typeface="Aptos" panose="020B0004020202020204" pitchFamily="34" charset="0"/>
              </a:rPr>
              <a:t>Impôts</a:t>
            </a:r>
          </a:p>
          <a:p>
            <a:pPr marL="1257300" lvl="2" indent="-342900">
              <a:buFont typeface="Courier New" panose="02070309020205020404" pitchFamily="49" charset="0"/>
              <a:buChar char="o"/>
            </a:pPr>
            <a:r>
              <a:rPr lang="fr-FR" sz="2000" dirty="0">
                <a:latin typeface="Aptos" panose="020B0004020202020204" pitchFamily="34" charset="0"/>
              </a:rPr>
              <a:t>Investissements</a:t>
            </a:r>
          </a:p>
        </p:txBody>
      </p:sp>
    </p:spTree>
    <p:extLst>
      <p:ext uri="{BB962C8B-B14F-4D97-AF65-F5344CB8AC3E}">
        <p14:creationId xmlns:p14="http://schemas.microsoft.com/office/powerpoint/2010/main" val="1351431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 la trésorerie et du besoin en fonds de roulement (BFR)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Indicateurs de trésorerie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0" y="2073494"/>
            <a:ext cx="11100601" cy="2246769"/>
          </a:xfrm>
          <a:prstGeom prst="rect">
            <a:avLst/>
          </a:prstGeom>
          <a:noFill/>
        </p:spPr>
        <p:txBody>
          <a:bodyPr wrap="square">
            <a:spAutoFit/>
          </a:bodyPr>
          <a:lstStyle/>
          <a:p>
            <a:r>
              <a:rPr lang="fr-FR" sz="2000" b="1" dirty="0">
                <a:latin typeface="Aptos" panose="020B0004020202020204" pitchFamily="34" charset="0"/>
              </a:rPr>
              <a:t>KPI essentiels</a:t>
            </a:r>
          </a:p>
          <a:p>
            <a:pPr marL="800100" lvl="1" indent="-342900">
              <a:buFont typeface="Arial" panose="020B0604020202020204" pitchFamily="34" charset="0"/>
              <a:buChar char="•"/>
            </a:pPr>
            <a:r>
              <a:rPr lang="fr-FR" sz="2000" dirty="0">
                <a:latin typeface="Aptos" panose="020B0004020202020204" pitchFamily="34" charset="0"/>
              </a:rPr>
              <a:t>Trésorerie disponible</a:t>
            </a:r>
          </a:p>
          <a:p>
            <a:pPr marL="800100" lvl="1" indent="-342900">
              <a:buFont typeface="Arial" panose="020B0604020202020204" pitchFamily="34" charset="0"/>
              <a:buChar char="•"/>
            </a:pPr>
            <a:r>
              <a:rPr lang="fr-FR" sz="2000" dirty="0">
                <a:latin typeface="Aptos" panose="020B0004020202020204" pitchFamily="34" charset="0"/>
              </a:rPr>
              <a:t>BFR</a:t>
            </a:r>
          </a:p>
          <a:p>
            <a:pPr marL="800100" lvl="1" indent="-342900">
              <a:buFont typeface="Arial" panose="020B0604020202020204" pitchFamily="34" charset="0"/>
              <a:buChar char="•"/>
            </a:pPr>
            <a:r>
              <a:rPr lang="fr-FR" sz="2000" dirty="0">
                <a:latin typeface="Aptos" panose="020B0004020202020204" pitchFamily="34" charset="0"/>
              </a:rPr>
              <a:t>Couverture des charges</a:t>
            </a:r>
          </a:p>
          <a:p>
            <a:pPr marL="800100" lvl="1" indent="-342900">
              <a:buFont typeface="Arial" panose="020B0604020202020204" pitchFamily="34" charset="0"/>
              <a:buChar char="•"/>
            </a:pPr>
            <a:r>
              <a:rPr lang="fr-FR" sz="2000" dirty="0">
                <a:latin typeface="Aptos" panose="020B0004020202020204" pitchFamily="34" charset="0"/>
              </a:rPr>
              <a:t>Délai moyen de paiement clients</a:t>
            </a:r>
          </a:p>
          <a:p>
            <a:pPr marL="800100" lvl="1" indent="-342900">
              <a:buFont typeface="Arial" panose="020B0604020202020204" pitchFamily="34" charset="0"/>
              <a:buChar char="•"/>
            </a:pPr>
            <a:r>
              <a:rPr lang="fr-FR" sz="2000" dirty="0">
                <a:latin typeface="Aptos" panose="020B0004020202020204" pitchFamily="34" charset="0"/>
              </a:rPr>
              <a:t>Délai moyen de paiement fournisseurs</a:t>
            </a:r>
          </a:p>
          <a:p>
            <a:pPr marL="800100" lvl="1" indent="-342900">
              <a:buFont typeface="Arial" panose="020B0604020202020204" pitchFamily="34" charset="0"/>
              <a:buChar char="•"/>
            </a:pPr>
            <a:r>
              <a:rPr lang="fr-FR" sz="2000" dirty="0">
                <a:latin typeface="Aptos" panose="020B0004020202020204" pitchFamily="34" charset="0"/>
              </a:rPr>
              <a:t>Rotation du stock</a:t>
            </a:r>
          </a:p>
        </p:txBody>
      </p:sp>
    </p:spTree>
    <p:extLst>
      <p:ext uri="{BB962C8B-B14F-4D97-AF65-F5344CB8AC3E}">
        <p14:creationId xmlns:p14="http://schemas.microsoft.com/office/powerpoint/2010/main" val="1609710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 la trésorerie et du besoin en fonds de roulement (BFR)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Stratégies d’optimisation de la trésorerie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0" y="2073494"/>
            <a:ext cx="11100601" cy="2246769"/>
          </a:xfrm>
          <a:prstGeom prst="rect">
            <a:avLst/>
          </a:prstGeom>
          <a:noFill/>
        </p:spPr>
        <p:txBody>
          <a:bodyPr wrap="square">
            <a:spAutoFit/>
          </a:bodyPr>
          <a:lstStyle/>
          <a:p>
            <a:pPr marL="457200" indent="-457200">
              <a:buAutoNum type="arabicPeriod"/>
            </a:pPr>
            <a:r>
              <a:rPr lang="fr-FR" sz="2000" dirty="0">
                <a:latin typeface="Aptos" panose="020B0004020202020204" pitchFamily="34" charset="0"/>
              </a:rPr>
              <a:t>Réduire le surstockage</a:t>
            </a:r>
          </a:p>
          <a:p>
            <a:pPr marL="457200" indent="-457200">
              <a:buAutoNum type="arabicPeriod"/>
            </a:pPr>
            <a:r>
              <a:rPr lang="fr-FR" sz="2000" dirty="0">
                <a:latin typeface="Aptos" panose="020B0004020202020204" pitchFamily="34" charset="0"/>
              </a:rPr>
              <a:t>Accélérer le recouvrement</a:t>
            </a:r>
          </a:p>
          <a:p>
            <a:pPr marL="457200" indent="-457200">
              <a:buAutoNum type="arabicPeriod"/>
            </a:pPr>
            <a:r>
              <a:rPr lang="fr-FR" sz="2000" dirty="0">
                <a:latin typeface="Aptos" panose="020B0004020202020204" pitchFamily="34" charset="0"/>
              </a:rPr>
              <a:t>Optimiser les achats</a:t>
            </a:r>
          </a:p>
          <a:p>
            <a:pPr marL="457200" indent="-457200">
              <a:buAutoNum type="arabicPeriod"/>
            </a:pPr>
            <a:r>
              <a:rPr lang="fr-FR" sz="2000" dirty="0">
                <a:latin typeface="Aptos" panose="020B0004020202020204" pitchFamily="34" charset="0"/>
              </a:rPr>
              <a:t>Réduire les périmés</a:t>
            </a:r>
          </a:p>
          <a:p>
            <a:pPr marL="457200" indent="-457200">
              <a:buAutoNum type="arabicPeriod"/>
            </a:pPr>
            <a:r>
              <a:rPr lang="fr-FR" sz="2000" dirty="0">
                <a:latin typeface="Aptos" panose="020B0004020202020204" pitchFamily="34" charset="0"/>
              </a:rPr>
              <a:t>Négocier les délais fournisseurs</a:t>
            </a:r>
          </a:p>
          <a:p>
            <a:pPr marL="457200" indent="-457200">
              <a:buAutoNum type="arabicPeriod"/>
            </a:pPr>
            <a:r>
              <a:rPr lang="fr-FR" sz="2000" dirty="0">
                <a:latin typeface="Aptos" panose="020B0004020202020204" pitchFamily="34" charset="0"/>
              </a:rPr>
              <a:t>Améliorer la rotation</a:t>
            </a:r>
          </a:p>
          <a:p>
            <a:pPr marL="457200" indent="-457200">
              <a:buAutoNum type="arabicPeriod"/>
            </a:pPr>
            <a:r>
              <a:rPr lang="fr-FR" sz="2000" dirty="0">
                <a:latin typeface="Aptos" panose="020B0004020202020204" pitchFamily="34" charset="0"/>
              </a:rPr>
              <a:t>Prévoir les besoins de trésorerie</a:t>
            </a:r>
          </a:p>
        </p:txBody>
      </p:sp>
      <p:sp>
        <p:nvSpPr>
          <p:cNvPr id="10" name="ZoneTexte 9">
            <a:extLst>
              <a:ext uri="{FF2B5EF4-FFF2-40B4-BE49-F238E27FC236}">
                <a16:creationId xmlns:a16="http://schemas.microsoft.com/office/drawing/2014/main" id="{AD6FC136-E87E-4A76-944C-5785D94554F8}"/>
              </a:ext>
            </a:extLst>
          </p:cNvPr>
          <p:cNvSpPr txBox="1"/>
          <p:nvPr/>
        </p:nvSpPr>
        <p:spPr>
          <a:xfrm>
            <a:off x="5743299" y="3763455"/>
            <a:ext cx="6110342" cy="2554545"/>
          </a:xfrm>
          <a:prstGeom prst="rect">
            <a:avLst/>
          </a:prstGeom>
          <a:noFill/>
        </p:spPr>
        <p:txBody>
          <a:bodyPr wrap="square">
            <a:spAutoFit/>
          </a:bodyPr>
          <a:lstStyle/>
          <a:p>
            <a:r>
              <a:rPr lang="fr-FR" sz="2000" b="1" dirty="0">
                <a:latin typeface="Aptos" panose="020B0004020202020204" pitchFamily="34" charset="0"/>
              </a:rPr>
              <a:t>Cas pratique</a:t>
            </a:r>
          </a:p>
          <a:p>
            <a:r>
              <a:rPr lang="fr-FR" sz="2000" dirty="0">
                <a:latin typeface="Aptos" panose="020B0004020202020204" pitchFamily="34" charset="0"/>
              </a:rPr>
              <a:t>Une officine :</a:t>
            </a:r>
          </a:p>
          <a:p>
            <a:pPr marL="800100" lvl="1" indent="-342900">
              <a:buFont typeface="Arial" panose="020B0604020202020204" pitchFamily="34" charset="0"/>
              <a:buChar char="•"/>
            </a:pPr>
            <a:r>
              <a:rPr lang="fr-FR" sz="2000" dirty="0">
                <a:latin typeface="Aptos" panose="020B0004020202020204" pitchFamily="34" charset="0"/>
              </a:rPr>
              <a:t>CA annuel : 400 millions FCFA ;</a:t>
            </a:r>
          </a:p>
          <a:p>
            <a:pPr marL="800100" lvl="1" indent="-342900">
              <a:buFont typeface="Arial" panose="020B0604020202020204" pitchFamily="34" charset="0"/>
              <a:buChar char="•"/>
            </a:pPr>
            <a:r>
              <a:rPr lang="fr-FR" sz="2000" dirty="0">
                <a:latin typeface="Aptos" panose="020B0004020202020204" pitchFamily="34" charset="0"/>
              </a:rPr>
              <a:t>bénéfice : 30 millions FCFA ;</a:t>
            </a:r>
          </a:p>
          <a:p>
            <a:pPr marL="800100" lvl="1" indent="-342900">
              <a:buFont typeface="Arial" panose="020B0604020202020204" pitchFamily="34" charset="0"/>
              <a:buChar char="•"/>
            </a:pPr>
            <a:r>
              <a:rPr lang="fr-FR" sz="2000" dirty="0">
                <a:latin typeface="Aptos" panose="020B0004020202020204" pitchFamily="34" charset="0"/>
              </a:rPr>
              <a:t>trésorerie : 1 million FCFA ;</a:t>
            </a:r>
          </a:p>
          <a:p>
            <a:pPr marL="800100" lvl="1" indent="-342900">
              <a:buFont typeface="Arial" panose="020B0604020202020204" pitchFamily="34" charset="0"/>
              <a:buChar char="•"/>
            </a:pPr>
            <a:r>
              <a:rPr lang="fr-FR" sz="2000" dirty="0">
                <a:latin typeface="Aptos" panose="020B0004020202020204" pitchFamily="34" charset="0"/>
              </a:rPr>
              <a:t>stock : 140 millions FCFA.</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Question</a:t>
            </a:r>
            <a:r>
              <a:rPr lang="fr-FR" sz="2000" dirty="0">
                <a:latin typeface="Aptos" panose="020B0004020202020204" pitchFamily="34" charset="0"/>
              </a:rPr>
              <a:t> : Pourquoi manque-t-elle de liquidités ?</a:t>
            </a:r>
          </a:p>
        </p:txBody>
      </p:sp>
    </p:spTree>
    <p:extLst>
      <p:ext uri="{BB962C8B-B14F-4D97-AF65-F5344CB8AC3E}">
        <p14:creationId xmlns:p14="http://schemas.microsoft.com/office/powerpoint/2010/main" val="739679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 la trésorerie et du besoin en fonds de roulement (BFR)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Gestion des crises de trésorerie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0" y="2073494"/>
            <a:ext cx="11100601" cy="3785652"/>
          </a:xfrm>
          <a:prstGeom prst="rect">
            <a:avLst/>
          </a:prstGeom>
          <a:noFill/>
        </p:spPr>
        <p:txBody>
          <a:bodyPr wrap="square">
            <a:spAutoFit/>
          </a:bodyPr>
          <a:lstStyle/>
          <a:p>
            <a:r>
              <a:rPr lang="fr-FR" sz="2000" b="1" dirty="0">
                <a:latin typeface="Aptos" panose="020B0004020202020204" pitchFamily="34" charset="0"/>
              </a:rPr>
              <a:t>Signaux d’alerte : </a:t>
            </a:r>
          </a:p>
          <a:p>
            <a:pPr marL="800100" lvl="1" indent="-342900">
              <a:buFont typeface="Arial" panose="020B0604020202020204" pitchFamily="34" charset="0"/>
              <a:buChar char="•"/>
            </a:pPr>
            <a:r>
              <a:rPr lang="fr-FR" sz="2000" dirty="0">
                <a:latin typeface="Aptos" panose="020B0004020202020204" pitchFamily="34" charset="0"/>
              </a:rPr>
              <a:t>Retards fournisseurs</a:t>
            </a:r>
          </a:p>
          <a:p>
            <a:pPr marL="800100" lvl="1" indent="-342900">
              <a:buFont typeface="Arial" panose="020B0604020202020204" pitchFamily="34" charset="0"/>
              <a:buChar char="•"/>
            </a:pPr>
            <a:r>
              <a:rPr lang="fr-FR" sz="2000" dirty="0">
                <a:latin typeface="Aptos" panose="020B0004020202020204" pitchFamily="34" charset="0"/>
              </a:rPr>
              <a:t>Salaires difficiles à payer</a:t>
            </a:r>
          </a:p>
          <a:p>
            <a:pPr marL="800100" lvl="1" indent="-342900">
              <a:buFont typeface="Arial" panose="020B0604020202020204" pitchFamily="34" charset="0"/>
              <a:buChar char="•"/>
            </a:pPr>
            <a:r>
              <a:rPr lang="fr-FR" sz="2000" dirty="0">
                <a:latin typeface="Aptos" panose="020B0004020202020204" pitchFamily="34" charset="0"/>
              </a:rPr>
              <a:t>Découverts bancaires fréquents</a:t>
            </a:r>
          </a:p>
          <a:p>
            <a:pPr marL="800100" lvl="1" indent="-342900">
              <a:buFont typeface="Arial" panose="020B0604020202020204" pitchFamily="34" charset="0"/>
              <a:buChar char="•"/>
            </a:pPr>
            <a:r>
              <a:rPr lang="fr-FR" sz="2000" dirty="0">
                <a:latin typeface="Aptos" panose="020B0004020202020204" pitchFamily="34" charset="0"/>
              </a:rPr>
              <a:t>Ruptures malgré un stock élevé</a:t>
            </a:r>
          </a:p>
          <a:p>
            <a:endParaRPr lang="fr-FR" sz="2000" dirty="0">
              <a:latin typeface="Aptos" panose="020B0004020202020204" pitchFamily="34" charset="0"/>
            </a:endParaRPr>
          </a:p>
          <a:p>
            <a:r>
              <a:rPr lang="fr-FR" sz="2000" b="1" dirty="0">
                <a:latin typeface="Aptos" panose="020B0004020202020204" pitchFamily="34" charset="0"/>
              </a:rPr>
              <a:t>Actions immédiates :</a:t>
            </a:r>
          </a:p>
          <a:p>
            <a:pPr marL="800100" lvl="1" indent="-342900">
              <a:buFont typeface="Arial" panose="020B0604020202020204" pitchFamily="34" charset="0"/>
              <a:buChar char="•"/>
            </a:pPr>
            <a:r>
              <a:rPr lang="fr-FR" sz="2000" dirty="0">
                <a:latin typeface="Aptos" panose="020B0004020202020204" pitchFamily="34" charset="0"/>
              </a:rPr>
              <a:t>Geler les achats non essentiels</a:t>
            </a:r>
          </a:p>
          <a:p>
            <a:pPr marL="800100" lvl="1" indent="-342900">
              <a:buFont typeface="Arial" panose="020B0604020202020204" pitchFamily="34" charset="0"/>
              <a:buChar char="•"/>
            </a:pPr>
            <a:r>
              <a:rPr lang="fr-FR" sz="2000" dirty="0">
                <a:latin typeface="Aptos" panose="020B0004020202020204" pitchFamily="34" charset="0"/>
              </a:rPr>
              <a:t>Accélérer les recouvrements</a:t>
            </a:r>
          </a:p>
          <a:p>
            <a:pPr marL="800100" lvl="1" indent="-342900">
              <a:buFont typeface="Arial" panose="020B0604020202020204" pitchFamily="34" charset="0"/>
              <a:buChar char="•"/>
            </a:pPr>
            <a:r>
              <a:rPr lang="fr-FR" sz="2000" dirty="0">
                <a:latin typeface="Aptos" panose="020B0004020202020204" pitchFamily="34" charset="0"/>
              </a:rPr>
              <a:t>Réduire les dépenses</a:t>
            </a:r>
          </a:p>
          <a:p>
            <a:pPr marL="800100" lvl="1" indent="-342900">
              <a:buFont typeface="Arial" panose="020B0604020202020204" pitchFamily="34" charset="0"/>
              <a:buChar char="•"/>
            </a:pPr>
            <a:r>
              <a:rPr lang="fr-FR" sz="2000" dirty="0">
                <a:latin typeface="Aptos" panose="020B0004020202020204" pitchFamily="34" charset="0"/>
              </a:rPr>
              <a:t>Négocier avec les fournisseurs</a:t>
            </a:r>
          </a:p>
          <a:p>
            <a:pPr marL="800100" lvl="1" indent="-342900">
              <a:buFont typeface="Arial" panose="020B0604020202020204" pitchFamily="34" charset="0"/>
              <a:buChar char="•"/>
            </a:pPr>
            <a:r>
              <a:rPr lang="fr-FR" sz="2000" dirty="0">
                <a:latin typeface="Aptos" panose="020B0004020202020204" pitchFamily="34" charset="0"/>
              </a:rPr>
              <a:t>Réviser les stocks</a:t>
            </a:r>
          </a:p>
        </p:txBody>
      </p:sp>
    </p:spTree>
    <p:extLst>
      <p:ext uri="{BB962C8B-B14F-4D97-AF65-F5344CB8AC3E}">
        <p14:creationId xmlns:p14="http://schemas.microsoft.com/office/powerpoint/2010/main" val="941968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Gestion de la trésorerie et du besoin en fonds de roulement (BFR)</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Message clé à retenir</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0" y="2073494"/>
            <a:ext cx="11100601" cy="3170099"/>
          </a:xfrm>
          <a:prstGeom prst="rect">
            <a:avLst/>
          </a:prstGeom>
          <a:noFill/>
        </p:spPr>
        <p:txBody>
          <a:bodyPr wrap="square">
            <a:spAutoFit/>
          </a:bodyPr>
          <a:lstStyle/>
          <a:p>
            <a:pPr marL="342900" indent="-342900">
              <a:buFont typeface="Arial" panose="020B0604020202020204" pitchFamily="34" charset="0"/>
              <a:buChar char="•"/>
            </a:pPr>
            <a:r>
              <a:rPr lang="fr-FR" sz="2000" dirty="0">
                <a:latin typeface="Aptos" panose="020B0004020202020204" pitchFamily="34" charset="0"/>
              </a:rPr>
              <a:t>Le bénéfice est une mesure comptable.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La trésorerie est une réalité opérationnelle.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Une officine peut survivre temporairement sans bénéfice.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Elle ne peut pas survivre longtemps sans trésorerie.</a:t>
            </a:r>
          </a:p>
          <a:p>
            <a:pPr marL="342900"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dirty="0">
                <a:latin typeface="Aptos" panose="020B0004020202020204" pitchFamily="34" charset="0"/>
              </a:rPr>
              <a:t>La maîtrise du BFR constitue l’un des leviers les plus puissants pour sécuriser durablement l’activité officinale.</a:t>
            </a:r>
          </a:p>
        </p:txBody>
      </p:sp>
    </p:spTree>
    <p:extLst>
      <p:ext uri="{BB962C8B-B14F-4D97-AF65-F5344CB8AC3E}">
        <p14:creationId xmlns:p14="http://schemas.microsoft.com/office/powerpoint/2010/main" val="979152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0" y="2073494"/>
            <a:ext cx="11100601" cy="2246769"/>
          </a:xfrm>
          <a:prstGeom prst="rect">
            <a:avLst/>
          </a:prstGeom>
          <a:noFill/>
        </p:spPr>
        <p:txBody>
          <a:bodyPr wrap="square">
            <a:spAutoFit/>
          </a:bodyPr>
          <a:lstStyle/>
          <a:p>
            <a:r>
              <a:rPr lang="fr-FR" sz="2000" dirty="0">
                <a:latin typeface="Aptos" panose="020B0004020202020204" pitchFamily="34" charset="0"/>
              </a:rPr>
              <a:t>À l’issue de ce sous-module, le participant sera capable de :</a:t>
            </a:r>
          </a:p>
          <a:p>
            <a:pPr marL="800100" lvl="1" indent="-342900">
              <a:buFont typeface="Arial" panose="020B0604020202020204" pitchFamily="34" charset="0"/>
              <a:buChar char="•"/>
            </a:pPr>
            <a:r>
              <a:rPr lang="fr-FR" sz="2000" dirty="0">
                <a:latin typeface="Aptos" panose="020B0004020202020204" pitchFamily="34" charset="0"/>
              </a:rPr>
              <a:t>Comprendre les principales obligations fiscales d'une officine ;</a:t>
            </a:r>
          </a:p>
          <a:p>
            <a:pPr marL="800100" lvl="1" indent="-342900">
              <a:buFont typeface="Arial" panose="020B0604020202020204" pitchFamily="34" charset="0"/>
              <a:buChar char="•"/>
            </a:pPr>
            <a:r>
              <a:rPr lang="fr-FR" sz="2000" dirty="0">
                <a:latin typeface="Aptos" panose="020B0004020202020204" pitchFamily="34" charset="0"/>
              </a:rPr>
              <a:t>Identifier les principales obligations sociales ;</a:t>
            </a:r>
          </a:p>
          <a:p>
            <a:pPr marL="800100" lvl="1" indent="-342900">
              <a:buFont typeface="Arial" panose="020B0604020202020204" pitchFamily="34" charset="0"/>
              <a:buChar char="•"/>
            </a:pPr>
            <a:r>
              <a:rPr lang="fr-FR" sz="2000" dirty="0">
                <a:latin typeface="Aptos" panose="020B0004020202020204" pitchFamily="34" charset="0"/>
              </a:rPr>
              <a:t>Réduire les risques fiscaux et sociaux ;</a:t>
            </a:r>
          </a:p>
          <a:p>
            <a:pPr marL="800100" lvl="1" indent="-342900">
              <a:buFont typeface="Arial" panose="020B0604020202020204" pitchFamily="34" charset="0"/>
              <a:buChar char="•"/>
            </a:pPr>
            <a:r>
              <a:rPr lang="fr-FR" sz="2000" dirty="0">
                <a:latin typeface="Aptos" panose="020B0004020202020204" pitchFamily="34" charset="0"/>
              </a:rPr>
              <a:t>Optimiser légalement la gestion des charges ;</a:t>
            </a:r>
          </a:p>
          <a:p>
            <a:pPr marL="800100" lvl="1" indent="-342900">
              <a:buFont typeface="Arial" panose="020B0604020202020204" pitchFamily="34" charset="0"/>
              <a:buChar char="•"/>
            </a:pPr>
            <a:r>
              <a:rPr lang="fr-FR" sz="2000" dirty="0">
                <a:latin typeface="Aptos" panose="020B0004020202020204" pitchFamily="34" charset="0"/>
              </a:rPr>
              <a:t>Préparer son officine à un contrôle fiscal ou social ;</a:t>
            </a:r>
          </a:p>
          <a:p>
            <a:pPr marL="800100" lvl="1" indent="-342900">
              <a:buFont typeface="Arial" panose="020B0604020202020204" pitchFamily="34" charset="0"/>
              <a:buChar char="•"/>
            </a:pPr>
            <a:r>
              <a:rPr lang="fr-FR" sz="2000" dirty="0">
                <a:latin typeface="Aptos" panose="020B0004020202020204" pitchFamily="34" charset="0"/>
              </a:rPr>
              <a:t>Mettre en place une stratégie de conformité durable.</a:t>
            </a:r>
          </a:p>
        </p:txBody>
      </p:sp>
    </p:spTree>
    <p:extLst>
      <p:ext uri="{BB962C8B-B14F-4D97-AF65-F5344CB8AC3E}">
        <p14:creationId xmlns:p14="http://schemas.microsoft.com/office/powerpoint/2010/main" val="630303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ZoneTexte 10">
            <a:extLst>
              <a:ext uri="{FF2B5EF4-FFF2-40B4-BE49-F238E27FC236}">
                <a16:creationId xmlns:a16="http://schemas.microsoft.com/office/drawing/2014/main" id="{E368C0A9-D643-4F38-B930-0EA0700E48BA}"/>
              </a:ext>
            </a:extLst>
          </p:cNvPr>
          <p:cNvSpPr txBox="1"/>
          <p:nvPr/>
        </p:nvSpPr>
        <p:spPr>
          <a:xfrm>
            <a:off x="753040" y="2073494"/>
            <a:ext cx="11100601" cy="4093428"/>
          </a:xfrm>
          <a:prstGeom prst="rect">
            <a:avLst/>
          </a:prstGeom>
          <a:noFill/>
        </p:spPr>
        <p:txBody>
          <a:bodyPr wrap="square">
            <a:spAutoFit/>
          </a:bodyPr>
          <a:lstStyle/>
          <a:p>
            <a:r>
              <a:rPr lang="fr-FR" sz="2000" b="1" dirty="0">
                <a:latin typeface="Aptos" panose="020B0004020202020204" pitchFamily="34" charset="0"/>
              </a:rPr>
              <a:t>Une officine est à la fois :</a:t>
            </a:r>
          </a:p>
          <a:p>
            <a:pPr marL="800100" lvl="1" indent="-342900">
              <a:buFont typeface="Arial" panose="020B0604020202020204" pitchFamily="34" charset="0"/>
              <a:buChar char="•"/>
            </a:pPr>
            <a:r>
              <a:rPr lang="fr-FR" sz="2000" dirty="0">
                <a:latin typeface="Aptos" panose="020B0004020202020204" pitchFamily="34" charset="0"/>
              </a:rPr>
              <a:t>Un établissement de santé ;</a:t>
            </a:r>
          </a:p>
          <a:p>
            <a:pPr marL="800100" lvl="1" indent="-342900">
              <a:buFont typeface="Arial" panose="020B0604020202020204" pitchFamily="34" charset="0"/>
              <a:buChar char="•"/>
            </a:pPr>
            <a:r>
              <a:rPr lang="fr-FR" sz="2000" dirty="0">
                <a:latin typeface="Aptos" panose="020B0004020202020204" pitchFamily="34" charset="0"/>
              </a:rPr>
              <a:t>Une entreprise commerciale ;</a:t>
            </a:r>
          </a:p>
          <a:p>
            <a:pPr marL="800100" lvl="1" indent="-342900">
              <a:buFont typeface="Arial" panose="020B0604020202020204" pitchFamily="34" charset="0"/>
              <a:buChar char="•"/>
            </a:pPr>
            <a:r>
              <a:rPr lang="fr-FR" sz="2000" dirty="0">
                <a:latin typeface="Aptos" panose="020B0004020202020204" pitchFamily="34" charset="0"/>
              </a:rPr>
              <a:t>Un employeur.</a:t>
            </a:r>
          </a:p>
          <a:p>
            <a:endParaRPr lang="fr-FR" sz="2000" dirty="0">
              <a:latin typeface="Aptos" panose="020B0004020202020204" pitchFamily="34" charset="0"/>
            </a:endParaRPr>
          </a:p>
          <a:p>
            <a:r>
              <a:rPr lang="fr-FR" sz="2000" b="1" dirty="0">
                <a:latin typeface="Aptos" panose="020B0004020202020204" pitchFamily="34" charset="0"/>
              </a:rPr>
              <a:t>À ce titre, elle est soumise à :</a:t>
            </a:r>
          </a:p>
          <a:p>
            <a:pPr marL="800100" lvl="1" indent="-342900">
              <a:buFont typeface="Arial" panose="020B0604020202020204" pitchFamily="34" charset="0"/>
              <a:buChar char="•"/>
            </a:pPr>
            <a:r>
              <a:rPr lang="fr-FR" sz="2000" dirty="0">
                <a:latin typeface="Aptos" panose="020B0004020202020204" pitchFamily="34" charset="0"/>
              </a:rPr>
              <a:t>Des obligations fiscales ;</a:t>
            </a:r>
          </a:p>
          <a:p>
            <a:pPr marL="800100" lvl="1" indent="-342900">
              <a:buFont typeface="Arial" panose="020B0604020202020204" pitchFamily="34" charset="0"/>
              <a:buChar char="•"/>
            </a:pPr>
            <a:r>
              <a:rPr lang="fr-FR" sz="2000" dirty="0">
                <a:latin typeface="Aptos" panose="020B0004020202020204" pitchFamily="34" charset="0"/>
              </a:rPr>
              <a:t>Des obligations comptables ;</a:t>
            </a:r>
          </a:p>
          <a:p>
            <a:pPr marL="800100" lvl="1" indent="-342900">
              <a:buFont typeface="Arial" panose="020B0604020202020204" pitchFamily="34" charset="0"/>
              <a:buChar char="•"/>
            </a:pPr>
            <a:r>
              <a:rPr lang="fr-FR" sz="2000" dirty="0">
                <a:latin typeface="Aptos" panose="020B0004020202020204" pitchFamily="34" charset="0"/>
              </a:rPr>
              <a:t>Des obligations sociales ;</a:t>
            </a:r>
          </a:p>
          <a:p>
            <a:pPr marL="800100" lvl="1" indent="-342900">
              <a:buFont typeface="Arial" panose="020B0604020202020204" pitchFamily="34" charset="0"/>
              <a:buChar char="•"/>
            </a:pPr>
            <a:r>
              <a:rPr lang="fr-FR" sz="2000" dirty="0">
                <a:latin typeface="Aptos" panose="020B0004020202020204" pitchFamily="34" charset="0"/>
              </a:rPr>
              <a:t>Des obligations déclaratives.</a:t>
            </a:r>
          </a:p>
          <a:p>
            <a:endParaRPr lang="fr-FR" sz="2000" dirty="0">
              <a:latin typeface="Aptos" panose="020B0004020202020204" pitchFamily="34" charset="0"/>
            </a:endParaRPr>
          </a:p>
          <a:p>
            <a:r>
              <a:rPr lang="fr-FR" sz="2000" dirty="0">
                <a:latin typeface="Aptos" panose="020B0004020202020204" pitchFamily="34" charset="0"/>
              </a:rPr>
              <a:t>Une mauvaise gestion fiscale ou sociale peut entraîner des pénalités; des redressements ; des contentieux  des atteinte à la réputation  et des difficultés financières.</a:t>
            </a:r>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Tree>
    <p:extLst>
      <p:ext uri="{BB962C8B-B14F-4D97-AF65-F5344CB8AC3E}">
        <p14:creationId xmlns:p14="http://schemas.microsoft.com/office/powerpoint/2010/main" val="151958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ZoneTexte 10">
            <a:extLst>
              <a:ext uri="{FF2B5EF4-FFF2-40B4-BE49-F238E27FC236}">
                <a16:creationId xmlns:a16="http://schemas.microsoft.com/office/drawing/2014/main" id="{E368C0A9-D643-4F38-B930-0EA0700E48BA}"/>
              </a:ext>
            </a:extLst>
          </p:cNvPr>
          <p:cNvSpPr txBox="1"/>
          <p:nvPr/>
        </p:nvSpPr>
        <p:spPr>
          <a:xfrm>
            <a:off x="753040" y="2073494"/>
            <a:ext cx="11100601" cy="4401205"/>
          </a:xfrm>
          <a:prstGeom prst="rect">
            <a:avLst/>
          </a:prstGeom>
          <a:noFill/>
        </p:spPr>
        <p:txBody>
          <a:bodyPr wrap="square">
            <a:spAutoFit/>
          </a:bodyPr>
          <a:lstStyle/>
          <a:p>
            <a:r>
              <a:rPr lang="fr-FR" sz="2000" dirty="0">
                <a:latin typeface="Aptos" panose="020B0004020202020204" pitchFamily="34" charset="0"/>
              </a:rPr>
              <a:t>Les officines africaines évoluent dans des environnements fiscaux de plus en plus structurés.</a:t>
            </a:r>
          </a:p>
          <a:p>
            <a:endParaRPr lang="fr-FR" sz="2000" dirty="0">
              <a:latin typeface="Aptos" panose="020B0004020202020204" pitchFamily="34" charset="0"/>
            </a:endParaRPr>
          </a:p>
          <a:p>
            <a:r>
              <a:rPr lang="fr-FR" sz="2000" b="1" dirty="0">
                <a:latin typeface="Aptos" panose="020B0004020202020204" pitchFamily="34" charset="0"/>
              </a:rPr>
              <a:t>Les administrations fiscales renforcent :</a:t>
            </a:r>
          </a:p>
          <a:p>
            <a:pPr marL="800100" lvl="1" indent="-342900">
              <a:buFont typeface="Arial" panose="020B0604020202020204" pitchFamily="34" charset="0"/>
              <a:buChar char="•"/>
            </a:pPr>
            <a:r>
              <a:rPr lang="fr-FR" sz="2000" dirty="0">
                <a:latin typeface="Aptos" panose="020B0004020202020204" pitchFamily="34" charset="0"/>
              </a:rPr>
              <a:t>La digitalisation ;</a:t>
            </a:r>
          </a:p>
          <a:p>
            <a:pPr marL="800100" lvl="1" indent="-342900">
              <a:buFont typeface="Arial" panose="020B0604020202020204" pitchFamily="34" charset="0"/>
              <a:buChar char="•"/>
            </a:pPr>
            <a:r>
              <a:rPr lang="fr-FR" sz="2000" dirty="0">
                <a:latin typeface="Aptos" panose="020B0004020202020204" pitchFamily="34" charset="0"/>
              </a:rPr>
              <a:t>Les contrôles ;</a:t>
            </a:r>
          </a:p>
          <a:p>
            <a:pPr marL="800100" lvl="1" indent="-342900">
              <a:buFont typeface="Arial" panose="020B0604020202020204" pitchFamily="34" charset="0"/>
              <a:buChar char="•"/>
            </a:pPr>
            <a:r>
              <a:rPr lang="fr-FR" sz="2000" dirty="0">
                <a:latin typeface="Aptos" panose="020B0004020202020204" pitchFamily="34" charset="0"/>
              </a:rPr>
              <a:t>Les croisements de données ;</a:t>
            </a:r>
          </a:p>
          <a:p>
            <a:pPr marL="800100" lvl="1" indent="-342900">
              <a:buFont typeface="Arial" panose="020B0604020202020204" pitchFamily="34" charset="0"/>
              <a:buChar char="•"/>
            </a:pPr>
            <a:r>
              <a:rPr lang="fr-FR" sz="2000" dirty="0">
                <a:latin typeface="Aptos" panose="020B0004020202020204" pitchFamily="34" charset="0"/>
              </a:rPr>
              <a:t>Les obligations déclaratives.</a:t>
            </a:r>
          </a:p>
          <a:p>
            <a:endParaRPr lang="fr-FR" sz="2000" dirty="0">
              <a:latin typeface="Aptos" panose="020B0004020202020204" pitchFamily="34" charset="0"/>
            </a:endParaRPr>
          </a:p>
          <a:p>
            <a:r>
              <a:rPr lang="fr-FR" sz="2000" b="1" dirty="0">
                <a:latin typeface="Aptos" panose="020B0004020202020204" pitchFamily="34" charset="0"/>
              </a:rPr>
              <a:t>Tendances observées :</a:t>
            </a:r>
          </a:p>
          <a:p>
            <a:pPr marL="800100" lvl="1" indent="-342900">
              <a:buFont typeface="Arial" panose="020B0604020202020204" pitchFamily="34" charset="0"/>
              <a:buChar char="•"/>
            </a:pPr>
            <a:r>
              <a:rPr lang="fr-FR" sz="2000" dirty="0">
                <a:latin typeface="Aptos" panose="020B0004020202020204" pitchFamily="34" charset="0"/>
              </a:rPr>
              <a:t>Déclarations électroniques</a:t>
            </a:r>
          </a:p>
          <a:p>
            <a:pPr marL="800100" lvl="1" indent="-342900">
              <a:buFont typeface="Arial" panose="020B0604020202020204" pitchFamily="34" charset="0"/>
              <a:buChar char="•"/>
            </a:pPr>
            <a:r>
              <a:rPr lang="fr-FR" sz="2000" dirty="0">
                <a:latin typeface="Aptos" panose="020B0004020202020204" pitchFamily="34" charset="0"/>
              </a:rPr>
              <a:t>Paiements électroniques</a:t>
            </a:r>
          </a:p>
          <a:p>
            <a:pPr marL="800100" lvl="1" indent="-342900">
              <a:buFont typeface="Arial" panose="020B0604020202020204" pitchFamily="34" charset="0"/>
              <a:buChar char="•"/>
            </a:pPr>
            <a:r>
              <a:rPr lang="fr-FR" sz="2000" dirty="0">
                <a:latin typeface="Aptos" panose="020B0004020202020204" pitchFamily="34" charset="0"/>
              </a:rPr>
              <a:t>Contrôles automatisés</a:t>
            </a:r>
          </a:p>
          <a:p>
            <a:pPr marL="800100" lvl="1" indent="-342900">
              <a:buFont typeface="Arial" panose="020B0604020202020204" pitchFamily="34" charset="0"/>
              <a:buChar char="•"/>
            </a:pPr>
            <a:r>
              <a:rPr lang="fr-FR" sz="2000" dirty="0">
                <a:latin typeface="Aptos" panose="020B0004020202020204" pitchFamily="34" charset="0"/>
              </a:rPr>
              <a:t>Facturation numérique</a:t>
            </a:r>
          </a:p>
          <a:p>
            <a:pPr marL="800100" lvl="1" indent="-342900">
              <a:buFont typeface="Arial" panose="020B0604020202020204" pitchFamily="34" charset="0"/>
              <a:buChar char="•"/>
            </a:pPr>
            <a:r>
              <a:rPr lang="fr-FR" sz="2000" dirty="0">
                <a:latin typeface="Aptos" panose="020B0004020202020204" pitchFamily="34" charset="0"/>
              </a:rPr>
              <a:t>Renforcement des audits</a:t>
            </a:r>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Environnement fiscal des officines en Afrique</a:t>
            </a:r>
            <a:endParaRPr lang="en-US" sz="2400" b="1" dirty="0">
              <a:solidFill>
                <a:schemeClr val="bg1"/>
              </a:solidFill>
            </a:endParaRPr>
          </a:p>
        </p:txBody>
      </p:sp>
    </p:spTree>
    <p:extLst>
      <p:ext uri="{BB962C8B-B14F-4D97-AF65-F5344CB8AC3E}">
        <p14:creationId xmlns:p14="http://schemas.microsoft.com/office/powerpoint/2010/main" val="3637871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ZoneTexte 10">
            <a:extLst>
              <a:ext uri="{FF2B5EF4-FFF2-40B4-BE49-F238E27FC236}">
                <a16:creationId xmlns:a16="http://schemas.microsoft.com/office/drawing/2014/main" id="{E368C0A9-D643-4F38-B930-0EA0700E48BA}"/>
              </a:ext>
            </a:extLst>
          </p:cNvPr>
          <p:cNvSpPr txBox="1"/>
          <p:nvPr/>
        </p:nvSpPr>
        <p:spPr>
          <a:xfrm>
            <a:off x="753040" y="2073494"/>
            <a:ext cx="11100601" cy="3785652"/>
          </a:xfrm>
          <a:prstGeom prst="rect">
            <a:avLst/>
          </a:prstGeom>
          <a:noFill/>
        </p:spPr>
        <p:txBody>
          <a:bodyPr wrap="square">
            <a:spAutoFit/>
          </a:bodyPr>
          <a:lstStyle/>
          <a:p>
            <a:r>
              <a:rPr lang="fr-FR" sz="2000" b="1" dirty="0">
                <a:latin typeface="Aptos" panose="020B0004020202020204" pitchFamily="34" charset="0"/>
              </a:rPr>
              <a:t>Pourquoi l'OHADA est-elle importante ?</a:t>
            </a:r>
          </a:p>
          <a:p>
            <a:r>
              <a:rPr lang="fr-FR" sz="2000" dirty="0">
                <a:latin typeface="Aptos" panose="020B0004020202020204" pitchFamily="34" charset="0"/>
              </a:rPr>
              <a:t>L'OHADA harmonise les règles comptables dans de nombreux pays africains.</a:t>
            </a:r>
          </a:p>
          <a:p>
            <a:r>
              <a:rPr lang="fr-FR" sz="2000" dirty="0">
                <a:latin typeface="Aptos" panose="020B0004020202020204" pitchFamily="34" charset="0"/>
              </a:rPr>
              <a:t>Parmi eux : Bénin, Togo, Sénégal, Côte d'Ivoire, Burkina Faso, Niger, etc.</a:t>
            </a:r>
          </a:p>
          <a:p>
            <a:endParaRPr lang="fr-FR" sz="2000" dirty="0">
              <a:latin typeface="Aptos" panose="020B0004020202020204" pitchFamily="34" charset="0"/>
            </a:endParaRPr>
          </a:p>
          <a:p>
            <a:r>
              <a:rPr lang="fr-FR" sz="2000" b="1" dirty="0">
                <a:latin typeface="Aptos" panose="020B0004020202020204" pitchFamily="34" charset="0"/>
              </a:rPr>
              <a:t>Obligations principales :</a:t>
            </a:r>
          </a:p>
          <a:p>
            <a:pPr marL="800100" lvl="1" indent="-342900">
              <a:buFont typeface="Arial" panose="020B0604020202020204" pitchFamily="34" charset="0"/>
              <a:buChar char="•"/>
            </a:pPr>
            <a:r>
              <a:rPr lang="fr-FR" sz="2000" dirty="0">
                <a:latin typeface="Aptos" panose="020B0004020202020204" pitchFamily="34" charset="0"/>
              </a:rPr>
              <a:t>Tenue d'une comptabilité régulière</a:t>
            </a:r>
          </a:p>
          <a:p>
            <a:pPr marL="800100" lvl="1" indent="-342900">
              <a:buFont typeface="Arial" panose="020B0604020202020204" pitchFamily="34" charset="0"/>
              <a:buChar char="•"/>
            </a:pPr>
            <a:r>
              <a:rPr lang="fr-FR" sz="2000" dirty="0">
                <a:latin typeface="Aptos" panose="020B0004020202020204" pitchFamily="34" charset="0"/>
              </a:rPr>
              <a:t>Conservation des pièces justificatives</a:t>
            </a:r>
          </a:p>
          <a:p>
            <a:pPr marL="800100" lvl="1" indent="-342900">
              <a:buFont typeface="Arial" panose="020B0604020202020204" pitchFamily="34" charset="0"/>
              <a:buChar char="•"/>
            </a:pPr>
            <a:r>
              <a:rPr lang="fr-FR" sz="2000" dirty="0">
                <a:latin typeface="Aptos" panose="020B0004020202020204" pitchFamily="34" charset="0"/>
              </a:rPr>
              <a:t>Production des états financiers</a:t>
            </a:r>
          </a:p>
          <a:p>
            <a:pPr marL="800100" lvl="1" indent="-342900">
              <a:buFont typeface="Arial" panose="020B0604020202020204" pitchFamily="34" charset="0"/>
              <a:buChar char="•"/>
            </a:pPr>
            <a:r>
              <a:rPr lang="fr-FR" sz="2000" dirty="0">
                <a:latin typeface="Aptos" panose="020B0004020202020204" pitchFamily="34" charset="0"/>
              </a:rPr>
              <a:t>Respect du SYSCOHADA révisé</a:t>
            </a:r>
          </a:p>
          <a:p>
            <a:pPr marL="800100" lvl="1" indent="-342900">
              <a:buFont typeface="Arial" panose="020B0604020202020204" pitchFamily="34" charset="0"/>
              <a:buChar char="•"/>
            </a:pPr>
            <a:endParaRPr lang="fr-FR" sz="2000" dirty="0">
              <a:latin typeface="Aptos" panose="020B0004020202020204" pitchFamily="34" charset="0"/>
            </a:endParaRPr>
          </a:p>
          <a:p>
            <a:pPr marL="342900" indent="-342900">
              <a:buFont typeface="Arial" panose="020B0604020202020204" pitchFamily="34" charset="0"/>
              <a:buChar char="•"/>
            </a:pPr>
            <a:r>
              <a:rPr lang="fr-FR" sz="2000" b="1" dirty="0">
                <a:latin typeface="Aptos" panose="020B0004020202020204" pitchFamily="34" charset="0"/>
              </a:rPr>
              <a:t>Application à l'officine </a:t>
            </a:r>
            <a:r>
              <a:rPr lang="fr-FR" sz="2000" dirty="0">
                <a:latin typeface="Aptos" panose="020B0004020202020204" pitchFamily="34" charset="0"/>
              </a:rPr>
              <a:t>: Chaque opération doit être documentée (facture fournisseur, facture client, relevé bancaire, contrat, bulletin de paie)</a:t>
            </a:r>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cadre OHADA et les obligations comptables</a:t>
            </a:r>
            <a:endParaRPr lang="en-US" sz="2400" b="1" dirty="0">
              <a:solidFill>
                <a:schemeClr val="bg1"/>
              </a:solidFill>
            </a:endParaRPr>
          </a:p>
        </p:txBody>
      </p:sp>
    </p:spTree>
    <p:extLst>
      <p:ext uri="{BB962C8B-B14F-4D97-AF65-F5344CB8AC3E}">
        <p14:creationId xmlns:p14="http://schemas.microsoft.com/office/powerpoint/2010/main" val="4008654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ZoneTexte 10">
            <a:extLst>
              <a:ext uri="{FF2B5EF4-FFF2-40B4-BE49-F238E27FC236}">
                <a16:creationId xmlns:a16="http://schemas.microsoft.com/office/drawing/2014/main" id="{E368C0A9-D643-4F38-B930-0EA0700E48BA}"/>
              </a:ext>
            </a:extLst>
          </p:cNvPr>
          <p:cNvSpPr txBox="1"/>
          <p:nvPr/>
        </p:nvSpPr>
        <p:spPr>
          <a:xfrm>
            <a:off x="753040" y="2073494"/>
            <a:ext cx="11100601" cy="4093428"/>
          </a:xfrm>
          <a:prstGeom prst="rect">
            <a:avLst/>
          </a:prstGeom>
          <a:noFill/>
        </p:spPr>
        <p:txBody>
          <a:bodyPr wrap="square">
            <a:spAutoFit/>
          </a:bodyPr>
          <a:lstStyle/>
          <a:p>
            <a:r>
              <a:rPr lang="fr-FR" sz="2000" b="1" dirty="0">
                <a:latin typeface="Aptos" panose="020B0004020202020204" pitchFamily="34" charset="0"/>
              </a:rPr>
              <a:t>Références</a:t>
            </a:r>
            <a:r>
              <a:rPr lang="fr-FR" sz="2000" dirty="0">
                <a:latin typeface="Aptos" panose="020B0004020202020204" pitchFamily="34" charset="0"/>
              </a:rPr>
              <a:t> : L'officine est soumise aux dispositions du :Code Général des Impôts du Bénin et aux textes fiscaux en vigueur.</a:t>
            </a:r>
          </a:p>
          <a:p>
            <a:endParaRPr lang="fr-FR" sz="2000" dirty="0">
              <a:latin typeface="Aptos" panose="020B0004020202020204" pitchFamily="34" charset="0"/>
            </a:endParaRPr>
          </a:p>
          <a:p>
            <a:r>
              <a:rPr lang="fr-FR" sz="2000" b="1" dirty="0">
                <a:latin typeface="Aptos" panose="020B0004020202020204" pitchFamily="34" charset="0"/>
              </a:rPr>
              <a:t>Principaux impôts concernés :</a:t>
            </a:r>
          </a:p>
          <a:p>
            <a:pPr marL="800100" lvl="1" indent="-342900">
              <a:buFont typeface="Arial" panose="020B0604020202020204" pitchFamily="34" charset="0"/>
              <a:buChar char="•"/>
            </a:pPr>
            <a:r>
              <a:rPr lang="fr-FR" sz="2000" dirty="0">
                <a:latin typeface="Aptos" panose="020B0004020202020204" pitchFamily="34" charset="0"/>
              </a:rPr>
              <a:t>Impôt sur les sociétés (IS) </a:t>
            </a:r>
            <a:r>
              <a:rPr lang="fr-FR" sz="1600" dirty="0">
                <a:latin typeface="Aptos" panose="020B0004020202020204" pitchFamily="34" charset="0"/>
              </a:rPr>
              <a:t>Pour les sociétés soumises à ce régime</a:t>
            </a:r>
            <a:r>
              <a:rPr lang="fr-FR" sz="2000" dirty="0">
                <a:latin typeface="Aptos" panose="020B0004020202020204" pitchFamily="34" charset="0"/>
              </a:rPr>
              <a:t>. </a:t>
            </a:r>
          </a:p>
          <a:p>
            <a:pPr marL="800100" lvl="1" indent="-342900">
              <a:buFont typeface="Arial" panose="020B0604020202020204" pitchFamily="34" charset="0"/>
              <a:buChar char="•"/>
            </a:pPr>
            <a:r>
              <a:rPr lang="fr-FR" sz="2000" dirty="0">
                <a:latin typeface="Aptos" panose="020B0004020202020204" pitchFamily="34" charset="0"/>
              </a:rPr>
              <a:t>Impôt sur le revenu </a:t>
            </a:r>
            <a:r>
              <a:rPr lang="fr-FR" sz="1600" dirty="0">
                <a:latin typeface="Aptos" panose="020B0004020202020204" pitchFamily="34" charset="0"/>
              </a:rPr>
              <a:t>Selon la forme juridique</a:t>
            </a:r>
            <a:r>
              <a:rPr lang="fr-FR" sz="2000" dirty="0">
                <a:latin typeface="Aptos" panose="020B0004020202020204" pitchFamily="34" charset="0"/>
              </a:rPr>
              <a:t>.</a:t>
            </a:r>
          </a:p>
          <a:p>
            <a:pPr marL="800100" lvl="1" indent="-342900">
              <a:buFont typeface="Arial" panose="020B0604020202020204" pitchFamily="34" charset="0"/>
              <a:buChar char="•"/>
            </a:pPr>
            <a:r>
              <a:rPr lang="fr-FR" sz="2000" dirty="0">
                <a:latin typeface="Aptos" panose="020B0004020202020204" pitchFamily="34" charset="0"/>
              </a:rPr>
              <a:t>Taxe professionnelle applicable </a:t>
            </a:r>
            <a:r>
              <a:rPr lang="fr-FR" sz="1600" dirty="0">
                <a:latin typeface="Aptos" panose="020B0004020202020204" pitchFamily="34" charset="0"/>
              </a:rPr>
              <a:t>Selon les dispositions en vigueur</a:t>
            </a:r>
            <a:r>
              <a:rPr lang="fr-FR" sz="2000" dirty="0">
                <a:latin typeface="Aptos" panose="020B0004020202020204" pitchFamily="34" charset="0"/>
              </a:rPr>
              <a:t>.</a:t>
            </a:r>
          </a:p>
          <a:p>
            <a:pPr marL="800100" lvl="1" indent="-342900">
              <a:buFont typeface="Arial" panose="020B0604020202020204" pitchFamily="34" charset="0"/>
              <a:buChar char="•"/>
            </a:pPr>
            <a:r>
              <a:rPr lang="fr-FR" sz="2000" dirty="0">
                <a:latin typeface="Aptos" panose="020B0004020202020204" pitchFamily="34" charset="0"/>
              </a:rPr>
              <a:t>Retenues à la source </a:t>
            </a:r>
            <a:r>
              <a:rPr lang="fr-FR" sz="1600" dirty="0">
                <a:latin typeface="Aptos" panose="020B0004020202020204" pitchFamily="34" charset="0"/>
              </a:rPr>
              <a:t>Lorsque applicables</a:t>
            </a:r>
            <a:r>
              <a:rPr lang="fr-FR" sz="2000" dirty="0">
                <a:latin typeface="Aptos" panose="020B0004020202020204" pitchFamily="34" charset="0"/>
              </a:rPr>
              <a:t>.</a:t>
            </a:r>
          </a:p>
          <a:p>
            <a:pPr marL="800100" lvl="1" indent="-342900">
              <a:buFont typeface="Arial" panose="020B0604020202020204" pitchFamily="34" charset="0"/>
              <a:buChar char="•"/>
            </a:pPr>
            <a:r>
              <a:rPr lang="fr-FR" sz="2000" dirty="0">
                <a:latin typeface="Aptos" panose="020B0004020202020204" pitchFamily="34" charset="0"/>
              </a:rPr>
              <a:t>Taxes locales </a:t>
            </a:r>
            <a:r>
              <a:rPr lang="fr-FR" sz="1600" dirty="0">
                <a:latin typeface="Aptos" panose="020B0004020202020204" pitchFamily="34" charset="0"/>
              </a:rPr>
              <a:t>Selon la commune et l'activité</a:t>
            </a:r>
            <a:r>
              <a:rPr lang="fr-FR" sz="2000" dirty="0">
                <a:latin typeface="Aptos" panose="020B0004020202020204" pitchFamily="34" charset="0"/>
              </a:rPr>
              <a:t>.</a:t>
            </a:r>
          </a:p>
          <a:p>
            <a:endParaRPr lang="fr-FR" sz="2000" dirty="0">
              <a:latin typeface="Aptos" panose="020B0004020202020204" pitchFamily="34" charset="0"/>
            </a:endParaRPr>
          </a:p>
          <a:p>
            <a:r>
              <a:rPr lang="fr-FR" sz="2000" b="1" dirty="0">
                <a:latin typeface="Aptos" panose="020B0004020202020204" pitchFamily="34" charset="0"/>
              </a:rPr>
              <a:t>Point de vigilance </a:t>
            </a:r>
            <a:r>
              <a:rPr lang="fr-FR" sz="2000" dirty="0">
                <a:latin typeface="Aptos" panose="020B0004020202020204" pitchFamily="34" charset="0"/>
              </a:rPr>
              <a:t>: </a:t>
            </a:r>
          </a:p>
          <a:p>
            <a:pPr marL="800100" lvl="1" indent="-342900">
              <a:buFont typeface="Arial" panose="020B0604020202020204" pitchFamily="34" charset="0"/>
              <a:buChar char="•"/>
            </a:pPr>
            <a:r>
              <a:rPr lang="fr-FR" sz="2000" dirty="0">
                <a:latin typeface="Aptos" panose="020B0004020202020204" pitchFamily="34" charset="0"/>
              </a:rPr>
              <a:t>Les dispositions fiscales évoluent régulièrement à travers les lois de finances annuelles. </a:t>
            </a:r>
          </a:p>
          <a:p>
            <a:pPr marL="800100" lvl="1" indent="-342900">
              <a:buFont typeface="Arial" panose="020B0604020202020204" pitchFamily="34" charset="0"/>
              <a:buChar char="•"/>
            </a:pPr>
            <a:r>
              <a:rPr lang="fr-FR" sz="2000" dirty="0">
                <a:latin typeface="Aptos" panose="020B0004020202020204" pitchFamily="34" charset="0"/>
              </a:rPr>
              <a:t>Le pharmacien doit maintenir une veille fiscale active.</a:t>
            </a:r>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Fiscalité des officines au bénin</a:t>
            </a:r>
            <a:endParaRPr lang="en-US" sz="2400" b="1" dirty="0">
              <a:solidFill>
                <a:schemeClr val="bg1"/>
              </a:solidFill>
            </a:endParaRPr>
          </a:p>
        </p:txBody>
      </p:sp>
    </p:spTree>
    <p:extLst>
      <p:ext uri="{BB962C8B-B14F-4D97-AF65-F5344CB8AC3E}">
        <p14:creationId xmlns:p14="http://schemas.microsoft.com/office/powerpoint/2010/main" val="3316637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ZoneTexte 10">
            <a:extLst>
              <a:ext uri="{FF2B5EF4-FFF2-40B4-BE49-F238E27FC236}">
                <a16:creationId xmlns:a16="http://schemas.microsoft.com/office/drawing/2014/main" id="{E368C0A9-D643-4F38-B930-0EA0700E48BA}"/>
              </a:ext>
            </a:extLst>
          </p:cNvPr>
          <p:cNvSpPr txBox="1"/>
          <p:nvPr/>
        </p:nvSpPr>
        <p:spPr>
          <a:xfrm>
            <a:off x="753040" y="2073494"/>
            <a:ext cx="11100601" cy="3477875"/>
          </a:xfrm>
          <a:prstGeom prst="rect">
            <a:avLst/>
          </a:prstGeom>
          <a:noFill/>
        </p:spPr>
        <p:txBody>
          <a:bodyPr wrap="square">
            <a:spAutoFit/>
          </a:bodyPr>
          <a:lstStyle/>
          <a:p>
            <a:r>
              <a:rPr lang="fr-FR" sz="2000" b="1" dirty="0">
                <a:latin typeface="Aptos" panose="020B0004020202020204" pitchFamily="34" charset="0"/>
              </a:rPr>
              <a:t>Pourquoi la TVA est-elle complexe ?</a:t>
            </a:r>
          </a:p>
          <a:p>
            <a:pPr marL="800100" lvl="1" indent="-342900">
              <a:buFont typeface="Arial" panose="020B0604020202020204" pitchFamily="34" charset="0"/>
              <a:buChar char="•"/>
            </a:pPr>
            <a:r>
              <a:rPr lang="fr-FR" sz="2000" dirty="0">
                <a:latin typeface="Aptos" panose="020B0004020202020204" pitchFamily="34" charset="0"/>
              </a:rPr>
              <a:t>Tous les produits vendus dans une officine ne suivent pas nécessairement le même traitement fiscal.</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Catégories fréquentes</a:t>
            </a:r>
          </a:p>
          <a:p>
            <a:pPr marL="800100" lvl="1" indent="-342900">
              <a:buFont typeface="Arial" panose="020B0604020202020204" pitchFamily="34" charset="0"/>
              <a:buChar char="•"/>
            </a:pPr>
            <a:r>
              <a:rPr lang="fr-FR" sz="2000" dirty="0">
                <a:latin typeface="Aptos" panose="020B0004020202020204" pitchFamily="34" charset="0"/>
              </a:rPr>
              <a:t>Médicaments</a:t>
            </a:r>
          </a:p>
          <a:p>
            <a:pPr marL="800100" lvl="1" indent="-342900">
              <a:buFont typeface="Arial" panose="020B0604020202020204" pitchFamily="34" charset="0"/>
              <a:buChar char="•"/>
            </a:pPr>
            <a:r>
              <a:rPr lang="fr-FR" sz="2000" dirty="0">
                <a:latin typeface="Aptos" panose="020B0004020202020204" pitchFamily="34" charset="0"/>
              </a:rPr>
              <a:t>Dispositifs médicaux</a:t>
            </a:r>
          </a:p>
          <a:p>
            <a:pPr marL="800100" lvl="1" indent="-342900">
              <a:buFont typeface="Arial" panose="020B0604020202020204" pitchFamily="34" charset="0"/>
              <a:buChar char="•"/>
            </a:pPr>
            <a:r>
              <a:rPr lang="fr-FR" sz="2000" dirty="0">
                <a:latin typeface="Aptos" panose="020B0004020202020204" pitchFamily="34" charset="0"/>
              </a:rPr>
              <a:t>Produits cosmétiques</a:t>
            </a:r>
          </a:p>
          <a:p>
            <a:pPr marL="800100" lvl="1" indent="-342900">
              <a:buFont typeface="Arial" panose="020B0604020202020204" pitchFamily="34" charset="0"/>
              <a:buChar char="•"/>
            </a:pPr>
            <a:r>
              <a:rPr lang="fr-FR" sz="2000" dirty="0">
                <a:latin typeface="Aptos" panose="020B0004020202020204" pitchFamily="34" charset="0"/>
              </a:rPr>
              <a:t>Parapharmacie</a:t>
            </a:r>
          </a:p>
          <a:p>
            <a:pPr marL="800100" lvl="1" indent="-342900">
              <a:buFont typeface="Arial" panose="020B0604020202020204" pitchFamily="34" charset="0"/>
              <a:buChar char="•"/>
            </a:pPr>
            <a:r>
              <a:rPr lang="fr-FR" sz="2000" dirty="0">
                <a:latin typeface="Aptos" panose="020B0004020202020204" pitchFamily="34" charset="0"/>
              </a:rPr>
              <a:t>Compléments nutritionnels</a:t>
            </a:r>
          </a:p>
          <a:p>
            <a:endParaRPr lang="fr-FR" sz="2000" dirty="0">
              <a:latin typeface="Aptos" panose="020B0004020202020204" pitchFamily="34" charset="0"/>
            </a:endParaRPr>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La TVA et les produits pharmaceutiques</a:t>
            </a:r>
            <a:endParaRPr lang="en-US" sz="2400" b="1" dirty="0">
              <a:solidFill>
                <a:schemeClr val="bg1"/>
              </a:solidFill>
            </a:endParaRPr>
          </a:p>
        </p:txBody>
      </p:sp>
    </p:spTree>
    <p:extLst>
      <p:ext uri="{BB962C8B-B14F-4D97-AF65-F5344CB8AC3E}">
        <p14:creationId xmlns:p14="http://schemas.microsoft.com/office/powerpoint/2010/main" val="782823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ZoneTexte 10">
            <a:extLst>
              <a:ext uri="{FF2B5EF4-FFF2-40B4-BE49-F238E27FC236}">
                <a16:creationId xmlns:a16="http://schemas.microsoft.com/office/drawing/2014/main" id="{E368C0A9-D643-4F38-B930-0EA0700E48BA}"/>
              </a:ext>
            </a:extLst>
          </p:cNvPr>
          <p:cNvSpPr txBox="1"/>
          <p:nvPr/>
        </p:nvSpPr>
        <p:spPr>
          <a:xfrm>
            <a:off x="753040" y="2073494"/>
            <a:ext cx="11100601" cy="2862322"/>
          </a:xfrm>
          <a:prstGeom prst="rect">
            <a:avLst/>
          </a:prstGeom>
          <a:noFill/>
        </p:spPr>
        <p:txBody>
          <a:bodyPr wrap="square">
            <a:spAutoFit/>
          </a:bodyPr>
          <a:lstStyle/>
          <a:p>
            <a:r>
              <a:rPr lang="fr-FR" sz="2000" b="1" dirty="0">
                <a:latin typeface="Aptos" panose="020B0004020202020204" pitchFamily="34" charset="0"/>
              </a:rPr>
              <a:t>Risque fréquent</a:t>
            </a:r>
          </a:p>
          <a:p>
            <a:pPr marL="800100" lvl="1" indent="-342900">
              <a:buFont typeface="Arial" panose="020B0604020202020204" pitchFamily="34" charset="0"/>
              <a:buChar char="•"/>
            </a:pPr>
            <a:r>
              <a:rPr lang="fr-FR" sz="2000" dirty="0">
                <a:latin typeface="Aptos" panose="020B0004020202020204" pitchFamily="34" charset="0"/>
              </a:rPr>
              <a:t>Appliquer le mauvais régime fiscal à une catégorie de produits.</a:t>
            </a:r>
          </a:p>
          <a:p>
            <a:endParaRPr lang="fr-FR" sz="2000" dirty="0">
              <a:latin typeface="Aptos" panose="020B0004020202020204" pitchFamily="34" charset="0"/>
            </a:endParaRPr>
          </a:p>
          <a:p>
            <a:r>
              <a:rPr lang="fr-FR" sz="2000" b="1" dirty="0">
                <a:latin typeface="Aptos" panose="020B0004020202020204" pitchFamily="34" charset="0"/>
              </a:rPr>
              <a:t>Bonnes pratiques</a:t>
            </a:r>
          </a:p>
          <a:p>
            <a:pPr marL="800100" lvl="1" indent="-342900">
              <a:buFont typeface="Arial" panose="020B0604020202020204" pitchFamily="34" charset="0"/>
              <a:buChar char="•"/>
            </a:pPr>
            <a:r>
              <a:rPr lang="fr-FR" sz="2000" dirty="0">
                <a:latin typeface="Aptos" panose="020B0004020202020204" pitchFamily="34" charset="0"/>
              </a:rPr>
              <a:t>Paramétrage correct du logiciel</a:t>
            </a:r>
          </a:p>
          <a:p>
            <a:pPr marL="800100" lvl="1" indent="-342900">
              <a:buFont typeface="Arial" panose="020B0604020202020204" pitchFamily="34" charset="0"/>
              <a:buChar char="•"/>
            </a:pPr>
            <a:r>
              <a:rPr lang="fr-FR" sz="2000" dirty="0">
                <a:latin typeface="Aptos" panose="020B0004020202020204" pitchFamily="34" charset="0"/>
              </a:rPr>
              <a:t>Mise à jour régulière</a:t>
            </a:r>
          </a:p>
          <a:p>
            <a:pPr marL="800100" lvl="1" indent="-342900">
              <a:buFont typeface="Arial" panose="020B0604020202020204" pitchFamily="34" charset="0"/>
              <a:buChar char="•"/>
            </a:pPr>
            <a:r>
              <a:rPr lang="fr-FR" sz="2000" dirty="0">
                <a:latin typeface="Aptos" panose="020B0004020202020204" pitchFamily="34" charset="0"/>
              </a:rPr>
              <a:t>Vérification comptable</a:t>
            </a:r>
          </a:p>
          <a:p>
            <a:pPr marL="800100" lvl="1" indent="-342900">
              <a:buFont typeface="Arial" panose="020B0604020202020204" pitchFamily="34" charset="0"/>
              <a:buChar char="•"/>
            </a:pPr>
            <a:r>
              <a:rPr lang="fr-FR" sz="2000" dirty="0">
                <a:latin typeface="Aptos" panose="020B0004020202020204" pitchFamily="34" charset="0"/>
              </a:rPr>
              <a:t>Contrôle des factures</a:t>
            </a:r>
          </a:p>
          <a:p>
            <a:endParaRPr lang="fr-FR" sz="2000" dirty="0">
              <a:latin typeface="Aptos" panose="020B0004020202020204" pitchFamily="34" charset="0"/>
            </a:endParaRPr>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La TVA et les produits pharmaceutiques</a:t>
            </a:r>
            <a:endParaRPr lang="en-US" sz="2400" b="1" dirty="0">
              <a:solidFill>
                <a:schemeClr val="bg1"/>
              </a:solidFill>
            </a:endParaRPr>
          </a:p>
        </p:txBody>
      </p:sp>
      <p:sp>
        <p:nvSpPr>
          <p:cNvPr id="10" name="ZoneTexte 9">
            <a:extLst>
              <a:ext uri="{FF2B5EF4-FFF2-40B4-BE49-F238E27FC236}">
                <a16:creationId xmlns:a16="http://schemas.microsoft.com/office/drawing/2014/main" id="{F45130DD-C405-4465-8597-112D55BB51DE}"/>
              </a:ext>
            </a:extLst>
          </p:cNvPr>
          <p:cNvSpPr txBox="1"/>
          <p:nvPr/>
        </p:nvSpPr>
        <p:spPr>
          <a:xfrm>
            <a:off x="6468012" y="4883340"/>
            <a:ext cx="5484177" cy="1569660"/>
          </a:xfrm>
          <a:prstGeom prst="rect">
            <a:avLst/>
          </a:prstGeom>
          <a:noFill/>
        </p:spPr>
        <p:txBody>
          <a:bodyPr wrap="square">
            <a:spAutoFit/>
          </a:bodyPr>
          <a:lstStyle/>
          <a:p>
            <a:r>
              <a:rPr lang="fr-FR" sz="1600" b="1" dirty="0">
                <a:latin typeface="Aptos" panose="020B0004020202020204" pitchFamily="34" charset="0"/>
              </a:rPr>
              <a:t>Cas pratique : </a:t>
            </a:r>
            <a:r>
              <a:rPr lang="fr-FR" sz="1600" dirty="0">
                <a:latin typeface="Aptos" panose="020B0004020202020204" pitchFamily="34" charset="0"/>
              </a:rPr>
              <a:t>Une officine vend :</a:t>
            </a:r>
          </a:p>
          <a:p>
            <a:pPr marL="742950" lvl="1" indent="-285750">
              <a:buFont typeface="Arial" panose="020B0604020202020204" pitchFamily="34" charset="0"/>
              <a:buChar char="•"/>
            </a:pPr>
            <a:r>
              <a:rPr lang="fr-FR" sz="1600" dirty="0">
                <a:latin typeface="Aptos" panose="020B0004020202020204" pitchFamily="34" charset="0"/>
              </a:rPr>
              <a:t>médicaments ;</a:t>
            </a:r>
          </a:p>
          <a:p>
            <a:pPr marL="742950" lvl="1" indent="-285750">
              <a:buFont typeface="Arial" panose="020B0604020202020204" pitchFamily="34" charset="0"/>
              <a:buChar char="•"/>
            </a:pPr>
            <a:r>
              <a:rPr lang="fr-FR" sz="1600" dirty="0">
                <a:latin typeface="Aptos" panose="020B0004020202020204" pitchFamily="34" charset="0"/>
              </a:rPr>
              <a:t>cosmétiques ;</a:t>
            </a:r>
          </a:p>
          <a:p>
            <a:pPr marL="742950" lvl="1" indent="-285750">
              <a:buFont typeface="Arial" panose="020B0604020202020204" pitchFamily="34" charset="0"/>
              <a:buChar char="•"/>
            </a:pPr>
            <a:r>
              <a:rPr lang="fr-FR" sz="1600" dirty="0">
                <a:latin typeface="Aptos" panose="020B0004020202020204" pitchFamily="34" charset="0"/>
              </a:rPr>
              <a:t>produits nutritionnels.</a:t>
            </a:r>
          </a:p>
          <a:p>
            <a:pPr lvl="1"/>
            <a:r>
              <a:rPr lang="fr-FR" sz="1600" b="1" dirty="0">
                <a:latin typeface="Aptos" panose="020B0004020202020204" pitchFamily="34" charset="0"/>
              </a:rPr>
              <a:t>Question</a:t>
            </a:r>
            <a:r>
              <a:rPr lang="fr-FR" sz="1600" dirty="0">
                <a:latin typeface="Aptos" panose="020B0004020202020204" pitchFamily="34" charset="0"/>
              </a:rPr>
              <a:t> :Pourquoi une mauvaise catégorisation fiscale peut-elle créer un risque de redressement ?</a:t>
            </a:r>
          </a:p>
        </p:txBody>
      </p:sp>
    </p:spTree>
    <p:extLst>
      <p:ext uri="{BB962C8B-B14F-4D97-AF65-F5344CB8AC3E}">
        <p14:creationId xmlns:p14="http://schemas.microsoft.com/office/powerpoint/2010/main" val="929495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5342960" cy="4093428"/>
          </a:xfrm>
          <a:prstGeom prst="rect">
            <a:avLst/>
          </a:prstGeom>
          <a:noFill/>
        </p:spPr>
        <p:txBody>
          <a:bodyPr wrap="square">
            <a:spAutoFit/>
          </a:bodyPr>
          <a:lstStyle/>
          <a:p>
            <a:r>
              <a:rPr lang="fr-FR" sz="2000" b="1" dirty="0">
                <a:latin typeface="Aptos" panose="020B0004020202020204" pitchFamily="34" charset="0"/>
              </a:rPr>
              <a:t>Documents généralement examinés</a:t>
            </a:r>
          </a:p>
          <a:p>
            <a:pPr marL="800100" lvl="1" indent="-342900">
              <a:buFont typeface="Arial" panose="020B0604020202020204" pitchFamily="34" charset="0"/>
              <a:buChar char="•"/>
            </a:pPr>
            <a:r>
              <a:rPr lang="fr-FR" sz="2000" dirty="0">
                <a:latin typeface="Aptos" panose="020B0004020202020204" pitchFamily="34" charset="0"/>
              </a:rPr>
              <a:t>États financiers</a:t>
            </a:r>
          </a:p>
          <a:p>
            <a:pPr marL="800100" lvl="1" indent="-342900">
              <a:buFont typeface="Arial" panose="020B0604020202020204" pitchFamily="34" charset="0"/>
              <a:buChar char="•"/>
            </a:pPr>
            <a:r>
              <a:rPr lang="fr-FR" sz="2000" dirty="0">
                <a:latin typeface="Aptos" panose="020B0004020202020204" pitchFamily="34" charset="0"/>
              </a:rPr>
              <a:t>Factures d'achat</a:t>
            </a:r>
          </a:p>
          <a:p>
            <a:pPr marL="800100" lvl="1" indent="-342900">
              <a:buFont typeface="Arial" panose="020B0604020202020204" pitchFamily="34" charset="0"/>
              <a:buChar char="•"/>
            </a:pPr>
            <a:r>
              <a:rPr lang="fr-FR" sz="2000" dirty="0">
                <a:latin typeface="Aptos" panose="020B0004020202020204" pitchFamily="34" charset="0"/>
              </a:rPr>
              <a:t>Factures de vente</a:t>
            </a:r>
          </a:p>
          <a:p>
            <a:pPr marL="800100" lvl="1" indent="-342900">
              <a:buFont typeface="Arial" panose="020B0604020202020204" pitchFamily="34" charset="0"/>
              <a:buChar char="•"/>
            </a:pPr>
            <a:r>
              <a:rPr lang="fr-FR" sz="2000" dirty="0">
                <a:latin typeface="Aptos" panose="020B0004020202020204" pitchFamily="34" charset="0"/>
              </a:rPr>
              <a:t>Déclarations fiscales</a:t>
            </a:r>
          </a:p>
          <a:p>
            <a:pPr marL="800100" lvl="1" indent="-342900">
              <a:buFont typeface="Arial" panose="020B0604020202020204" pitchFamily="34" charset="0"/>
              <a:buChar char="•"/>
            </a:pPr>
            <a:r>
              <a:rPr lang="fr-FR" sz="2000" dirty="0">
                <a:latin typeface="Aptos" panose="020B0004020202020204" pitchFamily="34" charset="0"/>
              </a:rPr>
              <a:t>Relevés bancaires</a:t>
            </a:r>
          </a:p>
          <a:p>
            <a:pPr marL="800100" lvl="1" indent="-342900">
              <a:buFont typeface="Arial" panose="020B0604020202020204" pitchFamily="34" charset="0"/>
              <a:buChar char="•"/>
            </a:pPr>
            <a:r>
              <a:rPr lang="fr-FR" sz="2000" dirty="0">
                <a:latin typeface="Aptos" panose="020B0004020202020204" pitchFamily="34" charset="0"/>
              </a:rPr>
              <a:t>Inventaires</a:t>
            </a:r>
          </a:p>
          <a:p>
            <a:endParaRPr lang="fr-FR" sz="2000" dirty="0">
              <a:latin typeface="Aptos" panose="020B0004020202020204" pitchFamily="34" charset="0"/>
            </a:endParaRPr>
          </a:p>
          <a:p>
            <a:r>
              <a:rPr lang="fr-FR" sz="2000" b="1" dirty="0">
                <a:latin typeface="Aptos" panose="020B0004020202020204" pitchFamily="34" charset="0"/>
              </a:rPr>
              <a:t>Ce que recherche l'administration</a:t>
            </a:r>
          </a:p>
          <a:p>
            <a:pPr marL="800100" lvl="1" indent="-342900">
              <a:buFont typeface="Arial" panose="020B0604020202020204" pitchFamily="34" charset="0"/>
              <a:buChar char="•"/>
            </a:pPr>
            <a:r>
              <a:rPr lang="fr-FR" sz="2000" dirty="0">
                <a:latin typeface="Aptos" panose="020B0004020202020204" pitchFamily="34" charset="0"/>
              </a:rPr>
              <a:t>Cohérence</a:t>
            </a:r>
          </a:p>
          <a:p>
            <a:pPr marL="800100" lvl="1" indent="-342900">
              <a:buFont typeface="Arial" panose="020B0604020202020204" pitchFamily="34" charset="0"/>
              <a:buChar char="•"/>
            </a:pPr>
            <a:r>
              <a:rPr lang="fr-FR" sz="2000" dirty="0">
                <a:latin typeface="Aptos" panose="020B0004020202020204" pitchFamily="34" charset="0"/>
              </a:rPr>
              <a:t>Traçabilité</a:t>
            </a:r>
          </a:p>
          <a:p>
            <a:pPr marL="800100" lvl="1" indent="-342900">
              <a:buFont typeface="Arial" panose="020B0604020202020204" pitchFamily="34" charset="0"/>
              <a:buChar char="•"/>
            </a:pPr>
            <a:r>
              <a:rPr lang="fr-FR" sz="2000" dirty="0">
                <a:latin typeface="Aptos" panose="020B0004020202020204" pitchFamily="34" charset="0"/>
              </a:rPr>
              <a:t>Justification</a:t>
            </a:r>
          </a:p>
          <a:p>
            <a:pPr marL="800100" lvl="1" indent="-342900">
              <a:buFont typeface="Arial" panose="020B0604020202020204" pitchFamily="34" charset="0"/>
              <a:buChar char="•"/>
            </a:pPr>
            <a:r>
              <a:rPr lang="fr-FR" sz="2000" dirty="0">
                <a:latin typeface="Aptos" panose="020B0004020202020204" pitchFamily="34" charset="0"/>
              </a:rPr>
              <a:t>Concordance des données</a:t>
            </a:r>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Contrôles fiscaux et préparation de l’officine</a:t>
            </a:r>
            <a:endParaRPr lang="en-US" sz="2400" b="1" dirty="0">
              <a:solidFill>
                <a:schemeClr val="bg1"/>
              </a:solidFill>
            </a:endParaRPr>
          </a:p>
        </p:txBody>
      </p:sp>
      <p:sp>
        <p:nvSpPr>
          <p:cNvPr id="13" name="ZoneTexte 12">
            <a:extLst>
              <a:ext uri="{FF2B5EF4-FFF2-40B4-BE49-F238E27FC236}">
                <a16:creationId xmlns:a16="http://schemas.microsoft.com/office/drawing/2014/main" id="{CC58C479-1607-4F2E-9C58-70211CD8216A}"/>
              </a:ext>
            </a:extLst>
          </p:cNvPr>
          <p:cNvSpPr txBox="1"/>
          <p:nvPr/>
        </p:nvSpPr>
        <p:spPr>
          <a:xfrm>
            <a:off x="6219999" y="4535706"/>
            <a:ext cx="5633643" cy="1631216"/>
          </a:xfrm>
          <a:prstGeom prst="rect">
            <a:avLst/>
          </a:prstGeom>
          <a:noFill/>
        </p:spPr>
        <p:txBody>
          <a:bodyPr wrap="square">
            <a:spAutoFit/>
          </a:bodyPr>
          <a:lstStyle/>
          <a:p>
            <a:r>
              <a:rPr lang="fr-FR" sz="2000" b="1" dirty="0">
                <a:latin typeface="Aptos" panose="020B0004020202020204" pitchFamily="34" charset="0"/>
              </a:rPr>
              <a:t>Erreurs fréquentes</a:t>
            </a:r>
          </a:p>
          <a:p>
            <a:pPr marL="800100" lvl="1" indent="-342900">
              <a:buFont typeface="Arial" panose="020B0604020202020204" pitchFamily="34" charset="0"/>
              <a:buChar char="•"/>
            </a:pPr>
            <a:r>
              <a:rPr lang="fr-FR" sz="2000" dirty="0">
                <a:latin typeface="Aptos" panose="020B0004020202020204" pitchFamily="34" charset="0"/>
              </a:rPr>
              <a:t>Factures manquantes</a:t>
            </a:r>
          </a:p>
          <a:p>
            <a:pPr marL="800100" lvl="1" indent="-342900">
              <a:buFont typeface="Arial" panose="020B0604020202020204" pitchFamily="34" charset="0"/>
              <a:buChar char="•"/>
            </a:pPr>
            <a:r>
              <a:rPr lang="fr-FR" sz="2000" dirty="0">
                <a:latin typeface="Aptos" panose="020B0004020202020204" pitchFamily="34" charset="0"/>
              </a:rPr>
              <a:t>Comptabilité incomplète</a:t>
            </a:r>
          </a:p>
          <a:p>
            <a:pPr marL="800100" lvl="1" indent="-342900">
              <a:buFont typeface="Arial" panose="020B0604020202020204" pitchFamily="34" charset="0"/>
              <a:buChar char="•"/>
            </a:pPr>
            <a:r>
              <a:rPr lang="fr-FR" sz="2000" dirty="0">
                <a:latin typeface="Aptos" panose="020B0004020202020204" pitchFamily="34" charset="0"/>
              </a:rPr>
              <a:t>Déclarations tardives</a:t>
            </a:r>
          </a:p>
          <a:p>
            <a:pPr marL="800100" lvl="1" indent="-342900">
              <a:buFont typeface="Arial" panose="020B0604020202020204" pitchFamily="34" charset="0"/>
              <a:buChar char="•"/>
            </a:pPr>
            <a:r>
              <a:rPr lang="fr-FR" sz="2000" dirty="0">
                <a:latin typeface="Aptos" panose="020B0004020202020204" pitchFamily="34" charset="0"/>
              </a:rPr>
              <a:t>Écarts non justifiés</a:t>
            </a:r>
          </a:p>
        </p:txBody>
      </p:sp>
    </p:spTree>
    <p:extLst>
      <p:ext uri="{BB962C8B-B14F-4D97-AF65-F5344CB8AC3E}">
        <p14:creationId xmlns:p14="http://schemas.microsoft.com/office/powerpoint/2010/main" val="2614615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ZoneTexte 10">
            <a:extLst>
              <a:ext uri="{FF2B5EF4-FFF2-40B4-BE49-F238E27FC236}">
                <a16:creationId xmlns:a16="http://schemas.microsoft.com/office/drawing/2014/main" id="{E368C0A9-D643-4F38-B930-0EA0700E48BA}"/>
              </a:ext>
            </a:extLst>
          </p:cNvPr>
          <p:cNvSpPr txBox="1"/>
          <p:nvPr/>
        </p:nvSpPr>
        <p:spPr>
          <a:xfrm>
            <a:off x="753040" y="2073494"/>
            <a:ext cx="11100601" cy="4401205"/>
          </a:xfrm>
          <a:prstGeom prst="rect">
            <a:avLst/>
          </a:prstGeom>
          <a:noFill/>
        </p:spPr>
        <p:txBody>
          <a:bodyPr wrap="square">
            <a:spAutoFit/>
          </a:bodyPr>
          <a:lstStyle/>
          <a:p>
            <a:r>
              <a:rPr lang="fr-FR" sz="2000" b="1" dirty="0">
                <a:latin typeface="Aptos" panose="020B0004020202020204" pitchFamily="34" charset="0"/>
              </a:rPr>
              <a:t>Pourquoi sont-elles importantes ? </a:t>
            </a:r>
            <a:r>
              <a:rPr lang="fr-FR" sz="2000" dirty="0">
                <a:latin typeface="Aptos" panose="020B0004020202020204" pitchFamily="34" charset="0"/>
              </a:rPr>
              <a:t>: Le personnel constitue souvent :20 à 40 % des charges d'exploitation.</a:t>
            </a:r>
          </a:p>
          <a:p>
            <a:endParaRPr lang="fr-FR" sz="2000" dirty="0">
              <a:latin typeface="Aptos" panose="020B0004020202020204" pitchFamily="34" charset="0"/>
            </a:endParaRPr>
          </a:p>
          <a:p>
            <a:r>
              <a:rPr lang="fr-FR" sz="2000" b="1" dirty="0">
                <a:latin typeface="Aptos" panose="020B0004020202020204" pitchFamily="34" charset="0"/>
              </a:rPr>
              <a:t>Obligations principales : </a:t>
            </a:r>
          </a:p>
          <a:p>
            <a:pPr marL="800100" lvl="1" indent="-342900">
              <a:buFont typeface="Arial" panose="020B0604020202020204" pitchFamily="34" charset="0"/>
              <a:buChar char="•"/>
            </a:pPr>
            <a:r>
              <a:rPr lang="fr-FR" sz="2000" dirty="0">
                <a:latin typeface="Aptos" panose="020B0004020202020204" pitchFamily="34" charset="0"/>
              </a:rPr>
              <a:t>Contrats de travail</a:t>
            </a:r>
          </a:p>
          <a:p>
            <a:pPr marL="800100" lvl="1" indent="-342900">
              <a:buFont typeface="Arial" panose="020B0604020202020204" pitchFamily="34" charset="0"/>
              <a:buChar char="•"/>
            </a:pPr>
            <a:r>
              <a:rPr lang="fr-FR" sz="2000" dirty="0">
                <a:latin typeface="Aptos" panose="020B0004020202020204" pitchFamily="34" charset="0"/>
              </a:rPr>
              <a:t>Déclarations sociales</a:t>
            </a:r>
          </a:p>
          <a:p>
            <a:pPr marL="800100" lvl="1" indent="-342900">
              <a:buFont typeface="Arial" panose="020B0604020202020204" pitchFamily="34" charset="0"/>
              <a:buChar char="•"/>
            </a:pPr>
            <a:r>
              <a:rPr lang="fr-FR" sz="2000" dirty="0">
                <a:latin typeface="Aptos" panose="020B0004020202020204" pitchFamily="34" charset="0"/>
              </a:rPr>
              <a:t>Cotisations sociales</a:t>
            </a:r>
          </a:p>
          <a:p>
            <a:pPr marL="800100" lvl="1" indent="-342900">
              <a:buFont typeface="Arial" panose="020B0604020202020204" pitchFamily="34" charset="0"/>
              <a:buChar char="•"/>
            </a:pPr>
            <a:r>
              <a:rPr lang="fr-FR" sz="2000" dirty="0">
                <a:latin typeface="Aptos" panose="020B0004020202020204" pitchFamily="34" charset="0"/>
              </a:rPr>
              <a:t>Registre du personnel</a:t>
            </a:r>
          </a:p>
          <a:p>
            <a:pPr marL="800100" lvl="1" indent="-342900">
              <a:buFont typeface="Arial" panose="020B0604020202020204" pitchFamily="34" charset="0"/>
              <a:buChar char="•"/>
            </a:pPr>
            <a:r>
              <a:rPr lang="fr-FR" sz="2000" dirty="0">
                <a:latin typeface="Aptos" panose="020B0004020202020204" pitchFamily="34" charset="0"/>
              </a:rPr>
              <a:t>Respect du droit du travail</a:t>
            </a:r>
          </a:p>
          <a:p>
            <a:endParaRPr lang="fr-FR" sz="2000" dirty="0">
              <a:latin typeface="Aptos" panose="020B0004020202020204" pitchFamily="34" charset="0"/>
            </a:endParaRPr>
          </a:p>
          <a:p>
            <a:r>
              <a:rPr lang="fr-FR" sz="2000" b="1" dirty="0">
                <a:latin typeface="Aptos" panose="020B0004020202020204" pitchFamily="34" charset="0"/>
              </a:rPr>
              <a:t>Contexte bénin </a:t>
            </a:r>
            <a:r>
              <a:rPr lang="fr-FR" sz="2000" dirty="0">
                <a:latin typeface="Aptos" panose="020B0004020202020204" pitchFamily="34" charset="0"/>
              </a:rPr>
              <a:t>: Le pharmacien employeur doit notamment respecter :</a:t>
            </a:r>
          </a:p>
          <a:p>
            <a:pPr marL="800100" lvl="1" indent="-342900">
              <a:buFont typeface="Arial" panose="020B0604020202020204" pitchFamily="34" charset="0"/>
              <a:buChar char="•"/>
            </a:pPr>
            <a:r>
              <a:rPr lang="fr-FR" sz="2000" dirty="0">
                <a:latin typeface="Aptos" panose="020B0004020202020204" pitchFamily="34" charset="0"/>
              </a:rPr>
              <a:t>Le code du travail ;</a:t>
            </a:r>
          </a:p>
          <a:p>
            <a:pPr marL="800100" lvl="1" indent="-342900">
              <a:buFont typeface="Arial" panose="020B0604020202020204" pitchFamily="34" charset="0"/>
              <a:buChar char="•"/>
            </a:pPr>
            <a:r>
              <a:rPr lang="fr-FR" sz="2000" dirty="0">
                <a:latin typeface="Aptos" panose="020B0004020202020204" pitchFamily="34" charset="0"/>
              </a:rPr>
              <a:t>Les obligations de déclaration ;</a:t>
            </a:r>
          </a:p>
          <a:p>
            <a:pPr marL="800100" lvl="1" indent="-342900">
              <a:buFont typeface="Arial" panose="020B0604020202020204" pitchFamily="34" charset="0"/>
              <a:buChar char="•"/>
            </a:pPr>
            <a:r>
              <a:rPr lang="fr-FR" sz="2000" dirty="0">
                <a:latin typeface="Aptos" panose="020B0004020202020204" pitchFamily="34" charset="0"/>
              </a:rPr>
              <a:t>Les obligations relatives à la protection sociale.</a:t>
            </a:r>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Obligations sociales de l’officine</a:t>
            </a:r>
            <a:endParaRPr lang="en-US" sz="2400" b="1" dirty="0">
              <a:solidFill>
                <a:schemeClr val="bg1"/>
              </a:solidFill>
            </a:endParaRPr>
          </a:p>
        </p:txBody>
      </p:sp>
    </p:spTree>
    <p:extLst>
      <p:ext uri="{BB962C8B-B14F-4D97-AF65-F5344CB8AC3E}">
        <p14:creationId xmlns:p14="http://schemas.microsoft.com/office/powerpoint/2010/main" val="3847830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4783694" cy="3785652"/>
          </a:xfrm>
          <a:prstGeom prst="rect">
            <a:avLst/>
          </a:prstGeom>
          <a:noFill/>
        </p:spPr>
        <p:txBody>
          <a:bodyPr wrap="square">
            <a:spAutoFit/>
          </a:bodyPr>
          <a:lstStyle/>
          <a:p>
            <a:r>
              <a:rPr lang="fr-FR" sz="2000" b="1" dirty="0">
                <a:latin typeface="Aptos" panose="020B0004020202020204" pitchFamily="34" charset="0"/>
              </a:rPr>
              <a:t>Éléments constitutifs : </a:t>
            </a:r>
          </a:p>
          <a:p>
            <a:pPr marL="800100" lvl="1" indent="-342900">
              <a:buFont typeface="Arial" panose="020B0604020202020204" pitchFamily="34" charset="0"/>
              <a:buChar char="•"/>
            </a:pPr>
            <a:r>
              <a:rPr lang="fr-FR" sz="2000" dirty="0">
                <a:latin typeface="Aptos" panose="020B0004020202020204" pitchFamily="34" charset="0"/>
              </a:rPr>
              <a:t>Salaire de base</a:t>
            </a:r>
          </a:p>
          <a:p>
            <a:pPr marL="800100" lvl="1" indent="-342900">
              <a:buFont typeface="Arial" panose="020B0604020202020204" pitchFamily="34" charset="0"/>
              <a:buChar char="•"/>
            </a:pPr>
            <a:r>
              <a:rPr lang="fr-FR" sz="2000" dirty="0">
                <a:latin typeface="Aptos" panose="020B0004020202020204" pitchFamily="34" charset="0"/>
              </a:rPr>
              <a:t>Primes</a:t>
            </a:r>
          </a:p>
          <a:p>
            <a:pPr marL="800100" lvl="1" indent="-342900">
              <a:buFont typeface="Arial" panose="020B0604020202020204" pitchFamily="34" charset="0"/>
              <a:buChar char="•"/>
            </a:pPr>
            <a:r>
              <a:rPr lang="fr-FR" sz="2000" dirty="0">
                <a:latin typeface="Aptos" panose="020B0004020202020204" pitchFamily="34" charset="0"/>
              </a:rPr>
              <a:t>Heures supplémentaires</a:t>
            </a:r>
          </a:p>
          <a:p>
            <a:pPr marL="800100" lvl="1" indent="-342900">
              <a:buFont typeface="Arial" panose="020B0604020202020204" pitchFamily="34" charset="0"/>
              <a:buChar char="•"/>
            </a:pPr>
            <a:r>
              <a:rPr lang="fr-FR" sz="2000" dirty="0">
                <a:latin typeface="Aptos" panose="020B0004020202020204" pitchFamily="34" charset="0"/>
              </a:rPr>
              <a:t>Congés</a:t>
            </a:r>
          </a:p>
          <a:p>
            <a:pPr marL="800100" lvl="1" indent="-342900">
              <a:buFont typeface="Arial" panose="020B0604020202020204" pitchFamily="34" charset="0"/>
              <a:buChar char="•"/>
            </a:pPr>
            <a:r>
              <a:rPr lang="fr-FR" sz="2000" dirty="0">
                <a:latin typeface="Aptos" panose="020B0004020202020204" pitchFamily="34" charset="0"/>
              </a:rPr>
              <a:t>Retenues</a:t>
            </a:r>
          </a:p>
          <a:p>
            <a:pPr marL="800100" lvl="1" indent="-342900">
              <a:buFont typeface="Arial" panose="020B0604020202020204" pitchFamily="34" charset="0"/>
              <a:buChar char="•"/>
            </a:pPr>
            <a:r>
              <a:rPr lang="fr-FR" sz="2000" dirty="0">
                <a:latin typeface="Aptos" panose="020B0004020202020204" pitchFamily="34" charset="0"/>
              </a:rPr>
              <a:t>Cotisations</a:t>
            </a:r>
          </a:p>
          <a:p>
            <a:endParaRPr lang="fr-FR" sz="2000" dirty="0">
              <a:latin typeface="Aptos" panose="020B0004020202020204" pitchFamily="34" charset="0"/>
            </a:endParaRPr>
          </a:p>
          <a:p>
            <a:r>
              <a:rPr lang="fr-FR" sz="2000" b="1" dirty="0">
                <a:latin typeface="Aptos" panose="020B0004020202020204" pitchFamily="34" charset="0"/>
              </a:rPr>
              <a:t>Risques fréquents :</a:t>
            </a:r>
          </a:p>
          <a:p>
            <a:pPr marL="800100" lvl="1" indent="-342900">
              <a:buFont typeface="Arial" panose="020B0604020202020204" pitchFamily="34" charset="0"/>
              <a:buChar char="•"/>
            </a:pPr>
            <a:r>
              <a:rPr lang="fr-FR" sz="2000" dirty="0">
                <a:latin typeface="Aptos" panose="020B0004020202020204" pitchFamily="34" charset="0"/>
              </a:rPr>
              <a:t>Erreurs de calcul</a:t>
            </a:r>
          </a:p>
          <a:p>
            <a:pPr marL="800100" lvl="1" indent="-342900">
              <a:buFont typeface="Arial" panose="020B0604020202020204" pitchFamily="34" charset="0"/>
              <a:buChar char="•"/>
            </a:pPr>
            <a:r>
              <a:rPr lang="fr-FR" sz="2000" dirty="0">
                <a:latin typeface="Aptos" panose="020B0004020202020204" pitchFamily="34" charset="0"/>
              </a:rPr>
              <a:t>Déclarations inexactes</a:t>
            </a:r>
          </a:p>
          <a:p>
            <a:pPr marL="800100" lvl="1" indent="-342900">
              <a:buFont typeface="Arial" panose="020B0604020202020204" pitchFamily="34" charset="0"/>
              <a:buChar char="•"/>
            </a:pPr>
            <a:r>
              <a:rPr lang="fr-FR" sz="2000" dirty="0">
                <a:latin typeface="Aptos" panose="020B0004020202020204" pitchFamily="34" charset="0"/>
              </a:rPr>
              <a:t>Retards de paiement</a:t>
            </a:r>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Gestion de la paie</a:t>
            </a:r>
            <a:endParaRPr lang="en-US" sz="2400" b="1" dirty="0">
              <a:solidFill>
                <a:schemeClr val="bg1"/>
              </a:solidFill>
            </a:endParaRPr>
          </a:p>
        </p:txBody>
      </p:sp>
      <p:sp>
        <p:nvSpPr>
          <p:cNvPr id="10" name="ZoneTexte 9">
            <a:extLst>
              <a:ext uri="{FF2B5EF4-FFF2-40B4-BE49-F238E27FC236}">
                <a16:creationId xmlns:a16="http://schemas.microsoft.com/office/drawing/2014/main" id="{93430640-DC15-4718-BCE1-C47C8E042F9E}"/>
              </a:ext>
            </a:extLst>
          </p:cNvPr>
          <p:cNvSpPr txBox="1"/>
          <p:nvPr/>
        </p:nvSpPr>
        <p:spPr>
          <a:xfrm>
            <a:off x="6655267" y="4535707"/>
            <a:ext cx="4783694" cy="1323439"/>
          </a:xfrm>
          <a:prstGeom prst="rect">
            <a:avLst/>
          </a:prstGeom>
          <a:noFill/>
        </p:spPr>
        <p:txBody>
          <a:bodyPr wrap="square">
            <a:spAutoFit/>
          </a:bodyPr>
          <a:lstStyle/>
          <a:p>
            <a:r>
              <a:rPr lang="fr-FR" sz="2000" b="1" dirty="0">
                <a:latin typeface="Aptos" panose="020B0004020202020204" pitchFamily="34" charset="0"/>
              </a:rPr>
              <a:t>Bonnes pratiques :</a:t>
            </a:r>
          </a:p>
          <a:p>
            <a:pPr marL="800100" lvl="1" indent="-342900">
              <a:buFont typeface="Arial" panose="020B0604020202020204" pitchFamily="34" charset="0"/>
              <a:buChar char="•"/>
            </a:pPr>
            <a:r>
              <a:rPr lang="fr-FR" sz="2000" dirty="0">
                <a:latin typeface="Aptos" panose="020B0004020202020204" pitchFamily="34" charset="0"/>
              </a:rPr>
              <a:t>Logiciel de paie</a:t>
            </a:r>
          </a:p>
          <a:p>
            <a:pPr marL="800100" lvl="1" indent="-342900">
              <a:buFont typeface="Arial" panose="020B0604020202020204" pitchFamily="34" charset="0"/>
              <a:buChar char="•"/>
            </a:pPr>
            <a:r>
              <a:rPr lang="fr-FR" sz="2000" dirty="0">
                <a:latin typeface="Aptos" panose="020B0004020202020204" pitchFamily="34" charset="0"/>
              </a:rPr>
              <a:t>Vérification mensuelle</a:t>
            </a:r>
          </a:p>
          <a:p>
            <a:pPr marL="800100" lvl="1" indent="-342900">
              <a:buFont typeface="Arial" panose="020B0604020202020204" pitchFamily="34" charset="0"/>
              <a:buChar char="•"/>
            </a:pPr>
            <a:r>
              <a:rPr lang="fr-FR" sz="2000" dirty="0">
                <a:latin typeface="Aptos" panose="020B0004020202020204" pitchFamily="34" charset="0"/>
              </a:rPr>
              <a:t>Archivage sécurisé</a:t>
            </a:r>
          </a:p>
        </p:txBody>
      </p:sp>
    </p:spTree>
    <p:extLst>
      <p:ext uri="{BB962C8B-B14F-4D97-AF65-F5344CB8AC3E}">
        <p14:creationId xmlns:p14="http://schemas.microsoft.com/office/powerpoint/2010/main" val="1432383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4783694" cy="3477875"/>
          </a:xfrm>
          <a:prstGeom prst="rect">
            <a:avLst/>
          </a:prstGeom>
          <a:noFill/>
        </p:spPr>
        <p:txBody>
          <a:bodyPr wrap="square">
            <a:spAutoFit/>
          </a:bodyPr>
          <a:lstStyle/>
          <a:p>
            <a:r>
              <a:rPr lang="fr-FR" sz="2000" b="1" dirty="0">
                <a:latin typeface="Aptos" panose="020B0004020202020204" pitchFamily="34" charset="0"/>
              </a:rPr>
              <a:t>Objectifs</a:t>
            </a:r>
          </a:p>
          <a:p>
            <a:r>
              <a:rPr lang="fr-FR" sz="2000" dirty="0">
                <a:latin typeface="Aptos" panose="020B0004020202020204" pitchFamily="34" charset="0"/>
              </a:rPr>
              <a:t>Protéger les travailleurs contre :</a:t>
            </a:r>
          </a:p>
          <a:p>
            <a:pPr marL="800100" lvl="1" indent="-342900">
              <a:buFont typeface="Arial" panose="020B0604020202020204" pitchFamily="34" charset="0"/>
              <a:buChar char="•"/>
            </a:pPr>
            <a:r>
              <a:rPr lang="fr-FR" sz="2000" dirty="0">
                <a:latin typeface="Aptos" panose="020B0004020202020204" pitchFamily="34" charset="0"/>
              </a:rPr>
              <a:t>Maladie</a:t>
            </a:r>
          </a:p>
          <a:p>
            <a:pPr marL="800100" lvl="1" indent="-342900">
              <a:buFont typeface="Arial" panose="020B0604020202020204" pitchFamily="34" charset="0"/>
              <a:buChar char="•"/>
            </a:pPr>
            <a:r>
              <a:rPr lang="fr-FR" sz="2000" dirty="0">
                <a:latin typeface="Aptos" panose="020B0004020202020204" pitchFamily="34" charset="0"/>
              </a:rPr>
              <a:t>Invalidité</a:t>
            </a:r>
          </a:p>
          <a:p>
            <a:pPr marL="800100" lvl="1" indent="-342900">
              <a:buFont typeface="Arial" panose="020B0604020202020204" pitchFamily="34" charset="0"/>
              <a:buChar char="•"/>
            </a:pPr>
            <a:r>
              <a:rPr lang="fr-FR" sz="2000" dirty="0">
                <a:latin typeface="Aptos" panose="020B0004020202020204" pitchFamily="34" charset="0"/>
              </a:rPr>
              <a:t>Retraite</a:t>
            </a:r>
          </a:p>
          <a:p>
            <a:pPr marL="800100" lvl="1" indent="-342900">
              <a:buFont typeface="Arial" panose="020B0604020202020204" pitchFamily="34" charset="0"/>
              <a:buChar char="•"/>
            </a:pPr>
            <a:r>
              <a:rPr lang="fr-FR" sz="2000" dirty="0">
                <a:latin typeface="Aptos" panose="020B0004020202020204" pitchFamily="34" charset="0"/>
              </a:rPr>
              <a:t>Accidents professionnels</a:t>
            </a:r>
          </a:p>
          <a:p>
            <a:endParaRPr lang="fr-FR" sz="2000" dirty="0">
              <a:latin typeface="Aptos" panose="020B0004020202020204" pitchFamily="34" charset="0"/>
            </a:endParaRPr>
          </a:p>
          <a:p>
            <a:r>
              <a:rPr lang="fr-FR" sz="2000" b="1" dirty="0">
                <a:latin typeface="Aptos" panose="020B0004020202020204" pitchFamily="34" charset="0"/>
              </a:rPr>
              <a:t>Responsabilités de l'employeur</a:t>
            </a:r>
          </a:p>
          <a:p>
            <a:pPr marL="800100" lvl="1" indent="-342900">
              <a:buFont typeface="Arial" panose="020B0604020202020204" pitchFamily="34" charset="0"/>
              <a:buChar char="•"/>
            </a:pPr>
            <a:r>
              <a:rPr lang="fr-FR" sz="2000" dirty="0">
                <a:latin typeface="Aptos" panose="020B0004020202020204" pitchFamily="34" charset="0"/>
              </a:rPr>
              <a:t>Déclaration</a:t>
            </a:r>
          </a:p>
          <a:p>
            <a:pPr marL="800100" lvl="1" indent="-342900">
              <a:buFont typeface="Arial" panose="020B0604020202020204" pitchFamily="34" charset="0"/>
              <a:buChar char="•"/>
            </a:pPr>
            <a:r>
              <a:rPr lang="fr-FR" sz="2000" dirty="0">
                <a:latin typeface="Aptos" panose="020B0004020202020204" pitchFamily="34" charset="0"/>
              </a:rPr>
              <a:t>Paiement des cotisations</a:t>
            </a:r>
          </a:p>
          <a:p>
            <a:pPr marL="800100" lvl="1" indent="-342900">
              <a:buFont typeface="Arial" panose="020B0604020202020204" pitchFamily="34" charset="0"/>
              <a:buChar char="•"/>
            </a:pPr>
            <a:r>
              <a:rPr lang="fr-FR" sz="2000" dirty="0">
                <a:latin typeface="Aptos" panose="020B0004020202020204" pitchFamily="34" charset="0"/>
              </a:rPr>
              <a:t>Mise à jour des informations</a:t>
            </a:r>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CNSS et protection sociale</a:t>
            </a:r>
            <a:endParaRPr lang="en-US" sz="2400" b="1" dirty="0">
              <a:solidFill>
                <a:schemeClr val="bg1"/>
              </a:solidFill>
            </a:endParaRPr>
          </a:p>
        </p:txBody>
      </p:sp>
      <p:sp>
        <p:nvSpPr>
          <p:cNvPr id="10" name="ZoneTexte 9">
            <a:extLst>
              <a:ext uri="{FF2B5EF4-FFF2-40B4-BE49-F238E27FC236}">
                <a16:creationId xmlns:a16="http://schemas.microsoft.com/office/drawing/2014/main" id="{93430640-DC15-4718-BCE1-C47C8E042F9E}"/>
              </a:ext>
            </a:extLst>
          </p:cNvPr>
          <p:cNvSpPr txBox="1"/>
          <p:nvPr/>
        </p:nvSpPr>
        <p:spPr>
          <a:xfrm>
            <a:off x="6655267" y="4535707"/>
            <a:ext cx="4783694" cy="1323439"/>
          </a:xfrm>
          <a:prstGeom prst="rect">
            <a:avLst/>
          </a:prstGeom>
          <a:noFill/>
        </p:spPr>
        <p:txBody>
          <a:bodyPr wrap="square">
            <a:spAutoFit/>
          </a:bodyPr>
          <a:lstStyle/>
          <a:p>
            <a:r>
              <a:rPr lang="fr-FR" sz="2000" b="1" dirty="0">
                <a:latin typeface="Aptos" panose="020B0004020202020204" pitchFamily="34" charset="0"/>
              </a:rPr>
              <a:t>Risques en cas de non-conformité :</a:t>
            </a:r>
          </a:p>
          <a:p>
            <a:pPr marL="800100" lvl="1" indent="-342900">
              <a:buFont typeface="Arial" panose="020B0604020202020204" pitchFamily="34" charset="0"/>
              <a:buChar char="•"/>
            </a:pPr>
            <a:r>
              <a:rPr lang="fr-FR" sz="2000" dirty="0">
                <a:latin typeface="Aptos" panose="020B0004020202020204" pitchFamily="34" charset="0"/>
              </a:rPr>
              <a:t>Pénalités</a:t>
            </a:r>
          </a:p>
          <a:p>
            <a:pPr marL="800100" lvl="1" indent="-342900">
              <a:buFont typeface="Arial" panose="020B0604020202020204" pitchFamily="34" charset="0"/>
              <a:buChar char="•"/>
            </a:pPr>
            <a:r>
              <a:rPr lang="fr-FR" sz="2000" dirty="0">
                <a:latin typeface="Aptos" panose="020B0004020202020204" pitchFamily="34" charset="0"/>
              </a:rPr>
              <a:t>Redressements</a:t>
            </a:r>
          </a:p>
          <a:p>
            <a:pPr marL="800100" lvl="1" indent="-342900">
              <a:buFont typeface="Arial" panose="020B0604020202020204" pitchFamily="34" charset="0"/>
              <a:buChar char="•"/>
            </a:pPr>
            <a:r>
              <a:rPr lang="fr-FR" sz="2000" dirty="0">
                <a:latin typeface="Aptos" panose="020B0004020202020204" pitchFamily="34" charset="0"/>
              </a:rPr>
              <a:t>Contentieux sociaux</a:t>
            </a:r>
          </a:p>
        </p:txBody>
      </p:sp>
    </p:spTree>
    <p:extLst>
      <p:ext uri="{BB962C8B-B14F-4D97-AF65-F5344CB8AC3E}">
        <p14:creationId xmlns:p14="http://schemas.microsoft.com/office/powerpoint/2010/main" val="2689141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ZoneTexte 10">
            <a:extLst>
              <a:ext uri="{FF2B5EF4-FFF2-40B4-BE49-F238E27FC236}">
                <a16:creationId xmlns:a16="http://schemas.microsoft.com/office/drawing/2014/main" id="{E368C0A9-D643-4F38-B930-0EA0700E48BA}"/>
              </a:ext>
            </a:extLst>
          </p:cNvPr>
          <p:cNvSpPr txBox="1"/>
          <p:nvPr/>
        </p:nvSpPr>
        <p:spPr>
          <a:xfrm>
            <a:off x="753040" y="2073494"/>
            <a:ext cx="9590585" cy="3170099"/>
          </a:xfrm>
          <a:prstGeom prst="rect">
            <a:avLst/>
          </a:prstGeom>
          <a:noFill/>
        </p:spPr>
        <p:txBody>
          <a:bodyPr wrap="square">
            <a:spAutoFit/>
          </a:bodyPr>
          <a:lstStyle/>
          <a:p>
            <a:r>
              <a:rPr lang="fr-FR" sz="2000" b="1" dirty="0">
                <a:latin typeface="Aptos" panose="020B0004020202020204" pitchFamily="34" charset="0"/>
              </a:rPr>
              <a:t>Principe</a:t>
            </a:r>
          </a:p>
          <a:p>
            <a:r>
              <a:rPr lang="fr-FR" sz="2000" dirty="0">
                <a:latin typeface="Aptos" panose="020B0004020202020204" pitchFamily="34" charset="0"/>
              </a:rPr>
              <a:t>Optimiser ne signifie pas contourner la loi.</a:t>
            </a:r>
          </a:p>
          <a:p>
            <a:endParaRPr lang="fr-FR" sz="2000" dirty="0">
              <a:latin typeface="Aptos" panose="020B0004020202020204" pitchFamily="34" charset="0"/>
            </a:endParaRPr>
          </a:p>
          <a:p>
            <a:r>
              <a:rPr lang="fr-FR" sz="2000" b="1" dirty="0">
                <a:latin typeface="Aptos" panose="020B0004020202020204" pitchFamily="34" charset="0"/>
              </a:rPr>
              <a:t>Leviers légaux</a:t>
            </a:r>
          </a:p>
          <a:p>
            <a:pPr marL="800100" lvl="1" indent="-342900">
              <a:buFont typeface="Arial" panose="020B0604020202020204" pitchFamily="34" charset="0"/>
              <a:buChar char="•"/>
            </a:pPr>
            <a:r>
              <a:rPr lang="fr-FR" sz="2000" dirty="0">
                <a:latin typeface="Aptos" panose="020B0004020202020204" pitchFamily="34" charset="0"/>
              </a:rPr>
              <a:t>Maîtrise des charges énergétiques </a:t>
            </a:r>
            <a:r>
              <a:rPr lang="fr-FR" sz="1600" dirty="0">
                <a:latin typeface="Aptos" panose="020B0004020202020204" pitchFamily="34" charset="0"/>
              </a:rPr>
              <a:t>Particulièrement importante au Bénin</a:t>
            </a:r>
            <a:r>
              <a:rPr lang="fr-FR" sz="2000" dirty="0">
                <a:latin typeface="Aptos" panose="020B0004020202020204" pitchFamily="34" charset="0"/>
              </a:rPr>
              <a:t>.</a:t>
            </a:r>
          </a:p>
          <a:p>
            <a:pPr marL="800100" lvl="1" indent="-342900">
              <a:buFont typeface="Arial" panose="020B0604020202020204" pitchFamily="34" charset="0"/>
              <a:buChar char="•"/>
            </a:pPr>
            <a:r>
              <a:rPr lang="fr-FR" sz="2000" dirty="0">
                <a:latin typeface="Aptos" panose="020B0004020202020204" pitchFamily="34" charset="0"/>
              </a:rPr>
              <a:t>Réduction des périmés</a:t>
            </a:r>
          </a:p>
          <a:p>
            <a:pPr marL="800100" lvl="1" indent="-342900">
              <a:buFont typeface="Arial" panose="020B0604020202020204" pitchFamily="34" charset="0"/>
              <a:buChar char="•"/>
            </a:pPr>
            <a:r>
              <a:rPr lang="fr-FR" sz="2000" dirty="0">
                <a:latin typeface="Aptos" panose="020B0004020202020204" pitchFamily="34" charset="0"/>
              </a:rPr>
              <a:t>Optimisation des achats</a:t>
            </a:r>
          </a:p>
          <a:p>
            <a:pPr marL="800100" lvl="1" indent="-342900">
              <a:buFont typeface="Arial" panose="020B0604020202020204" pitchFamily="34" charset="0"/>
              <a:buChar char="•"/>
            </a:pPr>
            <a:r>
              <a:rPr lang="fr-FR" sz="2000" dirty="0">
                <a:latin typeface="Aptos" panose="020B0004020202020204" pitchFamily="34" charset="0"/>
              </a:rPr>
              <a:t>Gestion des contrats fournisseurs</a:t>
            </a:r>
          </a:p>
          <a:p>
            <a:pPr marL="800100" lvl="1" indent="-342900">
              <a:buFont typeface="Arial" panose="020B0604020202020204" pitchFamily="34" charset="0"/>
              <a:buChar char="•"/>
            </a:pPr>
            <a:r>
              <a:rPr lang="fr-FR" sz="2000" dirty="0">
                <a:latin typeface="Aptos" panose="020B0004020202020204" pitchFamily="34" charset="0"/>
              </a:rPr>
              <a:t>Mutualisation de certains services</a:t>
            </a:r>
          </a:p>
          <a:p>
            <a:pPr marL="800100" lvl="1" indent="-342900">
              <a:buFont typeface="Arial" panose="020B0604020202020204" pitchFamily="34" charset="0"/>
              <a:buChar char="•"/>
            </a:pPr>
            <a:r>
              <a:rPr lang="fr-FR" sz="2000" dirty="0">
                <a:latin typeface="Aptos" panose="020B0004020202020204" pitchFamily="34" charset="0"/>
              </a:rPr>
              <a:t>Planification des investissements</a:t>
            </a:r>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Optimisation légale des charges</a:t>
            </a:r>
            <a:endParaRPr lang="en-US" sz="2400" b="1" dirty="0">
              <a:solidFill>
                <a:schemeClr val="bg1"/>
              </a:solidFill>
            </a:endParaRPr>
          </a:p>
        </p:txBody>
      </p:sp>
    </p:spTree>
    <p:extLst>
      <p:ext uri="{BB962C8B-B14F-4D97-AF65-F5344CB8AC3E}">
        <p14:creationId xmlns:p14="http://schemas.microsoft.com/office/powerpoint/2010/main" val="748753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ZoneTexte 10">
            <a:extLst>
              <a:ext uri="{FF2B5EF4-FFF2-40B4-BE49-F238E27FC236}">
                <a16:creationId xmlns:a16="http://schemas.microsoft.com/office/drawing/2014/main" id="{E368C0A9-D643-4F38-B930-0EA0700E48BA}"/>
              </a:ext>
            </a:extLst>
          </p:cNvPr>
          <p:cNvSpPr txBox="1"/>
          <p:nvPr/>
        </p:nvSpPr>
        <p:spPr>
          <a:xfrm>
            <a:off x="753040" y="2073494"/>
            <a:ext cx="9590585" cy="2862322"/>
          </a:xfrm>
          <a:prstGeom prst="rect">
            <a:avLst/>
          </a:prstGeom>
          <a:noFill/>
        </p:spPr>
        <p:txBody>
          <a:bodyPr wrap="square">
            <a:spAutoFit/>
          </a:bodyPr>
          <a:lstStyle/>
          <a:p>
            <a:r>
              <a:rPr lang="fr-FR" sz="2000" b="1" dirty="0">
                <a:latin typeface="Aptos" panose="020B0004020202020204" pitchFamily="34" charset="0"/>
              </a:rPr>
              <a:t>Les bonnes pratiques du titulaire : </a:t>
            </a:r>
          </a:p>
          <a:p>
            <a:pPr marL="800100" lvl="1" indent="-342900">
              <a:buFont typeface="Arial" panose="020B0604020202020204" pitchFamily="34" charset="0"/>
              <a:buChar char="•"/>
            </a:pPr>
            <a:r>
              <a:rPr lang="fr-FR" sz="2000" dirty="0">
                <a:latin typeface="Aptos" panose="020B0004020202020204" pitchFamily="34" charset="0"/>
              </a:rPr>
              <a:t>Séparer finances personnelles et professionnelles</a:t>
            </a:r>
          </a:p>
          <a:p>
            <a:pPr marL="800100" lvl="1" indent="-342900">
              <a:buFont typeface="Arial" panose="020B0604020202020204" pitchFamily="34" charset="0"/>
              <a:buChar char="•"/>
            </a:pPr>
            <a:r>
              <a:rPr lang="fr-FR" sz="2000" dirty="0">
                <a:latin typeface="Aptos" panose="020B0004020202020204" pitchFamily="34" charset="0"/>
              </a:rPr>
              <a:t>Disposer d'un compte bancaire professionnel</a:t>
            </a:r>
          </a:p>
          <a:p>
            <a:pPr marL="800100" lvl="1" indent="-342900">
              <a:buFont typeface="Arial" panose="020B0604020202020204" pitchFamily="34" charset="0"/>
              <a:buChar char="•"/>
            </a:pPr>
            <a:r>
              <a:rPr lang="fr-FR" sz="2000" dirty="0">
                <a:latin typeface="Aptos" panose="020B0004020202020204" pitchFamily="34" charset="0"/>
              </a:rPr>
              <a:t>Mettre en place des procédures d'approbation</a:t>
            </a:r>
          </a:p>
          <a:p>
            <a:pPr marL="800100" lvl="1" indent="-342900">
              <a:buFont typeface="Arial" panose="020B0604020202020204" pitchFamily="34" charset="0"/>
              <a:buChar char="•"/>
            </a:pPr>
            <a:r>
              <a:rPr lang="fr-FR" sz="2000" dirty="0">
                <a:latin typeface="Aptos" panose="020B0004020202020204" pitchFamily="34" charset="0"/>
              </a:rPr>
              <a:t>Réaliser un </a:t>
            </a:r>
            <a:r>
              <a:rPr lang="fr-FR" sz="2000" dirty="0" err="1">
                <a:latin typeface="Aptos" panose="020B0004020202020204" pitchFamily="34" charset="0"/>
              </a:rPr>
              <a:t>reporting</a:t>
            </a:r>
            <a:r>
              <a:rPr lang="fr-FR" sz="2000" dirty="0">
                <a:latin typeface="Aptos" panose="020B0004020202020204" pitchFamily="34" charset="0"/>
              </a:rPr>
              <a:t> mensuel</a:t>
            </a:r>
          </a:p>
          <a:p>
            <a:pPr marL="800100" lvl="1" indent="-342900">
              <a:buFont typeface="Arial" panose="020B0604020202020204" pitchFamily="34" charset="0"/>
              <a:buChar char="•"/>
            </a:pPr>
            <a:r>
              <a:rPr lang="fr-FR" sz="2000" dirty="0">
                <a:latin typeface="Aptos" panose="020B0004020202020204" pitchFamily="34" charset="0"/>
              </a:rPr>
              <a:t>Suivre les indicateurs financiers</a:t>
            </a:r>
          </a:p>
          <a:p>
            <a:endParaRPr lang="fr-FR" sz="2000" dirty="0">
              <a:latin typeface="Aptos" panose="020B0004020202020204" pitchFamily="34" charset="0"/>
            </a:endParaRPr>
          </a:p>
          <a:p>
            <a:r>
              <a:rPr lang="fr-FR" sz="2000" b="1" dirty="0">
                <a:latin typeface="Aptos" panose="020B0004020202020204" pitchFamily="34" charset="0"/>
              </a:rPr>
              <a:t>Erreur fréquente : </a:t>
            </a:r>
          </a:p>
          <a:p>
            <a:pPr marL="800100" lvl="1" indent="-342900">
              <a:buFont typeface="Arial" panose="020B0604020202020204" pitchFamily="34" charset="0"/>
              <a:buChar char="•"/>
            </a:pPr>
            <a:r>
              <a:rPr lang="fr-FR" sz="2000" dirty="0">
                <a:latin typeface="Aptos" panose="020B0004020202020204" pitchFamily="34" charset="0"/>
              </a:rPr>
              <a:t>Confondre : caisse de l'officine et revenus personnels.</a:t>
            </a:r>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latin typeface="Aptos" panose="020B0004020202020204" pitchFamily="34" charset="0"/>
              </a:rPr>
              <a:t>Gouvernance financière de l’officine</a:t>
            </a:r>
          </a:p>
        </p:txBody>
      </p:sp>
    </p:spTree>
    <p:extLst>
      <p:ext uri="{BB962C8B-B14F-4D97-AF65-F5344CB8AC3E}">
        <p14:creationId xmlns:p14="http://schemas.microsoft.com/office/powerpoint/2010/main" val="3325830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latin typeface="Aptos" panose="020B0004020202020204" pitchFamily="34" charset="0"/>
              </a:rPr>
              <a:t>Gestion des risques fiscaux et sociaux</a:t>
            </a:r>
          </a:p>
        </p:txBody>
      </p:sp>
      <p:graphicFrame>
        <p:nvGraphicFramePr>
          <p:cNvPr id="2" name="Tableau 1">
            <a:extLst>
              <a:ext uri="{FF2B5EF4-FFF2-40B4-BE49-F238E27FC236}">
                <a16:creationId xmlns:a16="http://schemas.microsoft.com/office/drawing/2014/main" id="{6E977409-79FD-4530-8A2C-48D2AACFDAB0}"/>
              </a:ext>
            </a:extLst>
          </p:cNvPr>
          <p:cNvGraphicFramePr>
            <a:graphicFrameLocks noGrp="1"/>
          </p:cNvGraphicFramePr>
          <p:nvPr>
            <p:extLst>
              <p:ext uri="{D42A27DB-BD31-4B8C-83A1-F6EECF244321}">
                <p14:modId xmlns:p14="http://schemas.microsoft.com/office/powerpoint/2010/main" val="3279391109"/>
              </p:ext>
            </p:extLst>
          </p:nvPr>
        </p:nvGraphicFramePr>
        <p:xfrm>
          <a:off x="753042" y="2198214"/>
          <a:ext cx="10515600" cy="2194560"/>
        </p:xfrm>
        <a:graphic>
          <a:graphicData uri="http://schemas.openxmlformats.org/drawingml/2006/table">
            <a:tbl>
              <a:tblPr/>
              <a:tblGrid>
                <a:gridCol w="5257800">
                  <a:extLst>
                    <a:ext uri="{9D8B030D-6E8A-4147-A177-3AD203B41FA5}">
                      <a16:colId xmlns:a16="http://schemas.microsoft.com/office/drawing/2014/main" val="976544956"/>
                    </a:ext>
                  </a:extLst>
                </a:gridCol>
                <a:gridCol w="5257800">
                  <a:extLst>
                    <a:ext uri="{9D8B030D-6E8A-4147-A177-3AD203B41FA5}">
                      <a16:colId xmlns:a16="http://schemas.microsoft.com/office/drawing/2014/main" val="3642296522"/>
                    </a:ext>
                  </a:extLst>
                </a:gridCol>
              </a:tblGrid>
              <a:tr h="0">
                <a:tc>
                  <a:txBody>
                    <a:bodyPr/>
                    <a:lstStyle/>
                    <a:p>
                      <a:r>
                        <a:rPr lang="fr-FR" b="1" dirty="0">
                          <a:solidFill>
                            <a:schemeClr val="bg1"/>
                          </a:solidFill>
                          <a:latin typeface="Aptos" panose="020B0004020202020204" pitchFamily="34" charset="0"/>
                        </a:rPr>
                        <a:t>Risque</a:t>
                      </a:r>
                    </a:p>
                  </a:txBody>
                  <a:tcPr anchor="ctr">
                    <a:lnL>
                      <a:noFill/>
                    </a:lnL>
                    <a:lnR>
                      <a:noFill/>
                    </a:lnR>
                    <a:lnT>
                      <a:noFill/>
                    </a:lnT>
                    <a:lnB>
                      <a:noFill/>
                    </a:lnB>
                    <a:solidFill>
                      <a:schemeClr val="accent2"/>
                    </a:solidFill>
                  </a:tcPr>
                </a:tc>
                <a:tc>
                  <a:txBody>
                    <a:bodyPr/>
                    <a:lstStyle/>
                    <a:p>
                      <a:r>
                        <a:rPr lang="fr-FR" b="1" dirty="0">
                          <a:solidFill>
                            <a:schemeClr val="bg1"/>
                          </a:solidFill>
                          <a:latin typeface="Aptos" panose="020B0004020202020204" pitchFamily="34" charset="0"/>
                        </a:rPr>
                        <a:t>Impact</a:t>
                      </a:r>
                    </a:p>
                  </a:txBody>
                  <a:tcPr anchor="ctr">
                    <a:lnL>
                      <a:noFill/>
                    </a:lnL>
                    <a:lnR>
                      <a:noFill/>
                    </a:lnR>
                    <a:lnT>
                      <a:noFill/>
                    </a:lnT>
                    <a:lnB>
                      <a:noFill/>
                    </a:lnB>
                    <a:solidFill>
                      <a:schemeClr val="accent2"/>
                    </a:solidFill>
                  </a:tcPr>
                </a:tc>
                <a:extLst>
                  <a:ext uri="{0D108BD9-81ED-4DB2-BD59-A6C34878D82A}">
                    <a16:rowId xmlns:a16="http://schemas.microsoft.com/office/drawing/2014/main" val="3922186174"/>
                  </a:ext>
                </a:extLst>
              </a:tr>
              <a:tr h="0">
                <a:tc>
                  <a:txBody>
                    <a:bodyPr/>
                    <a:lstStyle/>
                    <a:p>
                      <a:r>
                        <a:rPr lang="fr-FR" dirty="0">
                          <a:latin typeface="Aptos" panose="020B0004020202020204" pitchFamily="34" charset="0"/>
                        </a:rPr>
                        <a:t>Déclaration tardive</a:t>
                      </a:r>
                    </a:p>
                  </a:txBody>
                  <a:tcPr anchor="ctr">
                    <a:lnL>
                      <a:noFill/>
                    </a:lnL>
                    <a:lnR>
                      <a:noFill/>
                    </a:lnR>
                    <a:lnT>
                      <a:noFill/>
                    </a:lnT>
                    <a:lnB>
                      <a:noFill/>
                    </a:lnB>
                  </a:tcPr>
                </a:tc>
                <a:tc>
                  <a:txBody>
                    <a:bodyPr/>
                    <a:lstStyle/>
                    <a:p>
                      <a:r>
                        <a:rPr lang="fr-FR" dirty="0">
                          <a:latin typeface="Aptos" panose="020B0004020202020204" pitchFamily="34" charset="0"/>
                        </a:rPr>
                        <a:t>Élevé</a:t>
                      </a:r>
                    </a:p>
                  </a:txBody>
                  <a:tcPr anchor="ctr">
                    <a:lnL>
                      <a:noFill/>
                    </a:lnL>
                    <a:lnR>
                      <a:noFill/>
                    </a:lnR>
                    <a:lnT>
                      <a:noFill/>
                    </a:lnT>
                    <a:lnB>
                      <a:noFill/>
                    </a:lnB>
                  </a:tcPr>
                </a:tc>
                <a:extLst>
                  <a:ext uri="{0D108BD9-81ED-4DB2-BD59-A6C34878D82A}">
                    <a16:rowId xmlns:a16="http://schemas.microsoft.com/office/drawing/2014/main" val="2001659813"/>
                  </a:ext>
                </a:extLst>
              </a:tr>
              <a:tr h="0">
                <a:tc>
                  <a:txBody>
                    <a:bodyPr/>
                    <a:lstStyle/>
                    <a:p>
                      <a:r>
                        <a:rPr lang="fr-FR" dirty="0">
                          <a:latin typeface="Aptos" panose="020B0004020202020204" pitchFamily="34" charset="0"/>
                        </a:rPr>
                        <a:t>Facture manquante</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Moyen</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393787500"/>
                  </a:ext>
                </a:extLst>
              </a:tr>
              <a:tr h="0">
                <a:tc>
                  <a:txBody>
                    <a:bodyPr/>
                    <a:lstStyle/>
                    <a:p>
                      <a:r>
                        <a:rPr lang="fr-FR">
                          <a:latin typeface="Aptos" panose="020B0004020202020204" pitchFamily="34" charset="0"/>
                        </a:rPr>
                        <a:t>Cotisations impayées</a:t>
                      </a:r>
                    </a:p>
                  </a:txBody>
                  <a:tcPr anchor="ctr">
                    <a:lnL>
                      <a:noFill/>
                    </a:lnL>
                    <a:lnR>
                      <a:noFill/>
                    </a:lnR>
                    <a:lnT>
                      <a:noFill/>
                    </a:lnT>
                    <a:lnB>
                      <a:noFill/>
                    </a:lnB>
                  </a:tcPr>
                </a:tc>
                <a:tc>
                  <a:txBody>
                    <a:bodyPr/>
                    <a:lstStyle/>
                    <a:p>
                      <a:r>
                        <a:rPr lang="fr-FR">
                          <a:latin typeface="Aptos" panose="020B0004020202020204" pitchFamily="34" charset="0"/>
                        </a:rPr>
                        <a:t>Élevé</a:t>
                      </a:r>
                    </a:p>
                  </a:txBody>
                  <a:tcPr anchor="ctr">
                    <a:lnL>
                      <a:noFill/>
                    </a:lnL>
                    <a:lnR>
                      <a:noFill/>
                    </a:lnR>
                    <a:lnT>
                      <a:noFill/>
                    </a:lnT>
                    <a:lnB>
                      <a:noFill/>
                    </a:lnB>
                  </a:tcPr>
                </a:tc>
                <a:extLst>
                  <a:ext uri="{0D108BD9-81ED-4DB2-BD59-A6C34878D82A}">
                    <a16:rowId xmlns:a16="http://schemas.microsoft.com/office/drawing/2014/main" val="2083898614"/>
                  </a:ext>
                </a:extLst>
              </a:tr>
              <a:tr h="0">
                <a:tc>
                  <a:txBody>
                    <a:bodyPr/>
                    <a:lstStyle/>
                    <a:p>
                      <a:r>
                        <a:rPr lang="fr-FR" dirty="0">
                          <a:latin typeface="Aptos" panose="020B0004020202020204" pitchFamily="34" charset="0"/>
                        </a:rPr>
                        <a:t>Contrat absent</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Élevé</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458623428"/>
                  </a:ext>
                </a:extLst>
              </a:tr>
              <a:tr h="0">
                <a:tc>
                  <a:txBody>
                    <a:bodyPr/>
                    <a:lstStyle/>
                    <a:p>
                      <a:r>
                        <a:rPr lang="fr-FR">
                          <a:latin typeface="Aptos" panose="020B0004020202020204" pitchFamily="34" charset="0"/>
                        </a:rPr>
                        <a:t>Mauvaise TVA</a:t>
                      </a:r>
                    </a:p>
                  </a:txBody>
                  <a:tcPr anchor="ctr">
                    <a:lnL>
                      <a:noFill/>
                    </a:lnL>
                    <a:lnR>
                      <a:noFill/>
                    </a:lnR>
                    <a:lnT>
                      <a:noFill/>
                    </a:lnT>
                    <a:lnB>
                      <a:noFill/>
                    </a:lnB>
                  </a:tcPr>
                </a:tc>
                <a:tc>
                  <a:txBody>
                    <a:bodyPr/>
                    <a:lstStyle/>
                    <a:p>
                      <a:r>
                        <a:rPr lang="fr-FR" dirty="0">
                          <a:latin typeface="Aptos" panose="020B0004020202020204" pitchFamily="34" charset="0"/>
                        </a:rPr>
                        <a:t>Élevé</a:t>
                      </a:r>
                    </a:p>
                  </a:txBody>
                  <a:tcPr anchor="ctr">
                    <a:lnL>
                      <a:noFill/>
                    </a:lnL>
                    <a:lnR>
                      <a:noFill/>
                    </a:lnR>
                    <a:lnT>
                      <a:noFill/>
                    </a:lnT>
                    <a:lnB>
                      <a:noFill/>
                    </a:lnB>
                  </a:tcPr>
                </a:tc>
                <a:extLst>
                  <a:ext uri="{0D108BD9-81ED-4DB2-BD59-A6C34878D82A}">
                    <a16:rowId xmlns:a16="http://schemas.microsoft.com/office/drawing/2014/main" val="3714271735"/>
                  </a:ext>
                </a:extLst>
              </a:tr>
            </a:tbl>
          </a:graphicData>
        </a:graphic>
      </p:graphicFrame>
      <p:sp>
        <p:nvSpPr>
          <p:cNvPr id="13" name="ZoneTexte 12">
            <a:extLst>
              <a:ext uri="{FF2B5EF4-FFF2-40B4-BE49-F238E27FC236}">
                <a16:creationId xmlns:a16="http://schemas.microsoft.com/office/drawing/2014/main" id="{5029AED0-00AC-4699-86D4-4B310B55E194}"/>
              </a:ext>
            </a:extLst>
          </p:cNvPr>
          <p:cNvSpPr txBox="1"/>
          <p:nvPr/>
        </p:nvSpPr>
        <p:spPr>
          <a:xfrm>
            <a:off x="919730" y="4514008"/>
            <a:ext cx="6107184" cy="1938992"/>
          </a:xfrm>
          <a:prstGeom prst="rect">
            <a:avLst/>
          </a:prstGeom>
          <a:noFill/>
        </p:spPr>
        <p:txBody>
          <a:bodyPr wrap="square">
            <a:spAutoFit/>
          </a:bodyPr>
          <a:lstStyle/>
          <a:p>
            <a:r>
              <a:rPr lang="fr-FR" sz="2000" b="1" dirty="0">
                <a:latin typeface="Aptos" panose="020B0004020202020204" pitchFamily="34" charset="0"/>
              </a:rPr>
              <a:t>Plan de maîtrise : </a:t>
            </a:r>
          </a:p>
          <a:p>
            <a:pPr marL="800100" lvl="1" indent="-342900">
              <a:buFont typeface="Arial" panose="020B0604020202020204" pitchFamily="34" charset="0"/>
              <a:buChar char="•"/>
            </a:pPr>
            <a:r>
              <a:rPr lang="fr-FR" sz="2000" dirty="0">
                <a:latin typeface="Aptos" panose="020B0004020202020204" pitchFamily="34" charset="0"/>
              </a:rPr>
              <a:t>Veille réglementaire</a:t>
            </a:r>
          </a:p>
          <a:p>
            <a:pPr marL="800100" lvl="1" indent="-342900">
              <a:buFont typeface="Arial" panose="020B0604020202020204" pitchFamily="34" charset="0"/>
              <a:buChar char="•"/>
            </a:pPr>
            <a:r>
              <a:rPr lang="fr-FR" sz="2000" dirty="0">
                <a:latin typeface="Aptos" panose="020B0004020202020204" pitchFamily="34" charset="0"/>
              </a:rPr>
              <a:t>Audit interne</a:t>
            </a:r>
          </a:p>
          <a:p>
            <a:pPr marL="800100" lvl="1" indent="-342900">
              <a:buFont typeface="Arial" panose="020B0604020202020204" pitchFamily="34" charset="0"/>
              <a:buChar char="•"/>
            </a:pPr>
            <a:r>
              <a:rPr lang="fr-FR" sz="2000" dirty="0">
                <a:latin typeface="Aptos" panose="020B0004020202020204" pitchFamily="34" charset="0"/>
              </a:rPr>
              <a:t>Formation continue</a:t>
            </a:r>
          </a:p>
          <a:p>
            <a:pPr marL="800100" lvl="1" indent="-342900">
              <a:buFont typeface="Arial" panose="020B0604020202020204" pitchFamily="34" charset="0"/>
              <a:buChar char="•"/>
            </a:pPr>
            <a:r>
              <a:rPr lang="fr-FR" sz="2000" dirty="0">
                <a:latin typeface="Aptos" panose="020B0004020202020204" pitchFamily="34" charset="0"/>
              </a:rPr>
              <a:t>Contrôle documentaire</a:t>
            </a:r>
          </a:p>
          <a:p>
            <a:pPr marL="800100" lvl="1" indent="-342900">
              <a:buFont typeface="Arial" panose="020B0604020202020204" pitchFamily="34" charset="0"/>
              <a:buChar char="•"/>
            </a:pPr>
            <a:r>
              <a:rPr lang="fr-FR" sz="2000" dirty="0">
                <a:latin typeface="Aptos" panose="020B0004020202020204" pitchFamily="34" charset="0"/>
              </a:rPr>
              <a:t>Accompagnement comptable</a:t>
            </a:r>
          </a:p>
        </p:txBody>
      </p:sp>
    </p:spTree>
    <p:extLst>
      <p:ext uri="{BB962C8B-B14F-4D97-AF65-F5344CB8AC3E}">
        <p14:creationId xmlns:p14="http://schemas.microsoft.com/office/powerpoint/2010/main" val="3717102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latin typeface="Aptos" panose="020B0004020202020204" pitchFamily="34" charset="0"/>
              </a:rPr>
              <a:t>Gestion des risques fiscaux et sociaux</a:t>
            </a:r>
          </a:p>
        </p:txBody>
      </p:sp>
      <p:graphicFrame>
        <p:nvGraphicFramePr>
          <p:cNvPr id="3" name="Tableau 2">
            <a:extLst>
              <a:ext uri="{FF2B5EF4-FFF2-40B4-BE49-F238E27FC236}">
                <a16:creationId xmlns:a16="http://schemas.microsoft.com/office/drawing/2014/main" id="{31AC9E39-A0D8-4711-91AB-F80C76640CB9}"/>
              </a:ext>
            </a:extLst>
          </p:cNvPr>
          <p:cNvGraphicFramePr>
            <a:graphicFrameLocks noGrp="1"/>
          </p:cNvGraphicFramePr>
          <p:nvPr>
            <p:extLst>
              <p:ext uri="{D42A27DB-BD31-4B8C-83A1-F6EECF244321}">
                <p14:modId xmlns:p14="http://schemas.microsoft.com/office/powerpoint/2010/main" val="4026914704"/>
              </p:ext>
            </p:extLst>
          </p:nvPr>
        </p:nvGraphicFramePr>
        <p:xfrm>
          <a:off x="919730" y="2607639"/>
          <a:ext cx="10515600" cy="2377440"/>
        </p:xfrm>
        <a:graphic>
          <a:graphicData uri="http://schemas.openxmlformats.org/drawingml/2006/table">
            <a:tbl>
              <a:tblPr/>
              <a:tblGrid>
                <a:gridCol w="5257800">
                  <a:extLst>
                    <a:ext uri="{9D8B030D-6E8A-4147-A177-3AD203B41FA5}">
                      <a16:colId xmlns:a16="http://schemas.microsoft.com/office/drawing/2014/main" val="583739592"/>
                    </a:ext>
                  </a:extLst>
                </a:gridCol>
                <a:gridCol w="5257800">
                  <a:extLst>
                    <a:ext uri="{9D8B030D-6E8A-4147-A177-3AD203B41FA5}">
                      <a16:colId xmlns:a16="http://schemas.microsoft.com/office/drawing/2014/main" val="407583964"/>
                    </a:ext>
                  </a:extLst>
                </a:gridCol>
              </a:tblGrid>
              <a:tr h="0">
                <a:tc>
                  <a:txBody>
                    <a:bodyPr/>
                    <a:lstStyle/>
                    <a:p>
                      <a:r>
                        <a:rPr lang="fr-FR" sz="2000" b="1" dirty="0">
                          <a:solidFill>
                            <a:schemeClr val="bg1"/>
                          </a:solidFill>
                          <a:latin typeface="Aptos" panose="020B0004020202020204" pitchFamily="34" charset="0"/>
                        </a:rPr>
                        <a:t>KPI</a:t>
                      </a:r>
                    </a:p>
                  </a:txBody>
                  <a:tcPr anchor="ctr">
                    <a:lnL>
                      <a:noFill/>
                    </a:lnL>
                    <a:lnR>
                      <a:noFill/>
                    </a:lnR>
                    <a:lnT>
                      <a:noFill/>
                    </a:lnT>
                    <a:lnB>
                      <a:noFill/>
                    </a:lnB>
                    <a:solidFill>
                      <a:srgbClr val="F37504"/>
                    </a:solidFill>
                  </a:tcPr>
                </a:tc>
                <a:tc>
                  <a:txBody>
                    <a:bodyPr/>
                    <a:lstStyle/>
                    <a:p>
                      <a:r>
                        <a:rPr lang="fr-FR" sz="2000" b="1" dirty="0">
                          <a:solidFill>
                            <a:schemeClr val="bg1"/>
                          </a:solidFill>
                          <a:latin typeface="Aptos" panose="020B0004020202020204" pitchFamily="34" charset="0"/>
                        </a:rPr>
                        <a:t>Objectif</a:t>
                      </a:r>
                    </a:p>
                  </a:txBody>
                  <a:tcPr anchor="ctr">
                    <a:lnL>
                      <a:noFill/>
                    </a:lnL>
                    <a:lnR>
                      <a:noFill/>
                    </a:lnR>
                    <a:lnT>
                      <a:noFill/>
                    </a:lnT>
                    <a:lnB>
                      <a:noFill/>
                    </a:lnB>
                    <a:solidFill>
                      <a:srgbClr val="F37504"/>
                    </a:solidFill>
                  </a:tcPr>
                </a:tc>
                <a:extLst>
                  <a:ext uri="{0D108BD9-81ED-4DB2-BD59-A6C34878D82A}">
                    <a16:rowId xmlns:a16="http://schemas.microsoft.com/office/drawing/2014/main" val="4229043815"/>
                  </a:ext>
                </a:extLst>
              </a:tr>
              <a:tr h="0">
                <a:tc>
                  <a:txBody>
                    <a:bodyPr/>
                    <a:lstStyle/>
                    <a:p>
                      <a:r>
                        <a:rPr lang="fr-FR" sz="2000">
                          <a:latin typeface="Aptos" panose="020B0004020202020204" pitchFamily="34" charset="0"/>
                        </a:rPr>
                        <a:t>Déclarations dans les délais</a:t>
                      </a:r>
                    </a:p>
                  </a:txBody>
                  <a:tcPr anchor="ctr">
                    <a:lnL>
                      <a:noFill/>
                    </a:lnL>
                    <a:lnR>
                      <a:noFill/>
                    </a:lnR>
                    <a:lnT>
                      <a:noFill/>
                    </a:lnT>
                    <a:lnB>
                      <a:noFill/>
                    </a:lnB>
                  </a:tcPr>
                </a:tc>
                <a:tc>
                  <a:txBody>
                    <a:bodyPr/>
                    <a:lstStyle/>
                    <a:p>
                      <a:r>
                        <a:rPr lang="fr-FR" sz="2000">
                          <a:latin typeface="Aptos" panose="020B0004020202020204" pitchFamily="34" charset="0"/>
                        </a:rPr>
                        <a:t>100 %</a:t>
                      </a:r>
                    </a:p>
                  </a:txBody>
                  <a:tcPr anchor="ctr">
                    <a:lnL>
                      <a:noFill/>
                    </a:lnL>
                    <a:lnR>
                      <a:noFill/>
                    </a:lnR>
                    <a:lnT>
                      <a:noFill/>
                    </a:lnT>
                    <a:lnB>
                      <a:noFill/>
                    </a:lnB>
                  </a:tcPr>
                </a:tc>
                <a:extLst>
                  <a:ext uri="{0D108BD9-81ED-4DB2-BD59-A6C34878D82A}">
                    <a16:rowId xmlns:a16="http://schemas.microsoft.com/office/drawing/2014/main" val="1744076618"/>
                  </a:ext>
                </a:extLst>
              </a:tr>
              <a:tr h="0">
                <a:tc>
                  <a:txBody>
                    <a:bodyPr/>
                    <a:lstStyle/>
                    <a:p>
                      <a:r>
                        <a:rPr lang="fr-FR" sz="2000" dirty="0">
                          <a:latin typeface="Aptos" panose="020B0004020202020204" pitchFamily="34" charset="0"/>
                        </a:rPr>
                        <a:t>Cotisations à jour</a:t>
                      </a:r>
                    </a:p>
                  </a:txBody>
                  <a:tcPr anchor="ctr">
                    <a:lnL>
                      <a:noFill/>
                    </a:lnL>
                    <a:lnR>
                      <a:noFill/>
                    </a:lnR>
                    <a:lnT>
                      <a:noFill/>
                    </a:lnT>
                    <a:lnB>
                      <a:noFill/>
                    </a:lnB>
                    <a:solidFill>
                      <a:schemeClr val="bg2">
                        <a:lumMod val="90000"/>
                      </a:schemeClr>
                    </a:solidFill>
                  </a:tcPr>
                </a:tc>
                <a:tc>
                  <a:txBody>
                    <a:bodyPr/>
                    <a:lstStyle/>
                    <a:p>
                      <a:r>
                        <a:rPr lang="fr-FR" sz="2000" dirty="0">
                          <a:latin typeface="Aptos" panose="020B0004020202020204" pitchFamily="34" charset="0"/>
                        </a:rPr>
                        <a:t>100 %</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11499116"/>
                  </a:ext>
                </a:extLst>
              </a:tr>
              <a:tr h="0">
                <a:tc>
                  <a:txBody>
                    <a:bodyPr/>
                    <a:lstStyle/>
                    <a:p>
                      <a:r>
                        <a:rPr lang="fr-FR" sz="2000">
                          <a:latin typeface="Aptos" panose="020B0004020202020204" pitchFamily="34" charset="0"/>
                        </a:rPr>
                        <a:t>Contrôles sans observation majeure</a:t>
                      </a:r>
                    </a:p>
                  </a:txBody>
                  <a:tcPr anchor="ctr">
                    <a:lnL>
                      <a:noFill/>
                    </a:lnL>
                    <a:lnR>
                      <a:noFill/>
                    </a:lnR>
                    <a:lnT>
                      <a:noFill/>
                    </a:lnT>
                    <a:lnB>
                      <a:noFill/>
                    </a:lnB>
                  </a:tcPr>
                </a:tc>
                <a:tc>
                  <a:txBody>
                    <a:bodyPr/>
                    <a:lstStyle/>
                    <a:p>
                      <a:r>
                        <a:rPr lang="fr-FR" sz="2000">
                          <a:latin typeface="Aptos" panose="020B0004020202020204" pitchFamily="34" charset="0"/>
                        </a:rPr>
                        <a:t>Oui</a:t>
                      </a:r>
                    </a:p>
                  </a:txBody>
                  <a:tcPr anchor="ctr">
                    <a:lnL>
                      <a:noFill/>
                    </a:lnL>
                    <a:lnR>
                      <a:noFill/>
                    </a:lnR>
                    <a:lnT>
                      <a:noFill/>
                    </a:lnT>
                    <a:lnB>
                      <a:noFill/>
                    </a:lnB>
                  </a:tcPr>
                </a:tc>
                <a:extLst>
                  <a:ext uri="{0D108BD9-81ED-4DB2-BD59-A6C34878D82A}">
                    <a16:rowId xmlns:a16="http://schemas.microsoft.com/office/drawing/2014/main" val="2331712250"/>
                  </a:ext>
                </a:extLst>
              </a:tr>
              <a:tr h="0">
                <a:tc>
                  <a:txBody>
                    <a:bodyPr/>
                    <a:lstStyle/>
                    <a:p>
                      <a:r>
                        <a:rPr lang="fr-FR" sz="2000" dirty="0">
                          <a:latin typeface="Aptos" panose="020B0004020202020204" pitchFamily="34" charset="0"/>
                        </a:rPr>
                        <a:t>Pièces justificatives disponibles</a:t>
                      </a:r>
                    </a:p>
                  </a:txBody>
                  <a:tcPr anchor="ctr">
                    <a:lnL>
                      <a:noFill/>
                    </a:lnL>
                    <a:lnR>
                      <a:noFill/>
                    </a:lnR>
                    <a:lnT>
                      <a:noFill/>
                    </a:lnT>
                    <a:lnB>
                      <a:noFill/>
                    </a:lnB>
                    <a:solidFill>
                      <a:schemeClr val="bg2">
                        <a:lumMod val="90000"/>
                      </a:schemeClr>
                    </a:solidFill>
                  </a:tcPr>
                </a:tc>
                <a:tc>
                  <a:txBody>
                    <a:bodyPr/>
                    <a:lstStyle/>
                    <a:p>
                      <a:r>
                        <a:rPr lang="fr-FR" sz="2000" dirty="0">
                          <a:latin typeface="Aptos" panose="020B0004020202020204" pitchFamily="34" charset="0"/>
                        </a:rPr>
                        <a:t>100 %</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319386981"/>
                  </a:ext>
                </a:extLst>
              </a:tr>
              <a:tr h="0">
                <a:tc>
                  <a:txBody>
                    <a:bodyPr/>
                    <a:lstStyle/>
                    <a:p>
                      <a:r>
                        <a:rPr lang="fr-FR" sz="2000">
                          <a:latin typeface="Aptos" panose="020B0004020202020204" pitchFamily="34" charset="0"/>
                        </a:rPr>
                        <a:t>Risques fiscaux critiques</a:t>
                      </a:r>
                    </a:p>
                  </a:txBody>
                  <a:tcPr anchor="ctr">
                    <a:lnL>
                      <a:noFill/>
                    </a:lnL>
                    <a:lnR>
                      <a:noFill/>
                    </a:lnR>
                    <a:lnT>
                      <a:noFill/>
                    </a:lnT>
                    <a:lnB>
                      <a:noFill/>
                    </a:lnB>
                  </a:tcPr>
                </a:tc>
                <a:tc>
                  <a:txBody>
                    <a:bodyPr/>
                    <a:lstStyle/>
                    <a:p>
                      <a:r>
                        <a:rPr lang="fr-FR" sz="2000" dirty="0">
                          <a:latin typeface="Aptos" panose="020B0004020202020204" pitchFamily="34" charset="0"/>
                        </a:rPr>
                        <a:t>0</a:t>
                      </a:r>
                    </a:p>
                  </a:txBody>
                  <a:tcPr anchor="ctr">
                    <a:lnL>
                      <a:noFill/>
                    </a:lnL>
                    <a:lnR>
                      <a:noFill/>
                    </a:lnR>
                    <a:lnT>
                      <a:noFill/>
                    </a:lnT>
                    <a:lnB>
                      <a:noFill/>
                    </a:lnB>
                  </a:tcPr>
                </a:tc>
                <a:extLst>
                  <a:ext uri="{0D108BD9-81ED-4DB2-BD59-A6C34878D82A}">
                    <a16:rowId xmlns:a16="http://schemas.microsoft.com/office/drawing/2014/main" val="1324394578"/>
                  </a:ext>
                </a:extLst>
              </a:tr>
            </a:tbl>
          </a:graphicData>
        </a:graphic>
      </p:graphicFrame>
      <p:sp>
        <p:nvSpPr>
          <p:cNvPr id="15" name="ZoneTexte 14">
            <a:extLst>
              <a:ext uri="{FF2B5EF4-FFF2-40B4-BE49-F238E27FC236}">
                <a16:creationId xmlns:a16="http://schemas.microsoft.com/office/drawing/2014/main" id="{B3CD291B-8828-440D-97F4-25B010D5F774}"/>
              </a:ext>
            </a:extLst>
          </p:cNvPr>
          <p:cNvSpPr txBox="1"/>
          <p:nvPr/>
        </p:nvSpPr>
        <p:spPr>
          <a:xfrm>
            <a:off x="4723002" y="2137585"/>
            <a:ext cx="2265027" cy="400110"/>
          </a:xfrm>
          <a:prstGeom prst="rect">
            <a:avLst/>
          </a:prstGeom>
          <a:noFill/>
        </p:spPr>
        <p:txBody>
          <a:bodyPr wrap="square">
            <a:spAutoFit/>
          </a:bodyPr>
          <a:lstStyle/>
          <a:p>
            <a:r>
              <a:rPr lang="fr-FR" sz="2000" b="1" dirty="0">
                <a:latin typeface="Aptos" panose="020B0004020202020204" pitchFamily="34" charset="0"/>
              </a:rPr>
              <a:t>Tableau de bord</a:t>
            </a:r>
          </a:p>
        </p:txBody>
      </p:sp>
    </p:spTree>
    <p:extLst>
      <p:ext uri="{BB962C8B-B14F-4D97-AF65-F5344CB8AC3E}">
        <p14:creationId xmlns:p14="http://schemas.microsoft.com/office/powerpoint/2010/main" val="4046687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3" y="488580"/>
            <a:ext cx="10771259"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Optimisation fiscale et sociale de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latin typeface="Aptos" panose="020B0004020202020204" pitchFamily="34" charset="0"/>
              </a:rPr>
              <a:t>Message clé à retenir</a:t>
            </a:r>
          </a:p>
        </p:txBody>
      </p:sp>
      <p:sp>
        <p:nvSpPr>
          <p:cNvPr id="11" name="ZoneTexte 10">
            <a:extLst>
              <a:ext uri="{FF2B5EF4-FFF2-40B4-BE49-F238E27FC236}">
                <a16:creationId xmlns:a16="http://schemas.microsoft.com/office/drawing/2014/main" id="{FE515C66-4B3A-40F8-89EF-C47E7B1D3239}"/>
              </a:ext>
            </a:extLst>
          </p:cNvPr>
          <p:cNvSpPr txBox="1"/>
          <p:nvPr/>
        </p:nvSpPr>
        <p:spPr>
          <a:xfrm>
            <a:off x="586354" y="2323810"/>
            <a:ext cx="11267287" cy="3170099"/>
          </a:xfrm>
          <a:prstGeom prst="rect">
            <a:avLst/>
          </a:prstGeom>
          <a:noFill/>
        </p:spPr>
        <p:txBody>
          <a:bodyPr wrap="square">
            <a:spAutoFit/>
          </a:bodyPr>
          <a:lstStyle/>
          <a:p>
            <a:r>
              <a:rPr lang="fr-FR" sz="2000" dirty="0">
                <a:latin typeface="Aptos" panose="020B0004020202020204" pitchFamily="34" charset="0"/>
              </a:rPr>
              <a:t>La conformité fiscale et sociale ne doit pas être perçue comme une contrainte administrative.</a:t>
            </a:r>
          </a:p>
          <a:p>
            <a:endParaRPr lang="fr-FR" sz="2000" dirty="0">
              <a:latin typeface="Aptos" panose="020B0004020202020204" pitchFamily="34" charset="0"/>
            </a:endParaRPr>
          </a:p>
          <a:p>
            <a:r>
              <a:rPr lang="fr-FR" sz="2000" dirty="0">
                <a:latin typeface="Aptos" panose="020B0004020202020204" pitchFamily="34" charset="0"/>
              </a:rPr>
              <a:t>Elle constitue un investissement qui protège :</a:t>
            </a:r>
          </a:p>
          <a:p>
            <a:pPr marL="800100" lvl="1" indent="-342900">
              <a:buFont typeface="Arial" panose="020B0604020202020204" pitchFamily="34" charset="0"/>
              <a:buChar char="•"/>
            </a:pPr>
            <a:r>
              <a:rPr lang="fr-FR" sz="2000" dirty="0">
                <a:latin typeface="Aptos" panose="020B0004020202020204" pitchFamily="34" charset="0"/>
              </a:rPr>
              <a:t>L'officine ;</a:t>
            </a:r>
          </a:p>
          <a:p>
            <a:pPr marL="800100" lvl="1" indent="-342900">
              <a:buFont typeface="Arial" panose="020B0604020202020204" pitchFamily="34" charset="0"/>
              <a:buChar char="•"/>
            </a:pPr>
            <a:r>
              <a:rPr lang="fr-FR" sz="2000" dirty="0">
                <a:latin typeface="Aptos" panose="020B0004020202020204" pitchFamily="34" charset="0"/>
              </a:rPr>
              <a:t>Le pharmacien titulaire ;</a:t>
            </a:r>
          </a:p>
          <a:p>
            <a:pPr marL="800100" lvl="1" indent="-342900">
              <a:buFont typeface="Arial" panose="020B0604020202020204" pitchFamily="34" charset="0"/>
              <a:buChar char="•"/>
            </a:pPr>
            <a:r>
              <a:rPr lang="fr-FR" sz="2000" dirty="0">
                <a:latin typeface="Aptos" panose="020B0004020202020204" pitchFamily="34" charset="0"/>
              </a:rPr>
              <a:t>Les employés ;</a:t>
            </a:r>
          </a:p>
          <a:p>
            <a:pPr marL="800100" lvl="1" indent="-342900">
              <a:buFont typeface="Arial" panose="020B0604020202020204" pitchFamily="34" charset="0"/>
              <a:buChar char="•"/>
            </a:pPr>
            <a:r>
              <a:rPr lang="fr-FR" sz="2000" dirty="0">
                <a:latin typeface="Aptos" panose="020B0004020202020204" pitchFamily="34" charset="0"/>
              </a:rPr>
              <a:t>La rentabilité à long terme.</a:t>
            </a:r>
          </a:p>
          <a:p>
            <a:endParaRPr lang="fr-FR" sz="2000" dirty="0">
              <a:latin typeface="Aptos" panose="020B0004020202020204" pitchFamily="34" charset="0"/>
            </a:endParaRPr>
          </a:p>
          <a:p>
            <a:r>
              <a:rPr lang="fr-FR" sz="2000" dirty="0">
                <a:latin typeface="Aptos" panose="020B0004020202020204" pitchFamily="34" charset="0"/>
              </a:rPr>
              <a:t>Une officine bien gérée est une officine qui maîtrise à la fois ses obligations sanitaires, financières, fiscales et sociales.</a:t>
            </a:r>
          </a:p>
        </p:txBody>
      </p:sp>
    </p:spTree>
    <p:extLst>
      <p:ext uri="{BB962C8B-B14F-4D97-AF65-F5344CB8AC3E}">
        <p14:creationId xmlns:p14="http://schemas.microsoft.com/office/powerpoint/2010/main" val="4147072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5604B0-EF89-4CCD-9A70-88801B695330}"/>
              </a:ext>
            </a:extLst>
          </p:cNvPr>
          <p:cNvSpPr/>
          <p:nvPr/>
        </p:nvSpPr>
        <p:spPr>
          <a:xfrm>
            <a:off x="233266" y="205274"/>
            <a:ext cx="11747240" cy="5057192"/>
          </a:xfrm>
          <a:prstGeom prst="rect">
            <a:avLst/>
          </a:prstGeom>
          <a:solidFill>
            <a:srgbClr val="FD7B0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59298" y="1948057"/>
            <a:ext cx="481069" cy="1571625"/>
          </a:xfrm>
          <a:prstGeom prst="roundRect">
            <a:avLst>
              <a:gd name="adj" fmla="val 50000"/>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40366" y="2447698"/>
            <a:ext cx="10343495" cy="584775"/>
          </a:xfrm>
          <a:prstGeom prst="rect">
            <a:avLst/>
          </a:prstGeom>
          <a:noFill/>
        </p:spPr>
        <p:txBody>
          <a:bodyPr wrap="square">
            <a:spAutoFit/>
          </a:bodyPr>
          <a:lstStyle/>
          <a:p>
            <a:r>
              <a:rPr lang="fr-FR" sz="3200" b="1" dirty="0">
                <a:solidFill>
                  <a:schemeClr val="bg1"/>
                </a:solidFill>
                <a:latin typeface="Aptos" panose="020B0004020202020204" pitchFamily="34" charset="0"/>
                <a:ea typeface="Calibri" panose="020F0502020204030204" pitchFamily="34" charset="0"/>
                <a:cs typeface="Calibri" panose="020F0502020204030204" pitchFamily="34" charset="0"/>
              </a:rPr>
              <a:t>Marketing et fidélisation de la clientèle </a:t>
            </a:r>
          </a:p>
        </p:txBody>
      </p:sp>
      <p:pic>
        <p:nvPicPr>
          <p:cNvPr id="7" name="Image 6">
            <a:extLst>
              <a:ext uri="{FF2B5EF4-FFF2-40B4-BE49-F238E27FC236}">
                <a16:creationId xmlns:a16="http://schemas.microsoft.com/office/drawing/2014/main" id="{E2F6D796-76F1-49E6-8701-619808DA4C96}"/>
              </a:ext>
            </a:extLst>
          </p:cNvPr>
          <p:cNvPicPr>
            <a:picLocks noChangeAspect="1"/>
          </p:cNvPicPr>
          <p:nvPr/>
        </p:nvPicPr>
        <p:blipFill rotWithShape="1">
          <a:blip r:embed="rId2">
            <a:extLst>
              <a:ext uri="{28A0092B-C50C-407E-A947-70E740481C1C}">
                <a14:useLocalDpi xmlns:a14="http://schemas.microsoft.com/office/drawing/2010/main" val="0"/>
              </a:ext>
            </a:extLst>
          </a:blip>
          <a:srcRect t="21545" b="12625"/>
          <a:stretch/>
        </p:blipFill>
        <p:spPr>
          <a:xfrm>
            <a:off x="8709840" y="221037"/>
            <a:ext cx="1944000" cy="592467"/>
          </a:xfrm>
          <a:prstGeom prst="rect">
            <a:avLst/>
          </a:prstGeom>
        </p:spPr>
      </p:pic>
      <p:sp>
        <p:nvSpPr>
          <p:cNvPr id="9" name="ZoneTexte 8">
            <a:extLst>
              <a:ext uri="{FF2B5EF4-FFF2-40B4-BE49-F238E27FC236}">
                <a16:creationId xmlns:a16="http://schemas.microsoft.com/office/drawing/2014/main" id="{4A6EF384-4FA4-47D7-961A-157F9FFD1774}"/>
              </a:ext>
            </a:extLst>
          </p:cNvPr>
          <p:cNvSpPr txBox="1"/>
          <p:nvPr/>
        </p:nvSpPr>
        <p:spPr>
          <a:xfrm>
            <a:off x="7404946" y="813504"/>
            <a:ext cx="4553788" cy="307777"/>
          </a:xfrm>
          <a:prstGeom prst="rect">
            <a:avLst/>
          </a:prstGeom>
          <a:noFill/>
        </p:spPr>
        <p:txBody>
          <a:bodyPr wrap="square">
            <a:spAutoFit/>
          </a:bodyPr>
          <a:lstStyle/>
          <a:p>
            <a:pPr algn="ctr"/>
            <a:r>
              <a:rPr lang="fr-FR" sz="1400" dirty="0">
                <a:solidFill>
                  <a:schemeClr val="bg1"/>
                </a:solidFill>
                <a:latin typeface="Aptos" panose="020B0004020202020204" pitchFamily="34" charset="0"/>
                <a:ea typeface="Calibri" panose="020F0502020204030204" pitchFamily="34" charset="0"/>
                <a:cs typeface="Calibri" panose="020F0502020204030204" pitchFamily="34" charset="0"/>
              </a:rPr>
              <a:t>GESTION D’UNE OFFICINE MODERNE </a:t>
            </a:r>
          </a:p>
        </p:txBody>
      </p:sp>
      <p:pic>
        <p:nvPicPr>
          <p:cNvPr id="13" name="Image 12">
            <a:extLst>
              <a:ext uri="{FF2B5EF4-FFF2-40B4-BE49-F238E27FC236}">
                <a16:creationId xmlns:a16="http://schemas.microsoft.com/office/drawing/2014/main" id="{5FC12CEA-3333-4B55-A99F-80B86F71D5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4" name="Connecteur droit 13">
            <a:extLst>
              <a:ext uri="{FF2B5EF4-FFF2-40B4-BE49-F238E27FC236}">
                <a16:creationId xmlns:a16="http://schemas.microsoft.com/office/drawing/2014/main" id="{96CFDAD8-C39D-4C4B-AED8-A6D929694CED}"/>
              </a:ext>
            </a:extLst>
          </p:cNvPr>
          <p:cNvCxnSpPr>
            <a:cxnSpLocks/>
            <a:stCxn id="13"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5" name="Image 14">
            <a:extLst>
              <a:ext uri="{FF2B5EF4-FFF2-40B4-BE49-F238E27FC236}">
                <a16:creationId xmlns:a16="http://schemas.microsoft.com/office/drawing/2014/main" id="{1D7E960A-1BE1-48DA-96CC-0E811CE310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297" y="2493333"/>
            <a:ext cx="481069" cy="481069"/>
          </a:xfrm>
          <a:prstGeom prst="rect">
            <a:avLst/>
          </a:prstGeom>
        </p:spPr>
      </p:pic>
    </p:spTree>
    <p:extLst>
      <p:ext uri="{BB962C8B-B14F-4D97-AF65-F5344CB8AC3E}">
        <p14:creationId xmlns:p14="http://schemas.microsoft.com/office/powerpoint/2010/main" val="833284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82384" y="2410703"/>
            <a:ext cx="10049004" cy="646331"/>
          </a:xfrm>
          <a:prstGeom prst="rect">
            <a:avLst/>
          </a:prstGeom>
          <a:noFill/>
        </p:spPr>
        <p:txBody>
          <a:bodyPr wrap="square">
            <a:spAutoFit/>
          </a:bodyPr>
          <a:lstStyle/>
          <a:p>
            <a:r>
              <a:rPr lang="fr-FR" sz="3600" b="1" dirty="0">
                <a:solidFill>
                  <a:schemeClr val="bg1"/>
                </a:solidFill>
                <a:effectLst/>
                <a:latin typeface="Aptos" panose="020B0004020202020204" pitchFamily="34" charset="0"/>
                <a:ea typeface="Calibri" panose="020F0502020204030204" pitchFamily="34" charset="0"/>
                <a:cs typeface="Calibri" panose="020F0502020204030204" pitchFamily="34" charset="0"/>
              </a:rPr>
              <a:t>Gestion des approvisionnements et des stocks</a:t>
            </a:r>
            <a:r>
              <a:rPr lang="fr-FR" sz="3600" dirty="0">
                <a:solidFill>
                  <a:schemeClr val="bg1"/>
                </a:solidFill>
                <a:effectLst/>
                <a:latin typeface="Aptos" panose="020B0004020202020204" pitchFamily="34" charset="0"/>
                <a:ea typeface="Calibri" panose="020F0502020204030204" pitchFamily="34" charset="0"/>
                <a:cs typeface="Calibri" panose="020F0502020204030204" pitchFamily="34" charset="0"/>
              </a:rPr>
              <a:t> </a:t>
            </a:r>
            <a:endParaRPr lang="en-US" sz="3600" dirty="0">
              <a:solidFill>
                <a:schemeClr val="bg1"/>
              </a:solidFill>
              <a:latin typeface="Aptos" panose="020B0004020202020204" pitchFamily="34" charset="0"/>
            </a:endParaRPr>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Plan</a:t>
            </a:r>
            <a:endParaRPr lang="en-US" sz="2800" dirty="0">
              <a:solidFill>
                <a:schemeClr val="tx1">
                  <a:lumMod val="75000"/>
                  <a:lumOff val="25000"/>
                </a:schemeClr>
              </a:solidFill>
              <a:latin typeface="Aptos" panose="020B0004020202020204" pitchFamily="34" charset="0"/>
            </a:endParaRPr>
          </a:p>
        </p:txBody>
      </p:sp>
      <p:sp>
        <p:nvSpPr>
          <p:cNvPr id="13" name="Content Placeholder 3">
            <a:extLst>
              <a:ext uri="{FF2B5EF4-FFF2-40B4-BE49-F238E27FC236}">
                <a16:creationId xmlns:a16="http://schemas.microsoft.com/office/drawing/2014/main" id="{94B8DB2E-A3E6-45FB-A31A-70487A5468F3}"/>
              </a:ext>
            </a:extLst>
          </p:cNvPr>
          <p:cNvSpPr txBox="1">
            <a:spLocks/>
          </p:cNvSpPr>
          <p:nvPr/>
        </p:nvSpPr>
        <p:spPr>
          <a:xfrm>
            <a:off x="617220" y="1584961"/>
            <a:ext cx="10965180" cy="249174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200"/>
              </a:spcBef>
              <a:buClr>
                <a:srgbClr val="6C6463"/>
              </a:buClr>
              <a:buFont typeface="Arial" panose="020B0604020202020204" pitchFamily="34" charset="0"/>
              <a:buChar char="•"/>
              <a:defRPr sz="2800" kern="1200">
                <a:solidFill>
                  <a:srgbClr val="6C6463"/>
                </a:solidFill>
                <a:latin typeface="+mn-lt"/>
                <a:ea typeface="+mn-ea"/>
                <a:cs typeface="+mn-cs"/>
              </a:defRPr>
            </a:lvl1pPr>
            <a:lvl2pPr marL="457200" indent="0" algn="l" defTabSz="914400" rtl="0" eaLnBrk="1" latinLnBrk="0" hangingPunct="1">
              <a:lnSpc>
                <a:spcPct val="100000"/>
              </a:lnSpc>
              <a:spcBef>
                <a:spcPts val="300"/>
              </a:spcBef>
              <a:buClr>
                <a:srgbClr val="6C6463"/>
              </a:buClr>
              <a:buSzPct val="80000"/>
              <a:buFont typeface="Courier New" panose="02070309020205020404" pitchFamily="49" charset="0"/>
              <a:buNone/>
              <a:defRPr sz="2400" kern="1200">
                <a:solidFill>
                  <a:srgbClr val="6C6463"/>
                </a:solidFill>
                <a:latin typeface="+mn-lt"/>
                <a:ea typeface="+mn-ea"/>
                <a:cs typeface="+mn-cs"/>
              </a:defRPr>
            </a:lvl2pPr>
            <a:lvl3pPr marL="1143000" indent="-228600" algn="l" defTabSz="914400" rtl="0" eaLnBrk="1" latinLnBrk="0" hangingPunct="1">
              <a:lnSpc>
                <a:spcPct val="100000"/>
              </a:lnSpc>
              <a:spcBef>
                <a:spcPts val="300"/>
              </a:spcBef>
              <a:buClr>
                <a:srgbClr val="6C6463"/>
              </a:buClr>
              <a:buFont typeface="Gill Sans MT" panose="020B0502020104020203" pitchFamily="34" charset="0"/>
              <a:buChar char="–"/>
              <a:defRPr sz="2000" kern="1200">
                <a:solidFill>
                  <a:srgbClr val="6C6463"/>
                </a:solidFill>
                <a:latin typeface="+mn-lt"/>
                <a:ea typeface="+mn-ea"/>
                <a:cs typeface="+mn-cs"/>
              </a:defRPr>
            </a:lvl3pPr>
            <a:lvl4pPr marL="16002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4pPr>
            <a:lvl5pPr marL="20574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5pPr>
            <a:lvl6pPr marL="25146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6pPr>
            <a:lvl7pPr marL="29718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7pPr>
            <a:lvl8pPr marL="3429000" indent="-228600" algn="l" defTabSz="914400" rtl="0" eaLnBrk="1" latinLnBrk="0" hangingPunct="1">
              <a:lnSpc>
                <a:spcPct val="100000"/>
              </a:lnSpc>
              <a:spcBef>
                <a:spcPts val="300"/>
              </a:spcBef>
              <a:buClr>
                <a:srgbClr val="6C6463"/>
              </a:buClr>
              <a:buFont typeface="Arial" panose="020B0604020202020204" pitchFamily="34" charset="0"/>
              <a:buChar char="•"/>
              <a:defRPr sz="1800" kern="1200">
                <a:solidFill>
                  <a:srgbClr val="6C6463"/>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Diagnostic marketing d'une officine</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Aménagement et merchandising de l'espace officinal</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Communication digitale et réseaux sociaux pour l'officine</a:t>
            </a:r>
          </a:p>
          <a:p>
            <a:pPr marL="228600" marR="0" lvl="0" indent="-228600" algn="l" defTabSz="914400" rtl="0" eaLnBrk="1" fontAlgn="auto" latinLnBrk="0" hangingPunct="1">
              <a:lnSpc>
                <a:spcPct val="100000"/>
              </a:lnSpc>
              <a:spcBef>
                <a:spcPts val="1200"/>
              </a:spcBef>
              <a:spcAft>
                <a:spcPts val="0"/>
              </a:spcAft>
              <a:buClr>
                <a:srgbClr val="6C6463"/>
              </a:buClr>
              <a:buSzTx/>
              <a:buFont typeface="Arial" panose="020B0604020202020204" pitchFamily="34" charset="0"/>
              <a:buChar char="•"/>
              <a:tabLst/>
              <a:defRPr/>
            </a:pPr>
            <a:r>
              <a:rPr kumimoji="0" lang="fr-FR" sz="2800" i="0" u="none" strike="noStrike" kern="1200" cap="none" spc="0" normalizeH="0" baseline="0" noProof="0" dirty="0">
                <a:ln>
                  <a:noFill/>
                </a:ln>
                <a:solidFill>
                  <a:schemeClr val="tx1">
                    <a:lumMod val="75000"/>
                    <a:lumOff val="25000"/>
                  </a:schemeClr>
                </a:solidFill>
                <a:effectLst/>
                <a:uLnTx/>
                <a:uFillTx/>
                <a:latin typeface="Aptos" panose="020B0004020202020204" pitchFamily="34" charset="0"/>
              </a:rPr>
              <a:t>Programmes de fidélité et services à valeur ajoutée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119ADA14-3019-42A4-A2F9-8053E29963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Tree>
    <p:extLst>
      <p:ext uri="{BB962C8B-B14F-4D97-AF65-F5344CB8AC3E}">
        <p14:creationId xmlns:p14="http://schemas.microsoft.com/office/powerpoint/2010/main" val="67238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Diagnostic marketing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246769"/>
          </a:xfrm>
          <a:prstGeom prst="rect">
            <a:avLst/>
          </a:prstGeom>
          <a:noFill/>
        </p:spPr>
        <p:txBody>
          <a:bodyPr wrap="square">
            <a:spAutoFit/>
          </a:bodyPr>
          <a:lstStyle/>
          <a:p>
            <a:r>
              <a:rPr lang="fr-FR" sz="2000" dirty="0">
                <a:latin typeface="Aptos" panose="020B0004020202020204" pitchFamily="34" charset="0"/>
              </a:rPr>
              <a:t>À l’issue de ce sous-module, le participant sera capable de :</a:t>
            </a:r>
          </a:p>
          <a:p>
            <a:pPr marL="800100" lvl="1" indent="-342900">
              <a:buFont typeface="Arial" panose="020B0604020202020204" pitchFamily="34" charset="0"/>
              <a:buChar char="•"/>
            </a:pPr>
            <a:r>
              <a:rPr lang="fr-FR" sz="2000" dirty="0">
                <a:latin typeface="Aptos" panose="020B0004020202020204" pitchFamily="34" charset="0"/>
              </a:rPr>
              <a:t>Comprendre les principes du marketing officinal ;</a:t>
            </a:r>
          </a:p>
          <a:p>
            <a:pPr marL="800100" lvl="1" indent="-342900">
              <a:buFont typeface="Arial" panose="020B0604020202020204" pitchFamily="34" charset="0"/>
              <a:buChar char="•"/>
            </a:pPr>
            <a:r>
              <a:rPr lang="fr-FR" sz="2000" dirty="0">
                <a:latin typeface="Aptos" panose="020B0004020202020204" pitchFamily="34" charset="0"/>
              </a:rPr>
              <a:t>Réaliser un diagnostic complet de son officine ;</a:t>
            </a:r>
          </a:p>
          <a:p>
            <a:pPr marL="800100" lvl="1" indent="-342900">
              <a:buFont typeface="Arial" panose="020B0604020202020204" pitchFamily="34" charset="0"/>
              <a:buChar char="•"/>
            </a:pPr>
            <a:r>
              <a:rPr lang="fr-FR" sz="2000" dirty="0">
                <a:latin typeface="Aptos" panose="020B0004020202020204" pitchFamily="34" charset="0"/>
              </a:rPr>
              <a:t>Identifier les opportunités de développement ;</a:t>
            </a:r>
          </a:p>
          <a:p>
            <a:pPr marL="800100" lvl="1" indent="-342900">
              <a:buFont typeface="Arial" panose="020B0604020202020204" pitchFamily="34" charset="0"/>
              <a:buChar char="•"/>
            </a:pPr>
            <a:r>
              <a:rPr lang="fr-FR" sz="2000" dirty="0">
                <a:latin typeface="Aptos" panose="020B0004020202020204" pitchFamily="34" charset="0"/>
              </a:rPr>
              <a:t>Analyser son environnement concurrentiel ;</a:t>
            </a:r>
          </a:p>
          <a:p>
            <a:pPr marL="800100" lvl="1" indent="-342900">
              <a:buFont typeface="Arial" panose="020B0604020202020204" pitchFamily="34" charset="0"/>
              <a:buChar char="•"/>
            </a:pPr>
            <a:r>
              <a:rPr lang="fr-FR" sz="2000" dirty="0">
                <a:latin typeface="Aptos" panose="020B0004020202020204" pitchFamily="34" charset="0"/>
              </a:rPr>
              <a:t>Construire une stratégie adaptée à son marché ;</a:t>
            </a:r>
          </a:p>
          <a:p>
            <a:pPr marL="800100" lvl="1" indent="-342900">
              <a:buFont typeface="Arial" panose="020B0604020202020204" pitchFamily="34" charset="0"/>
              <a:buChar char="•"/>
            </a:pPr>
            <a:r>
              <a:rPr lang="fr-FR" sz="2000" dirty="0">
                <a:latin typeface="Aptos" panose="020B0004020202020204" pitchFamily="34" charset="0"/>
              </a:rPr>
              <a:t>Respecter les exigences réglementaires et déontologiques.</a:t>
            </a:r>
          </a:p>
        </p:txBody>
      </p:sp>
    </p:spTree>
    <p:extLst>
      <p:ext uri="{BB962C8B-B14F-4D97-AF65-F5344CB8AC3E}">
        <p14:creationId xmlns:p14="http://schemas.microsoft.com/office/powerpoint/2010/main" val="3682256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Diagnostic marketing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246769"/>
          </a:xfrm>
          <a:prstGeom prst="rect">
            <a:avLst/>
          </a:prstGeom>
          <a:noFill/>
        </p:spPr>
        <p:txBody>
          <a:bodyPr wrap="square">
            <a:spAutoFit/>
          </a:bodyPr>
          <a:lstStyle/>
          <a:p>
            <a:r>
              <a:rPr lang="fr-FR" sz="2000" dirty="0">
                <a:latin typeface="Aptos" panose="020B0004020202020204" pitchFamily="34" charset="0"/>
              </a:rPr>
              <a:t>Le marketing officinal ne consiste pas à vendre davantage de médicaments.</a:t>
            </a:r>
          </a:p>
          <a:p>
            <a:endParaRPr lang="fr-FR" sz="2000" dirty="0">
              <a:latin typeface="Aptos" panose="020B0004020202020204" pitchFamily="34" charset="0"/>
            </a:endParaRPr>
          </a:p>
          <a:p>
            <a:r>
              <a:rPr lang="fr-FR" sz="2000" dirty="0">
                <a:latin typeface="Aptos" panose="020B0004020202020204" pitchFamily="34" charset="0"/>
              </a:rPr>
              <a:t>Il consiste à :</a:t>
            </a:r>
          </a:p>
          <a:p>
            <a:pPr marL="800100" lvl="1" indent="-342900">
              <a:buFont typeface="Arial" panose="020B0604020202020204" pitchFamily="34" charset="0"/>
              <a:buChar char="•"/>
            </a:pPr>
            <a:r>
              <a:rPr lang="fr-FR" sz="2000" dirty="0">
                <a:latin typeface="Aptos" panose="020B0004020202020204" pitchFamily="34" charset="0"/>
              </a:rPr>
              <a:t>Mieux répondre aux besoins des patients ;</a:t>
            </a:r>
          </a:p>
          <a:p>
            <a:pPr marL="800100" lvl="1" indent="-342900">
              <a:buFont typeface="Arial" panose="020B0604020202020204" pitchFamily="34" charset="0"/>
              <a:buChar char="•"/>
            </a:pPr>
            <a:r>
              <a:rPr lang="fr-FR" sz="2000" dirty="0">
                <a:latin typeface="Aptos" panose="020B0004020202020204" pitchFamily="34" charset="0"/>
              </a:rPr>
              <a:t>Améliorer la qualité des services ;</a:t>
            </a:r>
          </a:p>
          <a:p>
            <a:pPr marL="800100" lvl="1" indent="-342900">
              <a:buFont typeface="Arial" panose="020B0604020202020204" pitchFamily="34" charset="0"/>
              <a:buChar char="•"/>
            </a:pPr>
            <a:r>
              <a:rPr lang="fr-FR" sz="2000" dirty="0">
                <a:latin typeface="Aptos" panose="020B0004020202020204" pitchFamily="34" charset="0"/>
              </a:rPr>
              <a:t>Renforcer la visibilité de l’officine ;</a:t>
            </a:r>
          </a:p>
          <a:p>
            <a:pPr marL="800100" lvl="1" indent="-342900">
              <a:buFont typeface="Arial" panose="020B0604020202020204" pitchFamily="34" charset="0"/>
              <a:buChar char="•"/>
            </a:pPr>
            <a:r>
              <a:rPr lang="fr-FR" sz="2000" dirty="0">
                <a:latin typeface="Aptos" panose="020B0004020202020204" pitchFamily="34" charset="0"/>
              </a:rPr>
              <a:t>Développer durablement l’activité.</a:t>
            </a:r>
          </a:p>
        </p:txBody>
      </p:sp>
    </p:spTree>
    <p:extLst>
      <p:ext uri="{BB962C8B-B14F-4D97-AF65-F5344CB8AC3E}">
        <p14:creationId xmlns:p14="http://schemas.microsoft.com/office/powerpoint/2010/main" val="295896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Diagnostic marketing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marketing en pharmacie : principes et limites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785652"/>
          </a:xfrm>
          <a:prstGeom prst="rect">
            <a:avLst/>
          </a:prstGeom>
          <a:noFill/>
        </p:spPr>
        <p:txBody>
          <a:bodyPr wrap="square">
            <a:spAutoFit/>
          </a:bodyPr>
          <a:lstStyle/>
          <a:p>
            <a:r>
              <a:rPr lang="fr-FR" sz="2000" b="1" dirty="0">
                <a:latin typeface="Aptos" panose="020B0004020202020204" pitchFamily="34" charset="0"/>
              </a:rPr>
              <a:t>Définition</a:t>
            </a:r>
            <a:r>
              <a:rPr lang="fr-FR" sz="2000" dirty="0">
                <a:latin typeface="Aptos" panose="020B0004020202020204" pitchFamily="34" charset="0"/>
              </a:rPr>
              <a:t> : </a:t>
            </a:r>
          </a:p>
          <a:p>
            <a:r>
              <a:rPr lang="fr-FR" sz="2000" dirty="0">
                <a:latin typeface="Aptos" panose="020B0004020202020204" pitchFamily="34" charset="0"/>
              </a:rPr>
              <a:t>Le marketing officinal regroupe l'ensemble des actions permettant à une officine :</a:t>
            </a:r>
          </a:p>
          <a:p>
            <a:pPr marL="800100" lvl="1" indent="-342900">
              <a:buFont typeface="Arial" panose="020B0604020202020204" pitchFamily="34" charset="0"/>
              <a:buChar char="•"/>
            </a:pPr>
            <a:r>
              <a:rPr lang="fr-FR" sz="2000" dirty="0">
                <a:latin typeface="Aptos" panose="020B0004020202020204" pitchFamily="34" charset="0"/>
              </a:rPr>
              <a:t>D'identifier les besoins de sa population ;</a:t>
            </a:r>
          </a:p>
          <a:p>
            <a:pPr marL="800100" lvl="1" indent="-342900">
              <a:buFont typeface="Arial" panose="020B0604020202020204" pitchFamily="34" charset="0"/>
              <a:buChar char="•"/>
            </a:pPr>
            <a:r>
              <a:rPr lang="fr-FR" sz="2000" dirty="0">
                <a:latin typeface="Aptos" panose="020B0004020202020204" pitchFamily="34" charset="0"/>
              </a:rPr>
              <a:t>D'adapter ses services ;</a:t>
            </a:r>
          </a:p>
          <a:p>
            <a:pPr marL="800100" lvl="1" indent="-342900">
              <a:buFont typeface="Arial" panose="020B0604020202020204" pitchFamily="34" charset="0"/>
              <a:buChar char="•"/>
            </a:pPr>
            <a:r>
              <a:rPr lang="fr-FR" sz="2000" dirty="0">
                <a:latin typeface="Aptos" panose="020B0004020202020204" pitchFamily="34" charset="0"/>
              </a:rPr>
              <a:t>D'améliorer son accessibilité ;</a:t>
            </a:r>
          </a:p>
          <a:p>
            <a:pPr marL="800100" lvl="1" indent="-342900">
              <a:buFont typeface="Arial" panose="020B0604020202020204" pitchFamily="34" charset="0"/>
              <a:buChar char="•"/>
            </a:pPr>
            <a:r>
              <a:rPr lang="fr-FR" sz="2000" dirty="0">
                <a:latin typeface="Aptos" panose="020B0004020202020204" pitchFamily="34" charset="0"/>
              </a:rPr>
              <a:t>De renforcer sa visibilité.</a:t>
            </a:r>
          </a:p>
          <a:p>
            <a:endParaRPr lang="fr-FR" sz="2000" dirty="0">
              <a:latin typeface="Aptos" panose="020B0004020202020204" pitchFamily="34" charset="0"/>
            </a:endParaRPr>
          </a:p>
          <a:p>
            <a:r>
              <a:rPr lang="fr-FR" sz="2000" b="1" dirty="0">
                <a:latin typeface="Aptos" panose="020B0004020202020204" pitchFamily="34" charset="0"/>
              </a:rPr>
              <a:t>Particularité du marketing pharmaceutique :</a:t>
            </a:r>
          </a:p>
          <a:p>
            <a:r>
              <a:rPr lang="fr-FR" sz="2000" dirty="0">
                <a:latin typeface="Aptos" panose="020B0004020202020204" pitchFamily="34" charset="0"/>
              </a:rPr>
              <a:t>Le patient n'est pas uniquement un client. Il est aussi :</a:t>
            </a:r>
          </a:p>
          <a:p>
            <a:pPr marL="800100" lvl="1" indent="-342900">
              <a:buFont typeface="Arial" panose="020B0604020202020204" pitchFamily="34" charset="0"/>
              <a:buChar char="•"/>
            </a:pPr>
            <a:r>
              <a:rPr lang="fr-FR" sz="2000" dirty="0">
                <a:latin typeface="Aptos" panose="020B0004020202020204" pitchFamily="34" charset="0"/>
              </a:rPr>
              <a:t>Un usager du système de santé ;</a:t>
            </a:r>
          </a:p>
          <a:p>
            <a:pPr marL="800100" lvl="1" indent="-342900">
              <a:buFont typeface="Arial" panose="020B0604020202020204" pitchFamily="34" charset="0"/>
              <a:buChar char="•"/>
            </a:pPr>
            <a:r>
              <a:rPr lang="fr-FR" sz="2000" dirty="0">
                <a:latin typeface="Aptos" panose="020B0004020202020204" pitchFamily="34" charset="0"/>
              </a:rPr>
              <a:t>Une personne potentiellement vulnérable ;</a:t>
            </a:r>
          </a:p>
          <a:p>
            <a:pPr marL="800100" lvl="1" indent="-342900">
              <a:buFont typeface="Arial" panose="020B0604020202020204" pitchFamily="34" charset="0"/>
              <a:buChar char="•"/>
            </a:pPr>
            <a:r>
              <a:rPr lang="fr-FR" sz="2000" dirty="0">
                <a:latin typeface="Aptos" panose="020B0004020202020204" pitchFamily="34" charset="0"/>
              </a:rPr>
              <a:t>Un bénéficiaire de soins pharmaceutiques.</a:t>
            </a:r>
          </a:p>
        </p:txBody>
      </p:sp>
    </p:spTree>
    <p:extLst>
      <p:ext uri="{BB962C8B-B14F-4D97-AF65-F5344CB8AC3E}">
        <p14:creationId xmlns:p14="http://schemas.microsoft.com/office/powerpoint/2010/main" val="3311949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Diagnostic marketing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marketing en pharmacie : principes et limites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785652"/>
          </a:xfrm>
          <a:prstGeom prst="rect">
            <a:avLst/>
          </a:prstGeom>
          <a:noFill/>
        </p:spPr>
        <p:txBody>
          <a:bodyPr wrap="square">
            <a:spAutoFit/>
          </a:bodyPr>
          <a:lstStyle/>
          <a:p>
            <a:r>
              <a:rPr lang="fr-FR" sz="2000" b="1" dirty="0">
                <a:latin typeface="Aptos" panose="020B0004020202020204" pitchFamily="34" charset="0"/>
              </a:rPr>
              <a:t>Contexte africain</a:t>
            </a:r>
            <a:r>
              <a:rPr lang="fr-FR" sz="2000" dirty="0">
                <a:latin typeface="Aptos" panose="020B0004020202020204" pitchFamily="34" charset="0"/>
              </a:rPr>
              <a:t> : </a:t>
            </a:r>
          </a:p>
          <a:p>
            <a:r>
              <a:rPr lang="fr-FR" sz="2000" dirty="0">
                <a:latin typeface="Aptos" panose="020B0004020202020204" pitchFamily="34" charset="0"/>
              </a:rPr>
              <a:t>Dans de nombreuses régions d’Afrique, l’officine constitue :</a:t>
            </a:r>
          </a:p>
          <a:p>
            <a:pPr marL="800100" lvl="1" indent="-342900">
              <a:buFont typeface="Arial" panose="020B0604020202020204" pitchFamily="34" charset="0"/>
              <a:buChar char="•"/>
            </a:pPr>
            <a:r>
              <a:rPr lang="fr-FR" sz="2000" dirty="0">
                <a:latin typeface="Aptos" panose="020B0004020202020204" pitchFamily="34" charset="0"/>
              </a:rPr>
              <a:t>Un établissement de santé de proximité ;</a:t>
            </a:r>
          </a:p>
          <a:p>
            <a:pPr marL="800100" lvl="1" indent="-342900">
              <a:buFont typeface="Arial" panose="020B0604020202020204" pitchFamily="34" charset="0"/>
              <a:buChar char="•"/>
            </a:pPr>
            <a:r>
              <a:rPr lang="fr-FR" sz="2000" dirty="0">
                <a:latin typeface="Aptos" panose="020B0004020202020204" pitchFamily="34" charset="0"/>
              </a:rPr>
              <a:t>Un centre de conseil sanitaire ;</a:t>
            </a:r>
          </a:p>
          <a:p>
            <a:pPr marL="800100" lvl="1" indent="-342900">
              <a:buFont typeface="Arial" panose="020B0604020202020204" pitchFamily="34" charset="0"/>
              <a:buChar char="•"/>
            </a:pPr>
            <a:r>
              <a:rPr lang="fr-FR" sz="2000" dirty="0">
                <a:latin typeface="Aptos" panose="020B0004020202020204" pitchFamily="34" charset="0"/>
              </a:rPr>
              <a:t>Un acteur communautaire.</a:t>
            </a:r>
          </a:p>
          <a:p>
            <a:endParaRPr lang="fr-FR" sz="2000" dirty="0">
              <a:latin typeface="Aptos" panose="020B0004020202020204" pitchFamily="34" charset="0"/>
            </a:endParaRPr>
          </a:p>
          <a:p>
            <a:r>
              <a:rPr lang="fr-FR" sz="2000" b="1" dirty="0">
                <a:latin typeface="Aptos" panose="020B0004020202020204" pitchFamily="34" charset="0"/>
              </a:rPr>
              <a:t>Application au Bénin :</a:t>
            </a:r>
          </a:p>
          <a:p>
            <a:r>
              <a:rPr lang="fr-FR" sz="2000" dirty="0">
                <a:latin typeface="Aptos" panose="020B0004020202020204" pitchFamily="34" charset="0"/>
              </a:rPr>
              <a:t>La communication et les actions promotionnelles doivent rester compatibles avec :</a:t>
            </a:r>
          </a:p>
          <a:p>
            <a:pPr marL="800100" lvl="1" indent="-342900">
              <a:buFont typeface="Arial" panose="020B0604020202020204" pitchFamily="34" charset="0"/>
              <a:buChar char="•"/>
            </a:pPr>
            <a:r>
              <a:rPr lang="fr-FR" sz="2000" dirty="0">
                <a:latin typeface="Aptos" panose="020B0004020202020204" pitchFamily="34" charset="0"/>
              </a:rPr>
              <a:t>Les règles déontologiques ;</a:t>
            </a:r>
          </a:p>
          <a:p>
            <a:pPr marL="800100" lvl="1" indent="-342900">
              <a:buFont typeface="Arial" panose="020B0604020202020204" pitchFamily="34" charset="0"/>
              <a:buChar char="•"/>
            </a:pPr>
            <a:r>
              <a:rPr lang="fr-FR" sz="2000" dirty="0">
                <a:latin typeface="Aptos" panose="020B0004020202020204" pitchFamily="34" charset="0"/>
              </a:rPr>
              <a:t>Les dispositions réglementaires applicables aux activités pharmaceutiques ;</a:t>
            </a:r>
          </a:p>
          <a:p>
            <a:pPr marL="800100" lvl="1" indent="-342900">
              <a:buFont typeface="Arial" panose="020B0604020202020204" pitchFamily="34" charset="0"/>
              <a:buChar char="•"/>
            </a:pPr>
            <a:r>
              <a:rPr lang="fr-FR" sz="2000" dirty="0">
                <a:latin typeface="Aptos" panose="020B0004020202020204" pitchFamily="34" charset="0"/>
              </a:rPr>
              <a:t>Les orientations de l'ordre national des pharmaciens du bénin ;</a:t>
            </a:r>
          </a:p>
          <a:p>
            <a:pPr marL="800100" lvl="1" indent="-342900">
              <a:buFont typeface="Arial" panose="020B0604020202020204" pitchFamily="34" charset="0"/>
              <a:buChar char="•"/>
            </a:pPr>
            <a:r>
              <a:rPr lang="fr-FR" sz="2000" dirty="0">
                <a:latin typeface="Aptos" panose="020B0004020202020204" pitchFamily="34" charset="0"/>
              </a:rPr>
              <a:t>Les exigences de l'ABMed.</a:t>
            </a:r>
          </a:p>
        </p:txBody>
      </p:sp>
    </p:spTree>
    <p:extLst>
      <p:ext uri="{BB962C8B-B14F-4D97-AF65-F5344CB8AC3E}">
        <p14:creationId xmlns:p14="http://schemas.microsoft.com/office/powerpoint/2010/main" val="33295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Diagnostic marketing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Analyse de l’environnement de l’officine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093428"/>
          </a:xfrm>
          <a:prstGeom prst="rect">
            <a:avLst/>
          </a:prstGeom>
          <a:noFill/>
        </p:spPr>
        <p:txBody>
          <a:bodyPr wrap="square">
            <a:spAutoFit/>
          </a:bodyPr>
          <a:lstStyle/>
          <a:p>
            <a:r>
              <a:rPr lang="fr-FR" sz="2000" b="1" dirty="0">
                <a:latin typeface="Aptos" panose="020B0004020202020204" pitchFamily="34" charset="0"/>
              </a:rPr>
              <a:t>Pourquoi analyser son environnement ?</a:t>
            </a:r>
          </a:p>
          <a:p>
            <a:r>
              <a:rPr lang="fr-FR" sz="2000" dirty="0">
                <a:latin typeface="Aptos" panose="020B0004020202020204" pitchFamily="34" charset="0"/>
              </a:rPr>
              <a:t>Pour comprendre :</a:t>
            </a:r>
          </a:p>
          <a:p>
            <a:pPr marL="800100" lvl="1" indent="-342900">
              <a:buFont typeface="Arial" panose="020B0604020202020204" pitchFamily="34" charset="0"/>
              <a:buChar char="•"/>
            </a:pPr>
            <a:r>
              <a:rPr lang="fr-FR" sz="2000" dirty="0">
                <a:latin typeface="Aptos" panose="020B0004020202020204" pitchFamily="34" charset="0"/>
              </a:rPr>
              <a:t>Les besoins ;</a:t>
            </a:r>
          </a:p>
          <a:p>
            <a:pPr marL="800100" lvl="1" indent="-342900">
              <a:buFont typeface="Arial" panose="020B0604020202020204" pitchFamily="34" charset="0"/>
              <a:buChar char="•"/>
            </a:pPr>
            <a:r>
              <a:rPr lang="fr-FR" sz="2000" dirty="0">
                <a:latin typeface="Aptos" panose="020B0004020202020204" pitchFamily="34" charset="0"/>
              </a:rPr>
              <a:t>Les opportunités ;</a:t>
            </a:r>
          </a:p>
          <a:p>
            <a:pPr marL="800100" lvl="1" indent="-342900">
              <a:buFont typeface="Arial" panose="020B0604020202020204" pitchFamily="34" charset="0"/>
              <a:buChar char="•"/>
            </a:pPr>
            <a:r>
              <a:rPr lang="fr-FR" sz="2000" dirty="0">
                <a:latin typeface="Aptos" panose="020B0004020202020204" pitchFamily="34" charset="0"/>
              </a:rPr>
              <a:t>Les menaces.</a:t>
            </a:r>
          </a:p>
          <a:p>
            <a:endParaRPr lang="fr-FR" sz="2000" dirty="0">
              <a:latin typeface="Aptos" panose="020B0004020202020204" pitchFamily="34" charset="0"/>
            </a:endParaRPr>
          </a:p>
          <a:p>
            <a:r>
              <a:rPr lang="fr-FR" sz="2000" b="1" dirty="0">
                <a:latin typeface="Aptos" panose="020B0004020202020204" pitchFamily="34" charset="0"/>
              </a:rPr>
              <a:t>Analyse externe</a:t>
            </a:r>
          </a:p>
          <a:p>
            <a:pPr marL="800100" lvl="1" indent="-342900">
              <a:buFont typeface="Arial" panose="020B0604020202020204" pitchFamily="34" charset="0"/>
              <a:buChar char="•"/>
            </a:pPr>
            <a:r>
              <a:rPr lang="fr-FR" sz="2000" dirty="0">
                <a:latin typeface="Aptos" panose="020B0004020202020204" pitchFamily="34" charset="0"/>
              </a:rPr>
              <a:t>Population desservie</a:t>
            </a:r>
          </a:p>
          <a:p>
            <a:pPr marL="1257300" lvl="2" indent="-342900">
              <a:buFont typeface="Courier New" panose="02070309020205020404" pitchFamily="49" charset="0"/>
              <a:buChar char="o"/>
            </a:pPr>
            <a:r>
              <a:rPr lang="fr-FR" sz="2000" dirty="0">
                <a:latin typeface="Aptos" panose="020B0004020202020204" pitchFamily="34" charset="0"/>
              </a:rPr>
              <a:t>Nombre d’habitants</a:t>
            </a:r>
          </a:p>
          <a:p>
            <a:pPr marL="1257300" lvl="2" indent="-342900">
              <a:buFont typeface="Courier New" panose="02070309020205020404" pitchFamily="49" charset="0"/>
              <a:buChar char="o"/>
            </a:pPr>
            <a:r>
              <a:rPr lang="fr-FR" sz="2000" dirty="0">
                <a:latin typeface="Aptos" panose="020B0004020202020204" pitchFamily="34" charset="0"/>
              </a:rPr>
              <a:t>Répartition par âge</a:t>
            </a:r>
          </a:p>
          <a:p>
            <a:pPr marL="1257300" lvl="2" indent="-342900">
              <a:buFont typeface="Courier New" panose="02070309020205020404" pitchFamily="49" charset="0"/>
              <a:buChar char="o"/>
            </a:pPr>
            <a:r>
              <a:rPr lang="fr-FR" sz="2000" dirty="0">
                <a:latin typeface="Aptos" panose="020B0004020202020204" pitchFamily="34" charset="0"/>
              </a:rPr>
              <a:t>Niveau socio-économique</a:t>
            </a:r>
          </a:p>
          <a:p>
            <a:pPr marL="1257300" lvl="2" indent="-342900">
              <a:buFont typeface="Courier New" panose="02070309020205020404" pitchFamily="49" charset="0"/>
              <a:buChar char="o"/>
            </a:pPr>
            <a:r>
              <a:rPr lang="fr-FR" sz="2000" dirty="0">
                <a:latin typeface="Aptos" panose="020B0004020202020204" pitchFamily="34" charset="0"/>
              </a:rPr>
              <a:t>Prévalence des maladies</a:t>
            </a:r>
          </a:p>
          <a:p>
            <a:pPr marL="800100" lvl="1" indent="-342900">
              <a:buFont typeface="Arial" panose="020B0604020202020204" pitchFamily="34" charset="0"/>
              <a:buChar char="•"/>
            </a:pPr>
            <a:r>
              <a:rPr lang="fr-FR" sz="2000" dirty="0">
                <a:latin typeface="Aptos" panose="020B0004020202020204" pitchFamily="34" charset="0"/>
              </a:rPr>
              <a:t>Officines voisines</a:t>
            </a:r>
          </a:p>
        </p:txBody>
      </p:sp>
    </p:spTree>
    <p:extLst>
      <p:ext uri="{BB962C8B-B14F-4D97-AF65-F5344CB8AC3E}">
        <p14:creationId xmlns:p14="http://schemas.microsoft.com/office/powerpoint/2010/main" val="1702356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Diagnostic marketing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Analyse interne de l’officine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093428"/>
          </a:xfrm>
          <a:prstGeom prst="rect">
            <a:avLst/>
          </a:prstGeom>
          <a:noFill/>
        </p:spPr>
        <p:txBody>
          <a:bodyPr wrap="square">
            <a:spAutoFit/>
          </a:bodyPr>
          <a:lstStyle/>
          <a:p>
            <a:r>
              <a:rPr lang="fr-FR" sz="2000" b="1" dirty="0">
                <a:latin typeface="Aptos" panose="020B0004020202020204" pitchFamily="34" charset="0"/>
              </a:rPr>
              <a:t>Questions essentielles</a:t>
            </a:r>
          </a:p>
          <a:p>
            <a:pPr marL="800100" lvl="1" indent="-342900">
              <a:buFont typeface="Arial" panose="020B0604020202020204" pitchFamily="34" charset="0"/>
              <a:buChar char="•"/>
            </a:pPr>
            <a:r>
              <a:rPr lang="fr-FR" sz="2000" dirty="0">
                <a:latin typeface="Aptos" panose="020B0004020202020204" pitchFamily="34" charset="0"/>
              </a:rPr>
              <a:t>Quels sont nos points forts ?</a:t>
            </a:r>
          </a:p>
          <a:p>
            <a:pPr marL="800100" lvl="1" indent="-342900">
              <a:buFont typeface="Arial" panose="020B0604020202020204" pitchFamily="34" charset="0"/>
              <a:buChar char="•"/>
            </a:pPr>
            <a:r>
              <a:rPr lang="fr-FR" sz="2000" dirty="0">
                <a:latin typeface="Aptos" panose="020B0004020202020204" pitchFamily="34" charset="0"/>
              </a:rPr>
              <a:t>Quels sont nos points faibles ?</a:t>
            </a:r>
          </a:p>
          <a:p>
            <a:pPr marL="800100" lvl="1" indent="-342900">
              <a:buFont typeface="Arial" panose="020B0604020202020204" pitchFamily="34" charset="0"/>
              <a:buChar char="•"/>
            </a:pPr>
            <a:r>
              <a:rPr lang="fr-FR" sz="2000" dirty="0">
                <a:latin typeface="Aptos" panose="020B0004020202020204" pitchFamily="34" charset="0"/>
              </a:rPr>
              <a:t>Quels services proposons-nous ?</a:t>
            </a:r>
          </a:p>
          <a:p>
            <a:pPr marL="800100" lvl="1" indent="-342900">
              <a:buFont typeface="Arial" panose="020B0604020202020204" pitchFamily="34" charset="0"/>
              <a:buChar char="•"/>
            </a:pPr>
            <a:r>
              <a:rPr lang="fr-FR" sz="2000" dirty="0">
                <a:latin typeface="Aptos" panose="020B0004020202020204" pitchFamily="34" charset="0"/>
              </a:rPr>
              <a:t>Quelle est notre réputation ?</a:t>
            </a:r>
          </a:p>
          <a:p>
            <a:pPr marL="800100" lvl="1" indent="-342900">
              <a:buFont typeface="Arial" panose="020B0604020202020204" pitchFamily="34" charset="0"/>
              <a:buChar char="•"/>
            </a:pPr>
            <a:r>
              <a:rPr lang="fr-FR" sz="2000" dirty="0">
                <a:latin typeface="Aptos" panose="020B0004020202020204" pitchFamily="34" charset="0"/>
              </a:rPr>
              <a:t>Quels sont nos résultats financiers ?</a:t>
            </a:r>
          </a:p>
          <a:p>
            <a:pPr marL="800100" lvl="1" indent="-342900">
              <a:buFont typeface="Arial" panose="020B0604020202020204" pitchFamily="34" charset="0"/>
              <a:buChar char="•"/>
            </a:pPr>
            <a:r>
              <a:rPr lang="fr-FR" sz="2000" dirty="0">
                <a:latin typeface="Aptos" panose="020B0004020202020204" pitchFamily="34" charset="0"/>
              </a:rPr>
              <a:t>Quelle est notre qualité de service ?</a:t>
            </a:r>
          </a:p>
          <a:p>
            <a:endParaRPr lang="fr-FR" sz="2000" b="1" dirty="0">
              <a:latin typeface="Aptos" panose="020B0004020202020204" pitchFamily="34" charset="0"/>
            </a:endParaRPr>
          </a:p>
          <a:p>
            <a:r>
              <a:rPr lang="fr-FR" sz="2000" b="1" dirty="0">
                <a:latin typeface="Aptos" panose="020B0004020202020204" pitchFamily="34" charset="0"/>
              </a:rPr>
              <a:t>L’analyse SWOT</a:t>
            </a:r>
          </a:p>
          <a:p>
            <a:pPr marL="800100" lvl="1" indent="-342900">
              <a:buFont typeface="Arial" panose="020B0604020202020204" pitchFamily="34" charset="0"/>
              <a:buChar char="•"/>
            </a:pPr>
            <a:r>
              <a:rPr lang="fr-FR" sz="2000" dirty="0">
                <a:latin typeface="Aptos" panose="020B0004020202020204" pitchFamily="34" charset="0"/>
              </a:rPr>
              <a:t>Forces</a:t>
            </a:r>
          </a:p>
          <a:p>
            <a:pPr marL="800100" lvl="1" indent="-342900">
              <a:buFont typeface="Arial" panose="020B0604020202020204" pitchFamily="34" charset="0"/>
              <a:buChar char="•"/>
            </a:pPr>
            <a:r>
              <a:rPr lang="fr-FR" sz="2000" dirty="0">
                <a:latin typeface="Aptos" panose="020B0004020202020204" pitchFamily="34" charset="0"/>
              </a:rPr>
              <a:t>Faiblesses</a:t>
            </a:r>
          </a:p>
          <a:p>
            <a:pPr marL="800100" lvl="1" indent="-342900">
              <a:buFont typeface="Arial" panose="020B0604020202020204" pitchFamily="34" charset="0"/>
              <a:buChar char="•"/>
            </a:pPr>
            <a:r>
              <a:rPr lang="fr-FR" sz="2000" dirty="0">
                <a:latin typeface="Aptos" panose="020B0004020202020204" pitchFamily="34" charset="0"/>
              </a:rPr>
              <a:t>Opportunités</a:t>
            </a:r>
          </a:p>
          <a:p>
            <a:pPr marL="800100" lvl="1" indent="-342900">
              <a:buFont typeface="Arial" panose="020B0604020202020204" pitchFamily="34" charset="0"/>
              <a:buChar char="•"/>
            </a:pPr>
            <a:r>
              <a:rPr lang="fr-FR" sz="2000" dirty="0">
                <a:latin typeface="Aptos" panose="020B0004020202020204" pitchFamily="34" charset="0"/>
              </a:rPr>
              <a:t>Menaces</a:t>
            </a:r>
          </a:p>
        </p:txBody>
      </p:sp>
    </p:spTree>
    <p:extLst>
      <p:ext uri="{BB962C8B-B14F-4D97-AF65-F5344CB8AC3E}">
        <p14:creationId xmlns:p14="http://schemas.microsoft.com/office/powerpoint/2010/main" val="2173106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Diagnostic marketing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Segmentation de la clientèle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r>
              <a:rPr lang="fr-FR" sz="2000" b="1" dirty="0">
                <a:latin typeface="Aptos" panose="020B0004020202020204" pitchFamily="34" charset="0"/>
              </a:rPr>
              <a:t>Pourquoi segmenter ?</a:t>
            </a:r>
          </a:p>
          <a:p>
            <a:pPr marL="800100" lvl="1" indent="-342900">
              <a:buFont typeface="Arial" panose="020B0604020202020204" pitchFamily="34" charset="0"/>
              <a:buChar char="•"/>
            </a:pPr>
            <a:r>
              <a:rPr lang="fr-FR" sz="2000" dirty="0">
                <a:latin typeface="Aptos" panose="020B0004020202020204" pitchFamily="34" charset="0"/>
              </a:rPr>
              <a:t>Tous les patients n'ont pas les mêmes attentes.</a:t>
            </a:r>
          </a:p>
          <a:p>
            <a:endParaRPr lang="fr-FR" sz="2000" dirty="0">
              <a:latin typeface="Aptos" panose="020B0004020202020204" pitchFamily="34" charset="0"/>
            </a:endParaRPr>
          </a:p>
          <a:p>
            <a:r>
              <a:rPr lang="fr-FR" sz="2000" b="1" dirty="0">
                <a:latin typeface="Aptos" panose="020B0004020202020204" pitchFamily="34" charset="0"/>
              </a:rPr>
              <a:t>Segments fréquents</a:t>
            </a:r>
          </a:p>
          <a:p>
            <a:pPr marL="800100" lvl="1" indent="-342900">
              <a:buFont typeface="Arial" panose="020B0604020202020204" pitchFamily="34" charset="0"/>
              <a:buChar char="•"/>
            </a:pPr>
            <a:r>
              <a:rPr lang="fr-FR" sz="2000" dirty="0">
                <a:latin typeface="Aptos" panose="020B0004020202020204" pitchFamily="34" charset="0"/>
              </a:rPr>
              <a:t>Patients chroniques</a:t>
            </a:r>
          </a:p>
          <a:p>
            <a:pPr marL="800100" lvl="1" indent="-342900">
              <a:buFont typeface="Arial" panose="020B0604020202020204" pitchFamily="34" charset="0"/>
              <a:buChar char="•"/>
            </a:pPr>
            <a:r>
              <a:rPr lang="fr-FR" sz="2000" dirty="0">
                <a:latin typeface="Aptos" panose="020B0004020202020204" pitchFamily="34" charset="0"/>
              </a:rPr>
              <a:t>Familles</a:t>
            </a:r>
          </a:p>
          <a:p>
            <a:pPr marL="800100" lvl="1" indent="-342900">
              <a:buFont typeface="Arial" panose="020B0604020202020204" pitchFamily="34" charset="0"/>
              <a:buChar char="•"/>
            </a:pPr>
            <a:r>
              <a:rPr lang="fr-FR" sz="2000" dirty="0">
                <a:latin typeface="Aptos" panose="020B0004020202020204" pitchFamily="34" charset="0"/>
              </a:rPr>
              <a:t>Femmes enceintes</a:t>
            </a:r>
          </a:p>
          <a:p>
            <a:pPr marL="800100" lvl="1" indent="-342900">
              <a:buFont typeface="Arial" panose="020B0604020202020204" pitchFamily="34" charset="0"/>
              <a:buChar char="•"/>
            </a:pPr>
            <a:r>
              <a:rPr lang="fr-FR" sz="2000" dirty="0">
                <a:latin typeface="Aptos" panose="020B0004020202020204" pitchFamily="34" charset="0"/>
              </a:rPr>
              <a:t>Personnes âgées</a:t>
            </a:r>
          </a:p>
          <a:p>
            <a:pPr marL="800100" lvl="1" indent="-342900">
              <a:buFont typeface="Arial" panose="020B0604020202020204" pitchFamily="34" charset="0"/>
              <a:buChar char="•"/>
            </a:pPr>
            <a:r>
              <a:rPr lang="fr-FR" sz="2000" dirty="0">
                <a:latin typeface="Aptos" panose="020B0004020202020204" pitchFamily="34" charset="0"/>
              </a:rPr>
              <a:t>Étudiants</a:t>
            </a:r>
          </a:p>
          <a:p>
            <a:pPr marL="800100" lvl="1" indent="-342900">
              <a:buFont typeface="Arial" panose="020B0604020202020204" pitchFamily="34" charset="0"/>
              <a:buChar char="•"/>
            </a:pPr>
            <a:r>
              <a:rPr lang="fr-FR" sz="2000" dirty="0">
                <a:latin typeface="Aptos" panose="020B0004020202020204" pitchFamily="34" charset="0"/>
              </a:rPr>
              <a:t>Entreprises</a:t>
            </a:r>
          </a:p>
          <a:p>
            <a:endParaRPr lang="fr-FR" sz="2000" dirty="0">
              <a:latin typeface="Aptos" panose="020B0004020202020204" pitchFamily="34" charset="0"/>
            </a:endParaRPr>
          </a:p>
          <a:p>
            <a:r>
              <a:rPr lang="fr-FR" sz="2000" b="1" dirty="0">
                <a:latin typeface="Aptos" panose="020B0004020202020204" pitchFamily="34" charset="0"/>
              </a:rPr>
              <a:t>Application</a:t>
            </a:r>
          </a:p>
          <a:p>
            <a:pPr marL="342900" indent="-342900">
              <a:buFont typeface="Arial" panose="020B0604020202020204" pitchFamily="34" charset="0"/>
              <a:buChar char="•"/>
            </a:pPr>
            <a:r>
              <a:rPr lang="fr-FR" sz="2000" dirty="0">
                <a:latin typeface="Aptos" panose="020B0004020202020204" pitchFamily="34" charset="0"/>
              </a:rPr>
              <a:t>Chaque segment nécessite :une communication adaptée, des services adaptés et une organisation adaptée.</a:t>
            </a:r>
          </a:p>
        </p:txBody>
      </p:sp>
    </p:spTree>
    <p:extLst>
      <p:ext uri="{BB962C8B-B14F-4D97-AF65-F5344CB8AC3E}">
        <p14:creationId xmlns:p14="http://schemas.microsoft.com/office/powerpoint/2010/main" val="3685173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Diagnostic marketing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Étude des besoins de la population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785652"/>
          </a:xfrm>
          <a:prstGeom prst="rect">
            <a:avLst/>
          </a:prstGeom>
          <a:noFill/>
        </p:spPr>
        <p:txBody>
          <a:bodyPr wrap="square">
            <a:spAutoFit/>
          </a:bodyPr>
          <a:lstStyle/>
          <a:p>
            <a:r>
              <a:rPr lang="fr-FR" sz="2000" b="1" dirty="0">
                <a:latin typeface="Aptos" panose="020B0004020202020204" pitchFamily="34" charset="0"/>
              </a:rPr>
              <a:t>Sources d'information</a:t>
            </a:r>
          </a:p>
          <a:p>
            <a:pPr marL="800100" lvl="1" indent="-342900">
              <a:buFont typeface="Arial" panose="020B0604020202020204" pitchFamily="34" charset="0"/>
              <a:buChar char="•"/>
            </a:pPr>
            <a:r>
              <a:rPr lang="fr-FR" sz="2000" dirty="0">
                <a:latin typeface="Aptos" panose="020B0004020202020204" pitchFamily="34" charset="0"/>
              </a:rPr>
              <a:t>Ventes</a:t>
            </a:r>
          </a:p>
          <a:p>
            <a:pPr marL="800100" lvl="1" indent="-342900">
              <a:buFont typeface="Arial" panose="020B0604020202020204" pitchFamily="34" charset="0"/>
              <a:buChar char="•"/>
            </a:pPr>
            <a:r>
              <a:rPr lang="fr-FR" sz="2000" dirty="0">
                <a:latin typeface="Aptos" panose="020B0004020202020204" pitchFamily="34" charset="0"/>
              </a:rPr>
              <a:t>Demandes non satisfaites</a:t>
            </a:r>
          </a:p>
          <a:p>
            <a:pPr marL="800100" lvl="1" indent="-342900">
              <a:buFont typeface="Arial" panose="020B0604020202020204" pitchFamily="34" charset="0"/>
              <a:buChar char="•"/>
            </a:pPr>
            <a:r>
              <a:rPr lang="fr-FR" sz="2000" dirty="0">
                <a:latin typeface="Aptos" panose="020B0004020202020204" pitchFamily="34" charset="0"/>
              </a:rPr>
              <a:t>Réclamations</a:t>
            </a:r>
          </a:p>
          <a:p>
            <a:pPr marL="800100" lvl="1" indent="-342900">
              <a:buFont typeface="Arial" panose="020B0604020202020204" pitchFamily="34" charset="0"/>
              <a:buChar char="•"/>
            </a:pPr>
            <a:r>
              <a:rPr lang="fr-FR" sz="2000" dirty="0">
                <a:latin typeface="Aptos" panose="020B0004020202020204" pitchFamily="34" charset="0"/>
              </a:rPr>
              <a:t>Enquêtes</a:t>
            </a:r>
          </a:p>
          <a:p>
            <a:pPr marL="800100" lvl="1" indent="-342900">
              <a:buFont typeface="Arial" panose="020B0604020202020204" pitchFamily="34" charset="0"/>
              <a:buChar char="•"/>
            </a:pPr>
            <a:r>
              <a:rPr lang="fr-FR" sz="2000" dirty="0">
                <a:latin typeface="Aptos" panose="020B0004020202020204" pitchFamily="34" charset="0"/>
              </a:rPr>
              <a:t>Données sanitaires locales</a:t>
            </a:r>
          </a:p>
          <a:p>
            <a:endParaRPr lang="fr-FR" sz="2000" dirty="0">
              <a:latin typeface="Aptos" panose="020B0004020202020204" pitchFamily="34" charset="0"/>
            </a:endParaRPr>
          </a:p>
          <a:p>
            <a:r>
              <a:rPr lang="fr-FR" sz="2000" b="1" dirty="0">
                <a:latin typeface="Aptos" panose="020B0004020202020204" pitchFamily="34" charset="0"/>
              </a:rPr>
              <a:t>Application au Bénin</a:t>
            </a:r>
          </a:p>
          <a:p>
            <a:r>
              <a:rPr lang="fr-FR" sz="2000" dirty="0">
                <a:latin typeface="Aptos" panose="020B0004020202020204" pitchFamily="34" charset="0"/>
              </a:rPr>
              <a:t>L'analyse des pathologies dominantes peut aider à adapter :</a:t>
            </a:r>
          </a:p>
          <a:p>
            <a:pPr marL="800100" lvl="1" indent="-342900">
              <a:buFont typeface="Arial" panose="020B0604020202020204" pitchFamily="34" charset="0"/>
              <a:buChar char="•"/>
            </a:pPr>
            <a:r>
              <a:rPr lang="fr-FR" sz="2000" dirty="0">
                <a:latin typeface="Aptos" panose="020B0004020202020204" pitchFamily="34" charset="0"/>
              </a:rPr>
              <a:t>Les stocks ;</a:t>
            </a:r>
          </a:p>
          <a:p>
            <a:pPr marL="800100" lvl="1" indent="-342900">
              <a:buFont typeface="Arial" panose="020B0604020202020204" pitchFamily="34" charset="0"/>
              <a:buChar char="•"/>
            </a:pPr>
            <a:r>
              <a:rPr lang="fr-FR" sz="2000" dirty="0">
                <a:latin typeface="Aptos" panose="020B0004020202020204" pitchFamily="34" charset="0"/>
              </a:rPr>
              <a:t>Les services ;</a:t>
            </a:r>
          </a:p>
          <a:p>
            <a:pPr marL="800100" lvl="1" indent="-342900">
              <a:buFont typeface="Arial" panose="020B0604020202020204" pitchFamily="34" charset="0"/>
              <a:buChar char="•"/>
            </a:pPr>
            <a:r>
              <a:rPr lang="fr-FR" sz="2000" dirty="0">
                <a:latin typeface="Aptos" panose="020B0004020202020204" pitchFamily="34" charset="0"/>
              </a:rPr>
              <a:t>Les actions de sensibilisation.</a:t>
            </a:r>
          </a:p>
        </p:txBody>
      </p:sp>
    </p:spTree>
    <p:extLst>
      <p:ext uri="{BB962C8B-B14F-4D97-AF65-F5344CB8AC3E}">
        <p14:creationId xmlns:p14="http://schemas.microsoft.com/office/powerpoint/2010/main" val="1414329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Diagnostic marketing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indicateurs marketing d’une 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554545"/>
          </a:xfrm>
          <a:prstGeom prst="rect">
            <a:avLst/>
          </a:prstGeom>
          <a:noFill/>
        </p:spPr>
        <p:txBody>
          <a:bodyPr wrap="square">
            <a:spAutoFit/>
          </a:bodyPr>
          <a:lstStyle/>
          <a:p>
            <a:r>
              <a:rPr lang="fr-FR" sz="2000" b="1" dirty="0">
                <a:latin typeface="Aptos" panose="020B0004020202020204" pitchFamily="34" charset="0"/>
              </a:rPr>
              <a:t>KPI essentiels</a:t>
            </a:r>
          </a:p>
          <a:p>
            <a:pPr marL="800100" lvl="1" indent="-342900">
              <a:buFont typeface="Arial" panose="020B0604020202020204" pitchFamily="34" charset="0"/>
              <a:buChar char="•"/>
            </a:pPr>
            <a:r>
              <a:rPr lang="fr-FR" sz="2000" dirty="0">
                <a:latin typeface="Aptos" panose="020B0004020202020204" pitchFamily="34" charset="0"/>
              </a:rPr>
              <a:t>Nombre de clients/jour</a:t>
            </a:r>
          </a:p>
          <a:p>
            <a:pPr marL="800100" lvl="1" indent="-342900">
              <a:buFont typeface="Arial" panose="020B0604020202020204" pitchFamily="34" charset="0"/>
              <a:buChar char="•"/>
            </a:pPr>
            <a:r>
              <a:rPr lang="fr-FR" sz="2000" dirty="0">
                <a:latin typeface="Aptos" panose="020B0004020202020204" pitchFamily="34" charset="0"/>
              </a:rPr>
              <a:t>Taux de retour</a:t>
            </a:r>
          </a:p>
          <a:p>
            <a:pPr marL="800100" lvl="1" indent="-342900">
              <a:buFont typeface="Arial" panose="020B0604020202020204" pitchFamily="34" charset="0"/>
              <a:buChar char="•"/>
            </a:pPr>
            <a:r>
              <a:rPr lang="fr-FR" sz="2000" dirty="0">
                <a:latin typeface="Aptos" panose="020B0004020202020204" pitchFamily="34" charset="0"/>
              </a:rPr>
              <a:t>Satisfaction</a:t>
            </a:r>
          </a:p>
          <a:p>
            <a:pPr marL="800100" lvl="1" indent="-342900">
              <a:buFont typeface="Arial" panose="020B0604020202020204" pitchFamily="34" charset="0"/>
              <a:buChar char="•"/>
            </a:pPr>
            <a:r>
              <a:rPr lang="fr-FR" sz="2000" dirty="0">
                <a:latin typeface="Aptos" panose="020B0004020202020204" pitchFamily="34" charset="0"/>
              </a:rPr>
              <a:t>Réclamations</a:t>
            </a:r>
          </a:p>
          <a:p>
            <a:pPr marL="800100" lvl="1" indent="-342900">
              <a:buFont typeface="Arial" panose="020B0604020202020204" pitchFamily="34" charset="0"/>
              <a:buChar char="•"/>
            </a:pPr>
            <a:r>
              <a:rPr lang="fr-FR" sz="2000" dirty="0">
                <a:latin typeface="Aptos" panose="020B0004020202020204" pitchFamily="34" charset="0"/>
              </a:rPr>
              <a:t>Panier moyen</a:t>
            </a:r>
          </a:p>
          <a:p>
            <a:pPr marL="800100" lvl="1" indent="-342900">
              <a:buFont typeface="Arial" panose="020B0604020202020204" pitchFamily="34" charset="0"/>
              <a:buChar char="•"/>
            </a:pPr>
            <a:r>
              <a:rPr lang="fr-FR" sz="2000" dirty="0">
                <a:latin typeface="Aptos" panose="020B0004020202020204" pitchFamily="34" charset="0"/>
              </a:rPr>
              <a:t>Croissance du chiffre d’affaires</a:t>
            </a:r>
          </a:p>
          <a:p>
            <a:pPr marL="800100" lvl="1" indent="-342900">
              <a:buFont typeface="Arial" panose="020B0604020202020204" pitchFamily="34" charset="0"/>
              <a:buChar char="•"/>
            </a:pPr>
            <a:r>
              <a:rPr lang="fr-FR" sz="2000" dirty="0">
                <a:latin typeface="Aptos" panose="020B0004020202020204" pitchFamily="34" charset="0"/>
              </a:rPr>
              <a:t>Nombre de patients chroniques suivis</a:t>
            </a:r>
          </a:p>
        </p:txBody>
      </p:sp>
    </p:spTree>
    <p:extLst>
      <p:ext uri="{BB962C8B-B14F-4D97-AF65-F5344CB8AC3E}">
        <p14:creationId xmlns:p14="http://schemas.microsoft.com/office/powerpoint/2010/main" val="2933892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Diagnostic marketing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Plan marketing de l’officine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r>
              <a:rPr lang="fr-FR" sz="2000" b="1" dirty="0">
                <a:latin typeface="Aptos" panose="020B0004020202020204" pitchFamily="34" charset="0"/>
              </a:rPr>
              <a:t>Étape 1</a:t>
            </a:r>
          </a:p>
          <a:p>
            <a:pPr marL="800100" lvl="1" indent="-342900">
              <a:buFont typeface="Arial" panose="020B0604020202020204" pitchFamily="34" charset="0"/>
              <a:buChar char="•"/>
            </a:pPr>
            <a:r>
              <a:rPr lang="fr-FR" sz="2000" dirty="0">
                <a:latin typeface="Aptos" panose="020B0004020202020204" pitchFamily="34" charset="0"/>
              </a:rPr>
              <a:t>Diagnostic.</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Étape 2</a:t>
            </a:r>
          </a:p>
          <a:p>
            <a:pPr marL="800100" lvl="1" indent="-342900">
              <a:buFont typeface="Arial" panose="020B0604020202020204" pitchFamily="34" charset="0"/>
              <a:buChar char="•"/>
            </a:pPr>
            <a:r>
              <a:rPr lang="fr-FR" sz="2000" dirty="0">
                <a:latin typeface="Aptos" panose="020B0004020202020204" pitchFamily="34" charset="0"/>
              </a:rPr>
              <a:t>Définition des objectifs.</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Étape 3</a:t>
            </a:r>
          </a:p>
          <a:p>
            <a:pPr marL="800100" lvl="1" indent="-342900">
              <a:buFont typeface="Arial" panose="020B0604020202020204" pitchFamily="34" charset="0"/>
              <a:buChar char="•"/>
            </a:pPr>
            <a:r>
              <a:rPr lang="fr-FR" sz="2000" dirty="0">
                <a:latin typeface="Aptos" panose="020B0004020202020204" pitchFamily="34" charset="0"/>
              </a:rPr>
              <a:t>Choix du positionnement.</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Étape 4</a:t>
            </a:r>
          </a:p>
          <a:p>
            <a:pPr marL="800100" lvl="1" indent="-342900">
              <a:buFont typeface="Arial" panose="020B0604020202020204" pitchFamily="34" charset="0"/>
              <a:buChar char="•"/>
            </a:pPr>
            <a:r>
              <a:rPr lang="fr-FR" sz="2000" dirty="0">
                <a:latin typeface="Aptos" panose="020B0004020202020204" pitchFamily="34" charset="0"/>
              </a:rPr>
              <a:t>Choix des actions.</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Étape 5</a:t>
            </a:r>
          </a:p>
          <a:p>
            <a:pPr marL="342900" indent="-342900">
              <a:buFont typeface="Arial" panose="020B0604020202020204" pitchFamily="34" charset="0"/>
              <a:buChar char="•"/>
            </a:pPr>
            <a:r>
              <a:rPr lang="fr-FR" sz="2000" dirty="0">
                <a:latin typeface="Aptos" panose="020B0004020202020204" pitchFamily="34" charset="0"/>
              </a:rPr>
              <a:t>Suivi des résultats.</a:t>
            </a:r>
          </a:p>
        </p:txBody>
      </p:sp>
    </p:spTree>
    <p:extLst>
      <p:ext uri="{BB962C8B-B14F-4D97-AF65-F5344CB8AC3E}">
        <p14:creationId xmlns:p14="http://schemas.microsoft.com/office/powerpoint/2010/main" val="2146821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Diagnostic marketing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Erreurs fréquentes en marketing officinal</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785652"/>
          </a:xfrm>
          <a:prstGeom prst="rect">
            <a:avLst/>
          </a:prstGeom>
          <a:noFill/>
        </p:spPr>
        <p:txBody>
          <a:bodyPr wrap="square">
            <a:spAutoFit/>
          </a:bodyPr>
          <a:lstStyle/>
          <a:p>
            <a:pPr marL="800100" lvl="1" indent="-342900">
              <a:buFont typeface="Arial" panose="020B0604020202020204" pitchFamily="34" charset="0"/>
              <a:buChar char="•"/>
            </a:pPr>
            <a:r>
              <a:rPr lang="fr-FR" sz="2000" dirty="0">
                <a:latin typeface="Aptos" panose="020B0004020202020204" pitchFamily="34" charset="0"/>
              </a:rPr>
              <a:t>Copier les concurrents</a:t>
            </a:r>
          </a:p>
          <a:p>
            <a:pPr marL="800100" lvl="1" indent="-342900">
              <a:buFont typeface="Arial" panose="020B0604020202020204" pitchFamily="34" charset="0"/>
              <a:buChar char="•"/>
            </a:pPr>
            <a:r>
              <a:rPr lang="fr-FR" sz="2000" dirty="0">
                <a:latin typeface="Aptos" panose="020B0004020202020204" pitchFamily="34" charset="0"/>
              </a:rPr>
              <a:t>Négliger l’expérience patient</a:t>
            </a:r>
          </a:p>
          <a:p>
            <a:pPr marL="800100" lvl="1" indent="-342900">
              <a:buFont typeface="Arial" panose="020B0604020202020204" pitchFamily="34" charset="0"/>
              <a:buChar char="•"/>
            </a:pPr>
            <a:r>
              <a:rPr lang="fr-FR" sz="2000" dirty="0">
                <a:latin typeface="Aptos" panose="020B0004020202020204" pitchFamily="34" charset="0"/>
              </a:rPr>
              <a:t>Ignorer les données</a:t>
            </a:r>
          </a:p>
          <a:p>
            <a:pPr marL="800100" lvl="1" indent="-342900">
              <a:buFont typeface="Arial" panose="020B0604020202020204" pitchFamily="34" charset="0"/>
              <a:buChar char="•"/>
            </a:pPr>
            <a:r>
              <a:rPr lang="fr-FR" sz="2000" dirty="0">
                <a:latin typeface="Aptos" panose="020B0004020202020204" pitchFamily="34" charset="0"/>
              </a:rPr>
              <a:t>Utiliser des pratiques incompatibles avec la déontologie</a:t>
            </a:r>
          </a:p>
          <a:p>
            <a:pPr marL="800100" lvl="1" indent="-342900">
              <a:buFont typeface="Arial" panose="020B0604020202020204" pitchFamily="34" charset="0"/>
              <a:buChar char="•"/>
            </a:pPr>
            <a:r>
              <a:rPr lang="fr-FR" sz="2000" dirty="0">
                <a:latin typeface="Aptos" panose="020B0004020202020204" pitchFamily="34" charset="0"/>
              </a:rPr>
              <a:t>Ne pas mesurer les résultats</a:t>
            </a:r>
          </a:p>
          <a:p>
            <a:pPr marL="342900" indent="-342900">
              <a:buFont typeface="Arial" panose="020B0604020202020204" pitchFamily="34" charset="0"/>
              <a:buChar char="•"/>
            </a:pPr>
            <a:endParaRPr lang="fr-FR" sz="2000" dirty="0">
              <a:latin typeface="Aptos" panose="020B0004020202020204" pitchFamily="34" charset="0"/>
            </a:endParaRPr>
          </a:p>
          <a:p>
            <a:r>
              <a:rPr lang="fr-FR" sz="2000" b="1" dirty="0">
                <a:latin typeface="Aptos" panose="020B0004020202020204" pitchFamily="34" charset="0"/>
              </a:rPr>
              <a:t>Contexte réglementaire bénin</a:t>
            </a:r>
          </a:p>
          <a:p>
            <a:r>
              <a:rPr lang="fr-FR" sz="2000" dirty="0">
                <a:latin typeface="Aptos" panose="020B0004020202020204" pitchFamily="34" charset="0"/>
              </a:rPr>
              <a:t>Le pharmacien doit toujours s'assurer que toute initiative marketing :</a:t>
            </a:r>
          </a:p>
          <a:p>
            <a:pPr marL="800100" lvl="1" indent="-342900">
              <a:buFont typeface="Arial" panose="020B0604020202020204" pitchFamily="34" charset="0"/>
              <a:buChar char="•"/>
            </a:pPr>
            <a:r>
              <a:rPr lang="fr-FR" sz="2000" dirty="0">
                <a:latin typeface="Aptos" panose="020B0004020202020204" pitchFamily="34" charset="0"/>
              </a:rPr>
              <a:t>Respecte le code de déontologie ;</a:t>
            </a:r>
          </a:p>
          <a:p>
            <a:pPr marL="800100" lvl="1" indent="-342900">
              <a:buFont typeface="Arial" panose="020B0604020202020204" pitchFamily="34" charset="0"/>
              <a:buChar char="•"/>
            </a:pPr>
            <a:r>
              <a:rPr lang="fr-FR" sz="2000" dirty="0">
                <a:latin typeface="Aptos" panose="020B0004020202020204" pitchFamily="34" charset="0"/>
              </a:rPr>
              <a:t>Ne constitue pas une publicité trompeuse ;</a:t>
            </a:r>
          </a:p>
          <a:p>
            <a:pPr marL="800100" lvl="1" indent="-342900">
              <a:buFont typeface="Arial" panose="020B0604020202020204" pitchFamily="34" charset="0"/>
              <a:buChar char="•"/>
            </a:pPr>
            <a:r>
              <a:rPr lang="fr-FR" sz="2000" dirty="0">
                <a:latin typeface="Aptos" panose="020B0004020202020204" pitchFamily="34" charset="0"/>
              </a:rPr>
              <a:t>Ne pousse pas à la consommation inappropriée de médicaments ;</a:t>
            </a:r>
          </a:p>
          <a:p>
            <a:pPr marL="800100" lvl="1" indent="-342900">
              <a:buFont typeface="Arial" panose="020B0604020202020204" pitchFamily="34" charset="0"/>
              <a:buChar char="•"/>
            </a:pPr>
            <a:r>
              <a:rPr lang="fr-FR" sz="2000" dirty="0">
                <a:latin typeface="Aptos" panose="020B0004020202020204" pitchFamily="34" charset="0"/>
              </a:rPr>
              <a:t>Protège l'image de la profession.</a:t>
            </a:r>
          </a:p>
        </p:txBody>
      </p:sp>
    </p:spTree>
    <p:extLst>
      <p:ext uri="{BB962C8B-B14F-4D97-AF65-F5344CB8AC3E}">
        <p14:creationId xmlns:p14="http://schemas.microsoft.com/office/powerpoint/2010/main" val="3185887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Diagnostic marketing d'une 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Message clé à retenir</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1323439"/>
          </a:xfrm>
          <a:prstGeom prst="rect">
            <a:avLst/>
          </a:prstGeom>
          <a:noFill/>
        </p:spPr>
        <p:txBody>
          <a:bodyPr wrap="square">
            <a:spAutoFit/>
          </a:bodyPr>
          <a:lstStyle/>
          <a:p>
            <a:r>
              <a:rPr lang="fr-FR" sz="2000" dirty="0">
                <a:latin typeface="Aptos" panose="020B0004020202020204" pitchFamily="34" charset="0"/>
              </a:rPr>
              <a:t>Le marketing officinal n'a pas pour objectif de vendre davantage de médicaments.</a:t>
            </a:r>
          </a:p>
          <a:p>
            <a:endParaRPr lang="fr-FR" sz="2000" dirty="0">
              <a:latin typeface="Aptos" panose="020B0004020202020204" pitchFamily="34" charset="0"/>
            </a:endParaRPr>
          </a:p>
          <a:p>
            <a:r>
              <a:rPr lang="fr-FR" sz="2000" dirty="0">
                <a:latin typeface="Aptos" panose="020B0004020202020204" pitchFamily="34" charset="0"/>
              </a:rPr>
              <a:t>Il vise à mieux répondre aux besoins de santé de la population tout en assurant le développement durable et éthique de l'officine.</a:t>
            </a:r>
          </a:p>
        </p:txBody>
      </p:sp>
    </p:spTree>
    <p:extLst>
      <p:ext uri="{BB962C8B-B14F-4D97-AF65-F5344CB8AC3E}">
        <p14:creationId xmlns:p14="http://schemas.microsoft.com/office/powerpoint/2010/main" val="193732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Aménagement et merchandising de l'espace officinal</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246769"/>
          </a:xfrm>
          <a:prstGeom prst="rect">
            <a:avLst/>
          </a:prstGeom>
          <a:noFill/>
        </p:spPr>
        <p:txBody>
          <a:bodyPr wrap="square">
            <a:spAutoFit/>
          </a:bodyPr>
          <a:lstStyle/>
          <a:p>
            <a:r>
              <a:rPr lang="fr-FR" sz="2000" dirty="0">
                <a:latin typeface="Aptos" panose="020B0004020202020204" pitchFamily="34" charset="0"/>
              </a:rPr>
              <a:t>À l’issue de ce sous-module, le participant sera capable de :</a:t>
            </a:r>
          </a:p>
          <a:p>
            <a:pPr marL="800100" lvl="1" indent="-342900">
              <a:buFont typeface="Arial" panose="020B0604020202020204" pitchFamily="34" charset="0"/>
              <a:buChar char="•"/>
            </a:pPr>
            <a:r>
              <a:rPr lang="fr-FR" sz="2000" dirty="0">
                <a:latin typeface="Aptos" panose="020B0004020202020204" pitchFamily="34" charset="0"/>
              </a:rPr>
              <a:t>Concevoir un aménagement centré sur le patient ;</a:t>
            </a:r>
          </a:p>
          <a:p>
            <a:pPr marL="800100" lvl="1" indent="-342900">
              <a:buFont typeface="Arial" panose="020B0604020202020204" pitchFamily="34" charset="0"/>
              <a:buChar char="•"/>
            </a:pPr>
            <a:r>
              <a:rPr lang="fr-FR" sz="2000" dirty="0">
                <a:latin typeface="Aptos" panose="020B0004020202020204" pitchFamily="34" charset="0"/>
              </a:rPr>
              <a:t>Optimiser le parcours client ;</a:t>
            </a:r>
          </a:p>
          <a:p>
            <a:pPr marL="800100" lvl="1" indent="-342900">
              <a:buFont typeface="Arial" panose="020B0604020202020204" pitchFamily="34" charset="0"/>
              <a:buChar char="•"/>
            </a:pPr>
            <a:r>
              <a:rPr lang="fr-FR" sz="2000" dirty="0">
                <a:latin typeface="Aptos" panose="020B0004020202020204" pitchFamily="34" charset="0"/>
              </a:rPr>
              <a:t>Organiser les rayons de manière efficace ;</a:t>
            </a:r>
          </a:p>
          <a:p>
            <a:pPr marL="800100" lvl="1" indent="-342900">
              <a:buFont typeface="Arial" panose="020B0604020202020204" pitchFamily="34" charset="0"/>
              <a:buChar char="•"/>
            </a:pPr>
            <a:r>
              <a:rPr lang="fr-FR" sz="2000" dirty="0">
                <a:latin typeface="Aptos" panose="020B0004020202020204" pitchFamily="34" charset="0"/>
              </a:rPr>
              <a:t>Améliorer l'expérience patient ;</a:t>
            </a:r>
          </a:p>
          <a:p>
            <a:pPr marL="800100" lvl="1" indent="-342900">
              <a:buFont typeface="Arial" panose="020B0604020202020204" pitchFamily="34" charset="0"/>
              <a:buChar char="•"/>
            </a:pPr>
            <a:r>
              <a:rPr lang="fr-FR" sz="2000" dirty="0">
                <a:latin typeface="Aptos" panose="020B0004020202020204" pitchFamily="34" charset="0"/>
              </a:rPr>
              <a:t>Développer un merchandising conforme à la déontologie pharmaceutique ;</a:t>
            </a:r>
          </a:p>
          <a:p>
            <a:pPr marL="800100" lvl="1" indent="-342900">
              <a:buFont typeface="Arial" panose="020B0604020202020204" pitchFamily="34" charset="0"/>
              <a:buChar char="•"/>
            </a:pPr>
            <a:r>
              <a:rPr lang="fr-FR" sz="2000" dirty="0">
                <a:latin typeface="Aptos" panose="020B0004020202020204" pitchFamily="34" charset="0"/>
              </a:rPr>
              <a:t>Respecter les exigences réglementaires applicables aux locaux.</a:t>
            </a:r>
          </a:p>
        </p:txBody>
      </p:sp>
    </p:spTree>
    <p:extLst>
      <p:ext uri="{BB962C8B-B14F-4D97-AF65-F5344CB8AC3E}">
        <p14:creationId xmlns:p14="http://schemas.microsoft.com/office/powerpoint/2010/main" val="147168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Aménagement et merchandising de l'espace officinal</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477875"/>
          </a:xfrm>
          <a:prstGeom prst="rect">
            <a:avLst/>
          </a:prstGeom>
          <a:noFill/>
        </p:spPr>
        <p:txBody>
          <a:bodyPr wrap="square">
            <a:spAutoFit/>
          </a:bodyPr>
          <a:lstStyle/>
          <a:p>
            <a:r>
              <a:rPr lang="fr-FR" sz="2000" b="1" dirty="0">
                <a:latin typeface="Aptos" panose="020B0004020202020204" pitchFamily="34" charset="0"/>
              </a:rPr>
              <a:t>Une officine est à la fois :</a:t>
            </a:r>
          </a:p>
          <a:p>
            <a:pPr marL="800100" lvl="1" indent="-342900">
              <a:buFont typeface="Arial" panose="020B0604020202020204" pitchFamily="34" charset="0"/>
              <a:buChar char="•"/>
            </a:pPr>
            <a:r>
              <a:rPr lang="fr-FR" sz="2000" dirty="0">
                <a:latin typeface="Aptos" panose="020B0004020202020204" pitchFamily="34" charset="0"/>
              </a:rPr>
              <a:t>Un établissement de santé ;</a:t>
            </a:r>
          </a:p>
          <a:p>
            <a:pPr marL="800100" lvl="1" indent="-342900">
              <a:buFont typeface="Arial" panose="020B0604020202020204" pitchFamily="34" charset="0"/>
              <a:buChar char="•"/>
            </a:pPr>
            <a:r>
              <a:rPr lang="fr-FR" sz="2000" dirty="0">
                <a:latin typeface="Aptos" panose="020B0004020202020204" pitchFamily="34" charset="0"/>
              </a:rPr>
              <a:t>Un lieu de conseil ;</a:t>
            </a:r>
          </a:p>
          <a:p>
            <a:pPr marL="800100" lvl="1" indent="-342900">
              <a:buFont typeface="Arial" panose="020B0604020202020204" pitchFamily="34" charset="0"/>
              <a:buChar char="•"/>
            </a:pPr>
            <a:r>
              <a:rPr lang="fr-FR" sz="2000" dirty="0">
                <a:latin typeface="Aptos" panose="020B0004020202020204" pitchFamily="34" charset="0"/>
              </a:rPr>
              <a:t>Un espace commercial réglementé.</a:t>
            </a:r>
          </a:p>
          <a:p>
            <a:endParaRPr lang="fr-FR" sz="2000" dirty="0">
              <a:latin typeface="Aptos" panose="020B0004020202020204" pitchFamily="34" charset="0"/>
            </a:endParaRPr>
          </a:p>
          <a:p>
            <a:r>
              <a:rPr lang="fr-FR" sz="2000" b="1" dirty="0">
                <a:latin typeface="Aptos" panose="020B0004020202020204" pitchFamily="34" charset="0"/>
              </a:rPr>
              <a:t>L'aménagement doit donc permettre simultanément :</a:t>
            </a:r>
          </a:p>
          <a:p>
            <a:pPr marL="800100" lvl="1" indent="-342900">
              <a:buFont typeface="Arial" panose="020B0604020202020204" pitchFamily="34" charset="0"/>
              <a:buChar char="•"/>
            </a:pPr>
            <a:r>
              <a:rPr lang="fr-FR" sz="2000" dirty="0">
                <a:latin typeface="Aptos" panose="020B0004020202020204" pitchFamily="34" charset="0"/>
              </a:rPr>
              <a:t>Sécurité ;</a:t>
            </a:r>
          </a:p>
          <a:p>
            <a:pPr marL="800100" lvl="1" indent="-342900">
              <a:buFont typeface="Arial" panose="020B0604020202020204" pitchFamily="34" charset="0"/>
              <a:buChar char="•"/>
            </a:pPr>
            <a:r>
              <a:rPr lang="fr-FR" sz="2000" dirty="0">
                <a:latin typeface="Aptos" panose="020B0004020202020204" pitchFamily="34" charset="0"/>
              </a:rPr>
              <a:t>Confidentialité ;</a:t>
            </a:r>
          </a:p>
          <a:p>
            <a:pPr marL="800100" lvl="1" indent="-342900">
              <a:buFont typeface="Arial" panose="020B0604020202020204" pitchFamily="34" charset="0"/>
              <a:buChar char="•"/>
            </a:pPr>
            <a:r>
              <a:rPr lang="fr-FR" sz="2000" dirty="0">
                <a:latin typeface="Aptos" panose="020B0004020202020204" pitchFamily="34" charset="0"/>
              </a:rPr>
              <a:t>Accessibilité ;</a:t>
            </a:r>
          </a:p>
          <a:p>
            <a:pPr marL="800100" lvl="1" indent="-342900">
              <a:buFont typeface="Arial" panose="020B0604020202020204" pitchFamily="34" charset="0"/>
              <a:buChar char="•"/>
            </a:pPr>
            <a:r>
              <a:rPr lang="fr-FR" sz="2000" dirty="0">
                <a:latin typeface="Aptos" panose="020B0004020202020204" pitchFamily="34" charset="0"/>
              </a:rPr>
              <a:t>Efficacité ;</a:t>
            </a:r>
          </a:p>
          <a:p>
            <a:pPr marL="800100" lvl="1" indent="-342900">
              <a:buFont typeface="Arial" panose="020B0604020202020204" pitchFamily="34" charset="0"/>
              <a:buChar char="•"/>
            </a:pPr>
            <a:r>
              <a:rPr lang="fr-FR" sz="2000" dirty="0">
                <a:latin typeface="Aptos" panose="020B0004020202020204" pitchFamily="34" charset="0"/>
              </a:rPr>
              <a:t>Confort.</a:t>
            </a:r>
          </a:p>
        </p:txBody>
      </p:sp>
    </p:spTree>
    <p:extLst>
      <p:ext uri="{BB962C8B-B14F-4D97-AF65-F5344CB8AC3E}">
        <p14:creationId xmlns:p14="http://schemas.microsoft.com/office/powerpoint/2010/main" val="3572054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Aménagement et merchandising de l'espace officinal</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rôle stratégique de l’aménagement</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785652"/>
          </a:xfrm>
          <a:prstGeom prst="rect">
            <a:avLst/>
          </a:prstGeom>
          <a:noFill/>
        </p:spPr>
        <p:txBody>
          <a:bodyPr wrap="square">
            <a:spAutoFit/>
          </a:bodyPr>
          <a:lstStyle/>
          <a:p>
            <a:r>
              <a:rPr lang="fr-FR" sz="2000" b="1" dirty="0">
                <a:latin typeface="Aptos" panose="020B0004020202020204" pitchFamily="34" charset="0"/>
              </a:rPr>
              <a:t>Pourquoi l’aménagement est-il important ?</a:t>
            </a:r>
          </a:p>
          <a:p>
            <a:pPr marL="800100" lvl="1" indent="-342900">
              <a:buFont typeface="Arial" panose="020B0604020202020204" pitchFamily="34" charset="0"/>
              <a:buChar char="•"/>
            </a:pPr>
            <a:r>
              <a:rPr lang="fr-FR" sz="2000" dirty="0">
                <a:latin typeface="Aptos" panose="020B0004020202020204" pitchFamily="34" charset="0"/>
              </a:rPr>
              <a:t>L'environnement influence :</a:t>
            </a:r>
          </a:p>
          <a:p>
            <a:pPr marL="800100" lvl="1" indent="-342900">
              <a:buFont typeface="Arial" panose="020B0604020202020204" pitchFamily="34" charset="0"/>
              <a:buChar char="•"/>
            </a:pPr>
            <a:r>
              <a:rPr lang="fr-FR" sz="2000" dirty="0">
                <a:latin typeface="Aptos" panose="020B0004020202020204" pitchFamily="34" charset="0"/>
              </a:rPr>
              <a:t>le comportement du patient ;</a:t>
            </a:r>
          </a:p>
          <a:p>
            <a:pPr marL="800100" lvl="1" indent="-342900">
              <a:buFont typeface="Arial" panose="020B0604020202020204" pitchFamily="34" charset="0"/>
              <a:buChar char="•"/>
            </a:pPr>
            <a:r>
              <a:rPr lang="fr-FR" sz="2000" dirty="0">
                <a:latin typeface="Aptos" panose="020B0004020202020204" pitchFamily="34" charset="0"/>
              </a:rPr>
              <a:t>la fluidité du service ;</a:t>
            </a:r>
          </a:p>
          <a:p>
            <a:pPr marL="800100" lvl="1" indent="-342900">
              <a:buFont typeface="Arial" panose="020B0604020202020204" pitchFamily="34" charset="0"/>
              <a:buChar char="•"/>
            </a:pPr>
            <a:r>
              <a:rPr lang="fr-FR" sz="2000" dirty="0">
                <a:latin typeface="Aptos" panose="020B0004020202020204" pitchFamily="34" charset="0"/>
              </a:rPr>
              <a:t>la perception de la qualité.</a:t>
            </a:r>
          </a:p>
          <a:p>
            <a:endParaRPr lang="fr-FR" sz="2000" dirty="0">
              <a:latin typeface="Aptos" panose="020B0004020202020204" pitchFamily="34" charset="0"/>
            </a:endParaRPr>
          </a:p>
          <a:p>
            <a:r>
              <a:rPr lang="fr-FR" sz="2000" b="1" dirty="0">
                <a:latin typeface="Aptos" panose="020B0004020202020204" pitchFamily="34" charset="0"/>
              </a:rPr>
              <a:t>Objectifs</a:t>
            </a:r>
          </a:p>
          <a:p>
            <a:pPr marL="800100" lvl="1" indent="-342900">
              <a:buFont typeface="Arial" panose="020B0604020202020204" pitchFamily="34" charset="0"/>
              <a:buChar char="•"/>
            </a:pPr>
            <a:r>
              <a:rPr lang="fr-FR" sz="2000" dirty="0">
                <a:latin typeface="Aptos" panose="020B0004020202020204" pitchFamily="34" charset="0"/>
              </a:rPr>
              <a:t>Faciliter l'accès</a:t>
            </a:r>
          </a:p>
          <a:p>
            <a:pPr marL="800100" lvl="1" indent="-342900">
              <a:buFont typeface="Arial" panose="020B0604020202020204" pitchFamily="34" charset="0"/>
              <a:buChar char="•"/>
            </a:pPr>
            <a:r>
              <a:rPr lang="fr-FR" sz="2000" dirty="0">
                <a:latin typeface="Aptos" panose="020B0004020202020204" pitchFamily="34" charset="0"/>
              </a:rPr>
              <a:t>Réduire le stress</a:t>
            </a:r>
          </a:p>
          <a:p>
            <a:pPr marL="800100" lvl="1" indent="-342900">
              <a:buFont typeface="Arial" panose="020B0604020202020204" pitchFamily="34" charset="0"/>
              <a:buChar char="•"/>
            </a:pPr>
            <a:r>
              <a:rPr lang="fr-FR" sz="2000" dirty="0">
                <a:latin typeface="Aptos" panose="020B0004020202020204" pitchFamily="34" charset="0"/>
              </a:rPr>
              <a:t>Améliorer la circulation</a:t>
            </a:r>
          </a:p>
          <a:p>
            <a:pPr marL="800100" lvl="1" indent="-342900">
              <a:buFont typeface="Arial" panose="020B0604020202020204" pitchFamily="34" charset="0"/>
              <a:buChar char="•"/>
            </a:pPr>
            <a:r>
              <a:rPr lang="fr-FR" sz="2000" dirty="0">
                <a:latin typeface="Aptos" panose="020B0004020202020204" pitchFamily="34" charset="0"/>
              </a:rPr>
              <a:t>Renforcer l'image professionnelle</a:t>
            </a:r>
          </a:p>
          <a:p>
            <a:pPr marL="800100" lvl="1" indent="-342900">
              <a:buFont typeface="Arial" panose="020B0604020202020204" pitchFamily="34" charset="0"/>
              <a:buChar char="•"/>
            </a:pPr>
            <a:r>
              <a:rPr lang="fr-FR" sz="2000" dirty="0">
                <a:latin typeface="Aptos" panose="020B0004020202020204" pitchFamily="34" charset="0"/>
              </a:rPr>
              <a:t>Favoriser le conseil pharmaceutique</a:t>
            </a:r>
          </a:p>
        </p:txBody>
      </p:sp>
    </p:spTree>
    <p:extLst>
      <p:ext uri="{BB962C8B-B14F-4D97-AF65-F5344CB8AC3E}">
        <p14:creationId xmlns:p14="http://schemas.microsoft.com/office/powerpoint/2010/main" val="968590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Aménagement et merchandising de l'espace officinal</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parcours patient en 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r>
              <a:rPr lang="fr-FR" sz="2000" b="1" dirty="0">
                <a:latin typeface="Aptos" panose="020B0004020202020204" pitchFamily="34" charset="0"/>
              </a:rPr>
              <a:t>Définition</a:t>
            </a:r>
            <a:r>
              <a:rPr lang="fr-FR" sz="2000" dirty="0">
                <a:latin typeface="Aptos" panose="020B0004020202020204" pitchFamily="34" charset="0"/>
              </a:rPr>
              <a:t> : Le parcours patient correspond à l'ensemble des étapes vécues par le patient.</a:t>
            </a:r>
          </a:p>
          <a:p>
            <a:r>
              <a:rPr lang="fr-FR" sz="2000" b="1" dirty="0">
                <a:latin typeface="Aptos" panose="020B0004020202020204" pitchFamily="34" charset="0"/>
              </a:rPr>
              <a:t>Parcours type</a:t>
            </a:r>
          </a:p>
          <a:p>
            <a:pPr marL="914400" lvl="1" indent="-457200">
              <a:buFont typeface="+mj-lt"/>
              <a:buAutoNum type="arabicPeriod"/>
            </a:pPr>
            <a:r>
              <a:rPr lang="fr-FR" sz="2000" dirty="0">
                <a:latin typeface="Aptos" panose="020B0004020202020204" pitchFamily="34" charset="0"/>
              </a:rPr>
              <a:t>Entrée</a:t>
            </a:r>
          </a:p>
          <a:p>
            <a:pPr marL="914400" lvl="1" indent="-457200">
              <a:buFont typeface="+mj-lt"/>
              <a:buAutoNum type="arabicPeriod"/>
            </a:pPr>
            <a:r>
              <a:rPr lang="fr-FR" sz="2000" dirty="0">
                <a:latin typeface="Aptos" panose="020B0004020202020204" pitchFamily="34" charset="0"/>
              </a:rPr>
              <a:t>Orientation</a:t>
            </a:r>
          </a:p>
          <a:p>
            <a:pPr marL="914400" lvl="1" indent="-457200">
              <a:buFont typeface="+mj-lt"/>
              <a:buAutoNum type="arabicPeriod"/>
            </a:pPr>
            <a:r>
              <a:rPr lang="fr-FR" sz="2000" dirty="0">
                <a:latin typeface="Aptos" panose="020B0004020202020204" pitchFamily="34" charset="0"/>
              </a:rPr>
              <a:t>Attente</a:t>
            </a:r>
          </a:p>
          <a:p>
            <a:pPr marL="914400" lvl="1" indent="-457200">
              <a:buFont typeface="+mj-lt"/>
              <a:buAutoNum type="arabicPeriod"/>
            </a:pPr>
            <a:r>
              <a:rPr lang="fr-FR" sz="2000" dirty="0">
                <a:latin typeface="Aptos" panose="020B0004020202020204" pitchFamily="34" charset="0"/>
              </a:rPr>
              <a:t>Conseil</a:t>
            </a:r>
          </a:p>
          <a:p>
            <a:pPr marL="914400" lvl="1" indent="-457200">
              <a:buFont typeface="+mj-lt"/>
              <a:buAutoNum type="arabicPeriod"/>
            </a:pPr>
            <a:r>
              <a:rPr lang="fr-FR" sz="2000" dirty="0">
                <a:latin typeface="Aptos" panose="020B0004020202020204" pitchFamily="34" charset="0"/>
              </a:rPr>
              <a:t>Paiement</a:t>
            </a:r>
          </a:p>
          <a:p>
            <a:pPr marL="914400" lvl="1" indent="-457200">
              <a:buFont typeface="+mj-lt"/>
              <a:buAutoNum type="arabicPeriod"/>
            </a:pPr>
            <a:r>
              <a:rPr lang="fr-FR" sz="2000" dirty="0">
                <a:latin typeface="Aptos" panose="020B0004020202020204" pitchFamily="34" charset="0"/>
              </a:rPr>
              <a:t>Sortie</a:t>
            </a:r>
          </a:p>
          <a:p>
            <a:endParaRPr lang="fr-FR" sz="2000" dirty="0">
              <a:latin typeface="Aptos" panose="020B0004020202020204" pitchFamily="34" charset="0"/>
            </a:endParaRPr>
          </a:p>
          <a:p>
            <a:r>
              <a:rPr lang="fr-FR" sz="2000" b="1" dirty="0">
                <a:latin typeface="Aptos" panose="020B0004020202020204" pitchFamily="34" charset="0"/>
              </a:rPr>
              <a:t>Points critiques</a:t>
            </a:r>
          </a:p>
          <a:p>
            <a:pPr marL="800100" lvl="1" indent="-342900">
              <a:buFont typeface="Arial" panose="020B0604020202020204" pitchFamily="34" charset="0"/>
              <a:buChar char="•"/>
            </a:pPr>
            <a:r>
              <a:rPr lang="fr-FR" sz="2000" dirty="0">
                <a:latin typeface="Aptos" panose="020B0004020202020204" pitchFamily="34" charset="0"/>
              </a:rPr>
              <a:t>Difficulté à trouver un produit</a:t>
            </a:r>
          </a:p>
          <a:p>
            <a:pPr marL="800100" lvl="1" indent="-342900">
              <a:buFont typeface="Arial" panose="020B0604020202020204" pitchFamily="34" charset="0"/>
              <a:buChar char="•"/>
            </a:pPr>
            <a:r>
              <a:rPr lang="fr-FR" sz="2000" dirty="0">
                <a:latin typeface="Aptos" panose="020B0004020202020204" pitchFamily="34" charset="0"/>
              </a:rPr>
              <a:t>Attente excessive</a:t>
            </a:r>
          </a:p>
          <a:p>
            <a:pPr marL="800100" lvl="1" indent="-342900">
              <a:buFont typeface="Arial" panose="020B0604020202020204" pitchFamily="34" charset="0"/>
              <a:buChar char="•"/>
            </a:pPr>
            <a:r>
              <a:rPr lang="fr-FR" sz="2000" dirty="0">
                <a:latin typeface="Aptos" panose="020B0004020202020204" pitchFamily="34" charset="0"/>
              </a:rPr>
              <a:t>Manque de confidentialité</a:t>
            </a:r>
          </a:p>
          <a:p>
            <a:pPr marL="800100" lvl="1" indent="-342900">
              <a:buFont typeface="Arial" panose="020B0604020202020204" pitchFamily="34" charset="0"/>
              <a:buChar char="•"/>
            </a:pPr>
            <a:r>
              <a:rPr lang="fr-FR" sz="2000" dirty="0">
                <a:latin typeface="Aptos" panose="020B0004020202020204" pitchFamily="34" charset="0"/>
              </a:rPr>
              <a:t>Mauvaise signalisation</a:t>
            </a:r>
          </a:p>
        </p:txBody>
      </p:sp>
    </p:spTree>
    <p:extLst>
      <p:ext uri="{BB962C8B-B14F-4D97-AF65-F5344CB8AC3E}">
        <p14:creationId xmlns:p14="http://schemas.microsoft.com/office/powerpoint/2010/main" val="1681219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Aménagement et merchandising de l'espace officinal</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Organisation fonctionnelle de l’officine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r>
              <a:rPr lang="fr-FR" sz="2000" b="1" dirty="0">
                <a:latin typeface="Aptos" panose="020B0004020202020204" pitchFamily="34" charset="0"/>
              </a:rPr>
              <a:t>Zones essentielles</a:t>
            </a:r>
          </a:p>
          <a:p>
            <a:pPr marL="800100" lvl="1" indent="-342900">
              <a:buFont typeface="Arial" panose="020B0604020202020204" pitchFamily="34" charset="0"/>
              <a:buChar char="•"/>
            </a:pPr>
            <a:r>
              <a:rPr lang="fr-FR" sz="2000" dirty="0">
                <a:latin typeface="Aptos" panose="020B0004020202020204" pitchFamily="34" charset="0"/>
              </a:rPr>
              <a:t>Zone d'accueil</a:t>
            </a:r>
          </a:p>
          <a:p>
            <a:pPr marL="800100" lvl="1" indent="-342900">
              <a:buFont typeface="Arial" panose="020B0604020202020204" pitchFamily="34" charset="0"/>
              <a:buChar char="•"/>
            </a:pPr>
            <a:r>
              <a:rPr lang="fr-FR" sz="2000" dirty="0">
                <a:latin typeface="Aptos" panose="020B0004020202020204" pitchFamily="34" charset="0"/>
              </a:rPr>
              <a:t>Zone de dispensation</a:t>
            </a:r>
          </a:p>
          <a:p>
            <a:pPr marL="800100" lvl="1" indent="-342900">
              <a:buFont typeface="Arial" panose="020B0604020202020204" pitchFamily="34" charset="0"/>
              <a:buChar char="•"/>
            </a:pPr>
            <a:r>
              <a:rPr lang="fr-FR" sz="2000" dirty="0">
                <a:latin typeface="Aptos" panose="020B0004020202020204" pitchFamily="34" charset="0"/>
              </a:rPr>
              <a:t>Zone d'attente</a:t>
            </a:r>
          </a:p>
          <a:p>
            <a:pPr marL="800100" lvl="1" indent="-342900">
              <a:buFont typeface="Arial" panose="020B0604020202020204" pitchFamily="34" charset="0"/>
              <a:buChar char="•"/>
            </a:pPr>
            <a:r>
              <a:rPr lang="fr-FR" sz="2000" dirty="0">
                <a:latin typeface="Aptos" panose="020B0004020202020204" pitchFamily="34" charset="0"/>
              </a:rPr>
              <a:t>Zone de conseil</a:t>
            </a:r>
          </a:p>
          <a:p>
            <a:pPr marL="800100" lvl="1" indent="-342900">
              <a:buFont typeface="Arial" panose="020B0604020202020204" pitchFamily="34" charset="0"/>
              <a:buChar char="•"/>
            </a:pPr>
            <a:r>
              <a:rPr lang="fr-FR" sz="2000" dirty="0">
                <a:latin typeface="Aptos" panose="020B0004020202020204" pitchFamily="34" charset="0"/>
              </a:rPr>
              <a:t>Réserve</a:t>
            </a:r>
          </a:p>
          <a:p>
            <a:pPr marL="800100" lvl="1" indent="-342900">
              <a:buFont typeface="Arial" panose="020B0604020202020204" pitchFamily="34" charset="0"/>
              <a:buChar char="•"/>
            </a:pPr>
            <a:r>
              <a:rPr lang="fr-FR" sz="2000" dirty="0">
                <a:latin typeface="Aptos" panose="020B0004020202020204" pitchFamily="34" charset="0"/>
              </a:rPr>
              <a:t>Bureau du pharmacien</a:t>
            </a:r>
          </a:p>
          <a:p>
            <a:pPr marL="800100" lvl="1" indent="-342900">
              <a:buFont typeface="Arial" panose="020B0604020202020204" pitchFamily="34" charset="0"/>
              <a:buChar char="•"/>
            </a:pPr>
            <a:r>
              <a:rPr lang="fr-FR" sz="2000" dirty="0">
                <a:latin typeface="Aptos" panose="020B0004020202020204" pitchFamily="34" charset="0"/>
              </a:rPr>
              <a:t>Zone administrative</a:t>
            </a:r>
          </a:p>
          <a:p>
            <a:endParaRPr lang="fr-FR" sz="2000" dirty="0">
              <a:latin typeface="Aptos" panose="020B0004020202020204" pitchFamily="34" charset="0"/>
            </a:endParaRPr>
          </a:p>
          <a:p>
            <a:r>
              <a:rPr lang="fr-FR" sz="2000" b="1" dirty="0">
                <a:latin typeface="Aptos" panose="020B0004020202020204" pitchFamily="34" charset="0"/>
              </a:rPr>
              <a:t>Contexte réglementaire </a:t>
            </a:r>
            <a:r>
              <a:rPr lang="fr-FR" sz="2000" dirty="0">
                <a:latin typeface="Aptos" panose="020B0004020202020204" pitchFamily="34" charset="0"/>
              </a:rPr>
              <a:t>: Dans de nombreux pays africains, certaines zones doivent être clairement identifiées afin de garantir :</a:t>
            </a:r>
          </a:p>
          <a:p>
            <a:pPr marL="800100" lvl="1" indent="-342900">
              <a:buFont typeface="Arial" panose="020B0604020202020204" pitchFamily="34" charset="0"/>
              <a:buChar char="•"/>
            </a:pPr>
            <a:r>
              <a:rPr lang="fr-FR" sz="2000" dirty="0">
                <a:latin typeface="Aptos" panose="020B0004020202020204" pitchFamily="34" charset="0"/>
              </a:rPr>
              <a:t>La sécurité des médicaments ;</a:t>
            </a:r>
          </a:p>
          <a:p>
            <a:pPr marL="800100" lvl="1" indent="-342900">
              <a:buFont typeface="Arial" panose="020B0604020202020204" pitchFamily="34" charset="0"/>
              <a:buChar char="•"/>
            </a:pPr>
            <a:r>
              <a:rPr lang="fr-FR" sz="2000" dirty="0">
                <a:latin typeface="Aptos" panose="020B0004020202020204" pitchFamily="34" charset="0"/>
              </a:rPr>
              <a:t>La qualité des services ;</a:t>
            </a:r>
          </a:p>
          <a:p>
            <a:pPr marL="800100" lvl="1" indent="-342900">
              <a:buFont typeface="Arial" panose="020B0604020202020204" pitchFamily="34" charset="0"/>
              <a:buChar char="•"/>
            </a:pPr>
            <a:r>
              <a:rPr lang="fr-FR" sz="2000" dirty="0">
                <a:latin typeface="Aptos" panose="020B0004020202020204" pitchFamily="34" charset="0"/>
              </a:rPr>
              <a:t>La conformité réglementaire.</a:t>
            </a:r>
          </a:p>
        </p:txBody>
      </p:sp>
    </p:spTree>
    <p:extLst>
      <p:ext uri="{BB962C8B-B14F-4D97-AF65-F5344CB8AC3E}">
        <p14:creationId xmlns:p14="http://schemas.microsoft.com/office/powerpoint/2010/main" val="2115851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Aménagement et merchandising de l'espace officinal</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Organisation fonctionnelle de l’officine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246769"/>
          </a:xfrm>
          <a:prstGeom prst="rect">
            <a:avLst/>
          </a:prstGeom>
          <a:noFill/>
        </p:spPr>
        <p:txBody>
          <a:bodyPr wrap="square">
            <a:spAutoFit/>
          </a:bodyPr>
          <a:lstStyle/>
          <a:p>
            <a:r>
              <a:rPr lang="fr-FR" sz="2000" b="1" dirty="0">
                <a:latin typeface="Aptos" panose="020B0004020202020204" pitchFamily="34" charset="0"/>
              </a:rPr>
              <a:t>Contexte bénin : </a:t>
            </a:r>
          </a:p>
          <a:p>
            <a:r>
              <a:rPr lang="fr-FR" sz="2000" dirty="0">
                <a:latin typeface="Aptos" panose="020B0004020202020204" pitchFamily="34" charset="0"/>
              </a:rPr>
              <a:t>Les exigences relatives aux locaux découlent notamment :</a:t>
            </a:r>
          </a:p>
          <a:p>
            <a:pPr marL="800100" lvl="1" indent="-342900">
              <a:buFont typeface="Arial" panose="020B0604020202020204" pitchFamily="34" charset="0"/>
              <a:buChar char="•"/>
            </a:pPr>
            <a:r>
              <a:rPr lang="fr-FR" sz="2000" dirty="0">
                <a:latin typeface="Aptos" panose="020B0004020202020204" pitchFamily="34" charset="0"/>
              </a:rPr>
              <a:t>De la loi n°2021-03 portant organisation des activités pharmaceutiques ;</a:t>
            </a:r>
          </a:p>
          <a:p>
            <a:pPr marL="800100" lvl="1" indent="-342900">
              <a:buFont typeface="Arial" panose="020B0604020202020204" pitchFamily="34" charset="0"/>
              <a:buChar char="•"/>
            </a:pPr>
            <a:r>
              <a:rPr lang="fr-FR" sz="2000" dirty="0">
                <a:latin typeface="Aptos" panose="020B0004020202020204" pitchFamily="34" charset="0"/>
              </a:rPr>
              <a:t>Des textes d'application relatifs aux officines ;</a:t>
            </a:r>
          </a:p>
          <a:p>
            <a:pPr marL="800100" lvl="1" indent="-342900">
              <a:buFont typeface="Arial" panose="020B0604020202020204" pitchFamily="34" charset="0"/>
              <a:buChar char="•"/>
            </a:pPr>
            <a:r>
              <a:rPr lang="fr-FR" sz="2000" dirty="0">
                <a:latin typeface="Aptos" panose="020B0004020202020204" pitchFamily="34" charset="0"/>
              </a:rPr>
              <a:t>Des exigences d'inspection de l'ABMed.</a:t>
            </a:r>
          </a:p>
          <a:p>
            <a:endParaRPr lang="fr-FR" sz="2000" dirty="0">
              <a:latin typeface="Aptos" panose="020B0004020202020204" pitchFamily="34" charset="0"/>
            </a:endParaRPr>
          </a:p>
          <a:p>
            <a:r>
              <a:rPr lang="fr-FR" sz="2000" dirty="0">
                <a:latin typeface="Aptos" panose="020B0004020202020204" pitchFamily="34" charset="0"/>
              </a:rPr>
              <a:t>Le pharmacien doit veiller à maintenir des locaux adaptés à l'activité pharmaceutique.</a:t>
            </a:r>
          </a:p>
        </p:txBody>
      </p:sp>
    </p:spTree>
    <p:extLst>
      <p:ext uri="{BB962C8B-B14F-4D97-AF65-F5344CB8AC3E}">
        <p14:creationId xmlns:p14="http://schemas.microsoft.com/office/powerpoint/2010/main" val="1787680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Aménagement et merchandising de l'espace officinal</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Accessibilité de l’officine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r>
              <a:rPr lang="fr-FR" sz="2000" b="1" dirty="0">
                <a:latin typeface="Aptos" panose="020B0004020202020204" pitchFamily="34" charset="0"/>
              </a:rPr>
              <a:t>Pourquoi est-elle importante ?</a:t>
            </a:r>
          </a:p>
          <a:p>
            <a:r>
              <a:rPr lang="fr-FR" sz="2000" dirty="0">
                <a:latin typeface="Aptos" panose="020B0004020202020204" pitchFamily="34" charset="0"/>
              </a:rPr>
              <a:t>L'officine doit être accessible à tous.</a:t>
            </a:r>
          </a:p>
          <a:p>
            <a:endParaRPr lang="fr-FR" sz="2000" dirty="0">
              <a:latin typeface="Aptos" panose="020B0004020202020204" pitchFamily="34" charset="0"/>
            </a:endParaRPr>
          </a:p>
          <a:p>
            <a:r>
              <a:rPr lang="fr-FR" sz="2000" b="1" dirty="0">
                <a:latin typeface="Aptos" panose="020B0004020202020204" pitchFamily="34" charset="0"/>
              </a:rPr>
              <a:t>Personnes concernées</a:t>
            </a:r>
          </a:p>
          <a:p>
            <a:pPr marL="800100" lvl="1" indent="-342900">
              <a:buFont typeface="Arial" panose="020B0604020202020204" pitchFamily="34" charset="0"/>
              <a:buChar char="•"/>
            </a:pPr>
            <a:r>
              <a:rPr lang="fr-FR" sz="2000" dirty="0">
                <a:latin typeface="Aptos" panose="020B0004020202020204" pitchFamily="34" charset="0"/>
              </a:rPr>
              <a:t>Personnes âgées</a:t>
            </a:r>
          </a:p>
          <a:p>
            <a:pPr marL="800100" lvl="1" indent="-342900">
              <a:buFont typeface="Arial" panose="020B0604020202020204" pitchFamily="34" charset="0"/>
              <a:buChar char="•"/>
            </a:pPr>
            <a:r>
              <a:rPr lang="fr-FR" sz="2000" dirty="0">
                <a:latin typeface="Aptos" panose="020B0004020202020204" pitchFamily="34" charset="0"/>
              </a:rPr>
              <a:t>Femmes enceintes</a:t>
            </a:r>
          </a:p>
          <a:p>
            <a:pPr marL="800100" lvl="1" indent="-342900">
              <a:buFont typeface="Arial" panose="020B0604020202020204" pitchFamily="34" charset="0"/>
              <a:buChar char="•"/>
            </a:pPr>
            <a:r>
              <a:rPr lang="fr-FR" sz="2000" dirty="0">
                <a:latin typeface="Aptos" panose="020B0004020202020204" pitchFamily="34" charset="0"/>
              </a:rPr>
              <a:t>Personnes handicapées</a:t>
            </a:r>
          </a:p>
          <a:p>
            <a:pPr marL="800100" lvl="1" indent="-342900">
              <a:buFont typeface="Arial" panose="020B0604020202020204" pitchFamily="34" charset="0"/>
              <a:buChar char="•"/>
            </a:pPr>
            <a:r>
              <a:rPr lang="fr-FR" sz="2000" dirty="0">
                <a:latin typeface="Aptos" panose="020B0004020202020204" pitchFamily="34" charset="0"/>
              </a:rPr>
              <a:t>Parents avec enfants</a:t>
            </a:r>
          </a:p>
          <a:p>
            <a:endParaRPr lang="fr-FR" sz="2000" dirty="0">
              <a:latin typeface="Aptos" panose="020B0004020202020204" pitchFamily="34" charset="0"/>
            </a:endParaRPr>
          </a:p>
          <a:p>
            <a:r>
              <a:rPr lang="fr-FR" sz="2000" b="1" dirty="0">
                <a:latin typeface="Aptos" panose="020B0004020202020204" pitchFamily="34" charset="0"/>
              </a:rPr>
              <a:t>Bonnes pratiques</a:t>
            </a:r>
          </a:p>
          <a:p>
            <a:pPr marL="800100" lvl="1" indent="-342900">
              <a:buFont typeface="Arial" panose="020B0604020202020204" pitchFamily="34" charset="0"/>
              <a:buChar char="•"/>
            </a:pPr>
            <a:r>
              <a:rPr lang="fr-FR" sz="2000" dirty="0">
                <a:latin typeface="Aptos" panose="020B0004020202020204" pitchFamily="34" charset="0"/>
              </a:rPr>
              <a:t>Entrée facile d'accès</a:t>
            </a:r>
          </a:p>
          <a:p>
            <a:pPr marL="800100" lvl="1" indent="-342900">
              <a:buFont typeface="Arial" panose="020B0604020202020204" pitchFamily="34" charset="0"/>
              <a:buChar char="•"/>
            </a:pPr>
            <a:r>
              <a:rPr lang="fr-FR" sz="2000" dirty="0">
                <a:latin typeface="Aptos" panose="020B0004020202020204" pitchFamily="34" charset="0"/>
              </a:rPr>
              <a:t>Signalisation visible</a:t>
            </a:r>
          </a:p>
          <a:p>
            <a:pPr marL="800100" lvl="1" indent="-342900">
              <a:buFont typeface="Arial" panose="020B0604020202020204" pitchFamily="34" charset="0"/>
              <a:buChar char="•"/>
            </a:pPr>
            <a:r>
              <a:rPr lang="fr-FR" sz="2000" dirty="0">
                <a:latin typeface="Aptos" panose="020B0004020202020204" pitchFamily="34" charset="0"/>
              </a:rPr>
              <a:t>Allées dégagées</a:t>
            </a:r>
          </a:p>
          <a:p>
            <a:pPr marL="800100" lvl="1" indent="-342900">
              <a:buFont typeface="Arial" panose="020B0604020202020204" pitchFamily="34" charset="0"/>
              <a:buChar char="•"/>
            </a:pPr>
            <a:r>
              <a:rPr lang="fr-FR" sz="2000" dirty="0">
                <a:latin typeface="Aptos" panose="020B0004020202020204" pitchFamily="34" charset="0"/>
              </a:rPr>
              <a:t>Éclairage adapté</a:t>
            </a:r>
          </a:p>
        </p:txBody>
      </p:sp>
    </p:spTree>
    <p:extLst>
      <p:ext uri="{BB962C8B-B14F-4D97-AF65-F5344CB8AC3E}">
        <p14:creationId xmlns:p14="http://schemas.microsoft.com/office/powerpoint/2010/main" val="2001821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Aménagement et merchandising de l'espace officinal</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Principes de merchandising en pharmacie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477875"/>
          </a:xfrm>
          <a:prstGeom prst="rect">
            <a:avLst/>
          </a:prstGeom>
          <a:noFill/>
        </p:spPr>
        <p:txBody>
          <a:bodyPr wrap="square">
            <a:spAutoFit/>
          </a:bodyPr>
          <a:lstStyle/>
          <a:p>
            <a:r>
              <a:rPr lang="fr-FR" sz="2000" b="1" dirty="0">
                <a:latin typeface="Aptos" panose="020B0004020202020204" pitchFamily="34" charset="0"/>
              </a:rPr>
              <a:t>Définition</a:t>
            </a:r>
          </a:p>
          <a:p>
            <a:r>
              <a:rPr lang="fr-FR" sz="2000" dirty="0">
                <a:latin typeface="Aptos" panose="020B0004020202020204" pitchFamily="34" charset="0"/>
              </a:rPr>
              <a:t>Le merchandising correspond à l'organisation visuelle et fonctionnelle des produits.</a:t>
            </a:r>
          </a:p>
          <a:p>
            <a:endParaRPr lang="fr-FR" sz="2000" dirty="0">
              <a:latin typeface="Aptos" panose="020B0004020202020204" pitchFamily="34" charset="0"/>
            </a:endParaRPr>
          </a:p>
          <a:p>
            <a:r>
              <a:rPr lang="fr-FR" sz="2000" b="1" dirty="0">
                <a:latin typeface="Aptos" panose="020B0004020202020204" pitchFamily="34" charset="0"/>
              </a:rPr>
              <a:t>Objectifs</a:t>
            </a:r>
          </a:p>
          <a:p>
            <a:pPr marL="800100" lvl="1" indent="-342900">
              <a:buFont typeface="Arial" panose="020B0604020202020204" pitchFamily="34" charset="0"/>
              <a:buChar char="•"/>
            </a:pPr>
            <a:r>
              <a:rPr lang="fr-FR" sz="2000" dirty="0">
                <a:latin typeface="Aptos" panose="020B0004020202020204" pitchFamily="34" charset="0"/>
              </a:rPr>
              <a:t>Faciliter la recherche</a:t>
            </a:r>
          </a:p>
          <a:p>
            <a:pPr marL="800100" lvl="1" indent="-342900">
              <a:buFont typeface="Arial" panose="020B0604020202020204" pitchFamily="34" charset="0"/>
              <a:buChar char="•"/>
            </a:pPr>
            <a:r>
              <a:rPr lang="fr-FR" sz="2000" dirty="0">
                <a:latin typeface="Aptos" panose="020B0004020202020204" pitchFamily="34" charset="0"/>
              </a:rPr>
              <a:t>Améliorer l'expérience</a:t>
            </a:r>
          </a:p>
          <a:p>
            <a:pPr marL="800100" lvl="1" indent="-342900">
              <a:buFont typeface="Arial" panose="020B0604020202020204" pitchFamily="34" charset="0"/>
              <a:buChar char="•"/>
            </a:pPr>
            <a:r>
              <a:rPr lang="fr-FR" sz="2000" dirty="0">
                <a:latin typeface="Aptos" panose="020B0004020202020204" pitchFamily="34" charset="0"/>
              </a:rPr>
              <a:t>Optimiser la présentation</a:t>
            </a:r>
          </a:p>
          <a:p>
            <a:pPr marL="800100" lvl="1" indent="-342900">
              <a:buFont typeface="Arial" panose="020B0604020202020204" pitchFamily="34" charset="0"/>
              <a:buChar char="•"/>
            </a:pPr>
            <a:r>
              <a:rPr lang="fr-FR" sz="2000" dirty="0">
                <a:latin typeface="Aptos" panose="020B0004020202020204" pitchFamily="34" charset="0"/>
              </a:rPr>
              <a:t>Soutenir le conseil pharmaceutique</a:t>
            </a:r>
          </a:p>
          <a:p>
            <a:endParaRPr lang="fr-FR" sz="2000" dirty="0">
              <a:latin typeface="Aptos" panose="020B0004020202020204" pitchFamily="34" charset="0"/>
            </a:endParaRPr>
          </a:p>
          <a:p>
            <a:r>
              <a:rPr lang="fr-FR" sz="2000" b="1" dirty="0">
                <a:latin typeface="Aptos" panose="020B0004020202020204" pitchFamily="34" charset="0"/>
              </a:rPr>
              <a:t>Particularité pharmaceutique</a:t>
            </a:r>
          </a:p>
          <a:p>
            <a:r>
              <a:rPr lang="fr-FR" sz="2000" dirty="0">
                <a:latin typeface="Aptos" panose="020B0004020202020204" pitchFamily="34" charset="0"/>
              </a:rPr>
              <a:t>Le merchandising ne doit jamais encourager une consommation inappropriée de médicaments.</a:t>
            </a:r>
          </a:p>
        </p:txBody>
      </p:sp>
    </p:spTree>
    <p:extLst>
      <p:ext uri="{BB962C8B-B14F-4D97-AF65-F5344CB8AC3E}">
        <p14:creationId xmlns:p14="http://schemas.microsoft.com/office/powerpoint/2010/main" val="419229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Aménagement et merchandising de l'espace officinal</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Organisation des rayons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862322"/>
          </a:xfrm>
          <a:prstGeom prst="rect">
            <a:avLst/>
          </a:prstGeom>
          <a:noFill/>
        </p:spPr>
        <p:txBody>
          <a:bodyPr wrap="square">
            <a:spAutoFit/>
          </a:bodyPr>
          <a:lstStyle/>
          <a:p>
            <a:r>
              <a:rPr lang="fr-FR" sz="2000" b="1" dirty="0">
                <a:latin typeface="Aptos" panose="020B0004020202020204" pitchFamily="34" charset="0"/>
              </a:rPr>
              <a:t>Logique recommandée</a:t>
            </a:r>
          </a:p>
          <a:p>
            <a:pPr marL="800100" lvl="1" indent="-342900">
              <a:buFont typeface="Arial" panose="020B0604020202020204" pitchFamily="34" charset="0"/>
              <a:buChar char="•"/>
            </a:pPr>
            <a:r>
              <a:rPr lang="fr-FR" sz="2000" dirty="0">
                <a:latin typeface="Aptos" panose="020B0004020202020204" pitchFamily="34" charset="0"/>
              </a:rPr>
              <a:t>Médicaments prescrits </a:t>
            </a:r>
            <a:r>
              <a:rPr lang="fr-FR" sz="1200" dirty="0">
                <a:latin typeface="Aptos" panose="020B0004020202020204" pitchFamily="34" charset="0"/>
              </a:rPr>
              <a:t>Zone contrôlée.</a:t>
            </a:r>
          </a:p>
          <a:p>
            <a:pPr marL="800100" lvl="1" indent="-342900">
              <a:buFont typeface="Arial" panose="020B0604020202020204" pitchFamily="34" charset="0"/>
              <a:buChar char="•"/>
            </a:pPr>
            <a:r>
              <a:rPr lang="fr-FR" sz="2000" dirty="0">
                <a:latin typeface="Aptos" panose="020B0004020202020204" pitchFamily="34" charset="0"/>
              </a:rPr>
              <a:t>OTC </a:t>
            </a:r>
            <a:r>
              <a:rPr lang="fr-FR" sz="1200" dirty="0">
                <a:latin typeface="Aptos" panose="020B0004020202020204" pitchFamily="34" charset="0"/>
              </a:rPr>
              <a:t>Zone accessible selon la réglementation.</a:t>
            </a:r>
          </a:p>
          <a:p>
            <a:pPr marL="800100" lvl="1" indent="-342900">
              <a:buFont typeface="Arial" panose="020B0604020202020204" pitchFamily="34" charset="0"/>
              <a:buChar char="•"/>
            </a:pPr>
            <a:r>
              <a:rPr lang="fr-FR" sz="2000" dirty="0">
                <a:latin typeface="Aptos" panose="020B0004020202020204" pitchFamily="34" charset="0"/>
              </a:rPr>
              <a:t>Parapharmacie</a:t>
            </a:r>
          </a:p>
          <a:p>
            <a:pPr marL="800100" lvl="1" indent="-342900">
              <a:buFont typeface="Arial" panose="020B0604020202020204" pitchFamily="34" charset="0"/>
              <a:buChar char="•"/>
            </a:pPr>
            <a:r>
              <a:rPr lang="fr-FR" sz="2000" dirty="0">
                <a:latin typeface="Aptos" panose="020B0004020202020204" pitchFamily="34" charset="0"/>
              </a:rPr>
              <a:t>Cosmétique</a:t>
            </a:r>
          </a:p>
          <a:p>
            <a:pPr marL="800100" lvl="1" indent="-342900">
              <a:buFont typeface="Arial" panose="020B0604020202020204" pitchFamily="34" charset="0"/>
              <a:buChar char="•"/>
            </a:pPr>
            <a:r>
              <a:rPr lang="fr-FR" sz="2000" dirty="0">
                <a:latin typeface="Aptos" panose="020B0004020202020204" pitchFamily="34" charset="0"/>
              </a:rPr>
              <a:t>Hygiène</a:t>
            </a:r>
          </a:p>
          <a:p>
            <a:pPr marL="800100" lvl="1" indent="-342900">
              <a:buFont typeface="Arial" panose="020B0604020202020204" pitchFamily="34" charset="0"/>
              <a:buChar char="•"/>
            </a:pPr>
            <a:r>
              <a:rPr lang="fr-FR" sz="2000" dirty="0">
                <a:latin typeface="Aptos" panose="020B0004020202020204" pitchFamily="34" charset="0"/>
              </a:rPr>
              <a:t>Nutrition</a:t>
            </a:r>
          </a:p>
          <a:p>
            <a:pPr marL="800100" lvl="1" indent="-342900">
              <a:buFont typeface="Arial" panose="020B0604020202020204" pitchFamily="34" charset="0"/>
              <a:buChar char="•"/>
            </a:pPr>
            <a:r>
              <a:rPr lang="fr-FR" sz="2000" dirty="0">
                <a:latin typeface="Aptos" panose="020B0004020202020204" pitchFamily="34" charset="0"/>
              </a:rPr>
              <a:t>Dispositifs médicaux</a:t>
            </a:r>
          </a:p>
          <a:p>
            <a:pPr marL="800100" lvl="1" indent="-342900">
              <a:buFont typeface="Arial" panose="020B0604020202020204" pitchFamily="34" charset="0"/>
              <a:buChar char="•"/>
            </a:pPr>
            <a:r>
              <a:rPr lang="fr-FR" sz="2000" dirty="0">
                <a:latin typeface="Aptos" panose="020B0004020202020204" pitchFamily="34" charset="0"/>
              </a:rPr>
              <a:t>Bonnes pratiques </a:t>
            </a:r>
            <a:r>
              <a:rPr lang="fr-FR" sz="1200" dirty="0">
                <a:latin typeface="Aptos" panose="020B0004020202020204" pitchFamily="34" charset="0"/>
              </a:rPr>
              <a:t>Regrouper les produits par besoin du patient plutôt que uniquement par fournisseur.</a:t>
            </a:r>
            <a:endParaRPr lang="fr-FR" sz="2000" dirty="0">
              <a:latin typeface="Aptos" panose="020B0004020202020204" pitchFamily="34" charset="0"/>
            </a:endParaRPr>
          </a:p>
        </p:txBody>
      </p:sp>
    </p:spTree>
    <p:extLst>
      <p:ext uri="{BB962C8B-B14F-4D97-AF65-F5344CB8AC3E}">
        <p14:creationId xmlns:p14="http://schemas.microsoft.com/office/powerpoint/2010/main" val="3360777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Aménagement et merchandising de l'espace officinal</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Psychologie du comportement du patient</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785652"/>
          </a:xfrm>
          <a:prstGeom prst="rect">
            <a:avLst/>
          </a:prstGeom>
          <a:noFill/>
        </p:spPr>
        <p:txBody>
          <a:bodyPr wrap="square">
            <a:spAutoFit/>
          </a:bodyPr>
          <a:lstStyle/>
          <a:p>
            <a:r>
              <a:rPr lang="fr-FR" sz="2000" b="1" dirty="0">
                <a:latin typeface="Aptos" panose="020B0004020202020204" pitchFamily="34" charset="0"/>
              </a:rPr>
              <a:t>Ce que recherche le patient</a:t>
            </a:r>
          </a:p>
          <a:p>
            <a:pPr marL="800100" lvl="1" indent="-342900">
              <a:buFont typeface="Arial" panose="020B0604020202020204" pitchFamily="34" charset="0"/>
              <a:buChar char="•"/>
            </a:pPr>
            <a:r>
              <a:rPr lang="fr-FR" sz="2000" dirty="0">
                <a:latin typeface="Aptos" panose="020B0004020202020204" pitchFamily="34" charset="0"/>
              </a:rPr>
              <a:t>Confiance</a:t>
            </a:r>
          </a:p>
          <a:p>
            <a:pPr marL="800100" lvl="1" indent="-342900">
              <a:buFont typeface="Arial" panose="020B0604020202020204" pitchFamily="34" charset="0"/>
              <a:buChar char="•"/>
            </a:pPr>
            <a:r>
              <a:rPr lang="fr-FR" sz="2000" dirty="0">
                <a:latin typeface="Aptos" panose="020B0004020202020204" pitchFamily="34" charset="0"/>
              </a:rPr>
              <a:t>Simplicité</a:t>
            </a:r>
          </a:p>
          <a:p>
            <a:pPr marL="800100" lvl="1" indent="-342900">
              <a:buFont typeface="Arial" panose="020B0604020202020204" pitchFamily="34" charset="0"/>
              <a:buChar char="•"/>
            </a:pPr>
            <a:r>
              <a:rPr lang="fr-FR" sz="2000" dirty="0">
                <a:latin typeface="Aptos" panose="020B0004020202020204" pitchFamily="34" charset="0"/>
              </a:rPr>
              <a:t>Rapidité</a:t>
            </a:r>
          </a:p>
          <a:p>
            <a:pPr marL="800100" lvl="1" indent="-342900">
              <a:buFont typeface="Arial" panose="020B0604020202020204" pitchFamily="34" charset="0"/>
              <a:buChar char="•"/>
            </a:pPr>
            <a:r>
              <a:rPr lang="fr-FR" sz="2000" dirty="0">
                <a:latin typeface="Aptos" panose="020B0004020202020204" pitchFamily="34" charset="0"/>
              </a:rPr>
              <a:t>Sécurité</a:t>
            </a:r>
          </a:p>
          <a:p>
            <a:pPr marL="800100" lvl="1" indent="-342900">
              <a:buFont typeface="Arial" panose="020B0604020202020204" pitchFamily="34" charset="0"/>
              <a:buChar char="•"/>
            </a:pPr>
            <a:r>
              <a:rPr lang="fr-FR" sz="2000" dirty="0">
                <a:latin typeface="Aptos" panose="020B0004020202020204" pitchFamily="34" charset="0"/>
              </a:rPr>
              <a:t>Conseil</a:t>
            </a:r>
          </a:p>
          <a:p>
            <a:endParaRPr lang="fr-FR" sz="2000" dirty="0">
              <a:latin typeface="Aptos" panose="020B0004020202020204" pitchFamily="34" charset="0"/>
            </a:endParaRPr>
          </a:p>
          <a:p>
            <a:r>
              <a:rPr lang="fr-FR" sz="2000" b="1" dirty="0">
                <a:latin typeface="Aptos" panose="020B0004020202020204" pitchFamily="34" charset="0"/>
              </a:rPr>
              <a:t>Erreurs fréquentes</a:t>
            </a:r>
          </a:p>
          <a:p>
            <a:pPr marL="800100" lvl="1" indent="-342900">
              <a:buFont typeface="Arial" panose="020B0604020202020204" pitchFamily="34" charset="0"/>
              <a:buChar char="•"/>
            </a:pPr>
            <a:r>
              <a:rPr lang="fr-FR" sz="2000" dirty="0">
                <a:latin typeface="Aptos" panose="020B0004020202020204" pitchFamily="34" charset="0"/>
              </a:rPr>
              <a:t>Rayons surchargés</a:t>
            </a:r>
          </a:p>
          <a:p>
            <a:pPr marL="800100" lvl="1" indent="-342900">
              <a:buFont typeface="Arial" panose="020B0604020202020204" pitchFamily="34" charset="0"/>
              <a:buChar char="•"/>
            </a:pPr>
            <a:r>
              <a:rPr lang="fr-FR" sz="2000" dirty="0">
                <a:latin typeface="Aptos" panose="020B0004020202020204" pitchFamily="34" charset="0"/>
              </a:rPr>
              <a:t>Signalétique confuse</a:t>
            </a:r>
          </a:p>
          <a:p>
            <a:pPr marL="800100" lvl="1" indent="-342900">
              <a:buFont typeface="Arial" panose="020B0604020202020204" pitchFamily="34" charset="0"/>
              <a:buChar char="•"/>
            </a:pPr>
            <a:r>
              <a:rPr lang="fr-FR" sz="2000" dirty="0">
                <a:latin typeface="Aptos" panose="020B0004020202020204" pitchFamily="34" charset="0"/>
              </a:rPr>
              <a:t>Produits mal rangés</a:t>
            </a:r>
          </a:p>
          <a:p>
            <a:pPr marL="800100" lvl="1" indent="-342900">
              <a:buFont typeface="Arial" panose="020B0604020202020204" pitchFamily="34" charset="0"/>
              <a:buChar char="•"/>
            </a:pPr>
            <a:r>
              <a:rPr lang="fr-FR" sz="2000" dirty="0">
                <a:latin typeface="Aptos" panose="020B0004020202020204" pitchFamily="34" charset="0"/>
              </a:rPr>
              <a:t>Affichage excessif</a:t>
            </a:r>
          </a:p>
        </p:txBody>
      </p:sp>
    </p:spTree>
    <p:extLst>
      <p:ext uri="{BB962C8B-B14F-4D97-AF65-F5344CB8AC3E}">
        <p14:creationId xmlns:p14="http://schemas.microsoft.com/office/powerpoint/2010/main" val="2526194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Aménagement et merchandising de l'espace officinal</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Signalétique et communication visuelle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093428"/>
          </a:xfrm>
          <a:prstGeom prst="rect">
            <a:avLst/>
          </a:prstGeom>
          <a:noFill/>
        </p:spPr>
        <p:txBody>
          <a:bodyPr wrap="square">
            <a:spAutoFit/>
          </a:bodyPr>
          <a:lstStyle/>
          <a:p>
            <a:r>
              <a:rPr lang="fr-FR" sz="2000" b="1" dirty="0">
                <a:latin typeface="Aptos" panose="020B0004020202020204" pitchFamily="34" charset="0"/>
              </a:rPr>
              <a:t>Objectifs</a:t>
            </a:r>
          </a:p>
          <a:p>
            <a:pPr marL="800100" lvl="1" indent="-342900">
              <a:buFont typeface="Arial" panose="020B0604020202020204" pitchFamily="34" charset="0"/>
              <a:buChar char="•"/>
            </a:pPr>
            <a:r>
              <a:rPr lang="fr-FR" sz="2000" dirty="0">
                <a:latin typeface="Aptos" panose="020B0004020202020204" pitchFamily="34" charset="0"/>
              </a:rPr>
              <a:t>Orienter.</a:t>
            </a:r>
          </a:p>
          <a:p>
            <a:pPr marL="800100" lvl="1" indent="-342900">
              <a:buFont typeface="Arial" panose="020B0604020202020204" pitchFamily="34" charset="0"/>
              <a:buChar char="•"/>
            </a:pPr>
            <a:r>
              <a:rPr lang="fr-FR" sz="2000" dirty="0">
                <a:latin typeface="Aptos" panose="020B0004020202020204" pitchFamily="34" charset="0"/>
              </a:rPr>
              <a:t>Informer.</a:t>
            </a:r>
          </a:p>
          <a:p>
            <a:pPr marL="800100" lvl="1" indent="-342900">
              <a:buFont typeface="Arial" panose="020B0604020202020204" pitchFamily="34" charset="0"/>
              <a:buChar char="•"/>
            </a:pPr>
            <a:r>
              <a:rPr lang="fr-FR" sz="2000" dirty="0">
                <a:latin typeface="Aptos" panose="020B0004020202020204" pitchFamily="34" charset="0"/>
              </a:rPr>
              <a:t>Rassurer.</a:t>
            </a:r>
          </a:p>
          <a:p>
            <a:endParaRPr lang="fr-FR" sz="2000" dirty="0">
              <a:latin typeface="Aptos" panose="020B0004020202020204" pitchFamily="34" charset="0"/>
            </a:endParaRPr>
          </a:p>
          <a:p>
            <a:r>
              <a:rPr lang="fr-FR" sz="2000" b="1" dirty="0">
                <a:latin typeface="Aptos" panose="020B0004020202020204" pitchFamily="34" charset="0"/>
              </a:rPr>
              <a:t>Exemples</a:t>
            </a:r>
          </a:p>
          <a:p>
            <a:pPr marL="800100" lvl="1" indent="-342900">
              <a:buFont typeface="Arial" panose="020B0604020202020204" pitchFamily="34" charset="0"/>
              <a:buChar char="•"/>
            </a:pPr>
            <a:r>
              <a:rPr lang="fr-FR" sz="2000" dirty="0">
                <a:latin typeface="Aptos" panose="020B0004020202020204" pitchFamily="34" charset="0"/>
              </a:rPr>
              <a:t>Horaires</a:t>
            </a:r>
          </a:p>
          <a:p>
            <a:pPr marL="800100" lvl="1" indent="-342900">
              <a:buFont typeface="Arial" panose="020B0604020202020204" pitchFamily="34" charset="0"/>
              <a:buChar char="•"/>
            </a:pPr>
            <a:r>
              <a:rPr lang="fr-FR" sz="2000" dirty="0">
                <a:latin typeface="Aptos" panose="020B0004020202020204" pitchFamily="34" charset="0"/>
              </a:rPr>
              <a:t>Pharmacie de garde</a:t>
            </a:r>
          </a:p>
          <a:p>
            <a:pPr marL="800100" lvl="1" indent="-342900">
              <a:buFont typeface="Arial" panose="020B0604020202020204" pitchFamily="34" charset="0"/>
              <a:buChar char="•"/>
            </a:pPr>
            <a:r>
              <a:rPr lang="fr-FR" sz="2000" dirty="0">
                <a:latin typeface="Aptos" panose="020B0004020202020204" pitchFamily="34" charset="0"/>
              </a:rPr>
              <a:t>Services proposés</a:t>
            </a:r>
          </a:p>
          <a:p>
            <a:pPr marL="800100" lvl="1" indent="-342900">
              <a:buFont typeface="Arial" panose="020B0604020202020204" pitchFamily="34" charset="0"/>
              <a:buChar char="•"/>
            </a:pPr>
            <a:r>
              <a:rPr lang="fr-FR" sz="2000" dirty="0">
                <a:latin typeface="Aptos" panose="020B0004020202020204" pitchFamily="34" charset="0"/>
              </a:rPr>
              <a:t>Conseils de santé publique</a:t>
            </a:r>
          </a:p>
          <a:p>
            <a:endParaRPr lang="fr-FR" sz="2000" dirty="0">
              <a:latin typeface="Aptos" panose="020B0004020202020204" pitchFamily="34" charset="0"/>
            </a:endParaRPr>
          </a:p>
          <a:p>
            <a:r>
              <a:rPr lang="fr-FR" sz="2000" b="1" dirty="0">
                <a:latin typeface="Aptos" panose="020B0004020202020204" pitchFamily="34" charset="0"/>
              </a:rPr>
              <a:t>Contexte bénin </a:t>
            </a:r>
            <a:r>
              <a:rPr lang="fr-FR" sz="2000" dirty="0">
                <a:latin typeface="Aptos" panose="020B0004020202020204" pitchFamily="34" charset="0"/>
              </a:rPr>
              <a:t>: Les supports visuels doivent respecter les règles encadrant la communication pharmaceutique et éviter toute publicité incompatible avec la déontologie.</a:t>
            </a:r>
          </a:p>
        </p:txBody>
      </p:sp>
    </p:spTree>
    <p:extLst>
      <p:ext uri="{BB962C8B-B14F-4D97-AF65-F5344CB8AC3E}">
        <p14:creationId xmlns:p14="http://schemas.microsoft.com/office/powerpoint/2010/main" val="3480711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Aménagement et merchandising de l'espace officinal</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Espace de confidentialité et de conseil</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170099"/>
          </a:xfrm>
          <a:prstGeom prst="rect">
            <a:avLst/>
          </a:prstGeom>
          <a:noFill/>
        </p:spPr>
        <p:txBody>
          <a:bodyPr wrap="square">
            <a:spAutoFit/>
          </a:bodyPr>
          <a:lstStyle/>
          <a:p>
            <a:r>
              <a:rPr lang="fr-FR" sz="2000" b="1" dirty="0">
                <a:latin typeface="Aptos" panose="020B0004020202020204" pitchFamily="34" charset="0"/>
              </a:rPr>
              <a:t>Pourquoi devient-il indispensable ?</a:t>
            </a:r>
          </a:p>
          <a:p>
            <a:r>
              <a:rPr lang="fr-FR" sz="2000" dirty="0">
                <a:latin typeface="Aptos" panose="020B0004020202020204" pitchFamily="34" charset="0"/>
              </a:rPr>
              <a:t>Les missions du pharmacien évoluent.</a:t>
            </a:r>
          </a:p>
          <a:p>
            <a:endParaRPr lang="fr-FR" sz="2000" dirty="0">
              <a:latin typeface="Aptos" panose="020B0004020202020204" pitchFamily="34" charset="0"/>
            </a:endParaRPr>
          </a:p>
          <a:p>
            <a:r>
              <a:rPr lang="fr-FR" sz="2000" b="1" dirty="0">
                <a:latin typeface="Aptos" panose="020B0004020202020204" pitchFamily="34" charset="0"/>
              </a:rPr>
              <a:t>Situations concernées</a:t>
            </a:r>
          </a:p>
          <a:p>
            <a:pPr marL="800100" lvl="1" indent="-342900">
              <a:buFont typeface="Arial" panose="020B0604020202020204" pitchFamily="34" charset="0"/>
              <a:buChar char="•"/>
            </a:pPr>
            <a:r>
              <a:rPr lang="fr-FR" sz="2000" dirty="0">
                <a:latin typeface="Aptos" panose="020B0004020202020204" pitchFamily="34" charset="0"/>
              </a:rPr>
              <a:t>VIH</a:t>
            </a:r>
          </a:p>
          <a:p>
            <a:pPr marL="800100" lvl="1" indent="-342900">
              <a:buFont typeface="Arial" panose="020B0604020202020204" pitchFamily="34" charset="0"/>
              <a:buChar char="•"/>
            </a:pPr>
            <a:r>
              <a:rPr lang="fr-FR" sz="2000" dirty="0">
                <a:latin typeface="Aptos" panose="020B0004020202020204" pitchFamily="34" charset="0"/>
              </a:rPr>
              <a:t>Santé sexuelle</a:t>
            </a:r>
          </a:p>
          <a:p>
            <a:pPr marL="800100" lvl="1" indent="-342900">
              <a:buFont typeface="Arial" panose="020B0604020202020204" pitchFamily="34" charset="0"/>
              <a:buChar char="•"/>
            </a:pPr>
            <a:r>
              <a:rPr lang="fr-FR" sz="2000" dirty="0">
                <a:latin typeface="Aptos" panose="020B0004020202020204" pitchFamily="34" charset="0"/>
              </a:rPr>
              <a:t>Contraception</a:t>
            </a:r>
          </a:p>
          <a:p>
            <a:pPr marL="800100" lvl="1" indent="-342900">
              <a:buFont typeface="Arial" panose="020B0604020202020204" pitchFamily="34" charset="0"/>
              <a:buChar char="•"/>
            </a:pPr>
            <a:r>
              <a:rPr lang="fr-FR" sz="2000" dirty="0">
                <a:latin typeface="Aptos" panose="020B0004020202020204" pitchFamily="34" charset="0"/>
              </a:rPr>
              <a:t>Diabète</a:t>
            </a:r>
          </a:p>
          <a:p>
            <a:pPr marL="800100" lvl="1" indent="-342900">
              <a:buFont typeface="Arial" panose="020B0604020202020204" pitchFamily="34" charset="0"/>
              <a:buChar char="•"/>
            </a:pPr>
            <a:r>
              <a:rPr lang="fr-FR" sz="2000" dirty="0">
                <a:latin typeface="Aptos" panose="020B0004020202020204" pitchFamily="34" charset="0"/>
              </a:rPr>
              <a:t>Hypertension</a:t>
            </a:r>
          </a:p>
          <a:p>
            <a:pPr marL="800100" lvl="1" indent="-342900">
              <a:buFont typeface="Arial" panose="020B0604020202020204" pitchFamily="34" charset="0"/>
              <a:buChar char="•"/>
            </a:pPr>
            <a:r>
              <a:rPr lang="fr-FR" sz="2000" dirty="0">
                <a:latin typeface="Aptos" panose="020B0004020202020204" pitchFamily="34" charset="0"/>
              </a:rPr>
              <a:t>Santé mentale</a:t>
            </a:r>
          </a:p>
        </p:txBody>
      </p:sp>
    </p:spTree>
    <p:extLst>
      <p:ext uri="{BB962C8B-B14F-4D97-AF65-F5344CB8AC3E}">
        <p14:creationId xmlns:p14="http://schemas.microsoft.com/office/powerpoint/2010/main" val="2387223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Aménagement et merchandising de l'espace officinal</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Merchandising digital</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785652"/>
          </a:xfrm>
          <a:prstGeom prst="rect">
            <a:avLst/>
          </a:prstGeom>
          <a:noFill/>
        </p:spPr>
        <p:txBody>
          <a:bodyPr wrap="square">
            <a:spAutoFit/>
          </a:bodyPr>
          <a:lstStyle/>
          <a:p>
            <a:r>
              <a:rPr lang="fr-FR" sz="2000" b="1" dirty="0">
                <a:latin typeface="Aptos" panose="020B0004020202020204" pitchFamily="34" charset="0"/>
              </a:rPr>
              <a:t>Nouveaux outils</a:t>
            </a:r>
          </a:p>
          <a:p>
            <a:pPr marL="800100" lvl="1" indent="-342900">
              <a:buFont typeface="Arial" panose="020B0604020202020204" pitchFamily="34" charset="0"/>
              <a:buChar char="•"/>
            </a:pPr>
            <a:r>
              <a:rPr lang="fr-FR" sz="2000" dirty="0">
                <a:latin typeface="Aptos" panose="020B0004020202020204" pitchFamily="34" charset="0"/>
              </a:rPr>
              <a:t>Écrans d'information</a:t>
            </a:r>
          </a:p>
          <a:p>
            <a:pPr marL="800100" lvl="1" indent="-342900">
              <a:buFont typeface="Arial" panose="020B0604020202020204" pitchFamily="34" charset="0"/>
              <a:buChar char="•"/>
            </a:pPr>
            <a:r>
              <a:rPr lang="fr-FR" sz="2000" dirty="0">
                <a:latin typeface="Aptos" panose="020B0004020202020204" pitchFamily="34" charset="0"/>
              </a:rPr>
              <a:t>Affichage numérique</a:t>
            </a:r>
          </a:p>
          <a:p>
            <a:pPr marL="800100" lvl="1" indent="-342900">
              <a:buFont typeface="Arial" panose="020B0604020202020204" pitchFamily="34" charset="0"/>
              <a:buChar char="•"/>
            </a:pPr>
            <a:r>
              <a:rPr lang="fr-FR" sz="2000" dirty="0">
                <a:latin typeface="Aptos" panose="020B0004020202020204" pitchFamily="34" charset="0"/>
              </a:rPr>
              <a:t>QR Codes</a:t>
            </a:r>
          </a:p>
          <a:p>
            <a:pPr marL="800100" lvl="1" indent="-342900">
              <a:buFont typeface="Arial" panose="020B0604020202020204" pitchFamily="34" charset="0"/>
              <a:buChar char="•"/>
            </a:pPr>
            <a:r>
              <a:rPr lang="fr-FR" sz="2000" dirty="0">
                <a:latin typeface="Aptos" panose="020B0004020202020204" pitchFamily="34" charset="0"/>
              </a:rPr>
              <a:t>Catalogues électroniques</a:t>
            </a:r>
          </a:p>
          <a:p>
            <a:endParaRPr lang="fr-FR" sz="2000" dirty="0">
              <a:latin typeface="Aptos" panose="020B0004020202020204" pitchFamily="34" charset="0"/>
            </a:endParaRPr>
          </a:p>
          <a:p>
            <a:r>
              <a:rPr lang="fr-FR" sz="2000" b="1" dirty="0">
                <a:latin typeface="Aptos" panose="020B0004020202020204" pitchFamily="34" charset="0"/>
              </a:rPr>
              <a:t>Utilisations recommandées</a:t>
            </a:r>
          </a:p>
          <a:p>
            <a:pPr marL="800100" lvl="1" indent="-342900">
              <a:buFont typeface="Arial" panose="020B0604020202020204" pitchFamily="34" charset="0"/>
              <a:buChar char="•"/>
            </a:pPr>
            <a:r>
              <a:rPr lang="fr-FR" sz="2000" dirty="0">
                <a:latin typeface="Aptos" panose="020B0004020202020204" pitchFamily="34" charset="0"/>
              </a:rPr>
              <a:t>Education sanitaire</a:t>
            </a:r>
          </a:p>
          <a:p>
            <a:pPr marL="800100" lvl="1" indent="-342900">
              <a:buFont typeface="Arial" panose="020B0604020202020204" pitchFamily="34" charset="0"/>
              <a:buChar char="•"/>
            </a:pPr>
            <a:r>
              <a:rPr lang="fr-FR" sz="2000" dirty="0">
                <a:latin typeface="Aptos" panose="020B0004020202020204" pitchFamily="34" charset="0"/>
              </a:rPr>
              <a:t>Prévention</a:t>
            </a:r>
          </a:p>
          <a:p>
            <a:pPr marL="800100" lvl="1" indent="-342900">
              <a:buFont typeface="Arial" panose="020B0604020202020204" pitchFamily="34" charset="0"/>
              <a:buChar char="•"/>
            </a:pPr>
            <a:r>
              <a:rPr lang="fr-FR" sz="2000" dirty="0">
                <a:latin typeface="Aptos" panose="020B0004020202020204" pitchFamily="34" charset="0"/>
              </a:rPr>
              <a:t>Information pratique</a:t>
            </a:r>
          </a:p>
          <a:p>
            <a:endParaRPr lang="fr-FR" sz="2000" dirty="0">
              <a:latin typeface="Aptos" panose="020B0004020202020204" pitchFamily="34" charset="0"/>
            </a:endParaRPr>
          </a:p>
          <a:p>
            <a:r>
              <a:rPr lang="fr-FR" sz="2000" b="1" dirty="0">
                <a:latin typeface="Aptos" panose="020B0004020202020204" pitchFamily="34" charset="0"/>
              </a:rPr>
              <a:t>À éviter </a:t>
            </a:r>
            <a:r>
              <a:rPr lang="fr-FR" sz="2000" dirty="0">
                <a:latin typeface="Aptos" panose="020B0004020202020204" pitchFamily="34" charset="0"/>
              </a:rPr>
              <a:t>: Communication trompeuse-Promesses thérapeutiques-Incitations inappropriées.</a:t>
            </a:r>
          </a:p>
        </p:txBody>
      </p:sp>
    </p:spTree>
    <p:extLst>
      <p:ext uri="{BB962C8B-B14F-4D97-AF65-F5344CB8AC3E}">
        <p14:creationId xmlns:p14="http://schemas.microsoft.com/office/powerpoint/2010/main" val="3173650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Aménagement et merchandising de l'espace officinal</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Indicateurs de performance de l’aménagement</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1938992"/>
          </a:xfrm>
          <a:prstGeom prst="rect">
            <a:avLst/>
          </a:prstGeom>
          <a:noFill/>
        </p:spPr>
        <p:txBody>
          <a:bodyPr wrap="square">
            <a:spAutoFit/>
          </a:bodyPr>
          <a:lstStyle/>
          <a:p>
            <a:r>
              <a:rPr lang="fr-FR" sz="2000" b="1" dirty="0">
                <a:latin typeface="Aptos" panose="020B0004020202020204" pitchFamily="34" charset="0"/>
              </a:rPr>
              <a:t>KPI</a:t>
            </a:r>
          </a:p>
          <a:p>
            <a:pPr marL="800100" lvl="1" indent="-342900">
              <a:buFont typeface="Arial" panose="020B0604020202020204" pitchFamily="34" charset="0"/>
              <a:buChar char="•"/>
            </a:pPr>
            <a:r>
              <a:rPr lang="fr-FR" sz="2000" dirty="0">
                <a:latin typeface="Aptos" panose="020B0004020202020204" pitchFamily="34" charset="0"/>
              </a:rPr>
              <a:t>Temps moyen d'attente</a:t>
            </a:r>
          </a:p>
          <a:p>
            <a:pPr marL="800100" lvl="1" indent="-342900">
              <a:buFont typeface="Arial" panose="020B0604020202020204" pitchFamily="34" charset="0"/>
              <a:buChar char="•"/>
            </a:pPr>
            <a:r>
              <a:rPr lang="fr-FR" sz="2000" dirty="0">
                <a:latin typeface="Aptos" panose="020B0004020202020204" pitchFamily="34" charset="0"/>
              </a:rPr>
              <a:t>Satisfaction patient</a:t>
            </a:r>
          </a:p>
          <a:p>
            <a:pPr marL="800100" lvl="1" indent="-342900">
              <a:buFont typeface="Arial" panose="020B0604020202020204" pitchFamily="34" charset="0"/>
              <a:buChar char="•"/>
            </a:pPr>
            <a:r>
              <a:rPr lang="fr-FR" sz="2000" dirty="0">
                <a:latin typeface="Aptos" panose="020B0004020202020204" pitchFamily="34" charset="0"/>
              </a:rPr>
              <a:t>Temps de recherche produit</a:t>
            </a:r>
          </a:p>
          <a:p>
            <a:pPr marL="800100" lvl="1" indent="-342900">
              <a:buFont typeface="Arial" panose="020B0604020202020204" pitchFamily="34" charset="0"/>
              <a:buChar char="•"/>
            </a:pPr>
            <a:r>
              <a:rPr lang="fr-FR" sz="2000" dirty="0">
                <a:latin typeface="Aptos" panose="020B0004020202020204" pitchFamily="34" charset="0"/>
              </a:rPr>
              <a:t>Nombre de réclamations liées à l'organisation</a:t>
            </a:r>
          </a:p>
          <a:p>
            <a:pPr marL="800100" lvl="1" indent="-342900">
              <a:buFont typeface="Arial" panose="020B0604020202020204" pitchFamily="34" charset="0"/>
              <a:buChar char="•"/>
            </a:pPr>
            <a:r>
              <a:rPr lang="fr-FR" sz="2000" dirty="0">
                <a:latin typeface="Aptos" panose="020B0004020202020204" pitchFamily="34" charset="0"/>
              </a:rPr>
              <a:t>Taux de retour des clients</a:t>
            </a:r>
          </a:p>
        </p:txBody>
      </p:sp>
    </p:spTree>
    <p:extLst>
      <p:ext uri="{BB962C8B-B14F-4D97-AF65-F5344CB8AC3E}">
        <p14:creationId xmlns:p14="http://schemas.microsoft.com/office/powerpoint/2010/main" val="1629760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Communication digitale et réseaux sociaux pour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246769"/>
          </a:xfrm>
          <a:prstGeom prst="rect">
            <a:avLst/>
          </a:prstGeom>
          <a:noFill/>
        </p:spPr>
        <p:txBody>
          <a:bodyPr wrap="square">
            <a:spAutoFit/>
          </a:bodyPr>
          <a:lstStyle/>
          <a:p>
            <a:r>
              <a:rPr lang="fr-FR" sz="2000" dirty="0">
                <a:latin typeface="Aptos" panose="020B0004020202020204" pitchFamily="34" charset="0"/>
              </a:rPr>
              <a:t>À l’issue de ce sous-module, le participant sera capable de :</a:t>
            </a:r>
          </a:p>
          <a:p>
            <a:pPr marL="800100" lvl="1" indent="-342900">
              <a:buFont typeface="Arial" panose="020B0604020202020204" pitchFamily="34" charset="0"/>
              <a:buChar char="•"/>
            </a:pPr>
            <a:r>
              <a:rPr lang="fr-FR" sz="2000" dirty="0">
                <a:latin typeface="Aptos" panose="020B0004020202020204" pitchFamily="34" charset="0"/>
              </a:rPr>
              <a:t>Comprendre les enjeux du digital pour l’officine ;</a:t>
            </a:r>
          </a:p>
          <a:p>
            <a:pPr marL="800100" lvl="1" indent="-342900">
              <a:buFont typeface="Arial" panose="020B0604020202020204" pitchFamily="34" charset="0"/>
              <a:buChar char="•"/>
            </a:pPr>
            <a:r>
              <a:rPr lang="fr-FR" sz="2000" dirty="0">
                <a:latin typeface="Aptos" panose="020B0004020202020204" pitchFamily="34" charset="0"/>
              </a:rPr>
              <a:t>Construire une présence numérique professionnelle ;</a:t>
            </a:r>
          </a:p>
          <a:p>
            <a:pPr marL="800100" lvl="1" indent="-342900">
              <a:buFont typeface="Arial" panose="020B0604020202020204" pitchFamily="34" charset="0"/>
              <a:buChar char="•"/>
            </a:pPr>
            <a:r>
              <a:rPr lang="fr-FR" sz="2000" dirty="0">
                <a:latin typeface="Aptos" panose="020B0004020202020204" pitchFamily="34" charset="0"/>
              </a:rPr>
              <a:t>Utiliser les réseaux sociaux de manière éthique ;</a:t>
            </a:r>
          </a:p>
          <a:p>
            <a:pPr marL="800100" lvl="1" indent="-342900">
              <a:buFont typeface="Arial" panose="020B0604020202020204" pitchFamily="34" charset="0"/>
              <a:buChar char="•"/>
            </a:pPr>
            <a:r>
              <a:rPr lang="fr-FR" sz="2000" dirty="0">
                <a:latin typeface="Aptos" panose="020B0004020202020204" pitchFamily="34" charset="0"/>
              </a:rPr>
              <a:t>Développer la visibilité de l’officine ;</a:t>
            </a:r>
          </a:p>
          <a:p>
            <a:pPr marL="800100" lvl="1" indent="-342900">
              <a:buFont typeface="Arial" panose="020B0604020202020204" pitchFamily="34" charset="0"/>
              <a:buChar char="•"/>
            </a:pPr>
            <a:r>
              <a:rPr lang="fr-FR" sz="2000" dirty="0">
                <a:latin typeface="Aptos" panose="020B0004020202020204" pitchFamily="34" charset="0"/>
              </a:rPr>
              <a:t>Respecter les exigences réglementaires et déontologiques ;</a:t>
            </a:r>
          </a:p>
          <a:p>
            <a:pPr marL="800100" lvl="1" indent="-342900">
              <a:buFont typeface="Arial" panose="020B0604020202020204" pitchFamily="34" charset="0"/>
              <a:buChar char="•"/>
            </a:pPr>
            <a:r>
              <a:rPr lang="fr-FR" sz="2000" dirty="0">
                <a:latin typeface="Aptos" panose="020B0004020202020204" pitchFamily="34" charset="0"/>
              </a:rPr>
              <a:t>Gérer la réputation numérique de l’établissement.</a:t>
            </a:r>
          </a:p>
        </p:txBody>
      </p:sp>
    </p:spTree>
    <p:extLst>
      <p:ext uri="{BB962C8B-B14F-4D97-AF65-F5344CB8AC3E}">
        <p14:creationId xmlns:p14="http://schemas.microsoft.com/office/powerpoint/2010/main" val="3169086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Communication digitale et réseaux sociaux pour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477875"/>
          </a:xfrm>
          <a:prstGeom prst="rect">
            <a:avLst/>
          </a:prstGeom>
          <a:noFill/>
        </p:spPr>
        <p:txBody>
          <a:bodyPr wrap="square">
            <a:spAutoFit/>
          </a:bodyPr>
          <a:lstStyle/>
          <a:p>
            <a:r>
              <a:rPr lang="fr-FR" sz="2000" dirty="0">
                <a:latin typeface="Aptos" panose="020B0004020202020204" pitchFamily="34" charset="0"/>
              </a:rPr>
              <a:t>La communication digitale est devenue un outil incontournable pour :</a:t>
            </a:r>
          </a:p>
          <a:p>
            <a:pPr marL="800100" lvl="1" indent="-342900">
              <a:buFont typeface="Arial" panose="020B0604020202020204" pitchFamily="34" charset="0"/>
              <a:buChar char="•"/>
            </a:pPr>
            <a:r>
              <a:rPr lang="fr-FR" sz="2000" dirty="0">
                <a:latin typeface="Aptos" panose="020B0004020202020204" pitchFamily="34" charset="0"/>
              </a:rPr>
              <a:t>Informer les patients ;</a:t>
            </a:r>
          </a:p>
          <a:p>
            <a:pPr marL="800100" lvl="1" indent="-342900">
              <a:buFont typeface="Arial" panose="020B0604020202020204" pitchFamily="34" charset="0"/>
              <a:buChar char="•"/>
            </a:pPr>
            <a:r>
              <a:rPr lang="fr-FR" sz="2000" dirty="0">
                <a:latin typeface="Aptos" panose="020B0004020202020204" pitchFamily="34" charset="0"/>
              </a:rPr>
              <a:t>Améliorer l'accessibilité ;</a:t>
            </a:r>
          </a:p>
          <a:p>
            <a:pPr marL="800100" lvl="1" indent="-342900">
              <a:buFont typeface="Arial" panose="020B0604020202020204" pitchFamily="34" charset="0"/>
              <a:buChar char="•"/>
            </a:pPr>
            <a:r>
              <a:rPr lang="fr-FR" sz="2000" dirty="0">
                <a:latin typeface="Aptos" panose="020B0004020202020204" pitchFamily="34" charset="0"/>
              </a:rPr>
              <a:t>Promouvoir les services autorisés ;</a:t>
            </a:r>
          </a:p>
          <a:p>
            <a:pPr marL="800100" lvl="1" indent="-342900">
              <a:buFont typeface="Arial" panose="020B0604020202020204" pitchFamily="34" charset="0"/>
              <a:buChar char="•"/>
            </a:pPr>
            <a:r>
              <a:rPr lang="fr-FR" sz="2000" dirty="0">
                <a:latin typeface="Aptos" panose="020B0004020202020204" pitchFamily="34" charset="0"/>
              </a:rPr>
              <a:t>Renforcer la relation avec la communauté.</a:t>
            </a:r>
          </a:p>
          <a:p>
            <a:endParaRPr lang="fr-FR" sz="2000" dirty="0">
              <a:latin typeface="Aptos" panose="020B0004020202020204" pitchFamily="34" charset="0"/>
            </a:endParaRPr>
          </a:p>
          <a:p>
            <a:r>
              <a:rPr lang="fr-FR" sz="2000" dirty="0">
                <a:latin typeface="Aptos" panose="020B0004020202020204" pitchFamily="34" charset="0"/>
              </a:rPr>
              <a:t>Cependant, le pharmacien doit toujours distinguer :</a:t>
            </a:r>
          </a:p>
          <a:p>
            <a:pPr marL="800100" lvl="1" indent="-342900">
              <a:buFont typeface="Arial" panose="020B0604020202020204" pitchFamily="34" charset="0"/>
              <a:buChar char="•"/>
            </a:pPr>
            <a:r>
              <a:rPr lang="fr-FR" sz="2000" dirty="0">
                <a:latin typeface="Aptos" panose="020B0004020202020204" pitchFamily="34" charset="0"/>
              </a:rPr>
              <a:t>Information sanitaire et </a:t>
            </a:r>
          </a:p>
          <a:p>
            <a:pPr marL="800100" lvl="1" indent="-342900">
              <a:buFont typeface="Arial" panose="020B0604020202020204" pitchFamily="34" charset="0"/>
              <a:buChar char="•"/>
            </a:pPr>
            <a:r>
              <a:rPr lang="fr-FR" sz="2000" dirty="0">
                <a:latin typeface="Aptos" panose="020B0004020202020204" pitchFamily="34" charset="0"/>
              </a:rPr>
              <a:t>Publicité pharmaceutique</a:t>
            </a:r>
          </a:p>
          <a:p>
            <a:pPr marL="800100" lvl="1" indent="-342900">
              <a:buFont typeface="Arial" panose="020B0604020202020204" pitchFamily="34" charset="0"/>
              <a:buChar char="•"/>
            </a:pPr>
            <a:endParaRPr lang="fr-FR" sz="2000" dirty="0">
              <a:latin typeface="Aptos" panose="020B0004020202020204" pitchFamily="34" charset="0"/>
            </a:endParaRPr>
          </a:p>
          <a:p>
            <a:r>
              <a:rPr lang="fr-FR" sz="2000" dirty="0">
                <a:latin typeface="Aptos" panose="020B0004020202020204" pitchFamily="34" charset="0"/>
              </a:rPr>
              <a:t>La frontière entre les deux peut être très fine.</a:t>
            </a:r>
          </a:p>
        </p:txBody>
      </p:sp>
    </p:spTree>
    <p:extLst>
      <p:ext uri="{BB962C8B-B14F-4D97-AF65-F5344CB8AC3E}">
        <p14:creationId xmlns:p14="http://schemas.microsoft.com/office/powerpoint/2010/main" val="272178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Communication digitale et réseaux sociaux pour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La transformation digitale des officines africaines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r>
              <a:rPr lang="fr-FR" sz="2000" b="1" dirty="0">
                <a:latin typeface="Aptos" panose="020B0004020202020204" pitchFamily="34" charset="0"/>
              </a:rPr>
              <a:t>Évolution récente</a:t>
            </a:r>
          </a:p>
          <a:p>
            <a:pPr lvl="1"/>
            <a:r>
              <a:rPr lang="fr-FR" sz="2000" b="1" dirty="0">
                <a:latin typeface="Aptos" panose="020B0004020202020204" pitchFamily="34" charset="0"/>
              </a:rPr>
              <a:t>Les patients utilisent désormais Internet pour :</a:t>
            </a:r>
          </a:p>
          <a:p>
            <a:pPr marL="1257300" lvl="2" indent="-342900">
              <a:buFont typeface="Arial" panose="020B0604020202020204" pitchFamily="34" charset="0"/>
              <a:buChar char="•"/>
            </a:pPr>
            <a:r>
              <a:rPr lang="fr-FR" sz="2000" dirty="0">
                <a:latin typeface="Aptos" panose="020B0004020202020204" pitchFamily="34" charset="0"/>
              </a:rPr>
              <a:t>Rechercher une pharmacie</a:t>
            </a:r>
          </a:p>
          <a:p>
            <a:pPr marL="1257300" lvl="2" indent="-342900">
              <a:buFont typeface="Arial" panose="020B0604020202020204" pitchFamily="34" charset="0"/>
              <a:buChar char="•"/>
            </a:pPr>
            <a:r>
              <a:rPr lang="fr-FR" sz="2000" dirty="0">
                <a:latin typeface="Aptos" panose="020B0004020202020204" pitchFamily="34" charset="0"/>
              </a:rPr>
              <a:t>Vérifier les horaires</a:t>
            </a:r>
          </a:p>
          <a:p>
            <a:pPr marL="1257300" lvl="2" indent="-342900">
              <a:buFont typeface="Arial" panose="020B0604020202020204" pitchFamily="34" charset="0"/>
              <a:buChar char="•"/>
            </a:pPr>
            <a:r>
              <a:rPr lang="fr-FR" sz="2000" dirty="0">
                <a:latin typeface="Aptos" panose="020B0004020202020204" pitchFamily="34" charset="0"/>
              </a:rPr>
              <a:t>Consulter les avis</a:t>
            </a:r>
          </a:p>
          <a:p>
            <a:pPr marL="1257300" lvl="2" indent="-342900">
              <a:buFont typeface="Arial" panose="020B0604020202020204" pitchFamily="34" charset="0"/>
              <a:buChar char="•"/>
            </a:pPr>
            <a:r>
              <a:rPr lang="fr-FR" sz="2000" dirty="0">
                <a:latin typeface="Aptos" panose="020B0004020202020204" pitchFamily="34" charset="0"/>
              </a:rPr>
              <a:t>Poser des questions</a:t>
            </a:r>
          </a:p>
          <a:p>
            <a:pPr marL="1257300" lvl="2" indent="-342900">
              <a:buFont typeface="Arial" panose="020B0604020202020204" pitchFamily="34" charset="0"/>
              <a:buChar char="•"/>
            </a:pPr>
            <a:r>
              <a:rPr lang="fr-FR" sz="2000" dirty="0">
                <a:latin typeface="Aptos" panose="020B0004020202020204" pitchFamily="34" charset="0"/>
              </a:rPr>
              <a:t>Vérifier la disponibilité d’un produit</a:t>
            </a:r>
          </a:p>
          <a:p>
            <a:pPr lvl="1"/>
            <a:endParaRPr lang="fr-FR" sz="2000" dirty="0">
              <a:latin typeface="Aptos" panose="020B0004020202020204" pitchFamily="34" charset="0"/>
            </a:endParaRPr>
          </a:p>
          <a:p>
            <a:pPr lvl="1"/>
            <a:r>
              <a:rPr lang="fr-FR" sz="2000" b="1" dirty="0">
                <a:latin typeface="Aptos" panose="020B0004020202020204" pitchFamily="34" charset="0"/>
              </a:rPr>
              <a:t>Tendances observées en Afrique</a:t>
            </a:r>
          </a:p>
          <a:p>
            <a:pPr marL="1257300" lvl="2" indent="-342900">
              <a:buFont typeface="Arial" panose="020B0604020202020204" pitchFamily="34" charset="0"/>
              <a:buChar char="•"/>
            </a:pPr>
            <a:r>
              <a:rPr lang="fr-FR" sz="2000" dirty="0">
                <a:latin typeface="Aptos" panose="020B0004020202020204" pitchFamily="34" charset="0"/>
              </a:rPr>
              <a:t>WhatsApp Business : Très utilisé.</a:t>
            </a:r>
          </a:p>
          <a:p>
            <a:pPr marL="1257300" lvl="2" indent="-342900">
              <a:buFont typeface="Arial" panose="020B0604020202020204" pitchFamily="34" charset="0"/>
              <a:buChar char="•"/>
            </a:pPr>
            <a:r>
              <a:rPr lang="fr-FR" sz="2000" dirty="0">
                <a:latin typeface="Aptos" panose="020B0004020202020204" pitchFamily="34" charset="0"/>
              </a:rPr>
              <a:t>Facebook : Réseau dominant dans plusieurs pays.</a:t>
            </a:r>
          </a:p>
          <a:p>
            <a:pPr marL="1257300" lvl="2" indent="-342900">
              <a:buFont typeface="Arial" panose="020B0604020202020204" pitchFamily="34" charset="0"/>
              <a:buChar char="•"/>
            </a:pPr>
            <a:r>
              <a:rPr lang="fr-FR" sz="2000" dirty="0">
                <a:latin typeface="Aptos" panose="020B0004020202020204" pitchFamily="34" charset="0"/>
              </a:rPr>
              <a:t>Instagram : Développement rapide.</a:t>
            </a:r>
          </a:p>
          <a:p>
            <a:pPr marL="1257300" lvl="2" indent="-342900">
              <a:buFont typeface="Arial" panose="020B0604020202020204" pitchFamily="34" charset="0"/>
              <a:buChar char="•"/>
            </a:pPr>
            <a:r>
              <a:rPr lang="fr-FR" sz="2000" dirty="0">
                <a:latin typeface="Aptos" panose="020B0004020202020204" pitchFamily="34" charset="0"/>
              </a:rPr>
              <a:t>Google </a:t>
            </a:r>
            <a:r>
              <a:rPr lang="fr-FR" sz="2000" dirty="0" err="1">
                <a:latin typeface="Aptos" panose="020B0004020202020204" pitchFamily="34" charset="0"/>
              </a:rPr>
              <a:t>Maps</a:t>
            </a:r>
            <a:r>
              <a:rPr lang="fr-FR" sz="2000" dirty="0">
                <a:latin typeface="Aptos" panose="020B0004020202020204" pitchFamily="34" charset="0"/>
              </a:rPr>
              <a:t> : Devenu essentiel.</a:t>
            </a:r>
          </a:p>
          <a:p>
            <a:pPr marL="1257300" lvl="2" indent="-342900">
              <a:buFont typeface="Arial" panose="020B0604020202020204" pitchFamily="34" charset="0"/>
              <a:buChar char="•"/>
            </a:pPr>
            <a:r>
              <a:rPr lang="fr-FR" sz="2000" dirty="0" err="1">
                <a:latin typeface="Aptos" panose="020B0004020202020204" pitchFamily="34" charset="0"/>
              </a:rPr>
              <a:t>TikTok</a:t>
            </a:r>
            <a:r>
              <a:rPr lang="fr-FR" sz="2000" dirty="0">
                <a:latin typeface="Aptos" panose="020B0004020202020204" pitchFamily="34" charset="0"/>
              </a:rPr>
              <a:t> : Devenu viral</a:t>
            </a:r>
          </a:p>
        </p:txBody>
      </p:sp>
    </p:spTree>
    <p:extLst>
      <p:ext uri="{BB962C8B-B14F-4D97-AF65-F5344CB8AC3E}">
        <p14:creationId xmlns:p14="http://schemas.microsoft.com/office/powerpoint/2010/main" val="184021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Communication digitale et réseaux sociaux pour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cadre éthique et réglementaire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r>
              <a:rPr lang="fr-FR" sz="2000" b="1" dirty="0">
                <a:latin typeface="Aptos" panose="020B0004020202020204" pitchFamily="34" charset="0"/>
              </a:rPr>
              <a:t>Principe fondamental</a:t>
            </a:r>
          </a:p>
          <a:p>
            <a:pPr lvl="1"/>
            <a:r>
              <a:rPr lang="fr-FR" sz="2000" dirty="0">
                <a:latin typeface="Aptos" panose="020B0004020202020204" pitchFamily="34" charset="0"/>
              </a:rPr>
              <a:t>Une officine peut communiquer.</a:t>
            </a:r>
          </a:p>
          <a:p>
            <a:pPr lvl="1"/>
            <a:r>
              <a:rPr lang="fr-FR" sz="2000" dirty="0">
                <a:latin typeface="Aptos" panose="020B0004020202020204" pitchFamily="34" charset="0"/>
              </a:rPr>
              <a:t>Mais elle ne doit pas adopter des pratiques incompatibles avec la déontologie pharmaceutique.</a:t>
            </a:r>
          </a:p>
          <a:p>
            <a:endParaRPr lang="fr-FR" sz="2000" dirty="0">
              <a:latin typeface="Aptos" panose="020B0004020202020204" pitchFamily="34" charset="0"/>
            </a:endParaRPr>
          </a:p>
          <a:p>
            <a:r>
              <a:rPr lang="fr-FR" sz="2000" b="1" dirty="0">
                <a:latin typeface="Aptos" panose="020B0004020202020204" pitchFamily="34" charset="0"/>
              </a:rPr>
              <a:t>Distinction essentielle : Communication autorisée</a:t>
            </a:r>
          </a:p>
          <a:p>
            <a:pPr marL="800100" lvl="1" indent="-342900">
              <a:buFont typeface="Arial" panose="020B0604020202020204" pitchFamily="34" charset="0"/>
              <a:buChar char="•"/>
            </a:pPr>
            <a:r>
              <a:rPr lang="fr-FR" sz="2000" dirty="0">
                <a:latin typeface="Aptos" panose="020B0004020202020204" pitchFamily="34" charset="0"/>
              </a:rPr>
              <a:t>Informer.</a:t>
            </a:r>
          </a:p>
          <a:p>
            <a:pPr marL="800100" lvl="1" indent="-342900">
              <a:buFont typeface="Arial" panose="020B0604020202020204" pitchFamily="34" charset="0"/>
              <a:buChar char="•"/>
            </a:pPr>
            <a:r>
              <a:rPr lang="fr-FR" sz="2000" dirty="0">
                <a:latin typeface="Aptos" panose="020B0004020202020204" pitchFamily="34" charset="0"/>
              </a:rPr>
              <a:t>Eduquer.</a:t>
            </a:r>
          </a:p>
          <a:p>
            <a:pPr marL="800100" lvl="1" indent="-342900">
              <a:buFont typeface="Arial" panose="020B0604020202020204" pitchFamily="34" charset="0"/>
              <a:buChar char="•"/>
            </a:pPr>
            <a:r>
              <a:rPr lang="fr-FR" sz="2000" dirty="0">
                <a:latin typeface="Aptos" panose="020B0004020202020204" pitchFamily="34" charset="0"/>
              </a:rPr>
              <a:t>Orienter.</a:t>
            </a:r>
          </a:p>
          <a:p>
            <a:pPr marL="800100" lvl="1" indent="-342900">
              <a:buFont typeface="Arial" panose="020B0604020202020204" pitchFamily="34" charset="0"/>
              <a:buChar char="•"/>
            </a:pPr>
            <a:r>
              <a:rPr lang="fr-FR" sz="2000" dirty="0">
                <a:latin typeface="Aptos" panose="020B0004020202020204" pitchFamily="34" charset="0"/>
              </a:rPr>
              <a:t>Prévenir.</a:t>
            </a:r>
          </a:p>
          <a:p>
            <a:r>
              <a:rPr lang="fr-FR" sz="2000" b="1" dirty="0">
                <a:latin typeface="Aptos" panose="020B0004020202020204" pitchFamily="34" charset="0"/>
              </a:rPr>
              <a:t>Communication à risque</a:t>
            </a:r>
          </a:p>
          <a:p>
            <a:pPr marL="800100" lvl="1" indent="-342900">
              <a:buFont typeface="Arial" panose="020B0604020202020204" pitchFamily="34" charset="0"/>
              <a:buChar char="•"/>
            </a:pPr>
            <a:r>
              <a:rPr lang="fr-FR" sz="2000" dirty="0">
                <a:latin typeface="Aptos" panose="020B0004020202020204" pitchFamily="34" charset="0"/>
              </a:rPr>
              <a:t>Promesses thérapeutiques.</a:t>
            </a:r>
          </a:p>
          <a:p>
            <a:pPr marL="800100" lvl="1" indent="-342900">
              <a:buFont typeface="Arial" panose="020B0604020202020204" pitchFamily="34" charset="0"/>
              <a:buChar char="•"/>
            </a:pPr>
            <a:r>
              <a:rPr lang="fr-FR" sz="2000" dirty="0">
                <a:latin typeface="Aptos" panose="020B0004020202020204" pitchFamily="34" charset="0"/>
              </a:rPr>
              <a:t>Comparaison agressive.</a:t>
            </a:r>
          </a:p>
          <a:p>
            <a:pPr marL="800100" lvl="1" indent="-342900">
              <a:buFont typeface="Arial" panose="020B0604020202020204" pitchFamily="34" charset="0"/>
              <a:buChar char="•"/>
            </a:pPr>
            <a:r>
              <a:rPr lang="fr-FR" sz="2000" dirty="0">
                <a:latin typeface="Aptos" panose="020B0004020202020204" pitchFamily="34" charset="0"/>
              </a:rPr>
              <a:t>Incitation excessive à la consommation.</a:t>
            </a:r>
          </a:p>
          <a:p>
            <a:pPr marL="800100" lvl="1" indent="-342900">
              <a:buFont typeface="Arial" panose="020B0604020202020204" pitchFamily="34" charset="0"/>
              <a:buChar char="•"/>
            </a:pPr>
            <a:r>
              <a:rPr lang="fr-FR" sz="2000" dirty="0">
                <a:latin typeface="Aptos" panose="020B0004020202020204" pitchFamily="34" charset="0"/>
              </a:rPr>
              <a:t>Publicité trompeuse.</a:t>
            </a:r>
          </a:p>
        </p:txBody>
      </p:sp>
    </p:spTree>
    <p:extLst>
      <p:ext uri="{BB962C8B-B14F-4D97-AF65-F5344CB8AC3E}">
        <p14:creationId xmlns:p14="http://schemas.microsoft.com/office/powerpoint/2010/main" val="2650007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Communication digitale et réseaux sociaux pour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 cadre éthique et réglementaire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170099"/>
          </a:xfrm>
          <a:prstGeom prst="rect">
            <a:avLst/>
          </a:prstGeom>
          <a:noFill/>
        </p:spPr>
        <p:txBody>
          <a:bodyPr wrap="square">
            <a:spAutoFit/>
          </a:bodyPr>
          <a:lstStyle/>
          <a:p>
            <a:r>
              <a:rPr lang="fr-FR" sz="2000" b="1" dirty="0">
                <a:latin typeface="Aptos" panose="020B0004020202020204" pitchFamily="34" charset="0"/>
              </a:rPr>
              <a:t>Contexte africain</a:t>
            </a:r>
          </a:p>
          <a:p>
            <a:r>
              <a:rPr lang="fr-FR" sz="2000" dirty="0">
                <a:latin typeface="Aptos" panose="020B0004020202020204" pitchFamily="34" charset="0"/>
              </a:rPr>
              <a:t>Dans la majorité des pays africains, la publicité des médicaments soumis à prescription est fortement encadrée ou interdite.</a:t>
            </a:r>
          </a:p>
          <a:p>
            <a:endParaRPr lang="fr-FR" sz="2000" dirty="0">
              <a:latin typeface="Aptos" panose="020B0004020202020204" pitchFamily="34" charset="0"/>
            </a:endParaRPr>
          </a:p>
          <a:p>
            <a:r>
              <a:rPr lang="fr-FR" sz="2000" b="1" dirty="0">
                <a:latin typeface="Aptos" panose="020B0004020202020204" pitchFamily="34" charset="0"/>
              </a:rPr>
              <a:t>Contexte bénin</a:t>
            </a:r>
          </a:p>
          <a:p>
            <a:r>
              <a:rPr lang="fr-FR" sz="2000" dirty="0">
                <a:latin typeface="Aptos" panose="020B0004020202020204" pitchFamily="34" charset="0"/>
              </a:rPr>
              <a:t>Le pharmacien doit s'assurer que ses communications :</a:t>
            </a:r>
          </a:p>
          <a:p>
            <a:pPr marL="800100" lvl="1" indent="-342900">
              <a:buFont typeface="Arial" panose="020B0604020202020204" pitchFamily="34" charset="0"/>
              <a:buChar char="•"/>
            </a:pPr>
            <a:r>
              <a:rPr lang="fr-FR" sz="2000" dirty="0">
                <a:latin typeface="Aptos" panose="020B0004020202020204" pitchFamily="34" charset="0"/>
              </a:rPr>
              <a:t>Respectent le code de déontologie ;</a:t>
            </a:r>
          </a:p>
          <a:p>
            <a:pPr marL="800100" lvl="1" indent="-342900">
              <a:buFont typeface="Arial" panose="020B0604020202020204" pitchFamily="34" charset="0"/>
              <a:buChar char="•"/>
            </a:pPr>
            <a:r>
              <a:rPr lang="fr-FR" sz="2000" dirty="0">
                <a:latin typeface="Aptos" panose="020B0004020202020204" pitchFamily="34" charset="0"/>
              </a:rPr>
              <a:t>Respectent la réglementation pharmaceutique ;</a:t>
            </a:r>
          </a:p>
          <a:p>
            <a:pPr marL="800100" lvl="1" indent="-342900">
              <a:buFont typeface="Arial" panose="020B0604020202020204" pitchFamily="34" charset="0"/>
              <a:buChar char="•"/>
            </a:pPr>
            <a:r>
              <a:rPr lang="fr-FR" sz="2000" dirty="0">
                <a:latin typeface="Aptos" panose="020B0004020202020204" pitchFamily="34" charset="0"/>
              </a:rPr>
              <a:t>Préservent la dignité de la profession ;</a:t>
            </a:r>
          </a:p>
          <a:p>
            <a:pPr marL="800100" lvl="1" indent="-342900">
              <a:buFont typeface="Arial" panose="020B0604020202020204" pitchFamily="34" charset="0"/>
              <a:buChar char="•"/>
            </a:pPr>
            <a:r>
              <a:rPr lang="fr-FR" sz="2000" dirty="0">
                <a:latin typeface="Aptos" panose="020B0004020202020204" pitchFamily="34" charset="0"/>
              </a:rPr>
              <a:t>Ne favorisent pas l'automédication inappropriée.</a:t>
            </a:r>
          </a:p>
        </p:txBody>
      </p:sp>
    </p:spTree>
    <p:extLst>
      <p:ext uri="{BB962C8B-B14F-4D97-AF65-F5344CB8AC3E}">
        <p14:creationId xmlns:p14="http://schemas.microsoft.com/office/powerpoint/2010/main" val="2452686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Communication digitale et réseaux sociaux pour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Google business profile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r>
              <a:rPr lang="fr-FR" sz="2000" b="1" dirty="0">
                <a:latin typeface="Aptos" panose="020B0004020202020204" pitchFamily="34" charset="0"/>
              </a:rPr>
              <a:t>Pourquoi est-il indispensable ? </a:t>
            </a:r>
            <a:r>
              <a:rPr lang="fr-FR" sz="2000" dirty="0">
                <a:latin typeface="Aptos" panose="020B0004020202020204" pitchFamily="34" charset="0"/>
              </a:rPr>
              <a:t>: C'est souvent le premier point de contact digital.</a:t>
            </a:r>
          </a:p>
          <a:p>
            <a:endParaRPr lang="fr-FR" sz="2000" dirty="0">
              <a:latin typeface="Aptos" panose="020B0004020202020204" pitchFamily="34" charset="0"/>
            </a:endParaRPr>
          </a:p>
          <a:p>
            <a:r>
              <a:rPr lang="fr-FR" sz="2000" b="1" dirty="0">
                <a:latin typeface="Aptos" panose="020B0004020202020204" pitchFamily="34" charset="0"/>
              </a:rPr>
              <a:t>Informations essentielles</a:t>
            </a:r>
          </a:p>
          <a:p>
            <a:pPr marL="800100" lvl="1" indent="-342900">
              <a:buFont typeface="Arial" panose="020B0604020202020204" pitchFamily="34" charset="0"/>
              <a:buChar char="•"/>
            </a:pPr>
            <a:r>
              <a:rPr lang="fr-FR" sz="2000" dirty="0">
                <a:latin typeface="Aptos" panose="020B0004020202020204" pitchFamily="34" charset="0"/>
              </a:rPr>
              <a:t>Nom officiel</a:t>
            </a:r>
          </a:p>
          <a:p>
            <a:pPr marL="800100" lvl="1" indent="-342900">
              <a:buFont typeface="Arial" panose="020B0604020202020204" pitchFamily="34" charset="0"/>
              <a:buChar char="•"/>
            </a:pPr>
            <a:r>
              <a:rPr lang="fr-FR" sz="2000" dirty="0">
                <a:latin typeface="Aptos" panose="020B0004020202020204" pitchFamily="34" charset="0"/>
              </a:rPr>
              <a:t>Adresse et Horaires</a:t>
            </a:r>
          </a:p>
          <a:p>
            <a:pPr marL="800100" lvl="1" indent="-342900">
              <a:buFont typeface="Arial" panose="020B0604020202020204" pitchFamily="34" charset="0"/>
              <a:buChar char="•"/>
            </a:pPr>
            <a:r>
              <a:rPr lang="fr-FR" sz="2000" dirty="0">
                <a:latin typeface="Aptos" panose="020B0004020202020204" pitchFamily="34" charset="0"/>
              </a:rPr>
              <a:t>Téléphone</a:t>
            </a:r>
          </a:p>
          <a:p>
            <a:pPr marL="800100" lvl="1" indent="-342900">
              <a:buFont typeface="Arial" panose="020B0604020202020204" pitchFamily="34" charset="0"/>
              <a:buChar char="•"/>
            </a:pPr>
            <a:r>
              <a:rPr lang="fr-FR" sz="2000" dirty="0">
                <a:latin typeface="Aptos" panose="020B0004020202020204" pitchFamily="34" charset="0"/>
              </a:rPr>
              <a:t>Services</a:t>
            </a:r>
          </a:p>
          <a:p>
            <a:pPr marL="800100" lvl="1" indent="-342900">
              <a:buFont typeface="Arial" panose="020B0604020202020204" pitchFamily="34" charset="0"/>
              <a:buChar char="•"/>
            </a:pPr>
            <a:r>
              <a:rPr lang="fr-FR" sz="2000" dirty="0">
                <a:latin typeface="Aptos" panose="020B0004020202020204" pitchFamily="34" charset="0"/>
              </a:rPr>
              <a:t>Photos professionnelles</a:t>
            </a:r>
          </a:p>
          <a:p>
            <a:endParaRPr lang="fr-FR" sz="2000" dirty="0">
              <a:latin typeface="Aptos" panose="020B0004020202020204" pitchFamily="34" charset="0"/>
            </a:endParaRPr>
          </a:p>
          <a:p>
            <a:r>
              <a:rPr lang="fr-FR" sz="2000" b="1" dirty="0">
                <a:latin typeface="Aptos" panose="020B0004020202020204" pitchFamily="34" charset="0"/>
              </a:rPr>
              <a:t>Avantages</a:t>
            </a:r>
          </a:p>
          <a:p>
            <a:pPr marL="800100" lvl="1" indent="-342900">
              <a:buFont typeface="Arial" panose="020B0604020202020204" pitchFamily="34" charset="0"/>
              <a:buChar char="•"/>
            </a:pPr>
            <a:r>
              <a:rPr lang="fr-FR" sz="2000" dirty="0">
                <a:latin typeface="Aptos" panose="020B0004020202020204" pitchFamily="34" charset="0"/>
              </a:rPr>
              <a:t>Visibilité locale</a:t>
            </a:r>
          </a:p>
          <a:p>
            <a:pPr marL="800100" lvl="1" indent="-342900">
              <a:buFont typeface="Arial" panose="020B0604020202020204" pitchFamily="34" charset="0"/>
              <a:buChar char="•"/>
            </a:pPr>
            <a:r>
              <a:rPr lang="fr-FR" sz="2000" dirty="0">
                <a:latin typeface="Aptos" panose="020B0004020202020204" pitchFamily="34" charset="0"/>
              </a:rPr>
              <a:t>Référencement</a:t>
            </a:r>
          </a:p>
          <a:p>
            <a:pPr marL="800100" lvl="1" indent="-342900">
              <a:buFont typeface="Arial" panose="020B0604020202020204" pitchFamily="34" charset="0"/>
              <a:buChar char="•"/>
            </a:pPr>
            <a:r>
              <a:rPr lang="fr-FR" sz="2000" dirty="0">
                <a:latin typeface="Aptos" panose="020B0004020202020204" pitchFamily="34" charset="0"/>
              </a:rPr>
              <a:t>Navigation GPS</a:t>
            </a:r>
          </a:p>
          <a:p>
            <a:pPr marL="800100" lvl="1" indent="-342900">
              <a:buFont typeface="Arial" panose="020B0604020202020204" pitchFamily="34" charset="0"/>
              <a:buChar char="•"/>
            </a:pPr>
            <a:r>
              <a:rPr lang="fr-FR" sz="2000" dirty="0">
                <a:latin typeface="Aptos" panose="020B0004020202020204" pitchFamily="34" charset="0"/>
              </a:rPr>
              <a:t>Gestion des avis</a:t>
            </a:r>
          </a:p>
        </p:txBody>
      </p:sp>
    </p:spTree>
    <p:extLst>
      <p:ext uri="{BB962C8B-B14F-4D97-AF65-F5344CB8AC3E}">
        <p14:creationId xmlns:p14="http://schemas.microsoft.com/office/powerpoint/2010/main" val="338931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Communication digitale et réseaux sociaux pour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WhatsApp business pour l’officine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170099"/>
          </a:xfrm>
          <a:prstGeom prst="rect">
            <a:avLst/>
          </a:prstGeom>
          <a:noFill/>
        </p:spPr>
        <p:txBody>
          <a:bodyPr wrap="square">
            <a:spAutoFit/>
          </a:bodyPr>
          <a:lstStyle/>
          <a:p>
            <a:r>
              <a:rPr lang="fr-FR" sz="2000" b="1" dirty="0">
                <a:latin typeface="Aptos" panose="020B0004020202020204" pitchFamily="34" charset="0"/>
              </a:rPr>
              <a:t>Pourquoi WhatsApp ? : </a:t>
            </a:r>
          </a:p>
          <a:p>
            <a:r>
              <a:rPr lang="fr-FR" sz="2000" dirty="0">
                <a:latin typeface="Aptos" panose="020B0004020202020204" pitchFamily="34" charset="0"/>
              </a:rPr>
              <a:t>Parce qu'il constitue aujourd'hui l'outil de communication le plus utilisé dans de nombreux pays africains.</a:t>
            </a:r>
          </a:p>
          <a:p>
            <a:endParaRPr lang="fr-FR" sz="2000" dirty="0">
              <a:latin typeface="Aptos" panose="020B0004020202020204" pitchFamily="34" charset="0"/>
            </a:endParaRPr>
          </a:p>
          <a:p>
            <a:r>
              <a:rPr lang="fr-FR" sz="2000" b="1" dirty="0">
                <a:latin typeface="Aptos" panose="020B0004020202020204" pitchFamily="34" charset="0"/>
              </a:rPr>
              <a:t>Utilisations professionnelles</a:t>
            </a:r>
          </a:p>
          <a:p>
            <a:pPr marL="800100" lvl="1" indent="-342900">
              <a:buFont typeface="Arial" panose="020B0604020202020204" pitchFamily="34" charset="0"/>
              <a:buChar char="•"/>
            </a:pPr>
            <a:r>
              <a:rPr lang="fr-FR" sz="2000" dirty="0">
                <a:latin typeface="Aptos" panose="020B0004020202020204" pitchFamily="34" charset="0"/>
              </a:rPr>
              <a:t>Réponse aux demandes</a:t>
            </a:r>
          </a:p>
          <a:p>
            <a:pPr marL="800100" lvl="1" indent="-342900">
              <a:buFont typeface="Arial" panose="020B0604020202020204" pitchFamily="34" charset="0"/>
              <a:buChar char="•"/>
            </a:pPr>
            <a:r>
              <a:rPr lang="fr-FR" sz="2000" dirty="0">
                <a:latin typeface="Aptos" panose="020B0004020202020204" pitchFamily="34" charset="0"/>
              </a:rPr>
              <a:t>Horaires</a:t>
            </a:r>
          </a:p>
          <a:p>
            <a:pPr marL="800100" lvl="1" indent="-342900">
              <a:buFont typeface="Arial" panose="020B0604020202020204" pitchFamily="34" charset="0"/>
              <a:buChar char="•"/>
            </a:pPr>
            <a:r>
              <a:rPr lang="fr-FR" sz="2000" dirty="0">
                <a:latin typeface="Aptos" panose="020B0004020202020204" pitchFamily="34" charset="0"/>
              </a:rPr>
              <a:t>Disponibilité des produits</a:t>
            </a:r>
          </a:p>
          <a:p>
            <a:pPr marL="800100" lvl="1" indent="-342900">
              <a:buFont typeface="Arial" panose="020B0604020202020204" pitchFamily="34" charset="0"/>
              <a:buChar char="•"/>
            </a:pPr>
            <a:r>
              <a:rPr lang="fr-FR" sz="2000" dirty="0">
                <a:latin typeface="Aptos" panose="020B0004020202020204" pitchFamily="34" charset="0"/>
              </a:rPr>
              <a:t>Information pratique</a:t>
            </a:r>
          </a:p>
          <a:p>
            <a:pPr marL="800100" lvl="1" indent="-342900">
              <a:buFont typeface="Arial" panose="020B0604020202020204" pitchFamily="34" charset="0"/>
              <a:buChar char="•"/>
            </a:pPr>
            <a:r>
              <a:rPr lang="fr-FR" sz="2000" dirty="0">
                <a:latin typeface="Aptos" panose="020B0004020202020204" pitchFamily="34" charset="0"/>
              </a:rPr>
              <a:t>Rappels de renouvellement</a:t>
            </a:r>
          </a:p>
        </p:txBody>
      </p:sp>
    </p:spTree>
    <p:extLst>
      <p:ext uri="{BB962C8B-B14F-4D97-AF65-F5344CB8AC3E}">
        <p14:creationId xmlns:p14="http://schemas.microsoft.com/office/powerpoint/2010/main" val="3280944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Communication digitale et réseaux sociaux pour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WhatsApp business pour l’officine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170099"/>
          </a:xfrm>
          <a:prstGeom prst="rect">
            <a:avLst/>
          </a:prstGeom>
          <a:noFill/>
        </p:spPr>
        <p:txBody>
          <a:bodyPr wrap="square">
            <a:spAutoFit/>
          </a:bodyPr>
          <a:lstStyle/>
          <a:p>
            <a:r>
              <a:rPr lang="fr-FR" sz="2000" b="1" dirty="0">
                <a:latin typeface="Aptos" panose="020B0004020202020204" pitchFamily="34" charset="0"/>
              </a:rPr>
              <a:t>Bonnes pratiques</a:t>
            </a:r>
          </a:p>
          <a:p>
            <a:pPr marL="800100" lvl="1" indent="-342900">
              <a:buFont typeface="Arial" panose="020B0604020202020204" pitchFamily="34" charset="0"/>
              <a:buChar char="•"/>
            </a:pPr>
            <a:r>
              <a:rPr lang="fr-FR" sz="2000" dirty="0">
                <a:latin typeface="Aptos" panose="020B0004020202020204" pitchFamily="34" charset="0"/>
              </a:rPr>
              <a:t>Numéro professionnel dédié</a:t>
            </a:r>
          </a:p>
          <a:p>
            <a:pPr marL="800100" lvl="1" indent="-342900">
              <a:buFont typeface="Arial" panose="020B0604020202020204" pitchFamily="34" charset="0"/>
              <a:buChar char="•"/>
            </a:pPr>
            <a:r>
              <a:rPr lang="fr-FR" sz="2000" dirty="0">
                <a:latin typeface="Aptos" panose="020B0004020202020204" pitchFamily="34" charset="0"/>
              </a:rPr>
              <a:t>Messages automatiques</a:t>
            </a:r>
          </a:p>
          <a:p>
            <a:pPr marL="800100" lvl="1" indent="-342900">
              <a:buFont typeface="Arial" panose="020B0604020202020204" pitchFamily="34" charset="0"/>
              <a:buChar char="•"/>
            </a:pPr>
            <a:r>
              <a:rPr lang="fr-FR" sz="2000" dirty="0">
                <a:latin typeface="Aptos" panose="020B0004020202020204" pitchFamily="34" charset="0"/>
              </a:rPr>
              <a:t>Horaires définis</a:t>
            </a:r>
          </a:p>
          <a:p>
            <a:pPr marL="800100" lvl="1" indent="-342900">
              <a:buFont typeface="Arial" panose="020B0604020202020204" pitchFamily="34" charset="0"/>
              <a:buChar char="•"/>
            </a:pPr>
            <a:r>
              <a:rPr lang="fr-FR" sz="2000" dirty="0">
                <a:latin typeface="Aptos" panose="020B0004020202020204" pitchFamily="34" charset="0"/>
              </a:rPr>
              <a:t>Respect de la confidentialité</a:t>
            </a:r>
          </a:p>
          <a:p>
            <a:endParaRPr lang="fr-FR" sz="2000" dirty="0">
              <a:latin typeface="Aptos" panose="020B0004020202020204" pitchFamily="34" charset="0"/>
            </a:endParaRPr>
          </a:p>
          <a:p>
            <a:r>
              <a:rPr lang="fr-FR" sz="2000" b="1" dirty="0">
                <a:latin typeface="Aptos" panose="020B0004020202020204" pitchFamily="34" charset="0"/>
              </a:rPr>
              <a:t>À éviter</a:t>
            </a:r>
          </a:p>
          <a:p>
            <a:pPr marL="800100" lvl="1" indent="-342900">
              <a:buFont typeface="Arial" panose="020B0604020202020204" pitchFamily="34" charset="0"/>
              <a:buChar char="•"/>
            </a:pPr>
            <a:r>
              <a:rPr lang="fr-FR" sz="2000" dirty="0">
                <a:latin typeface="Aptos" panose="020B0004020202020204" pitchFamily="34" charset="0"/>
              </a:rPr>
              <a:t>Diagnostic médical à distance non approprié</a:t>
            </a:r>
          </a:p>
          <a:p>
            <a:pPr marL="800100" lvl="1" indent="-342900">
              <a:buFont typeface="Arial" panose="020B0604020202020204" pitchFamily="34" charset="0"/>
              <a:buChar char="•"/>
            </a:pPr>
            <a:r>
              <a:rPr lang="fr-FR" sz="2000" dirty="0">
                <a:latin typeface="Aptos" panose="020B0004020202020204" pitchFamily="34" charset="0"/>
              </a:rPr>
              <a:t>Partage de données sensibles</a:t>
            </a:r>
          </a:p>
          <a:p>
            <a:pPr marL="800100" lvl="1" indent="-342900">
              <a:buFont typeface="Arial" panose="020B0604020202020204" pitchFamily="34" charset="0"/>
              <a:buChar char="•"/>
            </a:pPr>
            <a:r>
              <a:rPr lang="fr-FR" sz="2000" dirty="0">
                <a:latin typeface="Aptos" panose="020B0004020202020204" pitchFamily="34" charset="0"/>
              </a:rPr>
              <a:t>Groupes non sécurisés</a:t>
            </a:r>
          </a:p>
        </p:txBody>
      </p:sp>
    </p:spTree>
    <p:extLst>
      <p:ext uri="{BB962C8B-B14F-4D97-AF65-F5344CB8AC3E}">
        <p14:creationId xmlns:p14="http://schemas.microsoft.com/office/powerpoint/2010/main" val="3074738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Communication digitale et réseaux sociaux pour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Facebook et Instagram</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r>
              <a:rPr lang="fr-FR" sz="2000" b="1" dirty="0">
                <a:latin typeface="Aptos" panose="020B0004020202020204" pitchFamily="34" charset="0"/>
              </a:rPr>
              <a:t>Objectifs recommandés</a:t>
            </a:r>
          </a:p>
          <a:p>
            <a:pPr marL="800100" lvl="1" indent="-342900">
              <a:buFont typeface="Arial" panose="020B0604020202020204" pitchFamily="34" charset="0"/>
              <a:buChar char="•"/>
            </a:pPr>
            <a:r>
              <a:rPr lang="fr-FR" sz="2000" dirty="0">
                <a:latin typeface="Aptos" panose="020B0004020202020204" pitchFamily="34" charset="0"/>
              </a:rPr>
              <a:t>Information sanitaire</a:t>
            </a:r>
          </a:p>
          <a:p>
            <a:pPr marL="800100" lvl="1" indent="-342900">
              <a:buFont typeface="Arial" panose="020B0604020202020204" pitchFamily="34" charset="0"/>
              <a:buChar char="•"/>
            </a:pPr>
            <a:r>
              <a:rPr lang="fr-FR" sz="2000" dirty="0">
                <a:latin typeface="Aptos" panose="020B0004020202020204" pitchFamily="34" charset="0"/>
              </a:rPr>
              <a:t>Visibilité</a:t>
            </a:r>
          </a:p>
          <a:p>
            <a:pPr marL="800100" lvl="1" indent="-342900">
              <a:buFont typeface="Arial" panose="020B0604020202020204" pitchFamily="34" charset="0"/>
              <a:buChar char="•"/>
            </a:pPr>
            <a:r>
              <a:rPr lang="fr-FR" sz="2000" dirty="0">
                <a:latin typeface="Aptos" panose="020B0004020202020204" pitchFamily="34" charset="0"/>
              </a:rPr>
              <a:t>Education thérapeutique</a:t>
            </a:r>
          </a:p>
          <a:p>
            <a:pPr marL="800100" lvl="1" indent="-342900">
              <a:buFont typeface="Arial" panose="020B0604020202020204" pitchFamily="34" charset="0"/>
              <a:buChar char="•"/>
            </a:pPr>
            <a:r>
              <a:rPr lang="fr-FR" sz="2000" dirty="0">
                <a:latin typeface="Aptos" panose="020B0004020202020204" pitchFamily="34" charset="0"/>
              </a:rPr>
              <a:t>Présentation des services</a:t>
            </a:r>
          </a:p>
          <a:p>
            <a:pPr marL="800100" lvl="1" indent="-342900">
              <a:buFont typeface="Arial" panose="020B0604020202020204" pitchFamily="34" charset="0"/>
              <a:buChar char="•"/>
            </a:pPr>
            <a:r>
              <a:rPr lang="fr-FR" sz="2000" dirty="0">
                <a:latin typeface="Aptos" panose="020B0004020202020204" pitchFamily="34" charset="0"/>
              </a:rPr>
              <a:t>Promotion de campagnes de santé</a:t>
            </a:r>
          </a:p>
          <a:p>
            <a:endParaRPr lang="fr-FR" sz="2000" dirty="0">
              <a:latin typeface="Aptos" panose="020B0004020202020204" pitchFamily="34" charset="0"/>
            </a:endParaRPr>
          </a:p>
          <a:p>
            <a:r>
              <a:rPr lang="fr-FR" sz="2000" b="1" dirty="0">
                <a:latin typeface="Aptos" panose="020B0004020202020204" pitchFamily="34" charset="0"/>
              </a:rPr>
              <a:t>Contenus recommandés</a:t>
            </a:r>
          </a:p>
          <a:p>
            <a:pPr marL="800100" lvl="1" indent="-342900">
              <a:buFont typeface="Arial" panose="020B0604020202020204" pitchFamily="34" charset="0"/>
              <a:buChar char="•"/>
            </a:pPr>
            <a:r>
              <a:rPr lang="fr-FR" sz="2000" dirty="0">
                <a:latin typeface="Aptos" panose="020B0004020202020204" pitchFamily="34" charset="0"/>
              </a:rPr>
              <a:t>Journées mondiales de santé</a:t>
            </a:r>
          </a:p>
          <a:p>
            <a:pPr marL="800100" lvl="1" indent="-342900">
              <a:buFont typeface="Arial" panose="020B0604020202020204" pitchFamily="34" charset="0"/>
              <a:buChar char="•"/>
            </a:pPr>
            <a:r>
              <a:rPr lang="fr-FR" sz="2000" dirty="0">
                <a:latin typeface="Aptos" panose="020B0004020202020204" pitchFamily="34" charset="0"/>
              </a:rPr>
              <a:t>Prévention</a:t>
            </a:r>
          </a:p>
          <a:p>
            <a:pPr marL="800100" lvl="1" indent="-342900">
              <a:buFont typeface="Arial" panose="020B0604020202020204" pitchFamily="34" charset="0"/>
              <a:buChar char="•"/>
            </a:pPr>
            <a:r>
              <a:rPr lang="fr-FR" sz="2000" dirty="0">
                <a:latin typeface="Aptos" panose="020B0004020202020204" pitchFamily="34" charset="0"/>
              </a:rPr>
              <a:t>Vaccination</a:t>
            </a:r>
          </a:p>
          <a:p>
            <a:pPr marL="800100" lvl="1" indent="-342900">
              <a:buFont typeface="Arial" panose="020B0604020202020204" pitchFamily="34" charset="0"/>
              <a:buChar char="•"/>
            </a:pPr>
            <a:r>
              <a:rPr lang="fr-FR" sz="2000" dirty="0">
                <a:latin typeface="Aptos" panose="020B0004020202020204" pitchFamily="34" charset="0"/>
              </a:rPr>
              <a:t>Diabète</a:t>
            </a:r>
          </a:p>
          <a:p>
            <a:pPr marL="800100" lvl="1" indent="-342900">
              <a:buFont typeface="Arial" panose="020B0604020202020204" pitchFamily="34" charset="0"/>
              <a:buChar char="•"/>
            </a:pPr>
            <a:r>
              <a:rPr lang="fr-FR" sz="2000" dirty="0">
                <a:latin typeface="Aptos" panose="020B0004020202020204" pitchFamily="34" charset="0"/>
              </a:rPr>
              <a:t>Hypertension</a:t>
            </a:r>
          </a:p>
          <a:p>
            <a:pPr marL="800100" lvl="1" indent="-342900">
              <a:buFont typeface="Arial" panose="020B0604020202020204" pitchFamily="34" charset="0"/>
              <a:buChar char="•"/>
            </a:pPr>
            <a:r>
              <a:rPr lang="fr-FR" sz="2000" dirty="0">
                <a:latin typeface="Aptos" panose="020B0004020202020204" pitchFamily="34" charset="0"/>
              </a:rPr>
              <a:t>Paludisme</a:t>
            </a:r>
          </a:p>
        </p:txBody>
      </p:sp>
    </p:spTree>
    <p:extLst>
      <p:ext uri="{BB962C8B-B14F-4D97-AF65-F5344CB8AC3E}">
        <p14:creationId xmlns:p14="http://schemas.microsoft.com/office/powerpoint/2010/main" val="4245627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Communication digitale et réseaux sociaux pour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Contenus à risque ou interdits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093428"/>
          </a:xfrm>
          <a:prstGeom prst="rect">
            <a:avLst/>
          </a:prstGeom>
          <a:noFill/>
        </p:spPr>
        <p:txBody>
          <a:bodyPr wrap="square">
            <a:spAutoFit/>
          </a:bodyPr>
          <a:lstStyle/>
          <a:p>
            <a:r>
              <a:rPr lang="fr-FR" sz="2000" b="1" dirty="0">
                <a:latin typeface="Aptos" panose="020B0004020202020204" pitchFamily="34" charset="0"/>
              </a:rPr>
              <a:t>Exemples problématiques</a:t>
            </a:r>
          </a:p>
          <a:p>
            <a:pPr marL="800100" lvl="1" indent="-342900">
              <a:buFont typeface="Arial" panose="020B0604020202020204" pitchFamily="34" charset="0"/>
              <a:buChar char="•"/>
            </a:pPr>
            <a:r>
              <a:rPr lang="fr-FR" sz="2000" dirty="0">
                <a:latin typeface="Aptos" panose="020B0004020202020204" pitchFamily="34" charset="0"/>
              </a:rPr>
              <a:t>« Guérison garantie »</a:t>
            </a:r>
          </a:p>
          <a:p>
            <a:pPr marL="800100" lvl="1" indent="-342900">
              <a:buFont typeface="Arial" panose="020B0604020202020204" pitchFamily="34" charset="0"/>
              <a:buChar char="•"/>
            </a:pPr>
            <a:r>
              <a:rPr lang="fr-FR" sz="2000" dirty="0">
                <a:latin typeface="Aptos" panose="020B0004020202020204" pitchFamily="34" charset="0"/>
              </a:rPr>
              <a:t>« Le meilleur traitement du VIH »</a:t>
            </a:r>
          </a:p>
          <a:p>
            <a:pPr marL="800100" lvl="1" indent="-342900">
              <a:buFont typeface="Arial" panose="020B0604020202020204" pitchFamily="34" charset="0"/>
              <a:buChar char="•"/>
            </a:pPr>
            <a:r>
              <a:rPr lang="fr-FR" sz="2000" dirty="0">
                <a:latin typeface="Aptos" panose="020B0004020202020204" pitchFamily="34" charset="0"/>
              </a:rPr>
              <a:t>« Médicament miracle »</a:t>
            </a:r>
          </a:p>
          <a:p>
            <a:pPr marL="800100" lvl="1" indent="-342900">
              <a:buFont typeface="Arial" panose="020B0604020202020204" pitchFamily="34" charset="0"/>
              <a:buChar char="•"/>
            </a:pPr>
            <a:r>
              <a:rPr lang="fr-FR" sz="2000" dirty="0">
                <a:latin typeface="Aptos" panose="020B0004020202020204" pitchFamily="34" charset="0"/>
              </a:rPr>
              <a:t>Comparaison agressive avec une autre officine</a:t>
            </a:r>
          </a:p>
          <a:p>
            <a:pPr marL="800100" lvl="1" indent="-342900">
              <a:buFont typeface="Arial" panose="020B0604020202020204" pitchFamily="34" charset="0"/>
              <a:buChar char="•"/>
            </a:pPr>
            <a:r>
              <a:rPr lang="fr-FR" sz="2000" dirty="0">
                <a:latin typeface="Aptos" panose="020B0004020202020204" pitchFamily="34" charset="0"/>
              </a:rPr>
              <a:t>Témoignages trompeurs</a:t>
            </a:r>
          </a:p>
          <a:p>
            <a:pPr marL="800100" lvl="1" indent="-342900">
              <a:buFont typeface="Arial" panose="020B0604020202020204" pitchFamily="34" charset="0"/>
              <a:buChar char="•"/>
            </a:pPr>
            <a:r>
              <a:rPr lang="fr-FR" sz="2000" dirty="0">
                <a:latin typeface="Aptos" panose="020B0004020202020204" pitchFamily="34" charset="0"/>
              </a:rPr>
              <a:t>Publicité déguisée</a:t>
            </a:r>
          </a:p>
          <a:p>
            <a:endParaRPr lang="fr-FR" sz="2000" dirty="0">
              <a:latin typeface="Aptos" panose="020B0004020202020204" pitchFamily="34" charset="0"/>
            </a:endParaRPr>
          </a:p>
          <a:p>
            <a:r>
              <a:rPr lang="fr-FR" sz="2000" b="1" dirty="0">
                <a:latin typeface="Aptos" panose="020B0004020202020204" pitchFamily="34" charset="0"/>
              </a:rPr>
              <a:t>Pourquoi ?</a:t>
            </a:r>
          </a:p>
          <a:p>
            <a:r>
              <a:rPr lang="fr-FR" sz="2000" dirty="0">
                <a:latin typeface="Aptos" panose="020B0004020202020204" pitchFamily="34" charset="0"/>
              </a:rPr>
              <a:t>Parce qu'ils peuvent :</a:t>
            </a:r>
          </a:p>
          <a:p>
            <a:pPr marL="800100" lvl="1" indent="-342900">
              <a:buFont typeface="Arial" panose="020B0604020202020204" pitchFamily="34" charset="0"/>
              <a:buChar char="•"/>
            </a:pPr>
            <a:r>
              <a:rPr lang="fr-FR" sz="2000" dirty="0">
                <a:latin typeface="Aptos" panose="020B0004020202020204" pitchFamily="34" charset="0"/>
              </a:rPr>
              <a:t>Induire le public en erreur ;</a:t>
            </a:r>
          </a:p>
          <a:p>
            <a:pPr marL="800100" lvl="1" indent="-342900">
              <a:buFont typeface="Arial" panose="020B0604020202020204" pitchFamily="34" charset="0"/>
              <a:buChar char="•"/>
            </a:pPr>
            <a:r>
              <a:rPr lang="fr-FR" sz="2000" dirty="0">
                <a:latin typeface="Aptos" panose="020B0004020202020204" pitchFamily="34" charset="0"/>
              </a:rPr>
              <a:t>Créer un risque sanitaire ;</a:t>
            </a:r>
          </a:p>
          <a:p>
            <a:pPr marL="800100" lvl="1" indent="-342900">
              <a:buFont typeface="Arial" panose="020B0604020202020204" pitchFamily="34" charset="0"/>
              <a:buChar char="•"/>
            </a:pPr>
            <a:r>
              <a:rPr lang="fr-FR" sz="2000" dirty="0">
                <a:latin typeface="Aptos" panose="020B0004020202020204" pitchFamily="34" charset="0"/>
              </a:rPr>
              <a:t>Engager la responsabilité du pharmacien.</a:t>
            </a:r>
          </a:p>
        </p:txBody>
      </p:sp>
    </p:spTree>
    <p:extLst>
      <p:ext uri="{BB962C8B-B14F-4D97-AF65-F5344CB8AC3E}">
        <p14:creationId xmlns:p14="http://schemas.microsoft.com/office/powerpoint/2010/main" val="993903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Communication digitale et réseaux sociaux pour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Création d’une stratégie de contenu</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1323439"/>
          </a:xfrm>
          <a:prstGeom prst="rect">
            <a:avLst/>
          </a:prstGeom>
          <a:noFill/>
        </p:spPr>
        <p:txBody>
          <a:bodyPr wrap="square">
            <a:spAutoFit/>
          </a:bodyPr>
          <a:lstStyle/>
          <a:p>
            <a:r>
              <a:rPr lang="fr-FR" sz="2000" b="1" dirty="0">
                <a:latin typeface="Aptos" panose="020B0004020202020204" pitchFamily="34" charset="0"/>
              </a:rPr>
              <a:t>Règle 70-20-10</a:t>
            </a:r>
          </a:p>
          <a:p>
            <a:pPr marL="800100" lvl="1" indent="-342900">
              <a:buFont typeface="Arial" panose="020B0604020202020204" pitchFamily="34" charset="0"/>
              <a:buChar char="•"/>
            </a:pPr>
            <a:r>
              <a:rPr lang="fr-FR" sz="2000" dirty="0">
                <a:latin typeface="Aptos" panose="020B0004020202020204" pitchFamily="34" charset="0"/>
              </a:rPr>
              <a:t>70 % Education sanitaire</a:t>
            </a:r>
          </a:p>
          <a:p>
            <a:pPr marL="800100" lvl="1" indent="-342900">
              <a:buFont typeface="Arial" panose="020B0604020202020204" pitchFamily="34" charset="0"/>
              <a:buChar char="•"/>
            </a:pPr>
            <a:r>
              <a:rPr lang="fr-FR" sz="2000" dirty="0">
                <a:latin typeface="Aptos" panose="020B0004020202020204" pitchFamily="34" charset="0"/>
              </a:rPr>
              <a:t>20 % Vie de l'officine</a:t>
            </a:r>
          </a:p>
          <a:p>
            <a:pPr marL="800100" lvl="1" indent="-342900">
              <a:buFont typeface="Arial" panose="020B0604020202020204" pitchFamily="34" charset="0"/>
              <a:buChar char="•"/>
            </a:pPr>
            <a:r>
              <a:rPr lang="fr-FR" sz="2000" dirty="0">
                <a:latin typeface="Aptos" panose="020B0004020202020204" pitchFamily="34" charset="0"/>
              </a:rPr>
              <a:t>10 % Services proposés</a:t>
            </a:r>
          </a:p>
        </p:txBody>
      </p:sp>
    </p:spTree>
    <p:extLst>
      <p:ext uri="{BB962C8B-B14F-4D97-AF65-F5344CB8AC3E}">
        <p14:creationId xmlns:p14="http://schemas.microsoft.com/office/powerpoint/2010/main" val="4193470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Communication digitale et réseaux sociaux pour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Gestion des avis en ligne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401205"/>
          </a:xfrm>
          <a:prstGeom prst="rect">
            <a:avLst/>
          </a:prstGeom>
          <a:noFill/>
        </p:spPr>
        <p:txBody>
          <a:bodyPr wrap="square">
            <a:spAutoFit/>
          </a:bodyPr>
          <a:lstStyle/>
          <a:p>
            <a:r>
              <a:rPr lang="fr-FR" sz="2000" b="1" dirty="0">
                <a:latin typeface="Aptos" panose="020B0004020202020204" pitchFamily="34" charset="0"/>
              </a:rPr>
              <a:t>Pourquoi les avis sont importants ? </a:t>
            </a:r>
            <a:r>
              <a:rPr lang="fr-FR" sz="2000" dirty="0">
                <a:latin typeface="Aptos" panose="020B0004020202020204" pitchFamily="34" charset="0"/>
              </a:rPr>
              <a:t>: Ils influencent fortement la confiance.</a:t>
            </a:r>
          </a:p>
          <a:p>
            <a:endParaRPr lang="fr-FR" sz="2000" dirty="0">
              <a:latin typeface="Aptos" panose="020B0004020202020204" pitchFamily="34" charset="0"/>
            </a:endParaRPr>
          </a:p>
          <a:p>
            <a:r>
              <a:rPr lang="fr-FR" sz="2000" b="1" dirty="0">
                <a:latin typeface="Aptos" panose="020B0004020202020204" pitchFamily="34" charset="0"/>
              </a:rPr>
              <a:t>Réponse aux avis positifs : </a:t>
            </a:r>
          </a:p>
          <a:p>
            <a:pPr marL="800100" lvl="1" indent="-342900">
              <a:buFont typeface="Arial" panose="020B0604020202020204" pitchFamily="34" charset="0"/>
              <a:buChar char="•"/>
            </a:pPr>
            <a:r>
              <a:rPr lang="fr-FR" sz="2000" dirty="0">
                <a:latin typeface="Aptos" panose="020B0004020202020204" pitchFamily="34" charset="0"/>
              </a:rPr>
              <a:t>Remercier.</a:t>
            </a:r>
          </a:p>
          <a:p>
            <a:r>
              <a:rPr lang="fr-FR" sz="2000" b="1" dirty="0">
                <a:latin typeface="Aptos" panose="020B0004020202020204" pitchFamily="34" charset="0"/>
              </a:rPr>
              <a:t>Réponse aux avis négatifs : </a:t>
            </a:r>
          </a:p>
          <a:p>
            <a:pPr marL="800100" lvl="1" indent="-342900">
              <a:buFont typeface="Arial" panose="020B0604020202020204" pitchFamily="34" charset="0"/>
              <a:buChar char="•"/>
            </a:pPr>
            <a:r>
              <a:rPr lang="fr-FR" sz="2000" dirty="0">
                <a:latin typeface="Aptos" panose="020B0004020202020204" pitchFamily="34" charset="0"/>
              </a:rPr>
              <a:t>Écouter</a:t>
            </a:r>
          </a:p>
          <a:p>
            <a:pPr marL="800100" lvl="1" indent="-342900">
              <a:buFont typeface="Arial" panose="020B0604020202020204" pitchFamily="34" charset="0"/>
              <a:buChar char="•"/>
            </a:pPr>
            <a:r>
              <a:rPr lang="fr-FR" sz="2000" dirty="0">
                <a:latin typeface="Aptos" panose="020B0004020202020204" pitchFamily="34" charset="0"/>
              </a:rPr>
              <a:t>Rester professionnel</a:t>
            </a:r>
          </a:p>
          <a:p>
            <a:pPr marL="800100" lvl="1" indent="-342900">
              <a:buFont typeface="Arial" panose="020B0604020202020204" pitchFamily="34" charset="0"/>
              <a:buChar char="•"/>
            </a:pPr>
            <a:r>
              <a:rPr lang="fr-FR" sz="2000" dirty="0">
                <a:latin typeface="Aptos" panose="020B0004020202020204" pitchFamily="34" charset="0"/>
              </a:rPr>
              <a:t>Inviter à poursuivre la discussion en privé. </a:t>
            </a:r>
          </a:p>
          <a:p>
            <a:endParaRPr lang="fr-FR" sz="2000" dirty="0">
              <a:latin typeface="Aptos" panose="020B0004020202020204" pitchFamily="34" charset="0"/>
            </a:endParaRPr>
          </a:p>
          <a:p>
            <a:r>
              <a:rPr lang="fr-FR" sz="2000" b="1" dirty="0">
                <a:latin typeface="Aptos" panose="020B0004020202020204" pitchFamily="34" charset="0"/>
              </a:rPr>
              <a:t>Exemple</a:t>
            </a:r>
          </a:p>
          <a:p>
            <a:pPr marL="800100" lvl="1" indent="-342900">
              <a:buFont typeface="Arial" panose="020B0604020202020204" pitchFamily="34" charset="0"/>
              <a:buChar char="•"/>
            </a:pPr>
            <a:r>
              <a:rPr lang="fr-FR" sz="2000" b="1" dirty="0">
                <a:latin typeface="Aptos" panose="020B0004020202020204" pitchFamily="34" charset="0"/>
              </a:rPr>
              <a:t>Avis</a:t>
            </a:r>
            <a:r>
              <a:rPr lang="fr-FR" sz="2000" dirty="0">
                <a:latin typeface="Aptos" panose="020B0004020202020204" pitchFamily="34" charset="0"/>
              </a:rPr>
              <a:t> :« Personnel désagréable. »</a:t>
            </a:r>
          </a:p>
          <a:p>
            <a:pPr marL="800100" lvl="1" indent="-342900">
              <a:buFont typeface="Arial" panose="020B0604020202020204" pitchFamily="34" charset="0"/>
              <a:buChar char="•"/>
            </a:pPr>
            <a:r>
              <a:rPr lang="fr-FR" sz="2000" b="1" dirty="0">
                <a:latin typeface="Aptos" panose="020B0004020202020204" pitchFamily="34" charset="0"/>
              </a:rPr>
              <a:t>Réponse</a:t>
            </a:r>
            <a:r>
              <a:rPr lang="fr-FR" sz="2000" dirty="0">
                <a:latin typeface="Aptos" panose="020B0004020202020204" pitchFamily="34" charset="0"/>
              </a:rPr>
              <a:t> :« Merci pour votre retour. Nous sommes désolés que votre expérience n'ait pas répondu à vos attentes. Nous souhaiterions échanger avec vous afin de mieux comprendre la situation. »</a:t>
            </a:r>
          </a:p>
        </p:txBody>
      </p:sp>
    </p:spTree>
    <p:extLst>
      <p:ext uri="{BB962C8B-B14F-4D97-AF65-F5344CB8AC3E}">
        <p14:creationId xmlns:p14="http://schemas.microsoft.com/office/powerpoint/2010/main" val="2469086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Communication digitale et réseaux sociaux pour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Protection des données et confidentialité</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785652"/>
          </a:xfrm>
          <a:prstGeom prst="rect">
            <a:avLst/>
          </a:prstGeom>
          <a:noFill/>
        </p:spPr>
        <p:txBody>
          <a:bodyPr wrap="square">
            <a:spAutoFit/>
          </a:bodyPr>
          <a:lstStyle/>
          <a:p>
            <a:r>
              <a:rPr lang="fr-FR" sz="2000" b="1" dirty="0">
                <a:latin typeface="Aptos" panose="020B0004020202020204" pitchFamily="34" charset="0"/>
              </a:rPr>
              <a:t>Principe</a:t>
            </a:r>
            <a:r>
              <a:rPr lang="fr-FR" sz="2000" dirty="0">
                <a:latin typeface="Aptos" panose="020B0004020202020204" pitchFamily="34" charset="0"/>
              </a:rPr>
              <a:t> : Le digital ne supprime pas le secret professionnel.</a:t>
            </a:r>
          </a:p>
          <a:p>
            <a:endParaRPr lang="fr-FR" sz="2000" dirty="0">
              <a:latin typeface="Aptos" panose="020B0004020202020204" pitchFamily="34" charset="0"/>
            </a:endParaRPr>
          </a:p>
          <a:p>
            <a:r>
              <a:rPr lang="fr-FR" sz="2000" b="1" dirty="0">
                <a:latin typeface="Aptos" panose="020B0004020202020204" pitchFamily="34" charset="0"/>
              </a:rPr>
              <a:t>Données sensibles</a:t>
            </a:r>
          </a:p>
          <a:p>
            <a:pPr marL="800100" lvl="1" indent="-342900">
              <a:buFont typeface="Arial" panose="020B0604020202020204" pitchFamily="34" charset="0"/>
              <a:buChar char="•"/>
            </a:pPr>
            <a:r>
              <a:rPr lang="fr-FR" sz="2000" dirty="0">
                <a:latin typeface="Aptos" panose="020B0004020202020204" pitchFamily="34" charset="0"/>
              </a:rPr>
              <a:t>Ordonnances</a:t>
            </a:r>
          </a:p>
          <a:p>
            <a:pPr marL="800100" lvl="1" indent="-342900">
              <a:buFont typeface="Arial" panose="020B0604020202020204" pitchFamily="34" charset="0"/>
              <a:buChar char="•"/>
            </a:pPr>
            <a:r>
              <a:rPr lang="fr-FR" sz="2000" dirty="0">
                <a:latin typeface="Aptos" panose="020B0004020202020204" pitchFamily="34" charset="0"/>
              </a:rPr>
              <a:t>Résultats médicaux</a:t>
            </a:r>
          </a:p>
          <a:p>
            <a:pPr marL="800100" lvl="1" indent="-342900">
              <a:buFont typeface="Arial" panose="020B0604020202020204" pitchFamily="34" charset="0"/>
              <a:buChar char="•"/>
            </a:pPr>
            <a:r>
              <a:rPr lang="fr-FR" sz="2000" dirty="0">
                <a:latin typeface="Aptos" panose="020B0004020202020204" pitchFamily="34" charset="0"/>
              </a:rPr>
              <a:t>Pathologies</a:t>
            </a:r>
          </a:p>
          <a:p>
            <a:pPr marL="800100" lvl="1" indent="-342900">
              <a:buFont typeface="Arial" panose="020B0604020202020204" pitchFamily="34" charset="0"/>
              <a:buChar char="•"/>
            </a:pPr>
            <a:r>
              <a:rPr lang="fr-FR" sz="2000" dirty="0">
                <a:latin typeface="Aptos" panose="020B0004020202020204" pitchFamily="34" charset="0"/>
              </a:rPr>
              <a:t>Coordonnées</a:t>
            </a:r>
          </a:p>
          <a:p>
            <a:endParaRPr lang="fr-FR" sz="2000" dirty="0">
              <a:latin typeface="Aptos" panose="020B0004020202020204" pitchFamily="34" charset="0"/>
            </a:endParaRPr>
          </a:p>
          <a:p>
            <a:r>
              <a:rPr lang="fr-FR" sz="2000" b="1" dirty="0">
                <a:latin typeface="Aptos" panose="020B0004020202020204" pitchFamily="34" charset="0"/>
              </a:rPr>
              <a:t>Interdictions</a:t>
            </a:r>
          </a:p>
          <a:p>
            <a:pPr marL="800100" lvl="1" indent="-342900">
              <a:buFont typeface="Arial" panose="020B0604020202020204" pitchFamily="34" charset="0"/>
              <a:buChar char="•"/>
            </a:pPr>
            <a:r>
              <a:rPr lang="fr-FR" sz="2000" dirty="0">
                <a:latin typeface="Aptos" panose="020B0004020202020204" pitchFamily="34" charset="0"/>
              </a:rPr>
              <a:t>Publier des informations identifiables sans consentement.</a:t>
            </a:r>
          </a:p>
          <a:p>
            <a:pPr marL="800100" lvl="1" indent="-342900">
              <a:buFont typeface="Arial" panose="020B0604020202020204" pitchFamily="34" charset="0"/>
              <a:buChar char="•"/>
            </a:pPr>
            <a:r>
              <a:rPr lang="fr-FR" sz="2000" dirty="0">
                <a:latin typeface="Aptos" panose="020B0004020202020204" pitchFamily="34" charset="0"/>
              </a:rPr>
              <a:t>Partager des dossiers patients.</a:t>
            </a:r>
          </a:p>
          <a:p>
            <a:pPr marL="800100" lvl="1" indent="-342900">
              <a:buFont typeface="Arial" panose="020B0604020202020204" pitchFamily="34" charset="0"/>
              <a:buChar char="•"/>
            </a:pPr>
            <a:r>
              <a:rPr lang="fr-FR" sz="2000" dirty="0">
                <a:latin typeface="Aptos" panose="020B0004020202020204" pitchFamily="34" charset="0"/>
              </a:rPr>
              <a:t>Diffuser des informations médicales confidentielles.</a:t>
            </a:r>
          </a:p>
        </p:txBody>
      </p:sp>
    </p:spTree>
    <p:extLst>
      <p:ext uri="{BB962C8B-B14F-4D97-AF65-F5344CB8AC3E}">
        <p14:creationId xmlns:p14="http://schemas.microsoft.com/office/powerpoint/2010/main" val="3647577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Communication digitale et réseaux sociaux pour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Indicateurs de performance digitale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246769"/>
          </a:xfrm>
          <a:prstGeom prst="rect">
            <a:avLst/>
          </a:prstGeom>
          <a:noFill/>
        </p:spPr>
        <p:txBody>
          <a:bodyPr wrap="square">
            <a:spAutoFit/>
          </a:bodyPr>
          <a:lstStyle/>
          <a:p>
            <a:r>
              <a:rPr lang="fr-FR" sz="2000" b="1" dirty="0">
                <a:latin typeface="Aptos" panose="020B0004020202020204" pitchFamily="34" charset="0"/>
              </a:rPr>
              <a:t>KPI recommandés</a:t>
            </a:r>
          </a:p>
          <a:p>
            <a:pPr marL="800100" lvl="1" indent="-342900">
              <a:buFont typeface="Arial" panose="020B0604020202020204" pitchFamily="34" charset="0"/>
              <a:buChar char="•"/>
            </a:pPr>
            <a:r>
              <a:rPr lang="fr-FR" sz="2000" dirty="0">
                <a:latin typeface="Aptos" panose="020B0004020202020204" pitchFamily="34" charset="0"/>
              </a:rPr>
              <a:t>Nombre d’avis</a:t>
            </a:r>
          </a:p>
          <a:p>
            <a:pPr marL="800100" lvl="1" indent="-342900">
              <a:buFont typeface="Arial" panose="020B0604020202020204" pitchFamily="34" charset="0"/>
              <a:buChar char="•"/>
            </a:pPr>
            <a:r>
              <a:rPr lang="fr-FR" sz="2000" dirty="0">
                <a:latin typeface="Aptos" panose="020B0004020202020204" pitchFamily="34" charset="0"/>
              </a:rPr>
              <a:t>Note moyenne</a:t>
            </a:r>
          </a:p>
          <a:p>
            <a:pPr marL="800100" lvl="1" indent="-342900">
              <a:buFont typeface="Arial" panose="020B0604020202020204" pitchFamily="34" charset="0"/>
              <a:buChar char="•"/>
            </a:pPr>
            <a:r>
              <a:rPr lang="fr-FR" sz="2000" dirty="0">
                <a:latin typeface="Aptos" panose="020B0004020202020204" pitchFamily="34" charset="0"/>
              </a:rPr>
              <a:t>Taux de réponse</a:t>
            </a:r>
          </a:p>
          <a:p>
            <a:pPr marL="800100" lvl="1" indent="-342900">
              <a:buFont typeface="Arial" panose="020B0604020202020204" pitchFamily="34" charset="0"/>
              <a:buChar char="•"/>
            </a:pPr>
            <a:r>
              <a:rPr lang="fr-FR" sz="2000" dirty="0">
                <a:latin typeface="Aptos" panose="020B0004020202020204" pitchFamily="34" charset="0"/>
              </a:rPr>
              <a:t>Nombre de contacts WhatsApp</a:t>
            </a:r>
          </a:p>
          <a:p>
            <a:pPr marL="800100" lvl="1" indent="-342900">
              <a:buFont typeface="Arial" panose="020B0604020202020204" pitchFamily="34" charset="0"/>
              <a:buChar char="•"/>
            </a:pPr>
            <a:r>
              <a:rPr lang="fr-FR" sz="2000" dirty="0">
                <a:latin typeface="Aptos" panose="020B0004020202020204" pitchFamily="34" charset="0"/>
              </a:rPr>
              <a:t>Nombre de demandes reçues</a:t>
            </a:r>
          </a:p>
          <a:p>
            <a:pPr marL="800100" lvl="1" indent="-342900">
              <a:buFont typeface="Arial" panose="020B0604020202020204" pitchFamily="34" charset="0"/>
              <a:buChar char="•"/>
            </a:pPr>
            <a:r>
              <a:rPr lang="fr-FR" sz="2000" dirty="0">
                <a:latin typeface="Aptos" panose="020B0004020202020204" pitchFamily="34" charset="0"/>
              </a:rPr>
              <a:t>Nombre de rendez-vous générés</a:t>
            </a:r>
          </a:p>
        </p:txBody>
      </p:sp>
      <p:graphicFrame>
        <p:nvGraphicFramePr>
          <p:cNvPr id="2" name="Tableau 1">
            <a:extLst>
              <a:ext uri="{FF2B5EF4-FFF2-40B4-BE49-F238E27FC236}">
                <a16:creationId xmlns:a16="http://schemas.microsoft.com/office/drawing/2014/main" id="{230FA592-B475-46CA-9E9E-46DB0AD19341}"/>
              </a:ext>
            </a:extLst>
          </p:cNvPr>
          <p:cNvGraphicFramePr>
            <a:graphicFrameLocks noGrp="1"/>
          </p:cNvGraphicFramePr>
          <p:nvPr>
            <p:extLst>
              <p:ext uri="{D42A27DB-BD31-4B8C-83A1-F6EECF244321}">
                <p14:modId xmlns:p14="http://schemas.microsoft.com/office/powerpoint/2010/main" val="1140804672"/>
              </p:ext>
            </p:extLst>
          </p:nvPr>
        </p:nvGraphicFramePr>
        <p:xfrm>
          <a:off x="6303342" y="4255593"/>
          <a:ext cx="5481918" cy="2194560"/>
        </p:xfrm>
        <a:graphic>
          <a:graphicData uri="http://schemas.openxmlformats.org/drawingml/2006/table">
            <a:tbl>
              <a:tblPr/>
              <a:tblGrid>
                <a:gridCol w="3381936">
                  <a:extLst>
                    <a:ext uri="{9D8B030D-6E8A-4147-A177-3AD203B41FA5}">
                      <a16:colId xmlns:a16="http://schemas.microsoft.com/office/drawing/2014/main" val="2940361585"/>
                    </a:ext>
                  </a:extLst>
                </a:gridCol>
                <a:gridCol w="2099982">
                  <a:extLst>
                    <a:ext uri="{9D8B030D-6E8A-4147-A177-3AD203B41FA5}">
                      <a16:colId xmlns:a16="http://schemas.microsoft.com/office/drawing/2014/main" val="2325758713"/>
                    </a:ext>
                  </a:extLst>
                </a:gridCol>
              </a:tblGrid>
              <a:tr h="0">
                <a:tc>
                  <a:txBody>
                    <a:bodyPr/>
                    <a:lstStyle/>
                    <a:p>
                      <a:r>
                        <a:rPr lang="fr-FR" b="1" dirty="0">
                          <a:solidFill>
                            <a:schemeClr val="bg1"/>
                          </a:solidFill>
                          <a:latin typeface="Aptos" panose="020B0004020202020204" pitchFamily="34" charset="0"/>
                        </a:rPr>
                        <a:t>KPI</a:t>
                      </a:r>
                    </a:p>
                  </a:txBody>
                  <a:tcPr anchor="ctr">
                    <a:lnL>
                      <a:noFill/>
                    </a:lnL>
                    <a:lnR>
                      <a:noFill/>
                    </a:lnR>
                    <a:lnT>
                      <a:noFill/>
                    </a:lnT>
                    <a:lnB>
                      <a:noFill/>
                    </a:lnB>
                    <a:solidFill>
                      <a:schemeClr val="accent2"/>
                    </a:solidFill>
                  </a:tcPr>
                </a:tc>
                <a:tc>
                  <a:txBody>
                    <a:bodyPr/>
                    <a:lstStyle/>
                    <a:p>
                      <a:r>
                        <a:rPr lang="fr-FR" b="1" dirty="0">
                          <a:solidFill>
                            <a:schemeClr val="bg1"/>
                          </a:solidFill>
                          <a:latin typeface="Aptos" panose="020B0004020202020204" pitchFamily="34" charset="0"/>
                        </a:rPr>
                        <a:t>Objectif</a:t>
                      </a:r>
                    </a:p>
                  </a:txBody>
                  <a:tcPr anchor="ctr">
                    <a:lnL>
                      <a:noFill/>
                    </a:lnL>
                    <a:lnR>
                      <a:noFill/>
                    </a:lnR>
                    <a:lnT>
                      <a:noFill/>
                    </a:lnT>
                    <a:lnB>
                      <a:noFill/>
                    </a:lnB>
                    <a:solidFill>
                      <a:schemeClr val="accent2"/>
                    </a:solidFill>
                  </a:tcPr>
                </a:tc>
                <a:extLst>
                  <a:ext uri="{0D108BD9-81ED-4DB2-BD59-A6C34878D82A}">
                    <a16:rowId xmlns:a16="http://schemas.microsoft.com/office/drawing/2014/main" val="3441343940"/>
                  </a:ext>
                </a:extLst>
              </a:tr>
              <a:tr h="0">
                <a:tc>
                  <a:txBody>
                    <a:bodyPr/>
                    <a:lstStyle/>
                    <a:p>
                      <a:r>
                        <a:rPr lang="fr-FR">
                          <a:latin typeface="Aptos" panose="020B0004020202020204" pitchFamily="34" charset="0"/>
                        </a:rPr>
                        <a:t>Note Google</a:t>
                      </a:r>
                    </a:p>
                  </a:txBody>
                  <a:tcPr anchor="ctr">
                    <a:lnL>
                      <a:noFill/>
                    </a:lnL>
                    <a:lnR>
                      <a:noFill/>
                    </a:lnR>
                    <a:lnT>
                      <a:noFill/>
                    </a:lnT>
                    <a:lnB>
                      <a:noFill/>
                    </a:lnB>
                  </a:tcPr>
                </a:tc>
                <a:tc>
                  <a:txBody>
                    <a:bodyPr/>
                    <a:lstStyle/>
                    <a:p>
                      <a:r>
                        <a:rPr lang="fr-FR">
                          <a:latin typeface="Aptos" panose="020B0004020202020204" pitchFamily="34" charset="0"/>
                        </a:rPr>
                        <a:t>&gt;4,5</a:t>
                      </a:r>
                    </a:p>
                  </a:txBody>
                  <a:tcPr anchor="ctr">
                    <a:lnL>
                      <a:noFill/>
                    </a:lnL>
                    <a:lnR>
                      <a:noFill/>
                    </a:lnR>
                    <a:lnT>
                      <a:noFill/>
                    </a:lnT>
                    <a:lnB>
                      <a:noFill/>
                    </a:lnB>
                  </a:tcPr>
                </a:tc>
                <a:extLst>
                  <a:ext uri="{0D108BD9-81ED-4DB2-BD59-A6C34878D82A}">
                    <a16:rowId xmlns:a16="http://schemas.microsoft.com/office/drawing/2014/main" val="1215104878"/>
                  </a:ext>
                </a:extLst>
              </a:tr>
              <a:tr h="0">
                <a:tc>
                  <a:txBody>
                    <a:bodyPr/>
                    <a:lstStyle/>
                    <a:p>
                      <a:r>
                        <a:rPr lang="fr-FR" dirty="0">
                          <a:latin typeface="Aptos" panose="020B0004020202020204" pitchFamily="34" charset="0"/>
                        </a:rPr>
                        <a:t>Réponse aux avis</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100 %</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168503495"/>
                  </a:ext>
                </a:extLst>
              </a:tr>
              <a:tr h="0">
                <a:tc>
                  <a:txBody>
                    <a:bodyPr/>
                    <a:lstStyle/>
                    <a:p>
                      <a:r>
                        <a:rPr lang="fr-FR">
                          <a:latin typeface="Aptos" panose="020B0004020202020204" pitchFamily="34" charset="0"/>
                        </a:rPr>
                        <a:t>Temps de réponse WhatsApp</a:t>
                      </a:r>
                    </a:p>
                  </a:txBody>
                  <a:tcPr anchor="ctr">
                    <a:lnL>
                      <a:noFill/>
                    </a:lnL>
                    <a:lnR>
                      <a:noFill/>
                    </a:lnR>
                    <a:lnT>
                      <a:noFill/>
                    </a:lnT>
                    <a:lnB>
                      <a:noFill/>
                    </a:lnB>
                  </a:tcPr>
                </a:tc>
                <a:tc>
                  <a:txBody>
                    <a:bodyPr/>
                    <a:lstStyle/>
                    <a:p>
                      <a:r>
                        <a:rPr lang="fr-FR">
                          <a:latin typeface="Aptos" panose="020B0004020202020204" pitchFamily="34" charset="0"/>
                        </a:rPr>
                        <a:t>&lt;2h</a:t>
                      </a:r>
                    </a:p>
                  </a:txBody>
                  <a:tcPr anchor="ctr">
                    <a:lnL>
                      <a:noFill/>
                    </a:lnL>
                    <a:lnR>
                      <a:noFill/>
                    </a:lnR>
                    <a:lnT>
                      <a:noFill/>
                    </a:lnT>
                    <a:lnB>
                      <a:noFill/>
                    </a:lnB>
                  </a:tcPr>
                </a:tc>
                <a:extLst>
                  <a:ext uri="{0D108BD9-81ED-4DB2-BD59-A6C34878D82A}">
                    <a16:rowId xmlns:a16="http://schemas.microsoft.com/office/drawing/2014/main" val="4033566781"/>
                  </a:ext>
                </a:extLst>
              </a:tr>
              <a:tr h="0">
                <a:tc>
                  <a:txBody>
                    <a:bodyPr/>
                    <a:lstStyle/>
                    <a:p>
                      <a:r>
                        <a:rPr lang="fr-FR" dirty="0">
                          <a:latin typeface="Aptos" panose="020B0004020202020204" pitchFamily="34" charset="0"/>
                        </a:rPr>
                        <a:t>Publications éducatives</a:t>
                      </a:r>
                    </a:p>
                  </a:txBody>
                  <a:tcPr anchor="ctr">
                    <a:lnL>
                      <a:noFill/>
                    </a:lnL>
                    <a:lnR>
                      <a:noFill/>
                    </a:lnR>
                    <a:lnT>
                      <a:noFill/>
                    </a:lnT>
                    <a:lnB>
                      <a:noFill/>
                    </a:lnB>
                    <a:solidFill>
                      <a:schemeClr val="bg2">
                        <a:lumMod val="90000"/>
                      </a:schemeClr>
                    </a:solidFill>
                  </a:tcPr>
                </a:tc>
                <a:tc>
                  <a:txBody>
                    <a:bodyPr/>
                    <a:lstStyle/>
                    <a:p>
                      <a:r>
                        <a:rPr lang="fr-FR" dirty="0">
                          <a:latin typeface="Aptos" panose="020B0004020202020204" pitchFamily="34" charset="0"/>
                        </a:rPr>
                        <a:t>≥4/mois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921854230"/>
                  </a:ext>
                </a:extLst>
              </a:tr>
              <a:tr h="0">
                <a:tc>
                  <a:txBody>
                    <a:bodyPr/>
                    <a:lstStyle/>
                    <a:p>
                      <a:r>
                        <a:rPr lang="fr-FR">
                          <a:latin typeface="Aptos" panose="020B0004020202020204" pitchFamily="34" charset="0"/>
                        </a:rPr>
                        <a:t>Satisfaction digitale</a:t>
                      </a:r>
                    </a:p>
                  </a:txBody>
                  <a:tcPr anchor="ctr">
                    <a:lnL>
                      <a:noFill/>
                    </a:lnL>
                    <a:lnR>
                      <a:noFill/>
                    </a:lnR>
                    <a:lnT>
                      <a:noFill/>
                    </a:lnT>
                    <a:lnB>
                      <a:noFill/>
                    </a:lnB>
                  </a:tcPr>
                </a:tc>
                <a:tc>
                  <a:txBody>
                    <a:bodyPr/>
                    <a:lstStyle/>
                    <a:p>
                      <a:r>
                        <a:rPr lang="fr-FR" dirty="0">
                          <a:latin typeface="Aptos" panose="020B0004020202020204" pitchFamily="34" charset="0"/>
                        </a:rPr>
                        <a:t>En hausse</a:t>
                      </a:r>
                    </a:p>
                  </a:txBody>
                  <a:tcPr anchor="ctr">
                    <a:lnL>
                      <a:noFill/>
                    </a:lnL>
                    <a:lnR>
                      <a:noFill/>
                    </a:lnR>
                    <a:lnT>
                      <a:noFill/>
                    </a:lnT>
                    <a:lnB>
                      <a:noFill/>
                    </a:lnB>
                  </a:tcPr>
                </a:tc>
                <a:extLst>
                  <a:ext uri="{0D108BD9-81ED-4DB2-BD59-A6C34878D82A}">
                    <a16:rowId xmlns:a16="http://schemas.microsoft.com/office/drawing/2014/main" val="202499634"/>
                  </a:ext>
                </a:extLst>
              </a:tr>
            </a:tbl>
          </a:graphicData>
        </a:graphic>
      </p:graphicFrame>
    </p:spTree>
    <p:extLst>
      <p:ext uri="{BB962C8B-B14F-4D97-AF65-F5344CB8AC3E}">
        <p14:creationId xmlns:p14="http://schemas.microsoft.com/office/powerpoint/2010/main" val="2603467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Communication digitale et réseaux sociaux pour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Plan digital de l’officine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862322"/>
          </a:xfrm>
          <a:prstGeom prst="rect">
            <a:avLst/>
          </a:prstGeom>
          <a:noFill/>
        </p:spPr>
        <p:txBody>
          <a:bodyPr wrap="square">
            <a:spAutoFit/>
          </a:bodyPr>
          <a:lstStyle/>
          <a:p>
            <a:r>
              <a:rPr lang="fr-FR" sz="2000" b="1" dirty="0">
                <a:latin typeface="Aptos" panose="020B0004020202020204" pitchFamily="34" charset="0"/>
              </a:rPr>
              <a:t>Étape 1 </a:t>
            </a:r>
            <a:r>
              <a:rPr lang="fr-FR" sz="2000" dirty="0">
                <a:latin typeface="Aptos" panose="020B0004020202020204" pitchFamily="34" charset="0"/>
              </a:rPr>
              <a:t>: Créer sa présence digitale.</a:t>
            </a:r>
          </a:p>
          <a:p>
            <a:endParaRPr lang="fr-FR" sz="2000" dirty="0">
              <a:latin typeface="Aptos" panose="020B0004020202020204" pitchFamily="34" charset="0"/>
            </a:endParaRPr>
          </a:p>
          <a:p>
            <a:r>
              <a:rPr lang="fr-FR" sz="2000" b="1" dirty="0">
                <a:latin typeface="Aptos" panose="020B0004020202020204" pitchFamily="34" charset="0"/>
              </a:rPr>
              <a:t>Étape 2 </a:t>
            </a:r>
            <a:r>
              <a:rPr lang="fr-FR" sz="2000" dirty="0">
                <a:latin typeface="Aptos" panose="020B0004020202020204" pitchFamily="34" charset="0"/>
              </a:rPr>
              <a:t>: Définir une ligne éditoriale.</a:t>
            </a:r>
          </a:p>
          <a:p>
            <a:endParaRPr lang="fr-FR" sz="2000" dirty="0">
              <a:latin typeface="Aptos" panose="020B0004020202020204" pitchFamily="34" charset="0"/>
            </a:endParaRPr>
          </a:p>
          <a:p>
            <a:r>
              <a:rPr lang="fr-FR" sz="2000" b="1" dirty="0">
                <a:latin typeface="Aptos" panose="020B0004020202020204" pitchFamily="34" charset="0"/>
              </a:rPr>
              <a:t>Étape 3 </a:t>
            </a:r>
            <a:r>
              <a:rPr lang="fr-FR" sz="2000" dirty="0">
                <a:latin typeface="Aptos" panose="020B0004020202020204" pitchFamily="34" charset="0"/>
              </a:rPr>
              <a:t>: Créer un calendrier de publication.</a:t>
            </a:r>
          </a:p>
          <a:p>
            <a:endParaRPr lang="fr-FR" sz="2000" dirty="0">
              <a:latin typeface="Aptos" panose="020B0004020202020204" pitchFamily="34" charset="0"/>
            </a:endParaRPr>
          </a:p>
          <a:p>
            <a:r>
              <a:rPr lang="fr-FR" sz="2000" b="1" dirty="0">
                <a:latin typeface="Aptos" panose="020B0004020202020204" pitchFamily="34" charset="0"/>
              </a:rPr>
              <a:t>Étape 4 </a:t>
            </a:r>
            <a:r>
              <a:rPr lang="fr-FR" sz="2000" dirty="0">
                <a:latin typeface="Aptos" panose="020B0004020202020204" pitchFamily="34" charset="0"/>
              </a:rPr>
              <a:t>: Mesurer les résultats.</a:t>
            </a:r>
          </a:p>
          <a:p>
            <a:endParaRPr lang="fr-FR" sz="2000" b="1" dirty="0">
              <a:latin typeface="Aptos" panose="020B0004020202020204" pitchFamily="34" charset="0"/>
            </a:endParaRPr>
          </a:p>
          <a:p>
            <a:r>
              <a:rPr lang="fr-FR" sz="2000" b="1" dirty="0">
                <a:latin typeface="Aptos" panose="020B0004020202020204" pitchFamily="34" charset="0"/>
              </a:rPr>
              <a:t>Étape 5 </a:t>
            </a:r>
            <a:r>
              <a:rPr lang="fr-FR" sz="2000" dirty="0">
                <a:latin typeface="Aptos" panose="020B0004020202020204" pitchFamily="34" charset="0"/>
              </a:rPr>
              <a:t>: Améliorer continuellement.</a:t>
            </a:r>
          </a:p>
        </p:txBody>
      </p:sp>
    </p:spTree>
    <p:extLst>
      <p:ext uri="{BB962C8B-B14F-4D97-AF65-F5344CB8AC3E}">
        <p14:creationId xmlns:p14="http://schemas.microsoft.com/office/powerpoint/2010/main" val="156660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Communication digitale et réseaux sociaux pour l'officine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Message clé à retenir</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170099"/>
          </a:xfrm>
          <a:prstGeom prst="rect">
            <a:avLst/>
          </a:prstGeom>
          <a:noFill/>
        </p:spPr>
        <p:txBody>
          <a:bodyPr wrap="square">
            <a:spAutoFit/>
          </a:bodyPr>
          <a:lstStyle/>
          <a:p>
            <a:r>
              <a:rPr lang="fr-FR" sz="2000" dirty="0">
                <a:latin typeface="Aptos" panose="020B0004020202020204" pitchFamily="34" charset="0"/>
              </a:rPr>
              <a:t>La communication digitale ne doit pas être utilisée pour vendre davantage de médicaments.</a:t>
            </a:r>
          </a:p>
          <a:p>
            <a:endParaRPr lang="fr-FR" sz="2000" dirty="0">
              <a:latin typeface="Aptos" panose="020B0004020202020204" pitchFamily="34" charset="0"/>
            </a:endParaRPr>
          </a:p>
          <a:p>
            <a:r>
              <a:rPr lang="fr-FR" sz="2000" dirty="0">
                <a:latin typeface="Aptos" panose="020B0004020202020204" pitchFamily="34" charset="0"/>
              </a:rPr>
              <a:t>Elle doit être utilisée pour :</a:t>
            </a:r>
          </a:p>
          <a:p>
            <a:pPr marL="800100" lvl="1" indent="-342900">
              <a:buFont typeface="Arial" panose="020B0604020202020204" pitchFamily="34" charset="0"/>
              <a:buChar char="•"/>
            </a:pPr>
            <a:r>
              <a:rPr lang="fr-FR" sz="2000" dirty="0">
                <a:latin typeface="Aptos" panose="020B0004020202020204" pitchFamily="34" charset="0"/>
              </a:rPr>
              <a:t>Informer ;</a:t>
            </a:r>
          </a:p>
          <a:p>
            <a:pPr marL="800100" lvl="1" indent="-342900">
              <a:buFont typeface="Arial" panose="020B0604020202020204" pitchFamily="34" charset="0"/>
              <a:buChar char="•"/>
            </a:pPr>
            <a:r>
              <a:rPr lang="fr-FR" sz="2000" dirty="0">
                <a:latin typeface="Aptos" panose="020B0004020202020204" pitchFamily="34" charset="0"/>
              </a:rPr>
              <a:t>Éduquer ;</a:t>
            </a:r>
          </a:p>
          <a:p>
            <a:pPr marL="800100" lvl="1" indent="-342900">
              <a:buFont typeface="Arial" panose="020B0604020202020204" pitchFamily="34" charset="0"/>
              <a:buChar char="•"/>
            </a:pPr>
            <a:r>
              <a:rPr lang="fr-FR" sz="2000" dirty="0">
                <a:latin typeface="Aptos" panose="020B0004020202020204" pitchFamily="34" charset="0"/>
              </a:rPr>
              <a:t>Renforcer la confiance ;</a:t>
            </a:r>
          </a:p>
          <a:p>
            <a:pPr marL="800100" lvl="1" indent="-342900">
              <a:buFont typeface="Arial" panose="020B0604020202020204" pitchFamily="34" charset="0"/>
              <a:buChar char="•"/>
            </a:pPr>
            <a:r>
              <a:rPr lang="fr-FR" sz="2000" dirty="0">
                <a:latin typeface="Aptos" panose="020B0004020202020204" pitchFamily="34" charset="0"/>
              </a:rPr>
              <a:t>Améliorer l’accès aux services pharmaceutiques.</a:t>
            </a:r>
          </a:p>
          <a:p>
            <a:endParaRPr lang="fr-FR" sz="2000" dirty="0">
              <a:latin typeface="Aptos" panose="020B0004020202020204" pitchFamily="34" charset="0"/>
            </a:endParaRPr>
          </a:p>
          <a:p>
            <a:r>
              <a:rPr lang="fr-FR" sz="2000" dirty="0">
                <a:latin typeface="Aptos" panose="020B0004020202020204" pitchFamily="34" charset="0"/>
              </a:rPr>
              <a:t>Une présence numérique professionnelle, éthique et conforme constitue aujourd’hui un levier majeur de développement durable pour l’officine.</a:t>
            </a:r>
          </a:p>
        </p:txBody>
      </p:sp>
    </p:spTree>
    <p:extLst>
      <p:ext uri="{BB962C8B-B14F-4D97-AF65-F5344CB8AC3E}">
        <p14:creationId xmlns:p14="http://schemas.microsoft.com/office/powerpoint/2010/main" val="1808815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Programmes de fidélité et services à valeur ajoutée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Objectifs d’apprentissage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246769"/>
          </a:xfrm>
          <a:prstGeom prst="rect">
            <a:avLst/>
          </a:prstGeom>
          <a:noFill/>
        </p:spPr>
        <p:txBody>
          <a:bodyPr wrap="square">
            <a:spAutoFit/>
          </a:bodyPr>
          <a:lstStyle/>
          <a:p>
            <a:r>
              <a:rPr lang="fr-FR" sz="2000" dirty="0">
                <a:latin typeface="Aptos" panose="020B0004020202020204" pitchFamily="34" charset="0"/>
              </a:rPr>
              <a:t>À l’issue de ce sous-module, le participant sera capable de :</a:t>
            </a:r>
          </a:p>
          <a:p>
            <a:pPr marL="800100" lvl="1" indent="-342900">
              <a:buFont typeface="Arial" panose="020B0604020202020204" pitchFamily="34" charset="0"/>
              <a:buChar char="•"/>
            </a:pPr>
            <a:r>
              <a:rPr lang="fr-FR" sz="2000" dirty="0">
                <a:latin typeface="Aptos" panose="020B0004020202020204" pitchFamily="34" charset="0"/>
              </a:rPr>
              <a:t>Comprendre les principes de fidélisation en officine ;</a:t>
            </a:r>
          </a:p>
          <a:p>
            <a:pPr marL="800100" lvl="1" indent="-342900">
              <a:buFont typeface="Arial" panose="020B0604020202020204" pitchFamily="34" charset="0"/>
              <a:buChar char="•"/>
            </a:pPr>
            <a:r>
              <a:rPr lang="fr-FR" sz="2000" dirty="0">
                <a:latin typeface="Aptos" panose="020B0004020202020204" pitchFamily="34" charset="0"/>
              </a:rPr>
              <a:t>Développer des services à valeur ajoutée conformes à la réglementation ;</a:t>
            </a:r>
          </a:p>
          <a:p>
            <a:pPr marL="800100" lvl="1" indent="-342900">
              <a:buFont typeface="Arial" panose="020B0604020202020204" pitchFamily="34" charset="0"/>
              <a:buChar char="•"/>
            </a:pPr>
            <a:r>
              <a:rPr lang="fr-FR" sz="2000" dirty="0">
                <a:latin typeface="Aptos" panose="020B0004020202020204" pitchFamily="34" charset="0"/>
              </a:rPr>
              <a:t>Mettre en place des mécanismes de suivi des patients ;</a:t>
            </a:r>
          </a:p>
          <a:p>
            <a:pPr marL="800100" lvl="1" indent="-342900">
              <a:buFont typeface="Arial" panose="020B0604020202020204" pitchFamily="34" charset="0"/>
              <a:buChar char="•"/>
            </a:pPr>
            <a:r>
              <a:rPr lang="fr-FR" sz="2000" dirty="0">
                <a:latin typeface="Aptos" panose="020B0004020202020204" pitchFamily="34" charset="0"/>
              </a:rPr>
              <a:t>Renforcer la satisfaction de la clientèle ;</a:t>
            </a:r>
          </a:p>
          <a:p>
            <a:pPr marL="800100" lvl="1" indent="-342900">
              <a:buFont typeface="Arial" panose="020B0604020202020204" pitchFamily="34" charset="0"/>
              <a:buChar char="•"/>
            </a:pPr>
            <a:r>
              <a:rPr lang="fr-FR" sz="2000" dirty="0">
                <a:latin typeface="Aptos" panose="020B0004020202020204" pitchFamily="34" charset="0"/>
              </a:rPr>
              <a:t>Développer une patientèle fidèle et durable ;</a:t>
            </a:r>
          </a:p>
          <a:p>
            <a:pPr marL="800100" lvl="1" indent="-342900">
              <a:buFont typeface="Arial" panose="020B0604020202020204" pitchFamily="34" charset="0"/>
              <a:buChar char="•"/>
            </a:pPr>
            <a:r>
              <a:rPr lang="fr-FR" sz="2000" dirty="0">
                <a:latin typeface="Aptos" panose="020B0004020202020204" pitchFamily="34" charset="0"/>
              </a:rPr>
              <a:t>Construire un programme de fidélisation compatible avec la déontologie pharmaceutique.</a:t>
            </a:r>
          </a:p>
        </p:txBody>
      </p:sp>
    </p:spTree>
    <p:extLst>
      <p:ext uri="{BB962C8B-B14F-4D97-AF65-F5344CB8AC3E}">
        <p14:creationId xmlns:p14="http://schemas.microsoft.com/office/powerpoint/2010/main" val="1357915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Programmes de fidélité et services à valeur ajoutée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Introduction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862322"/>
          </a:xfrm>
          <a:prstGeom prst="rect">
            <a:avLst/>
          </a:prstGeom>
          <a:noFill/>
        </p:spPr>
        <p:txBody>
          <a:bodyPr wrap="square">
            <a:spAutoFit/>
          </a:bodyPr>
          <a:lstStyle/>
          <a:p>
            <a:r>
              <a:rPr lang="fr-FR" sz="2000" dirty="0">
                <a:latin typeface="Aptos" panose="020B0004020202020204" pitchFamily="34" charset="0"/>
              </a:rPr>
              <a:t>La fidélisation en officine ne consiste pas à encourager la consommation.</a:t>
            </a:r>
          </a:p>
          <a:p>
            <a:endParaRPr lang="fr-FR" sz="2000" dirty="0">
              <a:latin typeface="Aptos" panose="020B0004020202020204" pitchFamily="34" charset="0"/>
            </a:endParaRPr>
          </a:p>
          <a:p>
            <a:r>
              <a:rPr lang="fr-FR" sz="2000" dirty="0">
                <a:latin typeface="Aptos" panose="020B0004020202020204" pitchFamily="34" charset="0"/>
              </a:rPr>
              <a:t>Elle consiste à améliorer durablement :</a:t>
            </a:r>
          </a:p>
          <a:p>
            <a:pPr marL="800100" lvl="1" indent="-342900">
              <a:buFont typeface="Arial" panose="020B0604020202020204" pitchFamily="34" charset="0"/>
              <a:buChar char="•"/>
            </a:pPr>
            <a:r>
              <a:rPr lang="fr-FR" sz="2000" dirty="0">
                <a:latin typeface="Aptos" panose="020B0004020202020204" pitchFamily="34" charset="0"/>
              </a:rPr>
              <a:t>La qualité du service ;</a:t>
            </a:r>
          </a:p>
          <a:p>
            <a:pPr marL="800100" lvl="1" indent="-342900">
              <a:buFont typeface="Arial" panose="020B0604020202020204" pitchFamily="34" charset="0"/>
              <a:buChar char="•"/>
            </a:pPr>
            <a:r>
              <a:rPr lang="fr-FR" sz="2000" dirty="0">
                <a:latin typeface="Aptos" panose="020B0004020202020204" pitchFamily="34" charset="0"/>
              </a:rPr>
              <a:t>L'expérience patient ;</a:t>
            </a:r>
          </a:p>
          <a:p>
            <a:pPr marL="800100" lvl="1" indent="-342900">
              <a:buFont typeface="Arial" panose="020B0604020202020204" pitchFamily="34" charset="0"/>
              <a:buChar char="•"/>
            </a:pPr>
            <a:r>
              <a:rPr lang="fr-FR" sz="2000" dirty="0">
                <a:latin typeface="Aptos" panose="020B0004020202020204" pitchFamily="34" charset="0"/>
              </a:rPr>
              <a:t>La continuité des soins.</a:t>
            </a:r>
          </a:p>
          <a:p>
            <a:endParaRPr lang="fr-FR" sz="2000" dirty="0">
              <a:latin typeface="Aptos" panose="020B0004020202020204" pitchFamily="34" charset="0"/>
            </a:endParaRPr>
          </a:p>
          <a:p>
            <a:r>
              <a:rPr lang="fr-FR" sz="2000" dirty="0">
                <a:latin typeface="Aptos" panose="020B0004020202020204" pitchFamily="34" charset="0"/>
              </a:rPr>
              <a:t>Le pharmacien doit toujours garder à l'esprit que : La fidélisation est une conséquence de la qualité du service et non un objectif commercial isolé.</a:t>
            </a:r>
          </a:p>
        </p:txBody>
      </p:sp>
    </p:spTree>
    <p:extLst>
      <p:ext uri="{BB962C8B-B14F-4D97-AF65-F5344CB8AC3E}">
        <p14:creationId xmlns:p14="http://schemas.microsoft.com/office/powerpoint/2010/main" val="165915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Programmes de fidélité et services à valeur ajoutée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Comprendre la fidélisation en officine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785652"/>
          </a:xfrm>
          <a:prstGeom prst="rect">
            <a:avLst/>
          </a:prstGeom>
          <a:noFill/>
        </p:spPr>
        <p:txBody>
          <a:bodyPr wrap="square">
            <a:spAutoFit/>
          </a:bodyPr>
          <a:lstStyle/>
          <a:p>
            <a:r>
              <a:rPr lang="fr-FR" sz="2000" b="1" dirty="0">
                <a:latin typeface="Aptos" panose="020B0004020202020204" pitchFamily="34" charset="0"/>
              </a:rPr>
              <a:t>Définition</a:t>
            </a:r>
            <a:r>
              <a:rPr lang="fr-FR" sz="2000" dirty="0">
                <a:latin typeface="Aptos" panose="020B0004020202020204" pitchFamily="34" charset="0"/>
              </a:rPr>
              <a:t> : La fidélisation est l'ensemble des actions qui encouragent un patient à maintenir une relation durable avec son officine. </a:t>
            </a:r>
          </a:p>
          <a:p>
            <a:endParaRPr lang="fr-FR" sz="2000" dirty="0">
              <a:latin typeface="Aptos" panose="020B0004020202020204" pitchFamily="34" charset="0"/>
            </a:endParaRPr>
          </a:p>
          <a:p>
            <a:r>
              <a:rPr lang="fr-FR" sz="2000" b="1" dirty="0">
                <a:latin typeface="Aptos" panose="020B0004020202020204" pitchFamily="34" charset="0"/>
              </a:rPr>
              <a:t>Pourquoi est-elle importante ?</a:t>
            </a:r>
          </a:p>
          <a:p>
            <a:pPr marL="800100" lvl="1" indent="-342900">
              <a:buFont typeface="Arial" panose="020B0604020202020204" pitchFamily="34" charset="0"/>
              <a:buChar char="•"/>
            </a:pPr>
            <a:r>
              <a:rPr lang="fr-FR" sz="2000" dirty="0">
                <a:latin typeface="Aptos" panose="020B0004020202020204" pitchFamily="34" charset="0"/>
              </a:rPr>
              <a:t>Amélioration de l'observance</a:t>
            </a:r>
          </a:p>
          <a:p>
            <a:pPr marL="800100" lvl="1" indent="-342900">
              <a:buFont typeface="Arial" panose="020B0604020202020204" pitchFamily="34" charset="0"/>
              <a:buChar char="•"/>
            </a:pPr>
            <a:r>
              <a:rPr lang="fr-FR" sz="2000" dirty="0">
                <a:latin typeface="Aptos" panose="020B0004020202020204" pitchFamily="34" charset="0"/>
              </a:rPr>
              <a:t>Meilleur suivi thérapeutique</a:t>
            </a:r>
          </a:p>
          <a:p>
            <a:pPr marL="800100" lvl="1" indent="-342900">
              <a:buFont typeface="Arial" panose="020B0604020202020204" pitchFamily="34" charset="0"/>
              <a:buChar char="•"/>
            </a:pPr>
            <a:r>
              <a:rPr lang="fr-FR" sz="2000" dirty="0">
                <a:latin typeface="Aptos" panose="020B0004020202020204" pitchFamily="34" charset="0"/>
              </a:rPr>
              <a:t>Confiance renforcée</a:t>
            </a:r>
          </a:p>
          <a:p>
            <a:pPr marL="800100" lvl="1" indent="-342900">
              <a:buFont typeface="Arial" panose="020B0604020202020204" pitchFamily="34" charset="0"/>
              <a:buChar char="•"/>
            </a:pPr>
            <a:r>
              <a:rPr lang="fr-FR" sz="2000" dirty="0">
                <a:latin typeface="Aptos" panose="020B0004020202020204" pitchFamily="34" charset="0"/>
              </a:rPr>
              <a:t>Réputation positive</a:t>
            </a:r>
          </a:p>
          <a:p>
            <a:pPr marL="800100" lvl="1" indent="-342900">
              <a:buFont typeface="Arial" panose="020B0604020202020204" pitchFamily="34" charset="0"/>
              <a:buChar char="•"/>
            </a:pPr>
            <a:r>
              <a:rPr lang="fr-FR" sz="2000" dirty="0">
                <a:latin typeface="Aptos" panose="020B0004020202020204" pitchFamily="34" charset="0"/>
              </a:rPr>
              <a:t>Développement économique durable</a:t>
            </a:r>
          </a:p>
          <a:p>
            <a:endParaRPr lang="fr-FR" sz="2000" dirty="0">
              <a:latin typeface="Aptos" panose="020B0004020202020204" pitchFamily="34" charset="0"/>
            </a:endParaRPr>
          </a:p>
          <a:p>
            <a:r>
              <a:rPr lang="fr-FR" sz="2000" b="1" dirty="0">
                <a:latin typeface="Aptos" panose="020B0004020202020204" pitchFamily="34" charset="0"/>
              </a:rPr>
              <a:t>Contexte africain </a:t>
            </a:r>
            <a:r>
              <a:rPr lang="fr-FR" sz="2000" dirty="0">
                <a:latin typeface="Aptos" panose="020B0004020202020204" pitchFamily="34" charset="0"/>
              </a:rPr>
              <a:t>: Dans la plupart des pays africains, la fidélité repose davantage sur la relation humaine, la disponibilité du pharmacien, la confiance que sur les avantages financiers.</a:t>
            </a:r>
          </a:p>
        </p:txBody>
      </p:sp>
    </p:spTree>
    <p:extLst>
      <p:ext uri="{BB962C8B-B14F-4D97-AF65-F5344CB8AC3E}">
        <p14:creationId xmlns:p14="http://schemas.microsoft.com/office/powerpoint/2010/main" val="328828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Programmes de fidélité et services à valeur ajoutée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facteurs de fidélisation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1938992"/>
          </a:xfrm>
          <a:prstGeom prst="rect">
            <a:avLst/>
          </a:prstGeom>
          <a:noFill/>
        </p:spPr>
        <p:txBody>
          <a:bodyPr wrap="square">
            <a:spAutoFit/>
          </a:bodyPr>
          <a:lstStyle/>
          <a:p>
            <a:pPr marL="457200" indent="-457200">
              <a:buAutoNum type="arabicPeriod"/>
            </a:pPr>
            <a:r>
              <a:rPr lang="fr-FR" sz="2000" dirty="0">
                <a:latin typeface="Aptos" panose="020B0004020202020204" pitchFamily="34" charset="0"/>
              </a:rPr>
              <a:t>Disponibilité des produits</a:t>
            </a:r>
          </a:p>
          <a:p>
            <a:pPr marL="457200" indent="-457200">
              <a:buAutoNum type="arabicPeriod"/>
            </a:pPr>
            <a:r>
              <a:rPr lang="fr-FR" sz="2000" dirty="0">
                <a:latin typeface="Aptos" panose="020B0004020202020204" pitchFamily="34" charset="0"/>
              </a:rPr>
              <a:t>Qualité du conseil</a:t>
            </a:r>
          </a:p>
          <a:p>
            <a:pPr marL="457200" indent="-457200">
              <a:buAutoNum type="arabicPeriod"/>
            </a:pPr>
            <a:r>
              <a:rPr lang="fr-FR" sz="2000" dirty="0">
                <a:latin typeface="Aptos" panose="020B0004020202020204" pitchFamily="34" charset="0"/>
              </a:rPr>
              <a:t>Rapidité du service</a:t>
            </a:r>
          </a:p>
          <a:p>
            <a:pPr marL="457200" indent="-457200">
              <a:buAutoNum type="arabicPeriod"/>
            </a:pPr>
            <a:r>
              <a:rPr lang="fr-FR" sz="2000" dirty="0">
                <a:latin typeface="Aptos" panose="020B0004020202020204" pitchFamily="34" charset="0"/>
              </a:rPr>
              <a:t>Accueil5. Suivi personnalisé</a:t>
            </a:r>
          </a:p>
          <a:p>
            <a:pPr marL="457200" indent="-457200">
              <a:buAutoNum type="arabicPeriod"/>
            </a:pPr>
            <a:r>
              <a:rPr lang="fr-FR" sz="2000" dirty="0">
                <a:latin typeface="Aptos" panose="020B0004020202020204" pitchFamily="34" charset="0"/>
              </a:rPr>
              <a:t>Disponibilité du pharmacien</a:t>
            </a:r>
          </a:p>
          <a:p>
            <a:pPr marL="457200" indent="-457200">
              <a:buAutoNum type="arabicPeriod"/>
            </a:pPr>
            <a:r>
              <a:rPr lang="fr-FR" sz="2000" dirty="0">
                <a:latin typeface="Aptos" panose="020B0004020202020204" pitchFamily="34" charset="0"/>
              </a:rPr>
              <a:t>Gestion efficace des réclamations</a:t>
            </a:r>
          </a:p>
        </p:txBody>
      </p:sp>
    </p:spTree>
    <p:extLst>
      <p:ext uri="{BB962C8B-B14F-4D97-AF65-F5344CB8AC3E}">
        <p14:creationId xmlns:p14="http://schemas.microsoft.com/office/powerpoint/2010/main" val="2516892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Programmes de fidélité et services à valeur ajoutée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services à valeur ajoutée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554545"/>
          </a:xfrm>
          <a:prstGeom prst="rect">
            <a:avLst/>
          </a:prstGeom>
          <a:noFill/>
        </p:spPr>
        <p:txBody>
          <a:bodyPr wrap="square">
            <a:spAutoFit/>
          </a:bodyPr>
          <a:lstStyle/>
          <a:p>
            <a:r>
              <a:rPr lang="fr-FR" sz="2000" b="1" dirty="0">
                <a:latin typeface="Aptos" panose="020B0004020202020204" pitchFamily="34" charset="0"/>
              </a:rPr>
              <a:t>Définition</a:t>
            </a:r>
            <a:r>
              <a:rPr lang="fr-FR" sz="2000" dirty="0">
                <a:latin typeface="Aptos" panose="020B0004020202020204" pitchFamily="34" charset="0"/>
              </a:rPr>
              <a:t> :</a:t>
            </a:r>
          </a:p>
          <a:p>
            <a:r>
              <a:rPr lang="fr-FR" sz="2000" dirty="0">
                <a:latin typeface="Aptos" panose="020B0004020202020204" pitchFamily="34" charset="0"/>
              </a:rPr>
              <a:t>Services complémentaires qui améliorent la prise en charge du patient.</a:t>
            </a:r>
          </a:p>
          <a:p>
            <a:endParaRPr lang="fr-FR" sz="2000" dirty="0">
              <a:latin typeface="Aptos" panose="020B0004020202020204" pitchFamily="34" charset="0"/>
            </a:endParaRPr>
          </a:p>
          <a:p>
            <a:r>
              <a:rPr lang="fr-FR" sz="2000" b="1" dirty="0">
                <a:latin typeface="Aptos" panose="020B0004020202020204" pitchFamily="34" charset="0"/>
              </a:rPr>
              <a:t>Objectifs</a:t>
            </a:r>
            <a:r>
              <a:rPr lang="fr-FR" sz="2000" dirty="0">
                <a:latin typeface="Aptos" panose="020B0004020202020204" pitchFamily="34" charset="0"/>
              </a:rPr>
              <a:t> :</a:t>
            </a:r>
          </a:p>
          <a:p>
            <a:pPr marL="800100" lvl="1" indent="-342900">
              <a:buFont typeface="Arial" panose="020B0604020202020204" pitchFamily="34" charset="0"/>
              <a:buChar char="•"/>
            </a:pPr>
            <a:r>
              <a:rPr lang="fr-FR" sz="2000" dirty="0">
                <a:latin typeface="Aptos" panose="020B0004020202020204" pitchFamily="34" charset="0"/>
              </a:rPr>
              <a:t>Améliorer les soins</a:t>
            </a:r>
          </a:p>
          <a:p>
            <a:pPr marL="800100" lvl="1" indent="-342900">
              <a:buFont typeface="Arial" panose="020B0604020202020204" pitchFamily="34" charset="0"/>
              <a:buChar char="•"/>
            </a:pPr>
            <a:r>
              <a:rPr lang="fr-FR" sz="2000" dirty="0">
                <a:latin typeface="Aptos" panose="020B0004020202020204" pitchFamily="34" charset="0"/>
              </a:rPr>
              <a:t>Renforcer le suivi</a:t>
            </a:r>
          </a:p>
          <a:p>
            <a:pPr marL="800100" lvl="1" indent="-342900">
              <a:buFont typeface="Arial" panose="020B0604020202020204" pitchFamily="34" charset="0"/>
              <a:buChar char="•"/>
            </a:pPr>
            <a:r>
              <a:rPr lang="fr-FR" sz="2000" dirty="0">
                <a:latin typeface="Aptos" panose="020B0004020202020204" pitchFamily="34" charset="0"/>
              </a:rPr>
              <a:t>Faciliter l'observance</a:t>
            </a:r>
          </a:p>
          <a:p>
            <a:pPr marL="800100" lvl="1" indent="-342900">
              <a:buFont typeface="Arial" panose="020B0604020202020204" pitchFamily="34" charset="0"/>
              <a:buChar char="•"/>
            </a:pPr>
            <a:r>
              <a:rPr lang="fr-FR" sz="2000" dirty="0">
                <a:latin typeface="Aptos" panose="020B0004020202020204" pitchFamily="34" charset="0"/>
              </a:rPr>
              <a:t>Différencier l'officine</a:t>
            </a:r>
          </a:p>
        </p:txBody>
      </p:sp>
    </p:spTree>
    <p:extLst>
      <p:ext uri="{BB962C8B-B14F-4D97-AF65-F5344CB8AC3E}">
        <p14:creationId xmlns:p14="http://schemas.microsoft.com/office/powerpoint/2010/main" val="2253036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Programmes de fidélité et services à valeur ajoutée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Les services pharmaceutiques modernes</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4093428"/>
          </a:xfrm>
          <a:prstGeom prst="rect">
            <a:avLst/>
          </a:prstGeom>
          <a:noFill/>
        </p:spPr>
        <p:txBody>
          <a:bodyPr wrap="square">
            <a:spAutoFit/>
          </a:bodyPr>
          <a:lstStyle/>
          <a:p>
            <a:r>
              <a:rPr lang="fr-FR" sz="2000" b="1" dirty="0">
                <a:latin typeface="Aptos" panose="020B0004020202020204" pitchFamily="34" charset="0"/>
              </a:rPr>
              <a:t>Tendances internationales </a:t>
            </a:r>
            <a:r>
              <a:rPr lang="fr-FR" sz="2000" dirty="0">
                <a:latin typeface="Aptos" panose="020B0004020202020204" pitchFamily="34" charset="0"/>
              </a:rPr>
              <a:t>: Les missions du pharmacien évoluent.</a:t>
            </a:r>
          </a:p>
          <a:p>
            <a:endParaRPr lang="fr-FR" sz="2000" dirty="0">
              <a:latin typeface="Aptos" panose="020B0004020202020204" pitchFamily="34" charset="0"/>
            </a:endParaRPr>
          </a:p>
          <a:p>
            <a:r>
              <a:rPr lang="fr-FR" sz="2000" b="1" dirty="0">
                <a:latin typeface="Aptos" panose="020B0004020202020204" pitchFamily="34" charset="0"/>
              </a:rPr>
              <a:t>Services de plus en plus développés : </a:t>
            </a:r>
          </a:p>
          <a:p>
            <a:pPr marL="800100" lvl="1" indent="-342900">
              <a:buFont typeface="Arial" panose="020B0604020202020204" pitchFamily="34" charset="0"/>
              <a:buChar char="•"/>
            </a:pPr>
            <a:r>
              <a:rPr lang="fr-FR" sz="2000" dirty="0">
                <a:latin typeface="Aptos" panose="020B0004020202020204" pitchFamily="34" charset="0"/>
              </a:rPr>
              <a:t>Education thérapeutique</a:t>
            </a:r>
          </a:p>
          <a:p>
            <a:pPr marL="800100" lvl="1" indent="-342900">
              <a:buFont typeface="Arial" panose="020B0604020202020204" pitchFamily="34" charset="0"/>
              <a:buChar char="•"/>
            </a:pPr>
            <a:r>
              <a:rPr lang="fr-FR" sz="2000" dirty="0">
                <a:latin typeface="Aptos" panose="020B0004020202020204" pitchFamily="34" charset="0"/>
              </a:rPr>
              <a:t>Entretien pharmaceutique</a:t>
            </a:r>
          </a:p>
          <a:p>
            <a:pPr marL="800100" lvl="1" indent="-342900">
              <a:buFont typeface="Arial" panose="020B0604020202020204" pitchFamily="34" charset="0"/>
              <a:buChar char="•"/>
            </a:pPr>
            <a:r>
              <a:rPr lang="fr-FR" sz="2000" dirty="0">
                <a:latin typeface="Aptos" panose="020B0004020202020204" pitchFamily="34" charset="0"/>
              </a:rPr>
              <a:t>Accompagnement des patients chroniques</a:t>
            </a:r>
          </a:p>
          <a:p>
            <a:pPr marL="800100" lvl="1" indent="-342900">
              <a:buFont typeface="Arial" panose="020B0604020202020204" pitchFamily="34" charset="0"/>
              <a:buChar char="•"/>
            </a:pPr>
            <a:r>
              <a:rPr lang="fr-FR" sz="2000" dirty="0">
                <a:latin typeface="Aptos" panose="020B0004020202020204" pitchFamily="34" charset="0"/>
              </a:rPr>
              <a:t>Suivi de l'observance</a:t>
            </a:r>
          </a:p>
          <a:p>
            <a:pPr marL="800100" lvl="1" indent="-342900">
              <a:buFont typeface="Arial" panose="020B0604020202020204" pitchFamily="34" charset="0"/>
              <a:buChar char="•"/>
            </a:pPr>
            <a:r>
              <a:rPr lang="fr-FR" sz="2000" dirty="0">
                <a:latin typeface="Aptos" panose="020B0004020202020204" pitchFamily="34" charset="0"/>
              </a:rPr>
              <a:t>Dépistage autorisé</a:t>
            </a:r>
          </a:p>
          <a:p>
            <a:pPr marL="800100" lvl="1" indent="-342900">
              <a:buFont typeface="Arial" panose="020B0604020202020204" pitchFamily="34" charset="0"/>
              <a:buChar char="•"/>
            </a:pPr>
            <a:r>
              <a:rPr lang="fr-FR" sz="2000" dirty="0">
                <a:latin typeface="Aptos" panose="020B0004020202020204" pitchFamily="34" charset="0"/>
              </a:rPr>
              <a:t>Prévention</a:t>
            </a:r>
          </a:p>
          <a:p>
            <a:endParaRPr lang="fr-FR" sz="2000" dirty="0">
              <a:latin typeface="Aptos" panose="020B0004020202020204" pitchFamily="34" charset="0"/>
            </a:endParaRPr>
          </a:p>
          <a:p>
            <a:r>
              <a:rPr lang="fr-FR" sz="2000" b="1" dirty="0">
                <a:latin typeface="Aptos" panose="020B0004020202020204" pitchFamily="34" charset="0"/>
              </a:rPr>
              <a:t>Références internationales </a:t>
            </a:r>
            <a:r>
              <a:rPr lang="fr-FR" sz="2000" dirty="0">
                <a:latin typeface="Aptos" panose="020B0004020202020204" pitchFamily="34" charset="0"/>
              </a:rPr>
              <a:t>: Les recommandations de la Fédération Internationale Pharmaceutique (FIP) et de l'Organisation mondiale de la Santé encouragent l'évolution du pharmacien vers un rôle clinique renforcé.</a:t>
            </a:r>
          </a:p>
        </p:txBody>
      </p:sp>
    </p:spTree>
    <p:extLst>
      <p:ext uri="{BB962C8B-B14F-4D97-AF65-F5344CB8AC3E}">
        <p14:creationId xmlns:p14="http://schemas.microsoft.com/office/powerpoint/2010/main" val="275202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Programmes de fidélité et services à valeur ajoutée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Services à valeur ajoutée adaptés à </a:t>
            </a:r>
            <a:r>
              <a:rPr lang="fr-FR" sz="2400" b="1" dirty="0" err="1">
                <a:solidFill>
                  <a:schemeClr val="bg1"/>
                </a:solidFill>
                <a:latin typeface="Aptos" panose="020B0004020202020204" pitchFamily="34" charset="0"/>
              </a:rPr>
              <a:t>l’afrique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477875"/>
          </a:xfrm>
          <a:prstGeom prst="rect">
            <a:avLst/>
          </a:prstGeom>
          <a:noFill/>
        </p:spPr>
        <p:txBody>
          <a:bodyPr wrap="square">
            <a:spAutoFit/>
          </a:bodyPr>
          <a:lstStyle/>
          <a:p>
            <a:r>
              <a:rPr lang="fr-FR" sz="2000" b="1" dirty="0">
                <a:latin typeface="Aptos" panose="020B0004020202020204" pitchFamily="34" charset="0"/>
              </a:rPr>
              <a:t>Service 1 </a:t>
            </a:r>
            <a:r>
              <a:rPr lang="fr-FR" sz="2000" dirty="0">
                <a:latin typeface="Aptos" panose="020B0004020202020204" pitchFamily="34" charset="0"/>
              </a:rPr>
              <a:t>: Suivi de l'hypertension</a:t>
            </a:r>
          </a:p>
          <a:p>
            <a:r>
              <a:rPr lang="fr-FR" sz="2000" b="1" dirty="0">
                <a:latin typeface="Aptos" panose="020B0004020202020204" pitchFamily="34" charset="0"/>
              </a:rPr>
              <a:t>Service 2 </a:t>
            </a:r>
            <a:r>
              <a:rPr lang="fr-FR" sz="2000" dirty="0">
                <a:latin typeface="Aptos" panose="020B0004020202020204" pitchFamily="34" charset="0"/>
              </a:rPr>
              <a:t>: Suivi du diabète</a:t>
            </a:r>
          </a:p>
          <a:p>
            <a:r>
              <a:rPr lang="fr-FR" sz="2000" b="1" dirty="0">
                <a:latin typeface="Aptos" panose="020B0004020202020204" pitchFamily="34" charset="0"/>
              </a:rPr>
              <a:t>Service 3 </a:t>
            </a:r>
            <a:r>
              <a:rPr lang="fr-FR" sz="2000" dirty="0">
                <a:latin typeface="Aptos" panose="020B0004020202020204" pitchFamily="34" charset="0"/>
              </a:rPr>
              <a:t>: Conseil nutritionnel de base</a:t>
            </a:r>
          </a:p>
          <a:p>
            <a:r>
              <a:rPr lang="fr-FR" sz="2000" b="1" dirty="0">
                <a:latin typeface="Aptos" panose="020B0004020202020204" pitchFamily="34" charset="0"/>
              </a:rPr>
              <a:t>Service 4 </a:t>
            </a:r>
            <a:r>
              <a:rPr lang="fr-FR" sz="2000" dirty="0">
                <a:latin typeface="Aptos" panose="020B0004020202020204" pitchFamily="34" charset="0"/>
              </a:rPr>
              <a:t>: Suivi de l'observance</a:t>
            </a:r>
          </a:p>
          <a:p>
            <a:r>
              <a:rPr lang="fr-FR" sz="2000" b="1" dirty="0">
                <a:latin typeface="Aptos" panose="020B0004020202020204" pitchFamily="34" charset="0"/>
              </a:rPr>
              <a:t>Service 5 </a:t>
            </a:r>
            <a:r>
              <a:rPr lang="fr-FR" sz="2000" dirty="0">
                <a:latin typeface="Aptos" panose="020B0004020202020204" pitchFamily="34" charset="0"/>
              </a:rPr>
              <a:t>: Accompagnement des femmes enceintes</a:t>
            </a:r>
          </a:p>
          <a:p>
            <a:r>
              <a:rPr lang="fr-FR" sz="2000" b="1" dirty="0">
                <a:latin typeface="Aptos" panose="020B0004020202020204" pitchFamily="34" charset="0"/>
              </a:rPr>
              <a:t>Service 6 </a:t>
            </a:r>
            <a:r>
              <a:rPr lang="fr-FR" sz="2000" dirty="0">
                <a:latin typeface="Aptos" panose="020B0004020202020204" pitchFamily="34" charset="0"/>
              </a:rPr>
              <a:t>: Education sanitaire communautaire</a:t>
            </a:r>
          </a:p>
          <a:p>
            <a:r>
              <a:rPr lang="fr-FR" sz="2000" b="1" dirty="0">
                <a:latin typeface="Aptos" panose="020B0004020202020204" pitchFamily="34" charset="0"/>
              </a:rPr>
              <a:t>Service 7 </a:t>
            </a:r>
            <a:r>
              <a:rPr lang="fr-FR" sz="2000" dirty="0">
                <a:latin typeface="Aptos" panose="020B0004020202020204" pitchFamily="34" charset="0"/>
              </a:rPr>
              <a:t>: Conseils de prévention saisonnière</a:t>
            </a:r>
          </a:p>
          <a:p>
            <a:endParaRPr lang="fr-FR" sz="2000" dirty="0">
              <a:latin typeface="Aptos" panose="020B0004020202020204" pitchFamily="34" charset="0"/>
            </a:endParaRPr>
          </a:p>
          <a:p>
            <a:r>
              <a:rPr lang="fr-FR" sz="2000" b="1" dirty="0">
                <a:latin typeface="Aptos" panose="020B0004020202020204" pitchFamily="34" charset="0"/>
              </a:rPr>
              <a:t>Application au Bénin : </a:t>
            </a:r>
            <a:r>
              <a:rPr lang="fr-FR" sz="2000" dirty="0">
                <a:latin typeface="Aptos" panose="020B0004020202020204" pitchFamily="34" charset="0"/>
              </a:rPr>
              <a:t>Compte tenu du profil épidémiologique, les services liés à l'hypertension, au diabète, à l'observance thérapeutique, à la prévention du paludisme et à la santé maternelle présentent un fort potentiel d'impact.</a:t>
            </a:r>
          </a:p>
        </p:txBody>
      </p:sp>
    </p:spTree>
    <p:extLst>
      <p:ext uri="{BB962C8B-B14F-4D97-AF65-F5344CB8AC3E}">
        <p14:creationId xmlns:p14="http://schemas.microsoft.com/office/powerpoint/2010/main" val="2618112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Programmes de fidélité et services à valeur ajoutée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Programmes de fidélité : ce qui est autorisé et ce qui est à risque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862322"/>
          </a:xfrm>
          <a:prstGeom prst="rect">
            <a:avLst/>
          </a:prstGeom>
          <a:noFill/>
        </p:spPr>
        <p:txBody>
          <a:bodyPr wrap="square">
            <a:spAutoFit/>
          </a:bodyPr>
          <a:lstStyle/>
          <a:p>
            <a:r>
              <a:rPr lang="fr-FR" sz="2000" b="1" dirty="0">
                <a:latin typeface="Aptos" panose="020B0004020202020204" pitchFamily="34" charset="0"/>
              </a:rPr>
              <a:t>Principe fondamental </a:t>
            </a:r>
            <a:r>
              <a:rPr lang="fr-FR" sz="2000" dirty="0">
                <a:latin typeface="Aptos" panose="020B0004020202020204" pitchFamily="34" charset="0"/>
              </a:rPr>
              <a:t>: Le pharmacien ne doit pas créer des mécanismes qui encouragent une consommation excessive ou inappropriée de médicaments.</a:t>
            </a:r>
          </a:p>
          <a:p>
            <a:endParaRPr lang="fr-FR" sz="2000" dirty="0">
              <a:latin typeface="Aptos" panose="020B0004020202020204" pitchFamily="34" charset="0"/>
            </a:endParaRPr>
          </a:p>
          <a:p>
            <a:r>
              <a:rPr lang="fr-FR" sz="2000" b="1" dirty="0">
                <a:latin typeface="Aptos" panose="020B0004020202020204" pitchFamily="34" charset="0"/>
              </a:rPr>
              <a:t>Exemples généralement compatibles :</a:t>
            </a:r>
          </a:p>
          <a:p>
            <a:pPr marL="800100" lvl="1" indent="-342900">
              <a:buFont typeface="Arial" panose="020B0604020202020204" pitchFamily="34" charset="0"/>
              <a:buChar char="•"/>
            </a:pPr>
            <a:r>
              <a:rPr lang="fr-FR" sz="2000" dirty="0">
                <a:latin typeface="Aptos" panose="020B0004020202020204" pitchFamily="34" charset="0"/>
              </a:rPr>
              <a:t>Carnets de suivi thérapeutique</a:t>
            </a:r>
          </a:p>
          <a:p>
            <a:pPr marL="800100" lvl="1" indent="-342900">
              <a:buFont typeface="Arial" panose="020B0604020202020204" pitchFamily="34" charset="0"/>
              <a:buChar char="•"/>
            </a:pPr>
            <a:r>
              <a:rPr lang="fr-FR" sz="2000" dirty="0">
                <a:latin typeface="Aptos" panose="020B0004020202020204" pitchFamily="34" charset="0"/>
              </a:rPr>
              <a:t>Rappels de renouvellement</a:t>
            </a:r>
          </a:p>
          <a:p>
            <a:pPr marL="800100" lvl="1" indent="-342900">
              <a:buFont typeface="Arial" panose="020B0604020202020204" pitchFamily="34" charset="0"/>
              <a:buChar char="•"/>
            </a:pPr>
            <a:r>
              <a:rPr lang="fr-FR" sz="2000" dirty="0">
                <a:latin typeface="Aptos" panose="020B0004020202020204" pitchFamily="34" charset="0"/>
              </a:rPr>
              <a:t>Messages éducatifs</a:t>
            </a:r>
          </a:p>
          <a:p>
            <a:pPr marL="800100" lvl="1" indent="-342900">
              <a:buFont typeface="Arial" panose="020B0604020202020204" pitchFamily="34" charset="0"/>
              <a:buChar char="•"/>
            </a:pPr>
            <a:r>
              <a:rPr lang="fr-FR" sz="2000" dirty="0">
                <a:latin typeface="Aptos" panose="020B0004020202020204" pitchFamily="34" charset="0"/>
              </a:rPr>
              <a:t>Suivi des patients chroniques</a:t>
            </a:r>
          </a:p>
          <a:p>
            <a:pPr marL="800100" lvl="1" indent="-342900">
              <a:buFont typeface="Arial" panose="020B0604020202020204" pitchFamily="34" charset="0"/>
              <a:buChar char="•"/>
            </a:pPr>
            <a:r>
              <a:rPr lang="fr-FR" sz="2000" dirty="0">
                <a:latin typeface="Aptos" panose="020B0004020202020204" pitchFamily="34" charset="0"/>
              </a:rPr>
              <a:t>Campagnes de prévention</a:t>
            </a:r>
          </a:p>
        </p:txBody>
      </p:sp>
    </p:spTree>
    <p:extLst>
      <p:ext uri="{BB962C8B-B14F-4D97-AF65-F5344CB8AC3E}">
        <p14:creationId xmlns:p14="http://schemas.microsoft.com/office/powerpoint/2010/main" val="1410440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Programmes de fidélité et services à valeur ajoutée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Programmes de fidélité : ce qui est autorisé et ce qui est à risque</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785652"/>
          </a:xfrm>
          <a:prstGeom prst="rect">
            <a:avLst/>
          </a:prstGeom>
          <a:noFill/>
        </p:spPr>
        <p:txBody>
          <a:bodyPr wrap="square">
            <a:spAutoFit/>
          </a:bodyPr>
          <a:lstStyle/>
          <a:p>
            <a:r>
              <a:rPr lang="fr-FR" sz="2000" b="1" dirty="0">
                <a:latin typeface="Aptos" panose="020B0004020202020204" pitchFamily="34" charset="0"/>
              </a:rPr>
              <a:t>Exemples pouvant poser problème</a:t>
            </a:r>
          </a:p>
          <a:p>
            <a:pPr marL="800100" lvl="1" indent="-342900">
              <a:buFont typeface="Arial" panose="020B0604020202020204" pitchFamily="34" charset="0"/>
              <a:buChar char="•"/>
            </a:pPr>
            <a:r>
              <a:rPr lang="fr-FR" sz="2000" dirty="0">
                <a:latin typeface="Aptos" panose="020B0004020202020204" pitchFamily="34" charset="0"/>
              </a:rPr>
              <a:t>Cadeaux liés à la consommation de médicaments</a:t>
            </a:r>
          </a:p>
          <a:p>
            <a:pPr marL="800100" lvl="1" indent="-342900">
              <a:buFont typeface="Arial" panose="020B0604020202020204" pitchFamily="34" charset="0"/>
              <a:buChar char="•"/>
            </a:pPr>
            <a:r>
              <a:rPr lang="fr-FR" sz="2000" dirty="0">
                <a:latin typeface="Aptos" panose="020B0004020202020204" pitchFamily="34" charset="0"/>
              </a:rPr>
              <a:t>Promotions agressives</a:t>
            </a:r>
          </a:p>
          <a:p>
            <a:pPr marL="800100" lvl="1" indent="-342900">
              <a:buFont typeface="Arial" panose="020B0604020202020204" pitchFamily="34" charset="0"/>
              <a:buChar char="•"/>
            </a:pPr>
            <a:r>
              <a:rPr lang="fr-FR" sz="2000" dirty="0">
                <a:latin typeface="Aptos" panose="020B0004020202020204" pitchFamily="34" charset="0"/>
              </a:rPr>
              <a:t>Réductions conditionnées à l'achat de traitements</a:t>
            </a:r>
          </a:p>
          <a:p>
            <a:pPr marL="800100" lvl="1" indent="-342900">
              <a:buFont typeface="Arial" panose="020B0604020202020204" pitchFamily="34" charset="0"/>
              <a:buChar char="•"/>
            </a:pPr>
            <a:r>
              <a:rPr lang="fr-FR" sz="2000" dirty="0">
                <a:latin typeface="Aptos" panose="020B0004020202020204" pitchFamily="34" charset="0"/>
              </a:rPr>
              <a:t>Incitations susceptibles d'altérer le bon usage des médicaments</a:t>
            </a:r>
          </a:p>
          <a:p>
            <a:endParaRPr lang="fr-FR" sz="2000" dirty="0">
              <a:latin typeface="Aptos" panose="020B0004020202020204" pitchFamily="34" charset="0"/>
            </a:endParaRPr>
          </a:p>
          <a:p>
            <a:r>
              <a:rPr lang="fr-FR" sz="2000" b="1" dirty="0">
                <a:latin typeface="Aptos" panose="020B0004020202020204" pitchFamily="34" charset="0"/>
              </a:rPr>
              <a:t>Contexte Bénin</a:t>
            </a:r>
          </a:p>
          <a:p>
            <a:r>
              <a:rPr lang="fr-FR" sz="2000" dirty="0">
                <a:latin typeface="Aptos" panose="020B0004020202020204" pitchFamily="34" charset="0"/>
              </a:rPr>
              <a:t>Le pharmacien doit systématiquement vérifier la compatibilité de ses initiatives avec :</a:t>
            </a:r>
          </a:p>
          <a:p>
            <a:pPr marL="800100" lvl="1" indent="-342900">
              <a:buFont typeface="Arial" panose="020B0604020202020204" pitchFamily="34" charset="0"/>
              <a:buChar char="•"/>
            </a:pPr>
            <a:r>
              <a:rPr lang="fr-FR" sz="2000" dirty="0">
                <a:latin typeface="Aptos" panose="020B0004020202020204" pitchFamily="34" charset="0"/>
              </a:rPr>
              <a:t>Le code de déontologie pharmaceutique ;</a:t>
            </a:r>
          </a:p>
          <a:p>
            <a:pPr marL="800100" lvl="1" indent="-342900">
              <a:buFont typeface="Arial" panose="020B0604020202020204" pitchFamily="34" charset="0"/>
              <a:buChar char="•"/>
            </a:pPr>
            <a:r>
              <a:rPr lang="fr-FR" sz="2000" dirty="0">
                <a:latin typeface="Aptos" panose="020B0004020202020204" pitchFamily="34" charset="0"/>
              </a:rPr>
              <a:t>Les orientations de l'ordre national des pharmaciens ;</a:t>
            </a:r>
          </a:p>
          <a:p>
            <a:pPr marL="800100" lvl="1" indent="-342900">
              <a:buFont typeface="Arial" panose="020B0604020202020204" pitchFamily="34" charset="0"/>
              <a:buChar char="•"/>
            </a:pPr>
            <a:r>
              <a:rPr lang="fr-FR" sz="2000" dirty="0">
                <a:latin typeface="Aptos" panose="020B0004020202020204" pitchFamily="34" charset="0"/>
              </a:rPr>
              <a:t>Les exigences de l'</a:t>
            </a:r>
            <a:r>
              <a:rPr lang="fr-FR" sz="2000" dirty="0" err="1">
                <a:latin typeface="Aptos" panose="020B0004020202020204" pitchFamily="34" charset="0"/>
              </a:rPr>
              <a:t>abmed</a:t>
            </a:r>
            <a:r>
              <a:rPr lang="fr-FR" sz="2000" dirty="0">
                <a:latin typeface="Aptos" panose="020B0004020202020204" pitchFamily="34" charset="0"/>
              </a:rPr>
              <a:t> ;</a:t>
            </a:r>
          </a:p>
          <a:p>
            <a:pPr marL="800100" lvl="1" indent="-342900">
              <a:buFont typeface="Arial" panose="020B0604020202020204" pitchFamily="34" charset="0"/>
              <a:buChar char="•"/>
            </a:pPr>
            <a:r>
              <a:rPr lang="fr-FR" sz="2000" dirty="0">
                <a:latin typeface="Aptos" panose="020B0004020202020204" pitchFamily="34" charset="0"/>
              </a:rPr>
              <a:t>Les dispositions de la loi n°2021-03 portant organisation des activités pharmaceutiques.</a:t>
            </a:r>
          </a:p>
        </p:txBody>
      </p:sp>
    </p:spTree>
    <p:extLst>
      <p:ext uri="{BB962C8B-B14F-4D97-AF65-F5344CB8AC3E}">
        <p14:creationId xmlns:p14="http://schemas.microsoft.com/office/powerpoint/2010/main" val="1904757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Programmes de fidélité et services à valeur ajoutée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Utilisation des outils digitaux pour la fidélisation</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3785652"/>
          </a:xfrm>
          <a:prstGeom prst="rect">
            <a:avLst/>
          </a:prstGeom>
          <a:noFill/>
        </p:spPr>
        <p:txBody>
          <a:bodyPr wrap="square">
            <a:spAutoFit/>
          </a:bodyPr>
          <a:lstStyle/>
          <a:p>
            <a:r>
              <a:rPr lang="fr-FR" sz="2000" b="1" dirty="0">
                <a:latin typeface="Aptos" panose="020B0004020202020204" pitchFamily="34" charset="0"/>
              </a:rPr>
              <a:t>Outils les plus utilisés :</a:t>
            </a:r>
          </a:p>
          <a:p>
            <a:pPr marL="800100" lvl="1" indent="-342900">
              <a:buFont typeface="Arial" panose="020B0604020202020204" pitchFamily="34" charset="0"/>
              <a:buChar char="•"/>
            </a:pPr>
            <a:r>
              <a:rPr lang="fr-FR" sz="2000" dirty="0">
                <a:latin typeface="Aptos" panose="020B0004020202020204" pitchFamily="34" charset="0"/>
              </a:rPr>
              <a:t>WhatsApp Business</a:t>
            </a:r>
          </a:p>
          <a:p>
            <a:pPr marL="800100" lvl="1" indent="-342900">
              <a:buFont typeface="Arial" panose="020B0604020202020204" pitchFamily="34" charset="0"/>
              <a:buChar char="•"/>
            </a:pPr>
            <a:r>
              <a:rPr lang="fr-FR" sz="2000" dirty="0">
                <a:latin typeface="Aptos" panose="020B0004020202020204" pitchFamily="34" charset="0"/>
              </a:rPr>
              <a:t>SMS</a:t>
            </a:r>
          </a:p>
          <a:p>
            <a:pPr marL="800100" lvl="1" indent="-342900">
              <a:buFont typeface="Arial" panose="020B0604020202020204" pitchFamily="34" charset="0"/>
              <a:buChar char="•"/>
            </a:pPr>
            <a:r>
              <a:rPr lang="fr-FR" sz="2000" dirty="0">
                <a:latin typeface="Aptos" panose="020B0004020202020204" pitchFamily="34" charset="0"/>
              </a:rPr>
              <a:t>Email</a:t>
            </a:r>
          </a:p>
          <a:p>
            <a:pPr marL="800100" lvl="1" indent="-342900">
              <a:buFont typeface="Arial" panose="020B0604020202020204" pitchFamily="34" charset="0"/>
              <a:buChar char="•"/>
            </a:pPr>
            <a:r>
              <a:rPr lang="fr-FR" sz="2000" dirty="0">
                <a:latin typeface="Aptos" panose="020B0004020202020204" pitchFamily="34" charset="0"/>
              </a:rPr>
              <a:t>Facebook</a:t>
            </a:r>
          </a:p>
          <a:p>
            <a:pPr marL="800100" lvl="1" indent="-342900">
              <a:buFont typeface="Arial" panose="020B0604020202020204" pitchFamily="34" charset="0"/>
              <a:buChar char="•"/>
            </a:pPr>
            <a:r>
              <a:rPr lang="fr-FR" sz="2000" dirty="0">
                <a:latin typeface="Aptos" panose="020B0004020202020204" pitchFamily="34" charset="0"/>
              </a:rPr>
              <a:t>Google Business</a:t>
            </a:r>
          </a:p>
          <a:p>
            <a:endParaRPr lang="fr-FR" sz="2000" dirty="0">
              <a:latin typeface="Aptos" panose="020B0004020202020204" pitchFamily="34" charset="0"/>
            </a:endParaRPr>
          </a:p>
          <a:p>
            <a:r>
              <a:rPr lang="fr-FR" sz="2000" b="1" dirty="0">
                <a:latin typeface="Aptos" panose="020B0004020202020204" pitchFamily="34" charset="0"/>
              </a:rPr>
              <a:t>Utilisations pertinentes :</a:t>
            </a:r>
          </a:p>
          <a:p>
            <a:pPr marL="800100" lvl="1" indent="-342900">
              <a:buFont typeface="Arial" panose="020B0604020202020204" pitchFamily="34" charset="0"/>
              <a:buChar char="•"/>
            </a:pPr>
            <a:r>
              <a:rPr lang="fr-FR" sz="2000" dirty="0">
                <a:latin typeface="Aptos" panose="020B0004020202020204" pitchFamily="34" charset="0"/>
              </a:rPr>
              <a:t>Rappels de renouvellement</a:t>
            </a:r>
          </a:p>
          <a:p>
            <a:pPr marL="800100" lvl="1" indent="-342900">
              <a:buFont typeface="Arial" panose="020B0604020202020204" pitchFamily="34" charset="0"/>
              <a:buChar char="•"/>
            </a:pPr>
            <a:r>
              <a:rPr lang="fr-FR" sz="2000" dirty="0">
                <a:latin typeface="Aptos" panose="020B0004020202020204" pitchFamily="34" charset="0"/>
              </a:rPr>
              <a:t>Campagnes de sensibilisation</a:t>
            </a:r>
          </a:p>
          <a:p>
            <a:pPr marL="800100" lvl="1" indent="-342900">
              <a:buFont typeface="Arial" panose="020B0604020202020204" pitchFamily="34" charset="0"/>
              <a:buChar char="•"/>
            </a:pPr>
            <a:r>
              <a:rPr lang="fr-FR" sz="2000" dirty="0">
                <a:latin typeface="Aptos" panose="020B0004020202020204" pitchFamily="34" charset="0"/>
              </a:rPr>
              <a:t>Information sur les horaires</a:t>
            </a:r>
          </a:p>
          <a:p>
            <a:pPr marL="800100" lvl="1" indent="-342900">
              <a:buFont typeface="Arial" panose="020B0604020202020204" pitchFamily="34" charset="0"/>
              <a:buChar char="•"/>
            </a:pPr>
            <a:r>
              <a:rPr lang="fr-FR" sz="2000" dirty="0">
                <a:latin typeface="Aptos" panose="020B0004020202020204" pitchFamily="34" charset="0"/>
              </a:rPr>
              <a:t>Suivi des patients chroniques</a:t>
            </a:r>
          </a:p>
        </p:txBody>
      </p:sp>
    </p:spTree>
    <p:extLst>
      <p:ext uri="{BB962C8B-B14F-4D97-AF65-F5344CB8AC3E}">
        <p14:creationId xmlns:p14="http://schemas.microsoft.com/office/powerpoint/2010/main" val="540418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5AD416DD-FA86-4815-8992-AA61F3C16C1A}"/>
              </a:ext>
            </a:extLst>
          </p:cNvPr>
          <p:cNvSpPr/>
          <p:nvPr/>
        </p:nvSpPr>
        <p:spPr>
          <a:xfrm>
            <a:off x="586355" y="301716"/>
            <a:ext cx="333375" cy="896949"/>
          </a:xfrm>
          <a:prstGeom prst="roundRect">
            <a:avLst>
              <a:gd name="adj" fmla="val 50000"/>
            </a:avLst>
          </a:prstGeom>
          <a:solidFill>
            <a:srgbClr val="F3750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a:extLst>
              <a:ext uri="{FF2B5EF4-FFF2-40B4-BE49-F238E27FC236}">
                <a16:creationId xmlns:a16="http://schemas.microsoft.com/office/drawing/2014/main" id="{FC70CD4E-7ACF-4B0B-A78D-D2E4366FA625}"/>
              </a:ext>
            </a:extLst>
          </p:cNvPr>
          <p:cNvSpPr txBox="1"/>
          <p:nvPr/>
        </p:nvSpPr>
        <p:spPr>
          <a:xfrm>
            <a:off x="1082384" y="488580"/>
            <a:ext cx="10049004" cy="523220"/>
          </a:xfrm>
          <a:prstGeom prst="rect">
            <a:avLst/>
          </a:prstGeom>
          <a:noFill/>
        </p:spPr>
        <p:txBody>
          <a:bodyPr wrap="square">
            <a:spAutoFit/>
          </a:bodyPr>
          <a:lstStyle/>
          <a:p>
            <a:r>
              <a:rPr lang="fr-FR" sz="2800" b="1" dirty="0">
                <a:solidFill>
                  <a:schemeClr val="tx1">
                    <a:lumMod val="75000"/>
                    <a:lumOff val="25000"/>
                  </a:schemeClr>
                </a:solidFill>
                <a:effectLst/>
                <a:latin typeface="Aptos" panose="020B0004020202020204" pitchFamily="34" charset="0"/>
                <a:ea typeface="Calibri" panose="020F0502020204030204" pitchFamily="34" charset="0"/>
                <a:cs typeface="Calibri" panose="020F0502020204030204" pitchFamily="34" charset="0"/>
              </a:rPr>
              <a:t>Programmes de fidélité et services à valeur ajoutée</a:t>
            </a:r>
          </a:p>
        </p:txBody>
      </p:sp>
      <p:pic>
        <p:nvPicPr>
          <p:cNvPr id="9" name="Image 8">
            <a:extLst>
              <a:ext uri="{FF2B5EF4-FFF2-40B4-BE49-F238E27FC236}">
                <a16:creationId xmlns:a16="http://schemas.microsoft.com/office/drawing/2014/main" id="{132E365D-7385-42DB-8204-5541B383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cxnSp>
        <p:nvCxnSpPr>
          <p:cNvPr id="12" name="Connecteur droit 11">
            <a:extLst>
              <a:ext uri="{FF2B5EF4-FFF2-40B4-BE49-F238E27FC236}">
                <a16:creationId xmlns:a16="http://schemas.microsoft.com/office/drawing/2014/main" id="{586CB1D7-446D-40AA-A1FD-D129D45A8B75}"/>
              </a:ext>
            </a:extLst>
          </p:cNvPr>
          <p:cNvCxnSpPr>
            <a:cxnSpLocks/>
            <a:stCxn id="9"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E46AE698-BB20-4DBA-8AD2-E4770A3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286" y="509655"/>
            <a:ext cx="481069" cy="481069"/>
          </a:xfrm>
          <a:prstGeom prst="rect">
            <a:avLst/>
          </a:prstGeom>
        </p:spPr>
      </p:pic>
      <p:sp>
        <p:nvSpPr>
          <p:cNvPr id="8" name="Rectangle : coins arrondis 7">
            <a:extLst>
              <a:ext uri="{FF2B5EF4-FFF2-40B4-BE49-F238E27FC236}">
                <a16:creationId xmlns:a16="http://schemas.microsoft.com/office/drawing/2014/main" id="{AD5B8DEB-25CC-478E-9C41-F94C7EC9E0B4}"/>
              </a:ext>
            </a:extLst>
          </p:cNvPr>
          <p:cNvSpPr/>
          <p:nvPr/>
        </p:nvSpPr>
        <p:spPr>
          <a:xfrm>
            <a:off x="586355" y="1598827"/>
            <a:ext cx="11267288" cy="421785"/>
          </a:xfrm>
          <a:prstGeom prst="roundRect">
            <a:avLst>
              <a:gd name="adj" fmla="val 50000"/>
            </a:avLst>
          </a:prstGeom>
          <a:solidFill>
            <a:srgbClr val="33993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fr-FR" sz="2400" b="1" dirty="0">
                <a:solidFill>
                  <a:schemeClr val="bg1"/>
                </a:solidFill>
                <a:latin typeface="Aptos" panose="020B0004020202020204" pitchFamily="34" charset="0"/>
              </a:rPr>
              <a:t>Message clé à retenir</a:t>
            </a:r>
            <a:endParaRPr lang="en-US" sz="2400" b="1" dirty="0">
              <a:solidFill>
                <a:schemeClr val="bg1"/>
              </a:solidFill>
            </a:endParaRPr>
          </a:p>
        </p:txBody>
      </p:sp>
      <p:sp>
        <p:nvSpPr>
          <p:cNvPr id="11" name="ZoneTexte 10">
            <a:extLst>
              <a:ext uri="{FF2B5EF4-FFF2-40B4-BE49-F238E27FC236}">
                <a16:creationId xmlns:a16="http://schemas.microsoft.com/office/drawing/2014/main" id="{E368C0A9-D643-4F38-B930-0EA0700E48BA}"/>
              </a:ext>
            </a:extLst>
          </p:cNvPr>
          <p:cNvSpPr txBox="1"/>
          <p:nvPr/>
        </p:nvSpPr>
        <p:spPr>
          <a:xfrm>
            <a:off x="753041" y="2073494"/>
            <a:ext cx="11100602" cy="2554545"/>
          </a:xfrm>
          <a:prstGeom prst="rect">
            <a:avLst/>
          </a:prstGeom>
          <a:noFill/>
        </p:spPr>
        <p:txBody>
          <a:bodyPr wrap="square">
            <a:spAutoFit/>
          </a:bodyPr>
          <a:lstStyle/>
          <a:p>
            <a:r>
              <a:rPr lang="fr-FR" sz="2000" dirty="0">
                <a:latin typeface="Aptos" panose="020B0004020202020204" pitchFamily="34" charset="0"/>
              </a:rPr>
              <a:t>L’avenir de l’officine africaine ne reposera plus uniquement sur la dispensation de médicaments.</a:t>
            </a:r>
          </a:p>
          <a:p>
            <a:endParaRPr lang="fr-FR" sz="2000" dirty="0">
              <a:latin typeface="Aptos" panose="020B0004020202020204" pitchFamily="34" charset="0"/>
            </a:endParaRPr>
          </a:p>
          <a:p>
            <a:r>
              <a:rPr lang="fr-FR" sz="2000" dirty="0">
                <a:latin typeface="Aptos" panose="020B0004020202020204" pitchFamily="34" charset="0"/>
              </a:rPr>
              <a:t>Il reposera sur la capacité du pharmacien à devenir :</a:t>
            </a:r>
          </a:p>
          <a:p>
            <a:pPr marL="800100" lvl="1" indent="-342900">
              <a:buFont typeface="Arial" panose="020B0604020202020204" pitchFamily="34" charset="0"/>
              <a:buChar char="•"/>
            </a:pPr>
            <a:r>
              <a:rPr lang="fr-FR" sz="2000" dirty="0">
                <a:latin typeface="Aptos" panose="020B0004020202020204" pitchFamily="34" charset="0"/>
              </a:rPr>
              <a:t>Un professionnel de santé de proximité ;</a:t>
            </a:r>
          </a:p>
          <a:p>
            <a:pPr marL="800100" lvl="1" indent="-342900">
              <a:buFont typeface="Arial" panose="020B0604020202020204" pitchFamily="34" charset="0"/>
              <a:buChar char="•"/>
            </a:pPr>
            <a:r>
              <a:rPr lang="fr-FR" sz="2000" dirty="0">
                <a:latin typeface="Aptos" panose="020B0004020202020204" pitchFamily="34" charset="0"/>
              </a:rPr>
              <a:t>Un gestionnaire performant ;</a:t>
            </a:r>
          </a:p>
          <a:p>
            <a:pPr marL="800100" lvl="1" indent="-342900">
              <a:buFont typeface="Arial" panose="020B0604020202020204" pitchFamily="34" charset="0"/>
              <a:buChar char="•"/>
            </a:pPr>
            <a:r>
              <a:rPr lang="fr-FR" sz="2000" dirty="0">
                <a:latin typeface="Aptos" panose="020B0004020202020204" pitchFamily="34" charset="0"/>
              </a:rPr>
              <a:t>Un conseiller thérapeutique ;</a:t>
            </a:r>
          </a:p>
          <a:p>
            <a:pPr marL="800100" lvl="1" indent="-342900">
              <a:buFont typeface="Arial" panose="020B0604020202020204" pitchFamily="34" charset="0"/>
              <a:buChar char="•"/>
            </a:pPr>
            <a:r>
              <a:rPr lang="fr-FR" sz="2000" dirty="0">
                <a:latin typeface="Aptos" panose="020B0004020202020204" pitchFamily="34" charset="0"/>
              </a:rPr>
              <a:t>Un acteur de prévention ;</a:t>
            </a:r>
          </a:p>
          <a:p>
            <a:pPr marL="800100" lvl="1" indent="-342900">
              <a:buFont typeface="Arial" panose="020B0604020202020204" pitchFamily="34" charset="0"/>
              <a:buChar char="•"/>
            </a:pPr>
            <a:r>
              <a:rPr lang="fr-FR" sz="2000" dirty="0">
                <a:latin typeface="Aptos" panose="020B0004020202020204" pitchFamily="34" charset="0"/>
              </a:rPr>
              <a:t>Un partenaire durable du patient.</a:t>
            </a:r>
          </a:p>
        </p:txBody>
      </p:sp>
    </p:spTree>
    <p:extLst>
      <p:ext uri="{BB962C8B-B14F-4D97-AF65-F5344CB8AC3E}">
        <p14:creationId xmlns:p14="http://schemas.microsoft.com/office/powerpoint/2010/main" val="1576846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251DDFA-8265-4E9D-851A-03DF889A45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18000"/>
            <a:ext cx="1980000" cy="540000"/>
          </a:xfrm>
          <a:prstGeom prst="rect">
            <a:avLst/>
          </a:prstGeom>
        </p:spPr>
      </p:pic>
      <p:sp>
        <p:nvSpPr>
          <p:cNvPr id="2" name="Rectangle 1">
            <a:extLst>
              <a:ext uri="{FF2B5EF4-FFF2-40B4-BE49-F238E27FC236}">
                <a16:creationId xmlns:a16="http://schemas.microsoft.com/office/drawing/2014/main" id="{265604B0-EF89-4CCD-9A70-88801B695330}"/>
              </a:ext>
            </a:extLst>
          </p:cNvPr>
          <p:cNvSpPr/>
          <p:nvPr/>
        </p:nvSpPr>
        <p:spPr>
          <a:xfrm>
            <a:off x="233266" y="205274"/>
            <a:ext cx="11747240" cy="5057192"/>
          </a:xfrm>
          <a:prstGeom prst="rect">
            <a:avLst/>
          </a:prstGeom>
          <a:solidFill>
            <a:srgbClr val="014A9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 coins arrondis 3">
            <a:extLst>
              <a:ext uri="{FF2B5EF4-FFF2-40B4-BE49-F238E27FC236}">
                <a16:creationId xmlns:a16="http://schemas.microsoft.com/office/drawing/2014/main" id="{5AD416DD-FA86-4815-8992-AA61F3C16C1A}"/>
              </a:ext>
            </a:extLst>
          </p:cNvPr>
          <p:cNvSpPr/>
          <p:nvPr/>
        </p:nvSpPr>
        <p:spPr>
          <a:xfrm>
            <a:off x="559298" y="1948057"/>
            <a:ext cx="481069" cy="1571625"/>
          </a:xfrm>
          <a:prstGeom prst="roundRect">
            <a:avLst>
              <a:gd name="adj" fmla="val 50000"/>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254AFEC-6D9A-4D72-B59B-ECA6D04691C1}"/>
              </a:ext>
            </a:extLst>
          </p:cNvPr>
          <p:cNvSpPr txBox="1"/>
          <p:nvPr/>
        </p:nvSpPr>
        <p:spPr>
          <a:xfrm>
            <a:off x="1082384" y="2410703"/>
            <a:ext cx="10049004" cy="646331"/>
          </a:xfrm>
          <a:prstGeom prst="rect">
            <a:avLst/>
          </a:prstGeom>
          <a:noFill/>
        </p:spPr>
        <p:txBody>
          <a:bodyPr wrap="square">
            <a:spAutoFit/>
          </a:bodyPr>
          <a:lstStyle/>
          <a:p>
            <a:r>
              <a:rPr lang="fr-FR" sz="3600" b="1" dirty="0">
                <a:solidFill>
                  <a:schemeClr val="bg1"/>
                </a:solidFill>
                <a:latin typeface="Aptos" panose="020B0004020202020204" pitchFamily="34" charset="0"/>
                <a:ea typeface="Calibri" panose="020F0502020204030204" pitchFamily="34" charset="0"/>
                <a:cs typeface="Calibri" panose="020F0502020204030204" pitchFamily="34" charset="0"/>
              </a:rPr>
              <a:t>Question?</a:t>
            </a:r>
            <a:endParaRPr lang="en-US" sz="3600" dirty="0">
              <a:solidFill>
                <a:schemeClr val="bg1"/>
              </a:solidFill>
              <a:latin typeface="Aptos" panose="020B0004020202020204" pitchFamily="34" charset="0"/>
            </a:endParaRPr>
          </a:p>
        </p:txBody>
      </p:sp>
      <p:cxnSp>
        <p:nvCxnSpPr>
          <p:cNvPr id="6" name="Connecteur droit 5">
            <a:extLst>
              <a:ext uri="{FF2B5EF4-FFF2-40B4-BE49-F238E27FC236}">
                <a16:creationId xmlns:a16="http://schemas.microsoft.com/office/drawing/2014/main" id="{2DCBA7D2-EC6B-455F-8C1C-07EFE76AD878}"/>
              </a:ext>
            </a:extLst>
          </p:cNvPr>
          <p:cNvCxnSpPr>
            <a:cxnSpLocks/>
            <a:stCxn id="3" idx="3"/>
          </p:cNvCxnSpPr>
          <p:nvPr/>
        </p:nvCxnSpPr>
        <p:spPr>
          <a:xfrm>
            <a:off x="1980000" y="6588000"/>
            <a:ext cx="10212000" cy="0"/>
          </a:xfrm>
          <a:prstGeom prst="line">
            <a:avLst/>
          </a:prstGeom>
          <a:ln w="28575">
            <a:solidFill>
              <a:srgbClr val="FA7E03"/>
            </a:solidFill>
          </a:ln>
        </p:spPr>
        <p:style>
          <a:lnRef idx="1">
            <a:schemeClr val="accent1"/>
          </a:lnRef>
          <a:fillRef idx="0">
            <a:schemeClr val="accent1"/>
          </a:fillRef>
          <a:effectRef idx="0">
            <a:schemeClr val="accent1"/>
          </a:effectRef>
          <a:fontRef idx="minor">
            <a:schemeClr val="tx1"/>
          </a:fontRef>
        </p:style>
      </p:cxnSp>
      <p:pic>
        <p:nvPicPr>
          <p:cNvPr id="9" name="Image 8">
            <a:extLst>
              <a:ext uri="{FF2B5EF4-FFF2-40B4-BE49-F238E27FC236}">
                <a16:creationId xmlns:a16="http://schemas.microsoft.com/office/drawing/2014/main" id="{E6FAEB95-BFF9-46F3-B8A9-073888F54EE1}"/>
              </a:ext>
            </a:extLst>
          </p:cNvPr>
          <p:cNvPicPr>
            <a:picLocks noChangeAspect="1"/>
          </p:cNvPicPr>
          <p:nvPr/>
        </p:nvPicPr>
        <p:blipFill rotWithShape="1">
          <a:blip r:embed="rId3">
            <a:extLst>
              <a:ext uri="{28A0092B-C50C-407E-A947-70E740481C1C}">
                <a14:useLocalDpi xmlns:a14="http://schemas.microsoft.com/office/drawing/2010/main" val="0"/>
              </a:ext>
            </a:extLst>
          </a:blip>
          <a:srcRect t="21545" b="12625"/>
          <a:stretch/>
        </p:blipFill>
        <p:spPr>
          <a:xfrm>
            <a:off x="8709840" y="221037"/>
            <a:ext cx="1944000" cy="592467"/>
          </a:xfrm>
          <a:prstGeom prst="rect">
            <a:avLst/>
          </a:prstGeom>
        </p:spPr>
      </p:pic>
      <p:pic>
        <p:nvPicPr>
          <p:cNvPr id="13" name="Image 12">
            <a:extLst>
              <a:ext uri="{FF2B5EF4-FFF2-40B4-BE49-F238E27FC236}">
                <a16:creationId xmlns:a16="http://schemas.microsoft.com/office/drawing/2014/main" id="{CA4AA596-6C70-4F03-A5B4-5227541053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297" y="2493333"/>
            <a:ext cx="481069" cy="481069"/>
          </a:xfrm>
          <a:prstGeom prst="rect">
            <a:avLst/>
          </a:prstGeom>
        </p:spPr>
      </p:pic>
      <p:sp>
        <p:nvSpPr>
          <p:cNvPr id="11" name="ZoneTexte 10">
            <a:extLst>
              <a:ext uri="{FF2B5EF4-FFF2-40B4-BE49-F238E27FC236}">
                <a16:creationId xmlns:a16="http://schemas.microsoft.com/office/drawing/2014/main" id="{17413FA8-BBFC-4C95-A239-5B4BF0429C32}"/>
              </a:ext>
            </a:extLst>
          </p:cNvPr>
          <p:cNvSpPr txBox="1"/>
          <p:nvPr/>
        </p:nvSpPr>
        <p:spPr>
          <a:xfrm>
            <a:off x="8349112" y="813504"/>
            <a:ext cx="2765498" cy="523220"/>
          </a:xfrm>
          <a:prstGeom prst="rect">
            <a:avLst/>
          </a:prstGeom>
          <a:noFill/>
        </p:spPr>
        <p:txBody>
          <a:bodyPr wrap="square">
            <a:spAutoFit/>
          </a:bodyPr>
          <a:lstStyle/>
          <a:p>
            <a:pPr algn="ctr"/>
            <a:r>
              <a:rPr lang="fr-FR" sz="1400" dirty="0">
                <a:solidFill>
                  <a:schemeClr val="bg1"/>
                </a:solidFill>
                <a:effectLst/>
                <a:latin typeface="Aptos" panose="020B0004020202020204" pitchFamily="34" charset="0"/>
                <a:ea typeface="Calibri" panose="020F0502020204030204" pitchFamily="34" charset="0"/>
                <a:cs typeface="Calibri" panose="020F0502020204030204" pitchFamily="34" charset="0"/>
              </a:rPr>
              <a:t>BUSINESS PHARMACEUTIQUE &amp; ENTREPRENEURIAT SANTÉ</a:t>
            </a:r>
            <a:endParaRPr lang="en-US" sz="1400" dirty="0">
              <a:solidFill>
                <a:schemeClr val="bg1"/>
              </a:solidFill>
              <a:latin typeface="Aptos" panose="020B0004020202020204" pitchFamily="34" charset="0"/>
            </a:endParaRPr>
          </a:p>
        </p:txBody>
      </p:sp>
    </p:spTree>
    <p:extLst>
      <p:ext uri="{BB962C8B-B14F-4D97-AF65-F5344CB8AC3E}">
        <p14:creationId xmlns:p14="http://schemas.microsoft.com/office/powerpoint/2010/main" val="3301766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4000" fill="hold"/>
                                        <p:tgtEl>
                                          <p:spTgt spid="1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14126</TotalTime>
  <Words>17079</Words>
  <Application>Microsoft Office PowerPoint</Application>
  <PresentationFormat>Grand écran</PresentationFormat>
  <Paragraphs>3704</Paragraphs>
  <Slides>319</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319</vt:i4>
      </vt:variant>
    </vt:vector>
  </HeadingPairs>
  <TitlesOfParts>
    <vt:vector size="326" baseType="lpstr">
      <vt:lpstr>Aptos</vt:lpstr>
      <vt:lpstr>Arial</vt:lpstr>
      <vt:lpstr>Calibri</vt:lpstr>
      <vt:lpstr>Calibri Light</vt:lpstr>
      <vt:lpstr>Courier New</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Hope AKOHOUVI AMOU [SANTE]</dc:creator>
  <cp:lastModifiedBy>Hope AKOHOUVI AMOU [SANTE]</cp:lastModifiedBy>
  <cp:revision>445</cp:revision>
  <dcterms:created xsi:type="dcterms:W3CDTF">2026-05-21T14:26:34Z</dcterms:created>
  <dcterms:modified xsi:type="dcterms:W3CDTF">2026-06-06T17:46:32Z</dcterms:modified>
</cp:coreProperties>
</file>