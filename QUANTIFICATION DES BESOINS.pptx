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61" r:id="rId4"/>
    <p:sldId id="260" r:id="rId5"/>
    <p:sldId id="262" r:id="rId6"/>
    <p:sldId id="496" r:id="rId7"/>
    <p:sldId id="493" r:id="rId8"/>
    <p:sldId id="264" r:id="rId9"/>
    <p:sldId id="265" r:id="rId10"/>
    <p:sldId id="277" r:id="rId11"/>
    <p:sldId id="494" r:id="rId12"/>
    <p:sldId id="497" r:id="rId13"/>
    <p:sldId id="515" r:id="rId14"/>
    <p:sldId id="498" r:id="rId15"/>
    <p:sldId id="499" r:id="rId16"/>
    <p:sldId id="500" r:id="rId17"/>
    <p:sldId id="501" r:id="rId18"/>
    <p:sldId id="502" r:id="rId19"/>
    <p:sldId id="503" r:id="rId20"/>
    <p:sldId id="504" r:id="rId21"/>
    <p:sldId id="506" r:id="rId22"/>
    <p:sldId id="505" r:id="rId23"/>
    <p:sldId id="513" r:id="rId24"/>
    <p:sldId id="507" r:id="rId25"/>
    <p:sldId id="508" r:id="rId26"/>
    <p:sldId id="509" r:id="rId27"/>
    <p:sldId id="510" r:id="rId28"/>
    <p:sldId id="511" r:id="rId29"/>
    <p:sldId id="512" r:id="rId30"/>
    <p:sldId id="514" r:id="rId31"/>
    <p:sldId id="516" r:id="rId32"/>
    <p:sldId id="517"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2" r:id="rId48"/>
    <p:sldId id="533" r:id="rId49"/>
    <p:sldId id="534" r:id="rId50"/>
    <p:sldId id="535" r:id="rId51"/>
    <p:sldId id="536" r:id="rId52"/>
    <p:sldId id="537" r:id="rId53"/>
    <p:sldId id="538" r:id="rId54"/>
    <p:sldId id="539" r:id="rId55"/>
    <p:sldId id="540" r:id="rId56"/>
    <p:sldId id="541" r:id="rId57"/>
    <p:sldId id="542" r:id="rId58"/>
    <p:sldId id="543" r:id="rId59"/>
    <p:sldId id="544" r:id="rId60"/>
    <p:sldId id="545" r:id="rId61"/>
    <p:sldId id="546" r:id="rId62"/>
    <p:sldId id="547" r:id="rId63"/>
    <p:sldId id="548" r:id="rId64"/>
    <p:sldId id="550" r:id="rId65"/>
    <p:sldId id="549" r:id="rId66"/>
    <p:sldId id="551" r:id="rId67"/>
    <p:sldId id="552" r:id="rId68"/>
    <p:sldId id="553" r:id="rId69"/>
    <p:sldId id="554" r:id="rId70"/>
    <p:sldId id="555" r:id="rId71"/>
    <p:sldId id="556" r:id="rId72"/>
    <p:sldId id="557" r:id="rId73"/>
    <p:sldId id="558" r:id="rId74"/>
    <p:sldId id="559" r:id="rId75"/>
    <p:sldId id="560" r:id="rId76"/>
    <p:sldId id="562" r:id="rId77"/>
    <p:sldId id="561" r:id="rId78"/>
    <p:sldId id="563" r:id="rId79"/>
    <p:sldId id="564" r:id="rId80"/>
    <p:sldId id="565" r:id="rId81"/>
    <p:sldId id="566" r:id="rId82"/>
    <p:sldId id="567" r:id="rId83"/>
    <p:sldId id="568" r:id="rId84"/>
    <p:sldId id="569" r:id="rId85"/>
    <p:sldId id="570" r:id="rId86"/>
    <p:sldId id="571" r:id="rId87"/>
    <p:sldId id="572" r:id="rId88"/>
    <p:sldId id="573" r:id="rId89"/>
    <p:sldId id="266" r:id="rId90"/>
    <p:sldId id="267" r:id="rId91"/>
    <p:sldId id="281" r:id="rId92"/>
    <p:sldId id="363" r:id="rId93"/>
    <p:sldId id="574" r:id="rId94"/>
    <p:sldId id="575" r:id="rId95"/>
    <p:sldId id="576" r:id="rId96"/>
    <p:sldId id="577" r:id="rId97"/>
    <p:sldId id="578" r:id="rId98"/>
    <p:sldId id="579" r:id="rId99"/>
    <p:sldId id="580" r:id="rId100"/>
    <p:sldId id="581" r:id="rId101"/>
    <p:sldId id="582" r:id="rId102"/>
    <p:sldId id="583" r:id="rId103"/>
    <p:sldId id="584" r:id="rId104"/>
    <p:sldId id="585" r:id="rId105"/>
    <p:sldId id="587" r:id="rId106"/>
    <p:sldId id="586" r:id="rId107"/>
    <p:sldId id="588" r:id="rId108"/>
    <p:sldId id="589" r:id="rId109"/>
    <p:sldId id="590" r:id="rId110"/>
    <p:sldId id="591" r:id="rId111"/>
    <p:sldId id="592" r:id="rId112"/>
    <p:sldId id="593" r:id="rId113"/>
    <p:sldId id="594" r:id="rId114"/>
    <p:sldId id="595" r:id="rId115"/>
    <p:sldId id="596" r:id="rId116"/>
    <p:sldId id="597" r:id="rId117"/>
    <p:sldId id="598" r:id="rId118"/>
    <p:sldId id="599" r:id="rId119"/>
    <p:sldId id="600" r:id="rId120"/>
    <p:sldId id="601" r:id="rId121"/>
    <p:sldId id="602" r:id="rId122"/>
    <p:sldId id="603" r:id="rId123"/>
    <p:sldId id="604" r:id="rId124"/>
    <p:sldId id="605" r:id="rId125"/>
    <p:sldId id="606" r:id="rId126"/>
    <p:sldId id="607" r:id="rId127"/>
    <p:sldId id="608" r:id="rId128"/>
    <p:sldId id="609" r:id="rId129"/>
    <p:sldId id="610" r:id="rId130"/>
    <p:sldId id="611" r:id="rId131"/>
    <p:sldId id="612" r:id="rId132"/>
    <p:sldId id="613" r:id="rId133"/>
    <p:sldId id="614" r:id="rId134"/>
    <p:sldId id="615" r:id="rId135"/>
    <p:sldId id="616" r:id="rId136"/>
    <p:sldId id="617" r:id="rId137"/>
    <p:sldId id="618" r:id="rId138"/>
    <p:sldId id="619" r:id="rId139"/>
    <p:sldId id="620" r:id="rId140"/>
    <p:sldId id="621" r:id="rId141"/>
    <p:sldId id="622" r:id="rId142"/>
    <p:sldId id="623" r:id="rId143"/>
    <p:sldId id="624" r:id="rId144"/>
    <p:sldId id="625" r:id="rId145"/>
    <p:sldId id="626" r:id="rId146"/>
    <p:sldId id="627" r:id="rId147"/>
    <p:sldId id="628" r:id="rId148"/>
    <p:sldId id="629" r:id="rId149"/>
    <p:sldId id="630" r:id="rId150"/>
    <p:sldId id="631" r:id="rId151"/>
    <p:sldId id="632" r:id="rId152"/>
    <p:sldId id="633" r:id="rId153"/>
    <p:sldId id="634" r:id="rId154"/>
    <p:sldId id="635" r:id="rId155"/>
    <p:sldId id="636" r:id="rId156"/>
    <p:sldId id="637" r:id="rId157"/>
    <p:sldId id="638" r:id="rId158"/>
    <p:sldId id="639" r:id="rId159"/>
    <p:sldId id="640" r:id="rId160"/>
    <p:sldId id="641" r:id="rId161"/>
    <p:sldId id="642" r:id="rId162"/>
    <p:sldId id="643" r:id="rId163"/>
    <p:sldId id="644" r:id="rId164"/>
    <p:sldId id="645" r:id="rId165"/>
    <p:sldId id="646" r:id="rId166"/>
    <p:sldId id="647" r:id="rId167"/>
    <p:sldId id="648" r:id="rId168"/>
    <p:sldId id="268" r:id="rId169"/>
    <p:sldId id="269" r:id="rId170"/>
    <p:sldId id="649" r:id="rId171"/>
    <p:sldId id="272" r:id="rId1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pe AKOHOUVI AMOU [SANTE]" initials="HAA[" lastIdx="1" clrIdx="0">
    <p:extLst>
      <p:ext uri="{19B8F6BF-5375-455C-9EA6-DF929625EA0E}">
        <p15:presenceInfo xmlns:p15="http://schemas.microsoft.com/office/powerpoint/2012/main" userId="S::hakohouvi@gouv.bj::2899bb1e-bb96-4adc-ba7b-0412e746b0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7504"/>
    <a:srgbClr val="014691"/>
    <a:srgbClr val="339933"/>
    <a:srgbClr val="0150A3"/>
    <a:srgbClr val="0156AD"/>
    <a:srgbClr val="FFFFFF"/>
    <a:srgbClr val="014E9D"/>
    <a:srgbClr val="014C9B"/>
    <a:srgbClr val="0154AA"/>
    <a:srgbClr val="0057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ableStyles" Target="tableStyle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Aptos" panose="020B0004020202020204" pitchFamily="34" charset="0"/>
                <a:ea typeface="+mn-ea"/>
                <a:cs typeface="+mn-cs"/>
              </a:defRPr>
            </a:pPr>
            <a:r>
              <a:rPr lang="en-US"/>
              <a:t>Semi-moyenne</a:t>
            </a:r>
          </a:p>
        </c:rich>
      </c:tx>
      <c:layout>
        <c:manualLayout>
          <c:xMode val="edge"/>
          <c:yMode val="edge"/>
          <c:x val="0.37689566929133855"/>
          <c:y val="1.83908045977011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Aptos" panose="020B0004020202020204" pitchFamily="34" charset="0"/>
              <a:ea typeface="+mn-ea"/>
              <a:cs typeface="+mn-cs"/>
            </a:defRPr>
          </a:pPr>
          <a:endParaRPr lang="fr-FR"/>
        </a:p>
      </c:txPr>
    </c:title>
    <c:autoTitleDeleted val="0"/>
    <c:plotArea>
      <c:layout/>
      <c:lineChart>
        <c:grouping val="standard"/>
        <c:varyColors val="0"/>
        <c:ser>
          <c:idx val="0"/>
          <c:order val="0"/>
          <c:tx>
            <c:strRef>
              <c:f>Sheet1!$B$4</c:f>
              <c:strCache>
                <c:ptCount val="1"/>
                <c:pt idx="0">
                  <c:v>Quantité</c:v>
                </c:pt>
              </c:strCache>
            </c:strRef>
          </c:tx>
          <c:spPr>
            <a:ln w="28575" cap="rnd">
              <a:noFill/>
              <a:round/>
            </a:ln>
            <a:effectLst/>
          </c:spPr>
          <c:marker>
            <c:symbol val="circle"/>
            <c:size val="5"/>
            <c:spPr>
              <a:solidFill>
                <a:schemeClr val="accent1"/>
              </a:solidFill>
              <a:ln w="9525">
                <a:solidFill>
                  <a:schemeClr val="accent1"/>
                </a:solidFill>
              </a:ln>
              <a:effectLst/>
            </c:spPr>
          </c:marker>
          <c:dLbls>
            <c:dLbl>
              <c:idx val="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69-4A1A-864B-93F9CBE16F15}"/>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fr-F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Sheet1!$C$3:$K$3</c:f>
              <c:strCache>
                <c:ptCount val="9"/>
                <c:pt idx="0">
                  <c:v>1</c:v>
                </c:pt>
                <c:pt idx="1">
                  <c:v>2</c:v>
                </c:pt>
                <c:pt idx="2">
                  <c:v>3</c:v>
                </c:pt>
                <c:pt idx="3">
                  <c:v>4</c:v>
                </c:pt>
                <c:pt idx="4">
                  <c:v>5</c:v>
                </c:pt>
                <c:pt idx="5">
                  <c:v>6</c:v>
                </c:pt>
                <c:pt idx="6">
                  <c:v>Jul</c:v>
                </c:pt>
                <c:pt idx="7">
                  <c:v>Aug</c:v>
                </c:pt>
                <c:pt idx="8">
                  <c:v>Sep</c:v>
                </c:pt>
              </c:strCache>
            </c:strRef>
          </c:cat>
          <c:val>
            <c:numRef>
              <c:f>Sheet1!$C$4:$K$4</c:f>
              <c:numCache>
                <c:formatCode>General</c:formatCode>
                <c:ptCount val="9"/>
                <c:pt idx="0">
                  <c:v>20</c:v>
                </c:pt>
                <c:pt idx="1">
                  <c:v>24</c:v>
                </c:pt>
                <c:pt idx="2">
                  <c:v>22</c:v>
                </c:pt>
                <c:pt idx="3">
                  <c:v>30</c:v>
                </c:pt>
                <c:pt idx="4">
                  <c:v>28</c:v>
                </c:pt>
                <c:pt idx="5">
                  <c:v>32</c:v>
                </c:pt>
              </c:numCache>
            </c:numRef>
          </c:val>
          <c:smooth val="0"/>
          <c:extLst>
            <c:ext xmlns:c16="http://schemas.microsoft.com/office/drawing/2014/chart" uri="{C3380CC4-5D6E-409C-BE32-E72D297353CC}">
              <c16:uniqueId val="{00000001-5269-4A1A-864B-93F9CBE16F15}"/>
            </c:ext>
          </c:extLst>
        </c:ser>
        <c:ser>
          <c:idx val="1"/>
          <c:order val="1"/>
          <c:tx>
            <c:strRef>
              <c:f>Sheet1!$B$5</c:f>
              <c:strCache>
                <c:ptCount val="1"/>
                <c:pt idx="0">
                  <c:v>Moyenne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Pt>
            <c:idx val="4"/>
            <c:marker>
              <c:symbol val="circle"/>
              <c:size val="5"/>
              <c:spPr>
                <a:solidFill>
                  <a:srgbClr val="009A46"/>
                </a:solidFill>
                <a:ln w="9525">
                  <a:noFill/>
                </a:ln>
                <a:effectLst/>
              </c:spPr>
            </c:marker>
            <c:bubble3D val="0"/>
            <c:spPr>
              <a:ln w="28575" cap="rnd">
                <a:noFill/>
                <a:round/>
              </a:ln>
              <a:effectLst/>
            </c:spPr>
            <c:extLst>
              <c:ext xmlns:c16="http://schemas.microsoft.com/office/drawing/2014/chart" uri="{C3380CC4-5D6E-409C-BE32-E72D297353CC}">
                <c16:uniqueId val="{00000003-5269-4A1A-864B-93F9CBE16F15}"/>
              </c:ext>
            </c:extLst>
          </c:dPt>
          <c:dLbls>
            <c:dLbl>
              <c:idx val="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69-4A1A-864B-93F9CBE16F15}"/>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Sheet1!$C$3:$K$3</c:f>
              <c:strCache>
                <c:ptCount val="9"/>
                <c:pt idx="0">
                  <c:v>1</c:v>
                </c:pt>
                <c:pt idx="1">
                  <c:v>2</c:v>
                </c:pt>
                <c:pt idx="2">
                  <c:v>3</c:v>
                </c:pt>
                <c:pt idx="3">
                  <c:v>4</c:v>
                </c:pt>
                <c:pt idx="4">
                  <c:v>5</c:v>
                </c:pt>
                <c:pt idx="5">
                  <c:v>6</c:v>
                </c:pt>
                <c:pt idx="6">
                  <c:v>Jul</c:v>
                </c:pt>
                <c:pt idx="7">
                  <c:v>Aug</c:v>
                </c:pt>
                <c:pt idx="8">
                  <c:v>Sep</c:v>
                </c:pt>
              </c:strCache>
            </c:strRef>
          </c:cat>
          <c:val>
            <c:numRef>
              <c:f>Sheet1!$C$5:$K$5</c:f>
              <c:numCache>
                <c:formatCode>General</c:formatCode>
                <c:ptCount val="9"/>
                <c:pt idx="1">
                  <c:v>22</c:v>
                </c:pt>
                <c:pt idx="4">
                  <c:v>30</c:v>
                </c:pt>
              </c:numCache>
            </c:numRef>
          </c:val>
          <c:smooth val="0"/>
          <c:extLst>
            <c:ext xmlns:c16="http://schemas.microsoft.com/office/drawing/2014/chart" uri="{C3380CC4-5D6E-409C-BE32-E72D297353CC}">
              <c16:uniqueId val="{00000005-5269-4A1A-864B-93F9CBE16F15}"/>
            </c:ext>
          </c:extLst>
        </c:ser>
        <c:dLbls>
          <c:dLblPos val="ctr"/>
          <c:showLegendKey val="0"/>
          <c:showVal val="1"/>
          <c:showCatName val="0"/>
          <c:showSerName val="0"/>
          <c:showPercent val="0"/>
          <c:showBubbleSize val="0"/>
        </c:dLbls>
        <c:marker val="1"/>
        <c:smooth val="0"/>
        <c:axId val="1623035808"/>
        <c:axId val="1623034560"/>
      </c:lineChart>
      <c:catAx>
        <c:axId val="1623035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fr-FR"/>
          </a:p>
        </c:txPr>
        <c:crossAx val="1623034560"/>
        <c:crosses val="autoZero"/>
        <c:auto val="1"/>
        <c:lblAlgn val="ctr"/>
        <c:lblOffset val="100"/>
        <c:noMultiLvlLbl val="0"/>
      </c:catAx>
      <c:valAx>
        <c:axId val="1623034560"/>
        <c:scaling>
          <c:orientation val="minMax"/>
          <c:min val="1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fr-FR"/>
          </a:p>
        </c:txPr>
        <c:crossAx val="1623035808"/>
        <c:crosses val="autoZero"/>
        <c:crossBetween val="between"/>
        <c:majorUnit val="4"/>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071E2A-4119-4214-8E1A-75C869753E5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5B17FE50-C3BF-46D4-A4A4-E0B95E4F7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2188503F-7A00-4171-BE61-95AC08694E5B}"/>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2106E8FD-8421-4DF2-81B5-125C0D77DA1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6A2902D5-0AD6-4652-9CD0-757C94AD0B59}"/>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07371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3D7084-0320-4C2C-9516-769059D10671}"/>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5096985A-09AB-4172-AF53-BBA215FCE1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266F3484-B0BE-4ECA-BC76-1BFA451B70BE}"/>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7F917757-2EEA-4CD4-A991-33F06535780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40C989FD-0978-44C4-949F-10B1F7A06AB4}"/>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345462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67904B-05FF-47A2-A4C3-D14CF69B120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FC204304-73CC-49BC-BE08-EEAA28C00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330D5D5-21BF-441A-8931-E50B044DCA30}"/>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BCC7D800-FC31-4236-9093-A9A6FB779B6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1E46DCB-9148-44E1-9537-DA22E5D3A4BA}"/>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03478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253450-08ED-44CE-947C-3B474A31A36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8B9DF2A-C374-431F-87EA-2A6BC340A4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39EA97DE-48C0-4415-B699-3EF1DCF280B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8D7458FD-6C49-4558-9529-1A6783189AF9}"/>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6" name="Espace réservé du pied de page 5">
            <a:extLst>
              <a:ext uri="{FF2B5EF4-FFF2-40B4-BE49-F238E27FC236}">
                <a16:creationId xmlns:a16="http://schemas.microsoft.com/office/drawing/2014/main" id="{CA9E60CA-E951-46AF-A3FA-C33FE517EB7A}"/>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6472540-A910-4897-86B9-05F88716AE57}"/>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163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C0209B-ADE2-49DB-9017-D0E81542ED40}"/>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2BD18CB-91FE-44A1-81E0-E1C44E2062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3F895D3-A64A-49E6-BA72-EA35CA09079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19966AFB-FC27-4ACE-BD29-FC73E44D3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1F45509-94A6-48EE-A7C7-84A90AF087E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14F3747F-D218-4823-BA68-4C3C9658D2FF}"/>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8" name="Espace réservé du pied de page 7">
            <a:extLst>
              <a:ext uri="{FF2B5EF4-FFF2-40B4-BE49-F238E27FC236}">
                <a16:creationId xmlns:a16="http://schemas.microsoft.com/office/drawing/2014/main" id="{103260D5-42CC-43D3-99D7-B22E47510154}"/>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4FF582A9-ACE3-4FDB-89A2-1330002888A5}"/>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655683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BC120-6E25-4146-97D1-91562B0A0928}"/>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FC927168-D792-40D3-A6BC-37E2C6040CC1}"/>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4" name="Espace réservé du pied de page 3">
            <a:extLst>
              <a:ext uri="{FF2B5EF4-FFF2-40B4-BE49-F238E27FC236}">
                <a16:creationId xmlns:a16="http://schemas.microsoft.com/office/drawing/2014/main" id="{2EB35CD1-FD1C-4B57-9E30-988F37BE9DD9}"/>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09DFAC80-B2A4-47E4-A642-EAF142CD8B38}"/>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90928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7594ACE-5676-48CB-B543-08D2A21E9013}"/>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3" name="Espace réservé du pied de page 2">
            <a:extLst>
              <a:ext uri="{FF2B5EF4-FFF2-40B4-BE49-F238E27FC236}">
                <a16:creationId xmlns:a16="http://schemas.microsoft.com/office/drawing/2014/main" id="{57FAE5BD-F80F-4B78-8E27-28AEA280BDF2}"/>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51AE06D5-B480-4F25-A69B-0C7F45DA9D93}"/>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2999195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07CAAF-83C2-45C1-88CC-B9B455E4E4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5D6FCB5B-B17E-433D-8CB4-73CD6D221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B44BAF-590E-48F9-B3C5-47950B80B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6B5D2BA-5432-431E-B5EB-A4E00F9534AB}"/>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6" name="Espace réservé du pied de page 5">
            <a:extLst>
              <a:ext uri="{FF2B5EF4-FFF2-40B4-BE49-F238E27FC236}">
                <a16:creationId xmlns:a16="http://schemas.microsoft.com/office/drawing/2014/main" id="{492E150E-D470-4F75-A243-43C2D8D7B56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C2CAFA6-224B-4858-AA8F-2A03CC0F8EBD}"/>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669525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6FFF18-7ADE-4B09-8DD2-0F3F4A9C814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AAB042BF-1BB9-4569-9912-181995720B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340B60F4-FDF1-4A91-A14C-F65D197472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3C0581-84EE-42A6-8F9A-58385316253B}"/>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6" name="Espace réservé du pied de page 5">
            <a:extLst>
              <a:ext uri="{FF2B5EF4-FFF2-40B4-BE49-F238E27FC236}">
                <a16:creationId xmlns:a16="http://schemas.microsoft.com/office/drawing/2014/main" id="{6FEB829C-848C-4665-8B99-E154A8B1126F}"/>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2CFBF811-AEDE-47D1-993A-73FEA860D873}"/>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266649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909646-C762-4828-9128-13C8904DCB49}"/>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3F1666B9-AC2A-4750-9C03-182D38A532C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A7715E0-BE39-4CD2-8AAA-5FDA1FBDFEBD}"/>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299677DB-61CC-4F9F-8BD7-8786EBD2322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2C277B9-792D-4BE6-A424-D577AC2F01AC}"/>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88268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41A971B-4CDB-4229-BDEC-A719FB570280}"/>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A373F74B-DD4C-48A0-943A-3DAEBCD1D17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DD099399-C5EE-41B9-B2C9-62240A708317}"/>
              </a:ext>
            </a:extLst>
          </p:cNvPr>
          <p:cNvSpPr>
            <a:spLocks noGrp="1"/>
          </p:cNvSpPr>
          <p:nvPr>
            <p:ph type="dt" sz="half" idx="10"/>
          </p:nvPr>
        </p:nvSpPr>
        <p:spPr/>
        <p:txBody>
          <a:body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7160E782-0B72-4416-8CFD-0A05A555E6CB}"/>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2DF7DC2-8162-49F5-8F78-D32BF2276BE4}"/>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635519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141528A-24DE-4486-BF48-B624F30E7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DA3E4E90-E202-49DC-A6DF-AB9FD75CD7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F5DD182E-9284-418D-88C3-822A925E30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10214C-6F90-4EFD-A849-49C3BF3D8E83}" type="datetimeFigureOut">
              <a:rPr lang="en-US" smtClean="0"/>
              <a:t>5/28/2026</a:t>
            </a:fld>
            <a:endParaRPr lang="en-US"/>
          </a:p>
        </p:txBody>
      </p:sp>
      <p:sp>
        <p:nvSpPr>
          <p:cNvPr id="5" name="Espace réservé du pied de page 4">
            <a:extLst>
              <a:ext uri="{FF2B5EF4-FFF2-40B4-BE49-F238E27FC236}">
                <a16:creationId xmlns:a16="http://schemas.microsoft.com/office/drawing/2014/main" id="{C080CF4F-1EB6-43FD-92E5-368B4468C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20E3544A-5889-4301-AB52-B8C7181FE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412A2-ECFA-47BC-99E9-6BCA7B7D02BF}" type="slidenum">
              <a:rPr lang="en-US" smtClean="0"/>
              <a:t>‹N°›</a:t>
            </a:fld>
            <a:endParaRPr lang="en-US"/>
          </a:p>
        </p:txBody>
      </p:sp>
    </p:spTree>
    <p:extLst>
      <p:ext uri="{BB962C8B-B14F-4D97-AF65-F5344CB8AC3E}">
        <p14:creationId xmlns:p14="http://schemas.microsoft.com/office/powerpoint/2010/main" val="1176616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BC426065-EB54-4719-AE8F-DBD62E38ECBE}"/>
              </a:ext>
            </a:extLst>
          </p:cNvPr>
          <p:cNvPicPr>
            <a:picLocks noChangeAspect="1"/>
          </p:cNvPicPr>
          <p:nvPr/>
        </p:nvPicPr>
        <p:blipFill rotWithShape="1">
          <a:blip r:embed="rId2">
            <a:extLst>
              <a:ext uri="{28A0092B-C50C-407E-A947-70E740481C1C}">
                <a14:useLocalDpi xmlns:a14="http://schemas.microsoft.com/office/drawing/2010/main" val="0"/>
              </a:ext>
            </a:extLst>
          </a:blip>
          <a:srcRect l="4450" r="67462"/>
          <a:stretch/>
        </p:blipFill>
        <p:spPr>
          <a:xfrm>
            <a:off x="3088257" y="2528596"/>
            <a:ext cx="1854679" cy="1800808"/>
          </a:xfrm>
          <a:prstGeom prst="rect">
            <a:avLst/>
          </a:prstGeom>
        </p:spPr>
      </p:pic>
      <p:pic>
        <p:nvPicPr>
          <p:cNvPr id="3" name="Image 2">
            <a:extLst>
              <a:ext uri="{FF2B5EF4-FFF2-40B4-BE49-F238E27FC236}">
                <a16:creationId xmlns:a16="http://schemas.microsoft.com/office/drawing/2014/main" id="{C268A599-18FB-4EC9-B95D-B5882B174D03}"/>
              </a:ext>
            </a:extLst>
          </p:cNvPr>
          <p:cNvPicPr>
            <a:picLocks noChangeAspect="1"/>
          </p:cNvPicPr>
          <p:nvPr/>
        </p:nvPicPr>
        <p:blipFill rotWithShape="1">
          <a:blip r:embed="rId2">
            <a:extLst>
              <a:ext uri="{28A0092B-C50C-407E-A947-70E740481C1C}">
                <a14:useLocalDpi xmlns:a14="http://schemas.microsoft.com/office/drawing/2010/main" val="0"/>
              </a:ext>
            </a:extLst>
          </a:blip>
          <a:srcRect l="30709"/>
          <a:stretch/>
        </p:blipFill>
        <p:spPr>
          <a:xfrm>
            <a:off x="4822166" y="2528596"/>
            <a:ext cx="4575315" cy="1800808"/>
          </a:xfrm>
          <a:prstGeom prst="rect">
            <a:avLst/>
          </a:prstGeom>
        </p:spPr>
      </p:pic>
    </p:spTree>
    <p:extLst>
      <p:ext uri="{BB962C8B-B14F-4D97-AF65-F5344CB8AC3E}">
        <p14:creationId xmlns:p14="http://schemas.microsoft.com/office/powerpoint/2010/main" val="118826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51DDFA-8265-4E9D-851A-03DF889A4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014A9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a:t>
            </a:r>
            <a:r>
              <a:rPr lang="fr-FR" sz="3600" b="1" dirty="0">
                <a:solidFill>
                  <a:schemeClr val="bg1"/>
                </a:solidFill>
                <a:latin typeface="Aptos" panose="020B0004020202020204" pitchFamily="34" charset="0"/>
                <a:ea typeface="Calibri" panose="020F0502020204030204" pitchFamily="34" charset="0"/>
                <a:cs typeface="Calibri" panose="020F0502020204030204" pitchFamily="34" charset="0"/>
              </a:rPr>
              <a:t> des besoins</a:t>
            </a:r>
            <a:endParaRPr lang="en-US" sz="3600" dirty="0">
              <a:solidFill>
                <a:schemeClr val="bg1"/>
              </a:solidFill>
              <a:latin typeface="Aptos" panose="020B0004020202020204" pitchFamily="34" charset="0"/>
            </a:endParaRPr>
          </a:p>
        </p:txBody>
      </p:sp>
      <p:pic>
        <p:nvPicPr>
          <p:cNvPr id="11" name="Image 10">
            <a:extLst>
              <a:ext uri="{FF2B5EF4-FFF2-40B4-BE49-F238E27FC236}">
                <a16:creationId xmlns:a16="http://schemas.microsoft.com/office/drawing/2014/main" id="{B4C883C3-6DB9-4B07-895A-0E7650FB3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cxnSp>
        <p:nvCxnSpPr>
          <p:cNvPr id="6" name="Connecteur droit 5">
            <a:extLst>
              <a:ext uri="{FF2B5EF4-FFF2-40B4-BE49-F238E27FC236}">
                <a16:creationId xmlns:a16="http://schemas.microsoft.com/office/drawing/2014/main" id="{2DCBA7D2-EC6B-455F-8C1C-07EFE76AD878}"/>
              </a:ext>
            </a:extLst>
          </p:cNvPr>
          <p:cNvCxnSpPr>
            <a:cxnSpLocks/>
            <a:stCxn id="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08D08628-CED8-4C9D-A48F-571DCF30FBE7}"/>
              </a:ext>
            </a:extLst>
          </p:cNvPr>
          <p:cNvPicPr>
            <a:picLocks noChangeAspect="1"/>
          </p:cNvPicPr>
          <p:nvPr/>
        </p:nvPicPr>
        <p:blipFill rotWithShape="1">
          <a:blip r:embed="rId4">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13" name="ZoneTexte 12">
            <a:extLst>
              <a:ext uri="{FF2B5EF4-FFF2-40B4-BE49-F238E27FC236}">
                <a16:creationId xmlns:a16="http://schemas.microsoft.com/office/drawing/2014/main" id="{3C701CF3-F193-472E-830F-066F21E47A90}"/>
              </a:ext>
            </a:extLst>
          </p:cNvPr>
          <p:cNvSpPr txBox="1"/>
          <p:nvPr/>
        </p:nvSpPr>
        <p:spPr>
          <a:xfrm>
            <a:off x="8349112" y="813504"/>
            <a:ext cx="276549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ACADEMIE SUPPLY CHAIN SANTE</a:t>
            </a:r>
            <a:endParaRPr lang="en-US" sz="1400" dirty="0">
              <a:solidFill>
                <a:schemeClr val="bg1"/>
              </a:solidFill>
              <a:latin typeface="Aptos" panose="020B0004020202020204" pitchFamily="34" charset="0"/>
            </a:endParaRPr>
          </a:p>
        </p:txBody>
      </p:sp>
    </p:spTree>
    <p:extLst>
      <p:ext uri="{BB962C8B-B14F-4D97-AF65-F5344CB8AC3E}">
        <p14:creationId xmlns:p14="http://schemas.microsoft.com/office/powerpoint/2010/main" val="420389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Chapitres</a:t>
            </a:r>
            <a:endParaRPr lang="en-US" sz="2800" dirty="0">
              <a:solidFill>
                <a:schemeClr val="tx1">
                  <a:lumMod val="75000"/>
                  <a:lumOff val="25000"/>
                </a:schemeClr>
              </a:solidFill>
              <a:latin typeface="Aptos" panose="020B0004020202020204" pitchFamily="34" charset="0"/>
            </a:endParaRPr>
          </a:p>
        </p:txBody>
      </p:sp>
      <p:pic>
        <p:nvPicPr>
          <p:cNvPr id="11" name="Image 10">
            <a:extLst>
              <a:ext uri="{FF2B5EF4-FFF2-40B4-BE49-F238E27FC236}">
                <a16:creationId xmlns:a16="http://schemas.microsoft.com/office/drawing/2014/main" id="{557B18FD-32D3-4EBA-8AEB-B3A2D7B45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0"/>
            <a:ext cx="10965180" cy="459200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Introduction à la quantification</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Méthodes de prévision</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Outils de prévision et modélisation de la demande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Planification des approvisionnements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Atelier pratique : exercices de quantification pays </a:t>
            </a:r>
          </a:p>
        </p:txBody>
      </p:sp>
      <p:pic>
        <p:nvPicPr>
          <p:cNvPr id="9" name="Image 8">
            <a:extLst>
              <a:ext uri="{FF2B5EF4-FFF2-40B4-BE49-F238E27FC236}">
                <a16:creationId xmlns:a16="http://schemas.microsoft.com/office/drawing/2014/main" id="{563CF69B-F11C-47B5-9086-DF473DFE3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82F88074-59E1-40E6-9F42-B8992D7270E1}"/>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69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1479"/>
            <a:ext cx="9275562"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Introduction à la quantification</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DES BESOINS</a:t>
            </a:r>
            <a:endParaRPr lang="en-US" sz="1400" dirty="0">
              <a:solidFill>
                <a:schemeClr val="bg1"/>
              </a:solidFill>
              <a:latin typeface="Aptos" panose="020B0004020202020204" pitchFamily="34" charset="0"/>
            </a:endParaRP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288350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Introduction à la quantification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034C93A8-0EB8-43EC-8306-ECCB9DA9B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5" name="Google Shape;234;p11">
            <a:extLst>
              <a:ext uri="{FF2B5EF4-FFF2-40B4-BE49-F238E27FC236}">
                <a16:creationId xmlns:a16="http://schemas.microsoft.com/office/drawing/2014/main" id="{162F2CDC-CBD8-4ABF-92AC-C30393B83869}"/>
              </a:ext>
            </a:extLst>
          </p:cNvPr>
          <p:cNvSpPr txBox="1">
            <a:spLocks/>
          </p:cNvSpPr>
          <p:nvPr/>
        </p:nvSpPr>
        <p:spPr>
          <a:xfrm>
            <a:off x="753042" y="1482130"/>
            <a:ext cx="11280525" cy="4887289"/>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SzPct val="100000"/>
              <a:buFont typeface="Arial" panose="020B0604020202020204" pitchFamily="34" charset="0"/>
              <a:buNone/>
            </a:pPr>
            <a:r>
              <a:rPr lang="fr-FR" sz="2400" b="1" dirty="0">
                <a:solidFill>
                  <a:schemeClr val="tx1">
                    <a:lumMod val="75000"/>
                    <a:lumOff val="25000"/>
                  </a:schemeClr>
                </a:solidFill>
                <a:latin typeface="Aptos" panose="020B0004020202020204" pitchFamily="34" charset="0"/>
              </a:rPr>
              <a:t>La quantification </a:t>
            </a:r>
            <a:r>
              <a:rPr lang="fr-FR" sz="2400" dirty="0">
                <a:solidFill>
                  <a:schemeClr val="tx1">
                    <a:lumMod val="75000"/>
                    <a:lumOff val="25000"/>
                  </a:schemeClr>
                </a:solidFill>
                <a:latin typeface="Aptos" panose="020B0004020202020204" pitchFamily="34" charset="0"/>
              </a:rPr>
              <a:t>est un processus de gestion de la chaîne d’approvisionnement qui consiste à estimer les besoins futurs en produits de santé et à déterminer les quantités ainsi que le calendrier des approvisionnements nécessaires pour garantir la disponibilité continue des produits (suivant les financements disponibles) au sein du système de santé.</a:t>
            </a:r>
          </a:p>
          <a:p>
            <a:pPr marL="0" indent="0" algn="just">
              <a:lnSpc>
                <a:spcPct val="110000"/>
              </a:lnSpc>
              <a:spcBef>
                <a:spcPts val="0"/>
              </a:spcBef>
              <a:buSzPct val="100000"/>
              <a:buFont typeface="Arial" panose="020B0604020202020204" pitchFamily="34" charset="0"/>
              <a:buNone/>
            </a:pPr>
            <a:endParaRPr lang="fr-FR" sz="2400" dirty="0">
              <a:solidFill>
                <a:schemeClr val="tx1">
                  <a:lumMod val="75000"/>
                  <a:lumOff val="25000"/>
                </a:schemeClr>
              </a:solidFill>
              <a:latin typeface="Aptos" panose="020B0004020202020204" pitchFamily="34" charset="0"/>
            </a:endParaRPr>
          </a:p>
          <a:p>
            <a:pPr marL="0" indent="0" algn="just">
              <a:lnSpc>
                <a:spcPct val="110000"/>
              </a:lnSpc>
              <a:spcBef>
                <a:spcPts val="0"/>
              </a:spcBef>
              <a:buSzPct val="100000"/>
              <a:buFont typeface="Arial" panose="020B0604020202020204" pitchFamily="34" charset="0"/>
              <a:buNone/>
            </a:pPr>
            <a:r>
              <a:rPr lang="fr-FR" sz="2400" dirty="0">
                <a:solidFill>
                  <a:schemeClr val="tx1">
                    <a:lumMod val="75000"/>
                    <a:lumOff val="25000"/>
                  </a:schemeClr>
                </a:solidFill>
                <a:latin typeface="Aptos" panose="020B0004020202020204" pitchFamily="34" charset="0"/>
              </a:rPr>
              <a:t>Elle ne se limite plus à un simple exercice de calcul des besoins. </a:t>
            </a:r>
          </a:p>
          <a:p>
            <a:pPr marL="0" indent="0" algn="just">
              <a:lnSpc>
                <a:spcPct val="110000"/>
              </a:lnSpc>
              <a:spcBef>
                <a:spcPts val="0"/>
              </a:spcBef>
              <a:buSzPct val="100000"/>
              <a:buFont typeface="Arial" panose="020B0604020202020204" pitchFamily="34" charset="0"/>
              <a:buNone/>
            </a:pPr>
            <a:endParaRPr lang="fr-FR" sz="2400" dirty="0">
              <a:solidFill>
                <a:schemeClr val="tx1">
                  <a:lumMod val="75000"/>
                  <a:lumOff val="25000"/>
                </a:schemeClr>
              </a:solidFill>
              <a:latin typeface="Aptos" panose="020B0004020202020204" pitchFamily="34" charset="0"/>
            </a:endParaRPr>
          </a:p>
          <a:p>
            <a:pPr marL="0" indent="0" algn="just">
              <a:lnSpc>
                <a:spcPct val="110000"/>
              </a:lnSpc>
              <a:spcBef>
                <a:spcPts val="0"/>
              </a:spcBef>
              <a:buSzPct val="100000"/>
              <a:buFont typeface="Arial" panose="020B0604020202020204" pitchFamily="34" charset="0"/>
              <a:buNone/>
            </a:pPr>
            <a:r>
              <a:rPr lang="fr-FR" sz="2400" b="1" dirty="0">
                <a:solidFill>
                  <a:schemeClr val="tx1">
                    <a:lumMod val="75000"/>
                    <a:lumOff val="25000"/>
                  </a:schemeClr>
                </a:solidFill>
                <a:latin typeface="Aptos" panose="020B0004020202020204" pitchFamily="34" charset="0"/>
              </a:rPr>
              <a:t>Elle devient </a:t>
            </a:r>
            <a:r>
              <a:rPr lang="fr-FR" sz="2400" dirty="0">
                <a:solidFill>
                  <a:schemeClr val="tx1">
                    <a:lumMod val="75000"/>
                    <a:lumOff val="25000"/>
                  </a:schemeClr>
                </a:solidFill>
                <a:latin typeface="Aptos" panose="020B0004020202020204" pitchFamily="34" charset="0"/>
              </a:rPr>
              <a:t>:</a:t>
            </a:r>
          </a:p>
          <a:p>
            <a:pPr algn="just">
              <a:lnSpc>
                <a:spcPct val="110000"/>
              </a:lnSpc>
              <a:spcBef>
                <a:spcPts val="0"/>
              </a:spcBef>
              <a:buSzPct val="100000"/>
            </a:pPr>
            <a:r>
              <a:rPr lang="fr-FR" sz="2400" dirty="0">
                <a:solidFill>
                  <a:schemeClr val="tx1">
                    <a:lumMod val="75000"/>
                    <a:lumOff val="25000"/>
                  </a:schemeClr>
                </a:solidFill>
                <a:latin typeface="Aptos" panose="020B0004020202020204" pitchFamily="34" charset="0"/>
              </a:rPr>
              <a:t>Un outil de gouvernance </a:t>
            </a:r>
          </a:p>
          <a:p>
            <a:pPr algn="just">
              <a:lnSpc>
                <a:spcPct val="110000"/>
              </a:lnSpc>
              <a:spcBef>
                <a:spcPts val="0"/>
              </a:spcBef>
              <a:buSzPct val="100000"/>
            </a:pPr>
            <a:r>
              <a:rPr lang="fr-FR" sz="2400" dirty="0">
                <a:solidFill>
                  <a:schemeClr val="tx1">
                    <a:lumMod val="75000"/>
                    <a:lumOff val="25000"/>
                  </a:schemeClr>
                </a:solidFill>
                <a:latin typeface="Aptos" panose="020B0004020202020204" pitchFamily="34" charset="0"/>
              </a:rPr>
              <a:t>Un mécanisme d’aide à la décision</a:t>
            </a:r>
          </a:p>
          <a:p>
            <a:pPr algn="just">
              <a:lnSpc>
                <a:spcPct val="110000"/>
              </a:lnSpc>
              <a:spcBef>
                <a:spcPts val="0"/>
              </a:spcBef>
              <a:buSzPct val="100000"/>
            </a:pPr>
            <a:r>
              <a:rPr lang="fr-FR" sz="2400" dirty="0">
                <a:solidFill>
                  <a:schemeClr val="tx1">
                    <a:lumMod val="75000"/>
                    <a:lumOff val="25000"/>
                  </a:schemeClr>
                </a:solidFill>
                <a:latin typeface="Aptos" panose="020B0004020202020204" pitchFamily="34" charset="0"/>
              </a:rPr>
              <a:t>Un instrument de coordination des bailleurs et </a:t>
            </a:r>
          </a:p>
          <a:p>
            <a:pPr algn="just">
              <a:lnSpc>
                <a:spcPct val="110000"/>
              </a:lnSpc>
              <a:spcBef>
                <a:spcPts val="0"/>
              </a:spcBef>
              <a:buSzPct val="100000"/>
            </a:pPr>
            <a:r>
              <a:rPr lang="fr-FR" sz="2400" dirty="0">
                <a:solidFill>
                  <a:schemeClr val="tx1">
                    <a:lumMod val="75000"/>
                    <a:lumOff val="25000"/>
                  </a:schemeClr>
                </a:solidFill>
                <a:latin typeface="Aptos" panose="020B0004020202020204" pitchFamily="34" charset="0"/>
              </a:rPr>
              <a:t>Un levier de résilience des systèmes de santé.</a:t>
            </a:r>
            <a:endParaRPr lang="fr-FR" sz="200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195349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Introduction à la quantification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034C93A8-0EB8-43EC-8306-ECCB9DA9B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5" name="Google Shape;234;p11">
            <a:extLst>
              <a:ext uri="{FF2B5EF4-FFF2-40B4-BE49-F238E27FC236}">
                <a16:creationId xmlns:a16="http://schemas.microsoft.com/office/drawing/2014/main" id="{162F2CDC-CBD8-4ABF-92AC-C30393B83869}"/>
              </a:ext>
            </a:extLst>
          </p:cNvPr>
          <p:cNvSpPr txBox="1">
            <a:spLocks/>
          </p:cNvSpPr>
          <p:nvPr/>
        </p:nvSpPr>
        <p:spPr>
          <a:xfrm>
            <a:off x="417763" y="1599808"/>
            <a:ext cx="6358957" cy="4739268"/>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SzPct val="100000"/>
              <a:buFont typeface="Arial" panose="020B0604020202020204" pitchFamily="34" charset="0"/>
              <a:buNone/>
            </a:pPr>
            <a:r>
              <a:rPr lang="fr-FR" sz="2400" b="1" dirty="0">
                <a:solidFill>
                  <a:schemeClr val="tx1">
                    <a:lumMod val="75000"/>
                    <a:lumOff val="25000"/>
                  </a:schemeClr>
                </a:solidFill>
                <a:latin typeface="Aptos" panose="020B0004020202020204" pitchFamily="34" charset="0"/>
              </a:rPr>
              <a:t>La quantification repose généralement sur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données de consommation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données morbidité/programme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niveaux de stock disponibles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commandes en cours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délais d’approvisionnement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pertes et ajustements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objectifs programmatiques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tendances épidémiologiques et </a:t>
            </a:r>
          </a:p>
          <a:p>
            <a:pPr marL="800100" lvl="1" indent="-342900" algn="just">
              <a:lnSpc>
                <a:spcPct val="110000"/>
              </a:lnSpc>
              <a:spcBef>
                <a:spcPts val="0"/>
              </a:spcBef>
              <a:buSzPct val="100000"/>
              <a:buFont typeface="Arial" panose="020B0604020202020204" pitchFamily="34" charset="0"/>
              <a:buChar char="•"/>
            </a:pPr>
            <a:r>
              <a:rPr lang="fr-FR" dirty="0">
                <a:solidFill>
                  <a:schemeClr val="tx1">
                    <a:lumMod val="75000"/>
                    <a:lumOff val="25000"/>
                  </a:schemeClr>
                </a:solidFill>
                <a:latin typeface="Aptos" panose="020B0004020202020204" pitchFamily="34" charset="0"/>
              </a:rPr>
              <a:t>les contraintes budgétaires.</a:t>
            </a:r>
            <a:endParaRPr lang="fr-FR" sz="1800" dirty="0">
              <a:solidFill>
                <a:schemeClr val="tx1">
                  <a:lumMod val="75000"/>
                  <a:lumOff val="25000"/>
                </a:schemeClr>
              </a:solidFill>
              <a:latin typeface="Aptos" panose="020B0004020202020204" pitchFamily="34" charset="0"/>
            </a:endParaRPr>
          </a:p>
        </p:txBody>
      </p:sp>
      <p:pic>
        <p:nvPicPr>
          <p:cNvPr id="3" name="Image 2">
            <a:extLst>
              <a:ext uri="{FF2B5EF4-FFF2-40B4-BE49-F238E27FC236}">
                <a16:creationId xmlns:a16="http://schemas.microsoft.com/office/drawing/2014/main" id="{F74C88BF-916C-4C79-9B73-B09B07B49A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7789" y="1265607"/>
            <a:ext cx="4200762" cy="4326785"/>
          </a:xfrm>
          <a:prstGeom prst="rect">
            <a:avLst/>
          </a:prstGeom>
        </p:spPr>
      </p:pic>
    </p:spTree>
    <p:extLst>
      <p:ext uri="{BB962C8B-B14F-4D97-AF65-F5344CB8AC3E}">
        <p14:creationId xmlns:p14="http://schemas.microsoft.com/office/powerpoint/2010/main" val="63567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Introduction à la quantification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034C93A8-0EB8-43EC-8306-ECCB9DA9B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0" name="Google Shape;234;p11">
            <a:extLst>
              <a:ext uri="{FF2B5EF4-FFF2-40B4-BE49-F238E27FC236}">
                <a16:creationId xmlns:a16="http://schemas.microsoft.com/office/drawing/2014/main" id="{DB358596-509C-4066-BE25-E1A2197212CD}"/>
              </a:ext>
            </a:extLst>
          </p:cNvPr>
          <p:cNvSpPr txBox="1">
            <a:spLocks/>
          </p:cNvSpPr>
          <p:nvPr/>
        </p:nvSpPr>
        <p:spPr>
          <a:xfrm>
            <a:off x="2428241" y="2021840"/>
            <a:ext cx="9580875" cy="4219063"/>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ct val="100000"/>
              <a:buFont typeface="Arial" panose="020B0604020202020204" pitchFamily="34" charset="0"/>
              <a:buNone/>
            </a:pPr>
            <a:r>
              <a:rPr lang="fr-FR" sz="2000" b="1" dirty="0">
                <a:solidFill>
                  <a:schemeClr val="tx1">
                    <a:lumMod val="75000"/>
                    <a:lumOff val="25000"/>
                  </a:schemeClr>
                </a:solidFill>
                <a:latin typeface="Aptos" panose="020B0004020202020204" pitchFamily="34" charset="0"/>
              </a:rPr>
              <a:t>Préparation</a:t>
            </a:r>
            <a:r>
              <a:rPr lang="fr-FR" sz="2000" dirty="0">
                <a:solidFill>
                  <a:schemeClr val="tx1">
                    <a:lumMod val="75000"/>
                    <a:lumOff val="25000"/>
                  </a:schemeClr>
                </a:solidFill>
                <a:latin typeface="Aptos" panose="020B0004020202020204" pitchFamily="34" charset="0"/>
              </a:rPr>
              <a:t>: </a:t>
            </a:r>
          </a:p>
          <a:p>
            <a:pPr marL="454025" lvl="1">
              <a:buSzPct val="100000"/>
            </a:pPr>
            <a:r>
              <a:rPr lang="fr-FR" sz="1800" dirty="0">
                <a:solidFill>
                  <a:schemeClr val="tx1">
                    <a:lumMod val="75000"/>
                    <a:lumOff val="25000"/>
                  </a:schemeClr>
                </a:solidFill>
                <a:latin typeface="Aptos" panose="020B0004020202020204" pitchFamily="34" charset="0"/>
              </a:rPr>
              <a:t>Elle consiste à organiser l’ensemble des données, des acteurs, des hypothèses, des outils et des paramètres nécessaires afin d’assurer un exercice de quantification fiable, coordonné et basé sur des données de qualité.</a:t>
            </a:r>
          </a:p>
          <a:p>
            <a:pPr marL="454025" lvl="1">
              <a:buSzPct val="100000"/>
            </a:pPr>
            <a:endParaRPr lang="fr-FR" sz="1600" dirty="0">
              <a:solidFill>
                <a:schemeClr val="tx1">
                  <a:lumMod val="75000"/>
                  <a:lumOff val="25000"/>
                </a:schemeClr>
              </a:solidFill>
              <a:latin typeface="Aptos" panose="020B0004020202020204" pitchFamily="34" charset="0"/>
            </a:endParaRPr>
          </a:p>
          <a:p>
            <a:pPr marL="0" indent="0">
              <a:spcBef>
                <a:spcPts val="0"/>
              </a:spcBef>
              <a:buSzPct val="100000"/>
              <a:buFont typeface="Arial" panose="020B0604020202020204" pitchFamily="34" charset="0"/>
              <a:buNone/>
            </a:pPr>
            <a:r>
              <a:rPr lang="fr-FR" sz="2000" b="1" dirty="0">
                <a:solidFill>
                  <a:schemeClr val="tx1">
                    <a:lumMod val="75000"/>
                    <a:lumOff val="25000"/>
                  </a:schemeClr>
                </a:solidFill>
                <a:latin typeface="Aptos" panose="020B0004020202020204" pitchFamily="34" charset="0"/>
              </a:rPr>
              <a:t>Prévision des besoins </a:t>
            </a:r>
            <a:r>
              <a:rPr lang="fr-FR" sz="2000" dirty="0">
                <a:solidFill>
                  <a:schemeClr val="tx1">
                    <a:lumMod val="75000"/>
                    <a:lumOff val="25000"/>
                  </a:schemeClr>
                </a:solidFill>
                <a:latin typeface="Aptos" panose="020B0004020202020204" pitchFamily="34" charset="0"/>
              </a:rPr>
              <a:t>: </a:t>
            </a:r>
          </a:p>
          <a:p>
            <a:pPr marL="454025" lvl="1">
              <a:buSzPct val="100000"/>
            </a:pPr>
            <a:r>
              <a:rPr lang="fr-FR" sz="1800" dirty="0">
                <a:solidFill>
                  <a:schemeClr val="tx1">
                    <a:lumMod val="75000"/>
                    <a:lumOff val="25000"/>
                  </a:schemeClr>
                </a:solidFill>
                <a:latin typeface="Aptos" panose="020B0004020202020204" pitchFamily="34" charset="0"/>
              </a:rPr>
              <a:t>C’est une estimation/prédiction des quantités de produits qui seront consommées/utilisées par les patients/utilisateurs pour leur traitement ou reçues par les formations sanitaires sur une période de temps futur.</a:t>
            </a:r>
          </a:p>
          <a:p>
            <a:pPr marL="0" indent="0">
              <a:buSzPct val="100000"/>
              <a:buFont typeface="Arial" panose="020B0604020202020204" pitchFamily="34" charset="0"/>
              <a:buNone/>
            </a:pPr>
            <a:r>
              <a:rPr lang="fr-FR" sz="2000" b="1" dirty="0">
                <a:solidFill>
                  <a:schemeClr val="tx1">
                    <a:lumMod val="75000"/>
                    <a:lumOff val="25000"/>
                  </a:schemeClr>
                </a:solidFill>
                <a:latin typeface="Aptos" panose="020B0004020202020204" pitchFamily="34" charset="0"/>
              </a:rPr>
              <a:t>Elaboration du plan d’approvisionnement </a:t>
            </a:r>
            <a:r>
              <a:rPr lang="fr-FR" sz="2000" dirty="0">
                <a:solidFill>
                  <a:schemeClr val="tx1">
                    <a:lumMod val="75000"/>
                    <a:lumOff val="25000"/>
                  </a:schemeClr>
                </a:solidFill>
                <a:latin typeface="Aptos" panose="020B0004020202020204" pitchFamily="34" charset="0"/>
              </a:rPr>
              <a:t>:</a:t>
            </a:r>
          </a:p>
          <a:p>
            <a:pPr marL="454025" lvl="1">
              <a:buSzPct val="100000"/>
            </a:pPr>
            <a:r>
              <a:rPr lang="fr-FR" sz="1800" dirty="0">
                <a:solidFill>
                  <a:schemeClr val="tx1">
                    <a:lumMod val="75000"/>
                    <a:lumOff val="25000"/>
                  </a:schemeClr>
                </a:solidFill>
                <a:latin typeface="Aptos" panose="020B0004020202020204" pitchFamily="34" charset="0"/>
              </a:rPr>
              <a:t>C’est un calendrier des envois de produits pour un programme sur une période de temps futur afin de garantir des niveaux de stock suffisant pour satisfaire les besoins de la population. Les envois sont définis en terme de quantité et nécessitent une date de réception (au niveau central d’entreposage).</a:t>
            </a:r>
          </a:p>
        </p:txBody>
      </p:sp>
      <p:sp>
        <p:nvSpPr>
          <p:cNvPr id="2" name="Rectangle : coins arrondis 1">
            <a:extLst>
              <a:ext uri="{FF2B5EF4-FFF2-40B4-BE49-F238E27FC236}">
                <a16:creationId xmlns:a16="http://schemas.microsoft.com/office/drawing/2014/main" id="{BD2D4604-4EDD-41AF-BC4B-C7980A0F340C}"/>
              </a:ext>
            </a:extLst>
          </p:cNvPr>
          <p:cNvSpPr/>
          <p:nvPr/>
        </p:nvSpPr>
        <p:spPr>
          <a:xfrm>
            <a:off x="345820" y="2392144"/>
            <a:ext cx="1980000" cy="914397"/>
          </a:xfrm>
          <a:prstGeom prst="roundRect">
            <a:avLst/>
          </a:prstGeom>
          <a:solidFill>
            <a:srgbClr val="33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Aptos" panose="020B0004020202020204" pitchFamily="34" charset="0"/>
              </a:rPr>
              <a:t>PREPARATION</a:t>
            </a:r>
          </a:p>
        </p:txBody>
      </p:sp>
      <p:sp>
        <p:nvSpPr>
          <p:cNvPr id="17" name="Rectangle : coins arrondis 16">
            <a:extLst>
              <a:ext uri="{FF2B5EF4-FFF2-40B4-BE49-F238E27FC236}">
                <a16:creationId xmlns:a16="http://schemas.microsoft.com/office/drawing/2014/main" id="{D26A6607-0FAD-4C92-9A54-67734C614E1A}"/>
              </a:ext>
            </a:extLst>
          </p:cNvPr>
          <p:cNvSpPr/>
          <p:nvPr/>
        </p:nvSpPr>
        <p:spPr>
          <a:xfrm>
            <a:off x="345820" y="3762874"/>
            <a:ext cx="1980000" cy="914397"/>
          </a:xfrm>
          <a:prstGeom prst="roundRect">
            <a:avLst/>
          </a:prstGeom>
          <a:solidFill>
            <a:srgbClr val="014C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Aptos" panose="020B0004020202020204" pitchFamily="34" charset="0"/>
              </a:rPr>
              <a:t>PREVISION</a:t>
            </a:r>
          </a:p>
        </p:txBody>
      </p:sp>
      <p:sp>
        <p:nvSpPr>
          <p:cNvPr id="18" name="Rectangle : coins arrondis 17">
            <a:extLst>
              <a:ext uri="{FF2B5EF4-FFF2-40B4-BE49-F238E27FC236}">
                <a16:creationId xmlns:a16="http://schemas.microsoft.com/office/drawing/2014/main" id="{AE0061C1-BED2-423A-9B96-A887C8D315AC}"/>
              </a:ext>
            </a:extLst>
          </p:cNvPr>
          <p:cNvSpPr/>
          <p:nvPr/>
        </p:nvSpPr>
        <p:spPr>
          <a:xfrm>
            <a:off x="345820" y="5133604"/>
            <a:ext cx="1980000" cy="914397"/>
          </a:xfrm>
          <a:prstGeom prst="roundRect">
            <a:avLst/>
          </a:prstGeom>
          <a:solidFill>
            <a:srgbClr val="F3750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Aptos" panose="020B0004020202020204" pitchFamily="34" charset="0"/>
              </a:rPr>
              <a:t>PLANIFICATION</a:t>
            </a:r>
          </a:p>
        </p:txBody>
      </p:sp>
      <p:cxnSp>
        <p:nvCxnSpPr>
          <p:cNvPr id="5" name="Connecteur droit avec flèche 4">
            <a:extLst>
              <a:ext uri="{FF2B5EF4-FFF2-40B4-BE49-F238E27FC236}">
                <a16:creationId xmlns:a16="http://schemas.microsoft.com/office/drawing/2014/main" id="{22196C35-527E-4624-B9D1-C71D62EBA5E0}"/>
              </a:ext>
            </a:extLst>
          </p:cNvPr>
          <p:cNvCxnSpPr>
            <a:stCxn id="2" idx="2"/>
            <a:endCxn id="17" idx="0"/>
          </p:cNvCxnSpPr>
          <p:nvPr/>
        </p:nvCxnSpPr>
        <p:spPr>
          <a:xfrm>
            <a:off x="1335820" y="3306541"/>
            <a:ext cx="0" cy="456333"/>
          </a:xfrm>
          <a:prstGeom prst="straightConnector1">
            <a:avLst/>
          </a:prstGeom>
          <a:ln w="28575">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F01ED1FB-1429-4F6C-92E1-F4A42B2720BD}"/>
              </a:ext>
            </a:extLst>
          </p:cNvPr>
          <p:cNvCxnSpPr>
            <a:stCxn id="17" idx="2"/>
            <a:endCxn id="18" idx="0"/>
          </p:cNvCxnSpPr>
          <p:nvPr/>
        </p:nvCxnSpPr>
        <p:spPr>
          <a:xfrm>
            <a:off x="1335820" y="4677271"/>
            <a:ext cx="0" cy="456333"/>
          </a:xfrm>
          <a:prstGeom prst="straightConnector1">
            <a:avLst/>
          </a:prstGeom>
          <a:ln w="28575">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ZoneTexte 19">
            <a:extLst>
              <a:ext uri="{FF2B5EF4-FFF2-40B4-BE49-F238E27FC236}">
                <a16:creationId xmlns:a16="http://schemas.microsoft.com/office/drawing/2014/main" id="{541001FA-386D-4AA4-83D7-E89CF6AC1D62}"/>
              </a:ext>
            </a:extLst>
          </p:cNvPr>
          <p:cNvSpPr txBox="1"/>
          <p:nvPr/>
        </p:nvSpPr>
        <p:spPr>
          <a:xfrm>
            <a:off x="586355" y="1506539"/>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composantes de la quantification</a:t>
            </a:r>
          </a:p>
        </p:txBody>
      </p:sp>
    </p:spTree>
    <p:extLst>
      <p:ext uri="{BB962C8B-B14F-4D97-AF65-F5344CB8AC3E}">
        <p14:creationId xmlns:p14="http://schemas.microsoft.com/office/powerpoint/2010/main" val="304086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1479"/>
            <a:ext cx="9275562"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Méthodes de prévision</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DES BESOINS</a:t>
            </a:r>
            <a:endParaRPr lang="en-US" sz="1400" dirty="0">
              <a:solidFill>
                <a:schemeClr val="bg1"/>
              </a:solidFill>
              <a:latin typeface="Aptos" panose="020B0004020202020204" pitchFamily="34" charset="0"/>
            </a:endParaRP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FF5071C2-F88C-4969-BBFF-0E32270BE9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131996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Résumé des méthodes de prévision</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lang="fr-FR" dirty="0">
                <a:solidFill>
                  <a:schemeClr val="tx1">
                    <a:lumMod val="75000"/>
                    <a:lumOff val="25000"/>
                  </a:schemeClr>
                </a:solidFill>
                <a:latin typeface="Aptos" panose="020B0004020202020204" pitchFamily="34" charset="0"/>
              </a:rPr>
              <a:t>Méthode basée sur la consommation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lang="fr-FR" dirty="0">
                <a:solidFill>
                  <a:schemeClr val="tx1">
                    <a:lumMod val="75000"/>
                    <a:lumOff val="25000"/>
                  </a:schemeClr>
                </a:solidFill>
                <a:latin typeface="Aptos" panose="020B0004020202020204" pitchFamily="34" charset="0"/>
              </a:rPr>
              <a:t>Méthode basée sur la morbidité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lang="fr-FR" dirty="0">
                <a:solidFill>
                  <a:schemeClr val="tx1">
                    <a:lumMod val="75000"/>
                    <a:lumOff val="25000"/>
                  </a:schemeClr>
                </a:solidFill>
                <a:latin typeface="Aptos" panose="020B0004020202020204" pitchFamily="34" charset="0"/>
              </a:rPr>
              <a:t>Méthode basée sur les services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lang="fr-FR" dirty="0">
                <a:solidFill>
                  <a:schemeClr val="tx1">
                    <a:lumMod val="75000"/>
                    <a:lumOff val="25000"/>
                  </a:schemeClr>
                </a:solidFill>
                <a:latin typeface="Aptos" panose="020B0004020202020204" pitchFamily="34" charset="0"/>
              </a:rPr>
              <a:t>Méthode basée sur les cibles de population</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lang="fr-FR" dirty="0">
                <a:solidFill>
                  <a:schemeClr val="tx1">
                    <a:lumMod val="75000"/>
                    <a:lumOff val="25000"/>
                  </a:schemeClr>
                </a:solidFill>
                <a:latin typeface="Aptos" panose="020B0004020202020204" pitchFamily="34" charset="0"/>
              </a:rPr>
              <a:t>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268349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Résumé des méthodes de prévision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Google Shape;245;p12">
            <a:extLst>
              <a:ext uri="{FF2B5EF4-FFF2-40B4-BE49-F238E27FC236}">
                <a16:creationId xmlns:a16="http://schemas.microsoft.com/office/drawing/2014/main" id="{3091D121-BEBE-4C4A-A45C-DD3F0E445091}"/>
              </a:ext>
            </a:extLst>
          </p:cNvPr>
          <p:cNvSpPr/>
          <p:nvPr/>
        </p:nvSpPr>
        <p:spPr>
          <a:xfrm>
            <a:off x="1397903" y="4437615"/>
            <a:ext cx="1609020" cy="402788"/>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fr-FR" sz="1400" i="0" u="none" strike="noStrike" kern="0" cap="none" spc="0" normalizeH="0" baseline="0" dirty="0">
                <a:ln>
                  <a:noFill/>
                </a:ln>
                <a:solidFill>
                  <a:srgbClr val="FFFFFF"/>
                </a:solidFill>
                <a:effectLst/>
                <a:uLnTx/>
                <a:uFillTx/>
                <a:latin typeface="Aptos" panose="020B0004020202020204" pitchFamily="34" charset="0"/>
                <a:ea typeface="Gill Sans"/>
                <a:cs typeface="Gill Sans"/>
                <a:sym typeface="Gill Sans"/>
              </a:rPr>
              <a:t>Démographiques</a:t>
            </a:r>
          </a:p>
        </p:txBody>
      </p:sp>
      <p:sp>
        <p:nvSpPr>
          <p:cNvPr id="15" name="Google Shape;246;p12">
            <a:extLst>
              <a:ext uri="{FF2B5EF4-FFF2-40B4-BE49-F238E27FC236}">
                <a16:creationId xmlns:a16="http://schemas.microsoft.com/office/drawing/2014/main" id="{3C8F712A-EB32-4F8B-8ABD-4E35319BE0A3}"/>
              </a:ext>
            </a:extLst>
          </p:cNvPr>
          <p:cNvSpPr/>
          <p:nvPr/>
        </p:nvSpPr>
        <p:spPr>
          <a:xfrm>
            <a:off x="1397903" y="3539898"/>
            <a:ext cx="1609020" cy="802243"/>
          </a:xfrm>
          <a:prstGeom prst="rect">
            <a:avLst/>
          </a:prstGeom>
          <a:solidFill>
            <a:srgbClr val="F3750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Population</a:t>
            </a:r>
            <a:br>
              <a:rPr kumimoji="0" lang="en-US" sz="1800" b="1"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br>
            <a:r>
              <a:rPr kumimoji="0" lang="en-US" sz="1100" b="1" i="1" u="none" strike="noStrike" kern="0" cap="none" spc="0" normalizeH="0" baseline="0" noProof="0" dirty="0" err="1">
                <a:ln>
                  <a:noFill/>
                </a:ln>
                <a:solidFill>
                  <a:srgbClr val="FFFFFF"/>
                </a:solidFill>
                <a:effectLst/>
                <a:uLnTx/>
                <a:uFillTx/>
                <a:latin typeface="Aptos" panose="020B0004020202020204" pitchFamily="34" charset="0"/>
                <a:ea typeface="Gill Sans"/>
                <a:cs typeface="Gill Sans"/>
                <a:sym typeface="Gill Sans"/>
              </a:rPr>
              <a:t>Population</a:t>
            </a:r>
            <a:r>
              <a:rPr kumimoji="0" lang="en-US" sz="1100" b="1" i="1"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 du pays</a:t>
            </a:r>
            <a:endParaRPr kumimoji="0" sz="1800" b="1" i="1"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endParaRPr>
          </a:p>
        </p:txBody>
      </p:sp>
      <p:sp>
        <p:nvSpPr>
          <p:cNvPr id="16" name="Google Shape;247;p12">
            <a:extLst>
              <a:ext uri="{FF2B5EF4-FFF2-40B4-BE49-F238E27FC236}">
                <a16:creationId xmlns:a16="http://schemas.microsoft.com/office/drawing/2014/main" id="{C5512E60-5D09-4A79-97AE-A0259AC123D3}"/>
              </a:ext>
            </a:extLst>
          </p:cNvPr>
          <p:cNvSpPr/>
          <p:nvPr/>
        </p:nvSpPr>
        <p:spPr>
          <a:xfrm>
            <a:off x="6625787" y="2429896"/>
            <a:ext cx="1404119" cy="854137"/>
          </a:xfrm>
          <a:prstGeom prst="rect">
            <a:avLst/>
          </a:prstGeom>
          <a:solidFill>
            <a:srgbClr val="339933"/>
          </a:solidFill>
          <a:ln>
            <a:noFill/>
          </a:ln>
        </p:spPr>
        <p:txBody>
          <a:bodyPr spcFirstLastPara="1" wrap="square" lIns="91425" tIns="45700" rIns="91425" bIns="45700" anchor="ctr" anchorCtr="0">
            <a:noAutofit/>
          </a:bodyPr>
          <a:lstStyle/>
          <a:p>
            <a:pPr algn="ctr">
              <a:buClr>
                <a:srgbClr val="000000"/>
              </a:buClr>
              <a:buFont typeface="Arial"/>
              <a:buNone/>
            </a:pPr>
            <a:r>
              <a:rPr lang="en-US" b="1" kern="0">
                <a:solidFill>
                  <a:srgbClr val="FFFFFF"/>
                </a:solidFill>
                <a:latin typeface="Aptos" panose="020B0004020202020204" pitchFamily="34" charset="0"/>
                <a:ea typeface="Gill Sans"/>
                <a:cs typeface="Gill Sans"/>
                <a:sym typeface="Gill Sans"/>
              </a:rPr>
              <a:t>Services</a:t>
            </a:r>
            <a:br>
              <a:rPr lang="en-US" sz="1600" b="1" kern="0">
                <a:solidFill>
                  <a:srgbClr val="FFFFFF"/>
                </a:solidFill>
                <a:latin typeface="Aptos" panose="020B0004020202020204" pitchFamily="34" charset="0"/>
                <a:ea typeface="Gill Sans"/>
                <a:cs typeface="Gill Sans"/>
                <a:sym typeface="Gill Sans"/>
              </a:rPr>
            </a:br>
            <a:r>
              <a:rPr lang="en-US" sz="1100" b="1" i="1" kern="0">
                <a:solidFill>
                  <a:srgbClr val="FFFFFF"/>
                </a:solidFill>
                <a:latin typeface="Aptos" panose="020B0004020202020204" pitchFamily="34" charset="0"/>
                <a:ea typeface="Gill Sans"/>
                <a:cs typeface="Gill Sans"/>
                <a:sym typeface="Gill Sans"/>
              </a:rPr>
              <a:t># de Tests/Visite</a:t>
            </a:r>
            <a:endParaRPr sz="1600" b="1" kern="0">
              <a:solidFill>
                <a:srgbClr val="FFFFFF"/>
              </a:solidFill>
              <a:latin typeface="Aptos" panose="020B0004020202020204" pitchFamily="34" charset="0"/>
              <a:ea typeface="Gill Sans"/>
              <a:cs typeface="Gill Sans"/>
              <a:sym typeface="Gill Sans"/>
            </a:endParaRPr>
          </a:p>
        </p:txBody>
      </p:sp>
      <p:sp>
        <p:nvSpPr>
          <p:cNvPr id="17" name="Google Shape;248;p12">
            <a:extLst>
              <a:ext uri="{FF2B5EF4-FFF2-40B4-BE49-F238E27FC236}">
                <a16:creationId xmlns:a16="http://schemas.microsoft.com/office/drawing/2014/main" id="{A1B4E2FB-8572-462A-9BF8-C08535E43861}"/>
              </a:ext>
            </a:extLst>
          </p:cNvPr>
          <p:cNvSpPr/>
          <p:nvPr/>
        </p:nvSpPr>
        <p:spPr>
          <a:xfrm>
            <a:off x="6629861" y="2006617"/>
            <a:ext cx="1395970" cy="313713"/>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algn="ctr">
              <a:buClr>
                <a:srgbClr val="000000"/>
              </a:buClr>
              <a:buFont typeface="Arial"/>
              <a:buNone/>
            </a:pPr>
            <a:r>
              <a:rPr lang="en-US" sz="1400" kern="0">
                <a:solidFill>
                  <a:srgbClr val="FFFFFF"/>
                </a:solidFill>
                <a:latin typeface="Aptos" panose="020B0004020202020204" pitchFamily="34" charset="0"/>
                <a:ea typeface="Gill Sans"/>
                <a:cs typeface="Gill Sans"/>
                <a:sym typeface="Gill Sans"/>
              </a:rPr>
              <a:t>Services</a:t>
            </a:r>
            <a:endParaRPr sz="1400" i="1" kern="0">
              <a:solidFill>
                <a:srgbClr val="FFFFFF"/>
              </a:solidFill>
              <a:latin typeface="Aptos" panose="020B0004020202020204" pitchFamily="34" charset="0"/>
              <a:ea typeface="Gill Sans"/>
              <a:cs typeface="Gill Sans"/>
              <a:sym typeface="Gill Sans"/>
            </a:endParaRPr>
          </a:p>
        </p:txBody>
      </p:sp>
      <p:sp>
        <p:nvSpPr>
          <p:cNvPr id="18" name="Google Shape;249;p12">
            <a:extLst>
              <a:ext uri="{FF2B5EF4-FFF2-40B4-BE49-F238E27FC236}">
                <a16:creationId xmlns:a16="http://schemas.microsoft.com/office/drawing/2014/main" id="{11DC9F94-22BF-4148-84ED-BEDE44EC4B66}"/>
              </a:ext>
            </a:extLst>
          </p:cNvPr>
          <p:cNvSpPr/>
          <p:nvPr/>
        </p:nvSpPr>
        <p:spPr>
          <a:xfrm>
            <a:off x="8728546" y="4437615"/>
            <a:ext cx="1493116" cy="357288"/>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Consommation</a:t>
            </a:r>
            <a:endParaRPr kumimoji="0" sz="1400"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endParaRPr>
          </a:p>
        </p:txBody>
      </p:sp>
      <p:sp>
        <p:nvSpPr>
          <p:cNvPr id="19" name="Google Shape;250;p12">
            <a:extLst>
              <a:ext uri="{FF2B5EF4-FFF2-40B4-BE49-F238E27FC236}">
                <a16:creationId xmlns:a16="http://schemas.microsoft.com/office/drawing/2014/main" id="{1A466876-B487-4706-86DA-E73573B2B934}"/>
              </a:ext>
            </a:extLst>
          </p:cNvPr>
          <p:cNvSpPr/>
          <p:nvPr/>
        </p:nvSpPr>
        <p:spPr>
          <a:xfrm>
            <a:off x="8708610" y="3514958"/>
            <a:ext cx="1513052" cy="835231"/>
          </a:xfrm>
          <a:prstGeom prst="rect">
            <a:avLst/>
          </a:prstGeom>
          <a:solidFill>
            <a:srgbClr val="F3750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t>Produits</a:t>
            </a:r>
            <a:br>
              <a:rPr kumimoji="0" lang="en-US" sz="1800" b="1" i="0"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br>
            <a:r>
              <a:rPr kumimoji="0" lang="en-US" sz="1100" b="1" i="1"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t># d’unité</a:t>
            </a:r>
            <a:endParaRPr kumimoji="0" sz="1800" b="1" i="1"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endParaRPr>
          </a:p>
        </p:txBody>
      </p:sp>
      <p:sp>
        <p:nvSpPr>
          <p:cNvPr id="20" name="Google Shape;251;p12">
            <a:extLst>
              <a:ext uri="{FF2B5EF4-FFF2-40B4-BE49-F238E27FC236}">
                <a16:creationId xmlns:a16="http://schemas.microsoft.com/office/drawing/2014/main" id="{2A78AD8F-BCB1-4912-BA0E-6DD32CE18F10}"/>
              </a:ext>
            </a:extLst>
          </p:cNvPr>
          <p:cNvSpPr/>
          <p:nvPr/>
        </p:nvSpPr>
        <p:spPr>
          <a:xfrm>
            <a:off x="4551113" y="3539897"/>
            <a:ext cx="1395971" cy="802243"/>
          </a:xfrm>
          <a:prstGeom prst="rect">
            <a:avLst/>
          </a:prstGeom>
          <a:solidFill>
            <a:srgbClr val="014E9D"/>
          </a:solidFill>
          <a:ln>
            <a:noFill/>
          </a:ln>
        </p:spPr>
        <p:txBody>
          <a:bodyPr spcFirstLastPara="1" wrap="square" lIns="91425" tIns="45700" rIns="91425" bIns="45700" anchor="ctr" anchorCtr="0">
            <a:noAutofit/>
          </a:bodyPr>
          <a:lstStyle/>
          <a:p>
            <a:pPr algn="ctr">
              <a:buClr>
                <a:srgbClr val="000000"/>
              </a:buClr>
              <a:buFont typeface="Arial"/>
              <a:buNone/>
            </a:pPr>
            <a:r>
              <a:rPr lang="en-US" b="1" kern="0">
                <a:solidFill>
                  <a:srgbClr val="FFFFFF"/>
                </a:solidFill>
                <a:latin typeface="Aptos" panose="020B0004020202020204" pitchFamily="34" charset="0"/>
                <a:ea typeface="Gill Sans"/>
                <a:cs typeface="Gill Sans"/>
                <a:sym typeface="Gill Sans"/>
              </a:rPr>
              <a:t>Patients</a:t>
            </a:r>
            <a:br>
              <a:rPr lang="en-US" b="1" kern="0">
                <a:solidFill>
                  <a:srgbClr val="FFFFFF"/>
                </a:solidFill>
                <a:latin typeface="Aptos" panose="020B0004020202020204" pitchFamily="34" charset="0"/>
                <a:ea typeface="Gill Sans"/>
                <a:cs typeface="Gill Sans"/>
                <a:sym typeface="Gill Sans"/>
              </a:rPr>
            </a:br>
            <a:r>
              <a:rPr lang="en-US" sz="1100" b="1" i="1" kern="0">
                <a:solidFill>
                  <a:srgbClr val="FFFFFF"/>
                </a:solidFill>
                <a:latin typeface="Aptos" panose="020B0004020202020204" pitchFamily="34" charset="0"/>
                <a:ea typeface="Gill Sans"/>
                <a:cs typeface="Gill Sans"/>
                <a:sym typeface="Gill Sans"/>
              </a:rPr>
              <a:t># de Patients</a:t>
            </a:r>
            <a:endParaRPr b="1" i="1" kern="0">
              <a:solidFill>
                <a:srgbClr val="FFFFFF"/>
              </a:solidFill>
              <a:latin typeface="Aptos" panose="020B0004020202020204" pitchFamily="34" charset="0"/>
              <a:ea typeface="Gill Sans"/>
              <a:cs typeface="Gill Sans"/>
              <a:sym typeface="Gill Sans"/>
            </a:endParaRPr>
          </a:p>
        </p:txBody>
      </p:sp>
      <p:sp>
        <p:nvSpPr>
          <p:cNvPr id="21" name="Google Shape;252;p12">
            <a:extLst>
              <a:ext uri="{FF2B5EF4-FFF2-40B4-BE49-F238E27FC236}">
                <a16:creationId xmlns:a16="http://schemas.microsoft.com/office/drawing/2014/main" id="{6EAF908B-E48A-42F1-94C4-81F31BC0793E}"/>
              </a:ext>
            </a:extLst>
          </p:cNvPr>
          <p:cNvSpPr/>
          <p:nvPr/>
        </p:nvSpPr>
        <p:spPr>
          <a:xfrm>
            <a:off x="4551112" y="4456656"/>
            <a:ext cx="1395972" cy="338246"/>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algn="ctr">
              <a:buClr>
                <a:srgbClr val="000000"/>
              </a:buClr>
              <a:buFont typeface="Arial"/>
              <a:buNone/>
            </a:pPr>
            <a:r>
              <a:rPr lang="en-US" sz="1400" kern="0">
                <a:solidFill>
                  <a:srgbClr val="FFFFFF"/>
                </a:solidFill>
                <a:latin typeface="Aptos" panose="020B0004020202020204" pitchFamily="34" charset="0"/>
                <a:ea typeface="Gill Sans"/>
                <a:cs typeface="Gill Sans"/>
                <a:sym typeface="Gill Sans"/>
              </a:rPr>
              <a:t>Morbidité</a:t>
            </a:r>
            <a:endParaRPr sz="1400" kern="0">
              <a:solidFill>
                <a:srgbClr val="000000"/>
              </a:solidFill>
              <a:latin typeface="Aptos" panose="020B0004020202020204" pitchFamily="34" charset="0"/>
              <a:cs typeface="Arial"/>
              <a:sym typeface="Arial"/>
            </a:endParaRPr>
          </a:p>
        </p:txBody>
      </p:sp>
      <p:cxnSp>
        <p:nvCxnSpPr>
          <p:cNvPr id="22" name="Google Shape;259;p12">
            <a:extLst>
              <a:ext uri="{FF2B5EF4-FFF2-40B4-BE49-F238E27FC236}">
                <a16:creationId xmlns:a16="http://schemas.microsoft.com/office/drawing/2014/main" id="{43E8AD6E-AD87-490A-B64A-27FFFED200C0}"/>
              </a:ext>
            </a:extLst>
          </p:cNvPr>
          <p:cNvCxnSpPr>
            <a:cxnSpLocks/>
            <a:stCxn id="15" idx="3"/>
            <a:endCxn id="20" idx="1"/>
          </p:cNvCxnSpPr>
          <p:nvPr/>
        </p:nvCxnSpPr>
        <p:spPr>
          <a:xfrm flipV="1">
            <a:off x="3006923" y="3941019"/>
            <a:ext cx="1544190" cy="1"/>
          </a:xfrm>
          <a:prstGeom prst="straightConnector1">
            <a:avLst/>
          </a:prstGeom>
          <a:noFill/>
          <a:ln w="38100" cap="flat" cmpd="sng">
            <a:solidFill>
              <a:srgbClr val="000000"/>
            </a:solidFill>
            <a:prstDash val="solid"/>
            <a:miter lim="800000"/>
            <a:headEnd type="none" w="sm" len="sm"/>
            <a:tailEnd type="triangle" w="med" len="med"/>
          </a:ln>
        </p:spPr>
      </p:cxnSp>
      <p:cxnSp>
        <p:nvCxnSpPr>
          <p:cNvPr id="23" name="Google Shape;260;p12">
            <a:extLst>
              <a:ext uri="{FF2B5EF4-FFF2-40B4-BE49-F238E27FC236}">
                <a16:creationId xmlns:a16="http://schemas.microsoft.com/office/drawing/2014/main" id="{191401DF-01B4-4B58-94ED-A304C01EA337}"/>
              </a:ext>
            </a:extLst>
          </p:cNvPr>
          <p:cNvCxnSpPr>
            <a:stCxn id="20" idx="0"/>
            <a:endCxn id="16" idx="1"/>
          </p:cNvCxnSpPr>
          <p:nvPr/>
        </p:nvCxnSpPr>
        <p:spPr>
          <a:xfrm rot="10800000" flipH="1">
            <a:off x="5249099" y="2857097"/>
            <a:ext cx="1376700" cy="682800"/>
          </a:xfrm>
          <a:prstGeom prst="straightConnector1">
            <a:avLst/>
          </a:prstGeom>
          <a:noFill/>
          <a:ln w="38100" cap="flat" cmpd="sng">
            <a:solidFill>
              <a:srgbClr val="000000"/>
            </a:solidFill>
            <a:prstDash val="solid"/>
            <a:miter lim="800000"/>
            <a:headEnd type="none" w="sm" len="sm"/>
            <a:tailEnd type="triangle" w="med" len="med"/>
          </a:ln>
        </p:spPr>
      </p:cxnSp>
      <p:cxnSp>
        <p:nvCxnSpPr>
          <p:cNvPr id="24" name="Google Shape;261;p12">
            <a:extLst>
              <a:ext uri="{FF2B5EF4-FFF2-40B4-BE49-F238E27FC236}">
                <a16:creationId xmlns:a16="http://schemas.microsoft.com/office/drawing/2014/main" id="{7A0DC600-B84F-4D61-903A-0AE0A3CE4E61}"/>
              </a:ext>
            </a:extLst>
          </p:cNvPr>
          <p:cNvCxnSpPr>
            <a:stCxn id="20" idx="3"/>
            <a:endCxn id="19" idx="1"/>
          </p:cNvCxnSpPr>
          <p:nvPr/>
        </p:nvCxnSpPr>
        <p:spPr>
          <a:xfrm rot="10800000" flipH="1">
            <a:off x="5947084" y="3932618"/>
            <a:ext cx="2761500" cy="8400"/>
          </a:xfrm>
          <a:prstGeom prst="straightConnector1">
            <a:avLst/>
          </a:prstGeom>
          <a:noFill/>
          <a:ln w="38100" cap="flat" cmpd="sng">
            <a:solidFill>
              <a:srgbClr val="000000"/>
            </a:solidFill>
            <a:prstDash val="solid"/>
            <a:miter lim="800000"/>
            <a:headEnd type="none" w="sm" len="sm"/>
            <a:tailEnd type="triangle" w="med" len="med"/>
          </a:ln>
        </p:spPr>
      </p:cxnSp>
      <p:cxnSp>
        <p:nvCxnSpPr>
          <p:cNvPr id="25" name="Google Shape;262;p12">
            <a:extLst>
              <a:ext uri="{FF2B5EF4-FFF2-40B4-BE49-F238E27FC236}">
                <a16:creationId xmlns:a16="http://schemas.microsoft.com/office/drawing/2014/main" id="{DF68E754-F457-4EA3-BF84-54B07F0F74DE}"/>
              </a:ext>
            </a:extLst>
          </p:cNvPr>
          <p:cNvCxnSpPr>
            <a:stCxn id="16" idx="3"/>
            <a:endCxn id="19" idx="0"/>
          </p:cNvCxnSpPr>
          <p:nvPr/>
        </p:nvCxnSpPr>
        <p:spPr>
          <a:xfrm>
            <a:off x="8029906" y="2856965"/>
            <a:ext cx="1435200" cy="657900"/>
          </a:xfrm>
          <a:prstGeom prst="straightConnector1">
            <a:avLst/>
          </a:prstGeom>
          <a:noFill/>
          <a:ln w="38100" cap="flat" cmpd="sng">
            <a:solidFill>
              <a:srgbClr val="000000"/>
            </a:solidFill>
            <a:prstDash val="solid"/>
            <a:miter lim="800000"/>
            <a:headEnd type="none" w="sm" len="sm"/>
            <a:tailEnd type="triangle" w="med" len="med"/>
          </a:ln>
        </p:spPr>
      </p:cxnSp>
      <p:sp>
        <p:nvSpPr>
          <p:cNvPr id="26" name="Google Shape;263;p12">
            <a:extLst>
              <a:ext uri="{FF2B5EF4-FFF2-40B4-BE49-F238E27FC236}">
                <a16:creationId xmlns:a16="http://schemas.microsoft.com/office/drawing/2014/main" id="{449A8F1A-5434-47DE-9958-E777D200E453}"/>
              </a:ext>
            </a:extLst>
          </p:cNvPr>
          <p:cNvSpPr txBox="1"/>
          <p:nvPr/>
        </p:nvSpPr>
        <p:spPr>
          <a:xfrm>
            <a:off x="2973990" y="4004638"/>
            <a:ext cx="1609020" cy="738623"/>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Les patients représentent quel pourcentage de la population?</a:t>
            </a:r>
            <a:endParaRPr lang="fr-FR" b="1" dirty="0">
              <a:solidFill>
                <a:schemeClr val="tx1">
                  <a:lumMod val="75000"/>
                  <a:lumOff val="25000"/>
                </a:schemeClr>
              </a:solidFill>
              <a:sym typeface="Arial"/>
            </a:endParaRPr>
          </a:p>
        </p:txBody>
      </p:sp>
      <p:sp>
        <p:nvSpPr>
          <p:cNvPr id="27" name="Google Shape;264;p12">
            <a:extLst>
              <a:ext uri="{FF2B5EF4-FFF2-40B4-BE49-F238E27FC236}">
                <a16:creationId xmlns:a16="http://schemas.microsoft.com/office/drawing/2014/main" id="{985D1C4E-15C1-4FF9-BC7D-1CCDA9136625}"/>
              </a:ext>
            </a:extLst>
          </p:cNvPr>
          <p:cNvSpPr txBox="1"/>
          <p:nvPr/>
        </p:nvSpPr>
        <p:spPr>
          <a:xfrm>
            <a:off x="4617115" y="2605222"/>
            <a:ext cx="1659679" cy="430847"/>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services par patient?</a:t>
            </a:r>
            <a:endParaRPr lang="fr-FR" b="1" dirty="0">
              <a:solidFill>
                <a:schemeClr val="tx1">
                  <a:lumMod val="75000"/>
                  <a:lumOff val="25000"/>
                </a:schemeClr>
              </a:solidFill>
              <a:sym typeface="Arial"/>
            </a:endParaRPr>
          </a:p>
        </p:txBody>
      </p:sp>
      <p:sp>
        <p:nvSpPr>
          <p:cNvPr id="28" name="Google Shape;265;p12">
            <a:extLst>
              <a:ext uri="{FF2B5EF4-FFF2-40B4-BE49-F238E27FC236}">
                <a16:creationId xmlns:a16="http://schemas.microsoft.com/office/drawing/2014/main" id="{21CC41F7-74A9-4E6F-AA67-33AF7DEA26D1}"/>
              </a:ext>
            </a:extLst>
          </p:cNvPr>
          <p:cNvSpPr txBox="1"/>
          <p:nvPr/>
        </p:nvSpPr>
        <p:spPr>
          <a:xfrm>
            <a:off x="6400163" y="4027412"/>
            <a:ext cx="1875304" cy="430847"/>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produits requis par patient?</a:t>
            </a:r>
            <a:endParaRPr lang="fr-FR" b="1" dirty="0">
              <a:solidFill>
                <a:schemeClr val="tx1">
                  <a:lumMod val="75000"/>
                  <a:lumOff val="25000"/>
                </a:schemeClr>
              </a:solidFill>
              <a:sym typeface="Arial"/>
            </a:endParaRPr>
          </a:p>
        </p:txBody>
      </p:sp>
      <p:sp>
        <p:nvSpPr>
          <p:cNvPr id="29" name="Google Shape;266;p12">
            <a:extLst>
              <a:ext uri="{FF2B5EF4-FFF2-40B4-BE49-F238E27FC236}">
                <a16:creationId xmlns:a16="http://schemas.microsoft.com/office/drawing/2014/main" id="{A14ED72F-ACDF-4535-AAED-70BB92F0BD46}"/>
              </a:ext>
            </a:extLst>
          </p:cNvPr>
          <p:cNvSpPr txBox="1"/>
          <p:nvPr/>
        </p:nvSpPr>
        <p:spPr>
          <a:xfrm>
            <a:off x="8399332" y="2553089"/>
            <a:ext cx="1822330" cy="577041"/>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produits requis par service?</a:t>
            </a:r>
            <a:endParaRPr lang="fr-FR" b="1" dirty="0">
              <a:solidFill>
                <a:schemeClr val="tx1">
                  <a:lumMod val="75000"/>
                  <a:lumOff val="25000"/>
                </a:schemeClr>
              </a:solidFill>
              <a:sym typeface="Arial"/>
            </a:endParaRPr>
          </a:p>
        </p:txBody>
      </p:sp>
    </p:spTree>
    <p:extLst>
      <p:ext uri="{BB962C8B-B14F-4D97-AF65-F5344CB8AC3E}">
        <p14:creationId xmlns:p14="http://schemas.microsoft.com/office/powerpoint/2010/main" val="75414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30" name="ZoneTexte 29">
            <a:extLst>
              <a:ext uri="{FF2B5EF4-FFF2-40B4-BE49-F238E27FC236}">
                <a16:creationId xmlns:a16="http://schemas.microsoft.com/office/drawing/2014/main" id="{9940CF8E-B521-4C40-A238-68D2C344E28C}"/>
              </a:ext>
            </a:extLst>
          </p:cNvPr>
          <p:cNvSpPr txBox="1"/>
          <p:nvPr/>
        </p:nvSpPr>
        <p:spPr>
          <a:xfrm>
            <a:off x="751840" y="1424353"/>
            <a:ext cx="11145520" cy="4893647"/>
          </a:xfrm>
          <a:prstGeom prst="rect">
            <a:avLst/>
          </a:prstGeom>
          <a:noFill/>
        </p:spPr>
        <p:txBody>
          <a:bodyPr wrap="square">
            <a:spAutoFit/>
          </a:bodyPr>
          <a:lstStyle/>
          <a:p>
            <a:pPr marL="342900" indent="-342900">
              <a:buFont typeface="Arial" panose="020B0604020202020204" pitchFamily="34" charset="0"/>
              <a:buChar char="•"/>
            </a:pPr>
            <a:r>
              <a:rPr lang="fr-FR" sz="2400" dirty="0">
                <a:latin typeface="Aptos" panose="020B0004020202020204" pitchFamily="34" charset="0"/>
              </a:rPr>
              <a:t>La méthode basée sur la consommation est </a:t>
            </a:r>
            <a:r>
              <a:rPr lang="fr-FR" sz="2400" b="1" dirty="0">
                <a:latin typeface="Aptos" panose="020B0004020202020204" pitchFamily="34" charset="0"/>
              </a:rPr>
              <a:t>la plus utilisée </a:t>
            </a:r>
            <a:r>
              <a:rPr lang="fr-FR" sz="2400" dirty="0">
                <a:latin typeface="Aptos" panose="020B0004020202020204" pitchFamily="34" charset="0"/>
              </a:rPr>
              <a:t>dans les systèmes de santé disposant d'un </a:t>
            </a:r>
            <a:r>
              <a:rPr lang="fr-FR" sz="2400" b="1" dirty="0">
                <a:latin typeface="Aptos" panose="020B0004020202020204" pitchFamily="34" charset="0"/>
              </a:rPr>
              <a:t>historique de données fiable</a:t>
            </a:r>
            <a:r>
              <a:rPr lang="fr-FR" sz="2400" dirty="0">
                <a:latin typeface="Aptos" panose="020B0004020202020204" pitchFamily="34" charset="0"/>
              </a:rPr>
              <a:t>. </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b="1" dirty="0">
                <a:latin typeface="Aptos" panose="020B0004020202020204" pitchFamily="34" charset="0"/>
              </a:rPr>
              <a:t>Elle part d'un principe simple </a:t>
            </a:r>
            <a:r>
              <a:rPr lang="fr-FR" sz="2400" dirty="0">
                <a:latin typeface="Aptos" panose="020B0004020202020204" pitchFamily="34" charset="0"/>
              </a:rPr>
              <a:t>: la meilleure estimation des besoins futurs est ce qui a été réellement consommé dans le passé, ajusté pour tenir compte des tendances, des ruptures et des évolutions prévisibles. </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C'est la </a:t>
            </a:r>
            <a:r>
              <a:rPr lang="fr-FR" sz="2400" b="1" dirty="0">
                <a:latin typeface="Aptos" panose="020B0004020202020204" pitchFamily="34" charset="0"/>
              </a:rPr>
              <a:t>méthode de référence </a:t>
            </a:r>
            <a:r>
              <a:rPr lang="fr-FR" sz="2400" dirty="0">
                <a:latin typeface="Aptos" panose="020B0004020202020204" pitchFamily="34" charset="0"/>
              </a:rPr>
              <a:t>pour les médicaments dont la consommation est stable et bien documentée. </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Sa </a:t>
            </a:r>
            <a:r>
              <a:rPr lang="fr-FR" sz="2400" b="1" dirty="0">
                <a:latin typeface="Aptos" panose="020B0004020202020204" pitchFamily="34" charset="0"/>
              </a:rPr>
              <a:t>qualité dépend entièrement de la qualité des données collectées</a:t>
            </a:r>
            <a:r>
              <a:rPr lang="fr-FR" sz="2400" dirty="0">
                <a:latin typeface="Aptos" panose="020B0004020202020204" pitchFamily="34" charset="0"/>
              </a:rPr>
              <a:t>. Des données médiocres produiront une quantification médiocre, peu importe la sophistication de la formule appliquée.</a:t>
            </a:r>
          </a:p>
        </p:txBody>
      </p:sp>
    </p:spTree>
    <p:extLst>
      <p:ext uri="{BB962C8B-B14F-4D97-AF65-F5344CB8AC3E}">
        <p14:creationId xmlns:p14="http://schemas.microsoft.com/office/powerpoint/2010/main" val="261237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 général de la méthode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276480"/>
            <a:ext cx="1063631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La méthode basée sur la consommation utilise les données historiques de distribution ou de consommation pour projeter les besoins futurs. </a:t>
            </a:r>
          </a:p>
          <a:p>
            <a:pPr marL="0" marR="0" lvl="0" indent="0" algn="l" defTabSz="914400" rtl="0" eaLnBrk="0" fontAlgn="base" latinLnBrk="0" hangingPunct="0">
              <a:lnSpc>
                <a:spcPct val="100000"/>
              </a:lnSpc>
              <a:spcBef>
                <a:spcPct val="0"/>
              </a:spcBef>
              <a:spcAft>
                <a:spcPct val="0"/>
              </a:spcAft>
              <a:buClrTx/>
              <a:buSzTx/>
              <a:buFontTx/>
              <a:buNone/>
              <a:tabLst/>
            </a:pPr>
            <a:endParaRPr lang="fr-FR" altLang="fr-FR" sz="2000" dirty="0">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1" i="0" u="none" strike="noStrike" cap="none" normalizeH="0" baseline="0" dirty="0">
                <a:ln>
                  <a:noFill/>
                </a:ln>
                <a:solidFill>
                  <a:schemeClr val="tx1"/>
                </a:solidFill>
                <a:effectLst/>
                <a:latin typeface="Aptos" panose="020B0004020202020204" pitchFamily="34" charset="0"/>
              </a:rPr>
              <a:t>Elle répond à la question </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si nous avons consommé X unités sur les 12 derniers mois,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combien nous faudra-t-il sur les 12 prochains mois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i="0" u="none" strike="noStrike" cap="none" normalizeH="0" baseline="0" dirty="0">
                <a:ln>
                  <a:noFill/>
                </a:ln>
                <a:solidFill>
                  <a:schemeClr val="tx1"/>
                </a:solidFill>
                <a:effectLst/>
                <a:latin typeface="Aptos" panose="020B0004020202020204" pitchFamily="34" charset="0"/>
              </a:rPr>
              <a:t>Formule de base : </a:t>
            </a:r>
            <a:r>
              <a:rPr kumimoji="0" lang="fr-FR" altLang="fr-FR" sz="2000" b="1" i="0" u="none" strike="noStrike" cap="none" normalizeH="0" baseline="0" dirty="0">
                <a:ln>
                  <a:noFill/>
                </a:ln>
                <a:solidFill>
                  <a:schemeClr val="tx1"/>
                </a:solidFill>
                <a:effectLst/>
                <a:latin typeface="Aptos" panose="020B0004020202020204" pitchFamily="34" charset="0"/>
              </a:rPr>
              <a:t>Besoin prévisionnel = CMM ajustée × Nombre de mois de la période de planification × Facteur d'ajustement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Le facteur d'ajustement tient compte des évolutions attendues : croissance de la population desservie, changement de protocole, amélioration de la couverture des services.</a:t>
            </a:r>
          </a:p>
        </p:txBody>
      </p:sp>
    </p:spTree>
    <p:extLst>
      <p:ext uri="{BB962C8B-B14F-4D97-AF65-F5344CB8AC3E}">
        <p14:creationId xmlns:p14="http://schemas.microsoft.com/office/powerpoint/2010/main" val="3033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 général de la méthode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1" y="2276480"/>
            <a:ext cx="111006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1" i="0" u="none" strike="noStrike" cap="none" normalizeH="0" baseline="0" dirty="0">
                <a:ln>
                  <a:noFill/>
                </a:ln>
                <a:solidFill>
                  <a:schemeClr val="tx1"/>
                </a:solidFill>
                <a:effectLst/>
                <a:latin typeface="Aptos" panose="020B0004020202020204" pitchFamily="34" charset="0"/>
              </a:rPr>
              <a:t>Extrapolation</a:t>
            </a:r>
            <a:r>
              <a:rPr kumimoji="0" lang="fr-FR" altLang="fr-FR" sz="2000" b="0" i="0" u="none" strike="noStrike" cap="none" normalizeH="0" baseline="0" dirty="0">
                <a:ln>
                  <a:noFill/>
                </a:ln>
                <a:solidFill>
                  <a:schemeClr val="tx1"/>
                </a:solidFill>
                <a:effectLst/>
                <a:latin typeface="Aptos" panose="020B0004020202020204" pitchFamily="34" charset="0"/>
              </a:rPr>
              <a:t> à partir d’une série de données chronologiques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Série de données chronologiques : nécessite une série de données au fil du temps – pas juste des données annuelles (c.-à-d. consommation réelle mensuelle ajustée)</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Extrapolation </a:t>
            </a:r>
            <a:r>
              <a:rPr kumimoji="0" lang="fr-FR" altLang="fr-FR" sz="2000" b="0" i="0" u="none" strike="noStrike" cap="none" normalizeH="0" baseline="0" dirty="0">
                <a:ln>
                  <a:noFill/>
                </a:ln>
                <a:solidFill>
                  <a:schemeClr val="tx1"/>
                </a:solidFill>
                <a:effectLst/>
                <a:latin typeface="Aptos" panose="020B0004020202020204" pitchFamily="34" charset="0"/>
              </a:rPr>
              <a:t>: utilise les données du passé pour prédire le futur.</a:t>
            </a:r>
          </a:p>
          <a:p>
            <a:pPr marL="800100" lvl="1" indent="-342900" eaLnBrk="0" fontAlgn="base" hangingPunct="0">
              <a:spcBef>
                <a:spcPct val="0"/>
              </a:spcBef>
              <a:spcAft>
                <a:spcPct val="0"/>
              </a:spcAft>
              <a:buFont typeface="Courier New" panose="02070309020205020404" pitchFamily="49" charset="0"/>
              <a:buChar char="o"/>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A n’utiliser que si le passé est un bon indicateur du futur! Plus utile pour des produits avec des données complètes et précises.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En théorie il existe </a:t>
            </a:r>
            <a:r>
              <a:rPr kumimoji="0" lang="fr-FR" altLang="fr-FR" sz="2000" b="1" i="0" u="none" strike="noStrike" cap="none" normalizeH="0" baseline="0" dirty="0">
                <a:ln>
                  <a:noFill/>
                </a:ln>
                <a:solidFill>
                  <a:schemeClr val="tx1"/>
                </a:solidFill>
                <a:effectLst/>
                <a:latin typeface="Aptos" panose="020B0004020202020204" pitchFamily="34" charset="0"/>
              </a:rPr>
              <a:t>4 composantes </a:t>
            </a:r>
            <a:r>
              <a:rPr kumimoji="0" lang="fr-FR" altLang="fr-FR" sz="2000" b="0" i="0" u="none" strike="noStrike" cap="none" normalizeH="0" baseline="0" dirty="0">
                <a:ln>
                  <a:noFill/>
                </a:ln>
                <a:solidFill>
                  <a:schemeClr val="tx1"/>
                </a:solidFill>
                <a:effectLst/>
                <a:latin typeface="Aptos" panose="020B0004020202020204" pitchFamily="34" charset="0"/>
              </a:rPr>
              <a:t>de base: Prévision ≅𝐵𝑎𝑠𝑒+𝑇𝑒𝑛𝑑𝑎𝑛𝑐𝑒+𝑆𝑎𝑖𝑠𝑜𝑛𝑎𝑙𝑖𝑡é +𝐴𝑙é𝑎𝑡𝑜𝑖𝑟𝑒</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Différentes méthodes d’extrapolation estiment ces composantes sur la base de séries de données chronologiques pour aboutir à la prévision</a:t>
            </a:r>
          </a:p>
        </p:txBody>
      </p:sp>
    </p:spTree>
    <p:extLst>
      <p:ext uri="{BB962C8B-B14F-4D97-AF65-F5344CB8AC3E}">
        <p14:creationId xmlns:p14="http://schemas.microsoft.com/office/powerpoint/2010/main" val="249225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3244641"/>
            <a:ext cx="495986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La première étape de la méthode est la collecte des données.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La qualité de ces données est le facteur le plus critique de toute la démarche.</a:t>
            </a:r>
          </a:p>
        </p:txBody>
      </p:sp>
      <p:pic>
        <p:nvPicPr>
          <p:cNvPr id="5" name="Image 4">
            <a:extLst>
              <a:ext uri="{FF2B5EF4-FFF2-40B4-BE49-F238E27FC236}">
                <a16:creationId xmlns:a16="http://schemas.microsoft.com/office/drawing/2014/main" id="{40879CFA-679E-4B26-AC87-FBAA9C2B0AE7}"/>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r="11384"/>
          <a:stretch/>
        </p:blipFill>
        <p:spPr>
          <a:xfrm>
            <a:off x="6106886" y="2225264"/>
            <a:ext cx="5746757" cy="3993410"/>
          </a:xfrm>
          <a:prstGeom prst="rect">
            <a:avLst/>
          </a:prstGeom>
        </p:spPr>
      </p:pic>
    </p:spTree>
    <p:extLst>
      <p:ext uri="{BB962C8B-B14F-4D97-AF65-F5344CB8AC3E}">
        <p14:creationId xmlns:p14="http://schemas.microsoft.com/office/powerpoint/2010/main" val="366478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590223"/>
            <a:ext cx="820836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fr-FR" altLang="fr-FR" sz="2000" b="1" i="0" u="none" strike="noStrike" cap="none" normalizeH="0" baseline="0" dirty="0">
                <a:ln>
                  <a:noFill/>
                </a:ln>
                <a:solidFill>
                  <a:schemeClr val="tx1"/>
                </a:solidFill>
                <a:effectLst/>
                <a:latin typeface="Aptos" panose="020B0004020202020204" pitchFamily="34" charset="0"/>
              </a:rPr>
              <a:t>Source 1 — Les registres de dispensation des pharmacies</a:t>
            </a:r>
          </a:p>
          <a:p>
            <a:pPr marL="800100" lvl="1" indent="-342900" eaLnBrk="0" fontAlgn="base" hangingPunct="0">
              <a:spcBef>
                <a:spcPct val="0"/>
              </a:spcBef>
              <a:spcAft>
                <a:spcPct val="0"/>
              </a:spcAft>
              <a:buFont typeface="Arial" panose="020B0604020202020204" pitchFamily="34" charset="0"/>
              <a:buChar char="•"/>
            </a:pPr>
            <a:r>
              <a:rPr kumimoji="0" lang="fr-FR" altLang="fr-FR" sz="2000" b="0" i="0" u="none" strike="noStrike" cap="none" normalizeH="0" baseline="0" dirty="0">
                <a:ln>
                  <a:noFill/>
                </a:ln>
                <a:solidFill>
                  <a:schemeClr val="tx1"/>
                </a:solidFill>
                <a:effectLst/>
                <a:latin typeface="Aptos" panose="020B0004020202020204" pitchFamily="34" charset="0"/>
              </a:rPr>
              <a:t>C'est la source la plus directe.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Avantages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Données proches de la consommation réelle au niveau patient</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Granularité élevée (par produit, par date, par service)</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Disponibles dans la plupart des structures</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Limites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Qualité variable selon la rigueur d'enregistrement</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Données de consommation biaisées si des ruptures ont eu lieu (demande non satisfaite non visible)</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Consolidation difficile entre plusieurs sites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principales sources de données</a:t>
            </a:r>
          </a:p>
        </p:txBody>
      </p:sp>
      <p:pic>
        <p:nvPicPr>
          <p:cNvPr id="6" name="Image 5">
            <a:extLst>
              <a:ext uri="{FF2B5EF4-FFF2-40B4-BE49-F238E27FC236}">
                <a16:creationId xmlns:a16="http://schemas.microsoft.com/office/drawing/2014/main" id="{ED3D6CF7-3389-4C9D-8A39-23FD61923F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4727" y="3074357"/>
            <a:ext cx="3668916" cy="2386667"/>
          </a:xfrm>
          <a:prstGeom prst="rect">
            <a:avLst/>
          </a:prstGeom>
        </p:spPr>
      </p:pic>
    </p:spTree>
    <p:extLst>
      <p:ext uri="{BB962C8B-B14F-4D97-AF65-F5344CB8AC3E}">
        <p14:creationId xmlns:p14="http://schemas.microsoft.com/office/powerpoint/2010/main" val="149866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590223"/>
            <a:ext cx="1110256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fr-FR" altLang="fr-FR" sz="2000" b="1" i="0" u="none" strike="noStrike" cap="none" normalizeH="0" baseline="0" dirty="0">
                <a:ln>
                  <a:noFill/>
                </a:ln>
                <a:solidFill>
                  <a:schemeClr val="tx1"/>
                </a:solidFill>
                <a:effectLst/>
                <a:latin typeface="Aptos" panose="020B0004020202020204" pitchFamily="34" charset="0"/>
              </a:rPr>
              <a:t>Source 2 — Les rapports de consommation des programmes de santé</a:t>
            </a:r>
          </a:p>
          <a:p>
            <a:pPr marL="800100" lvl="1" indent="-342900" eaLnBrk="0" fontAlgn="base" hangingPunct="0">
              <a:spcBef>
                <a:spcPct val="0"/>
              </a:spcBef>
              <a:spcAft>
                <a:spcPct val="0"/>
              </a:spcAft>
              <a:buFont typeface="Arial" panose="020B0604020202020204" pitchFamily="34" charset="0"/>
              <a:buChar char="•"/>
            </a:pPr>
            <a:r>
              <a:rPr kumimoji="0" lang="fr-FR" altLang="fr-FR" sz="2000" b="0" i="0" u="none" strike="noStrike" cap="none" normalizeH="0" baseline="0" dirty="0">
                <a:ln>
                  <a:noFill/>
                </a:ln>
                <a:solidFill>
                  <a:schemeClr val="tx1"/>
                </a:solidFill>
                <a:effectLst/>
                <a:latin typeface="Aptos" panose="020B0004020202020204" pitchFamily="34" charset="0"/>
              </a:rPr>
              <a:t>Les programmes verticaux (VIH/SIDA, paludisme, tuberculose, vaccination) collectent leurs propres données de consommation via des rapports mensuels ou trimestriels standardisés.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Avantages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Données agrégées à plusieurs niveaux (site, district, région, national)</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Format standardisé facilitant la comparaison</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Souvent saisies dans des systèmes informatisés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Limites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Délais de transmission (les données du mois M arrivent parfois au mois M+2 ou M+3)</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Taux de complétude parfois insuffisant (tous les sites ne rapportent pas)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Données de dispensation ≠ données de consommation réelle si retours de stock non enregistrés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principales sources de données</a:t>
            </a:r>
          </a:p>
        </p:txBody>
      </p:sp>
    </p:spTree>
    <p:extLst>
      <p:ext uri="{BB962C8B-B14F-4D97-AF65-F5344CB8AC3E}">
        <p14:creationId xmlns:p14="http://schemas.microsoft.com/office/powerpoint/2010/main" val="329013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744111"/>
            <a:ext cx="111025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fr-FR" altLang="fr-FR" sz="2000" b="1" i="0" u="none" strike="noStrike" cap="none" normalizeH="0" baseline="0" dirty="0">
                <a:ln>
                  <a:noFill/>
                </a:ln>
                <a:solidFill>
                  <a:schemeClr val="tx1"/>
                </a:solidFill>
                <a:effectLst/>
                <a:latin typeface="Aptos" panose="020B0004020202020204" pitchFamily="34" charset="0"/>
              </a:rPr>
              <a:t>Source 3 — Les données de sortie des dépôts centraux et régionaux</a:t>
            </a:r>
          </a:p>
          <a:p>
            <a:pPr marL="800100" lvl="1" indent="-342900" eaLnBrk="0" fontAlgn="base" hangingPunct="0">
              <a:spcBef>
                <a:spcPct val="0"/>
              </a:spcBef>
              <a:spcAft>
                <a:spcPct val="0"/>
              </a:spcAft>
              <a:buFont typeface="Arial" panose="020B0604020202020204" pitchFamily="34" charset="0"/>
              <a:buChar char="•"/>
            </a:pPr>
            <a:r>
              <a:rPr kumimoji="0" lang="fr-FR" altLang="fr-FR" sz="2000" b="0" i="0" u="none" strike="noStrike" cap="none" normalizeH="0" baseline="0" dirty="0">
                <a:ln>
                  <a:noFill/>
                </a:ln>
                <a:solidFill>
                  <a:schemeClr val="tx1"/>
                </a:solidFill>
                <a:effectLst/>
                <a:latin typeface="Aptos" panose="020B0004020202020204" pitchFamily="34" charset="0"/>
              </a:rPr>
              <a:t>Les quantités expédiées par les centrales d'achat vers les niveaux inférieurs constituent une source de données de consommation agrégée.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Avantages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Données centralisées et généralement bien documentées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Reflètent les flux réels de produits dans le système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Limites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Reflètent les sorties du dépôt central, pas la consommation finale au patient</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Biaisées si des stocks s'accumulent aux niveaux intermédiaires ou si des redistributions ont eu lieu</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Ne permettent pas de détecter les pertes et péremptions aux niveaux périphériques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principales sources de données</a:t>
            </a:r>
          </a:p>
        </p:txBody>
      </p:sp>
    </p:spTree>
    <p:extLst>
      <p:ext uri="{BB962C8B-B14F-4D97-AF65-F5344CB8AC3E}">
        <p14:creationId xmlns:p14="http://schemas.microsoft.com/office/powerpoint/2010/main" val="210882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744111"/>
            <a:ext cx="111025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fr-FR" altLang="fr-FR" sz="2000" b="1" i="0" u="none" strike="noStrike" cap="none" normalizeH="0" baseline="0" dirty="0">
                <a:ln>
                  <a:noFill/>
                </a:ln>
                <a:solidFill>
                  <a:schemeClr val="tx1"/>
                </a:solidFill>
                <a:effectLst/>
                <a:latin typeface="Aptos" panose="020B0004020202020204" pitchFamily="34" charset="0"/>
              </a:rPr>
              <a:t>Source 4 — Les données des systèmes d'information de santé</a:t>
            </a:r>
          </a:p>
          <a:p>
            <a:pPr marL="800100" lvl="1" indent="-342900" eaLnBrk="0" fontAlgn="base" hangingPunct="0">
              <a:spcBef>
                <a:spcPct val="0"/>
              </a:spcBef>
              <a:spcAft>
                <a:spcPct val="0"/>
              </a:spcAft>
              <a:buFont typeface="Arial" panose="020B0604020202020204" pitchFamily="34" charset="0"/>
              <a:buChar char="•"/>
            </a:pPr>
            <a:r>
              <a:rPr kumimoji="0" lang="fr-FR" altLang="fr-FR" sz="2000" b="0" i="0" u="none" strike="noStrike" cap="none" normalizeH="0" baseline="0" dirty="0">
                <a:ln>
                  <a:noFill/>
                </a:ln>
                <a:solidFill>
                  <a:schemeClr val="tx1"/>
                </a:solidFill>
                <a:effectLst/>
                <a:latin typeface="Aptos" panose="020B0004020202020204" pitchFamily="34" charset="0"/>
              </a:rPr>
              <a:t>Les systèmes d'information nationaux consolident les données de plusieurs sources et permettent des analyses multi-niveaux. </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Avantages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Vue d'ensemble nationale en temps réel (si les données sont saisies régulièrement)</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Permet la comparaison entre régions, districts et sites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Historique long terme accessible</a:t>
            </a: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Limites</a:t>
            </a:r>
            <a:r>
              <a:rPr kumimoji="0" lang="fr-FR" altLang="fr-FR" sz="2000" b="0" i="0" u="none" strike="noStrike" cap="none" normalizeH="0" baseline="0" dirty="0">
                <a:ln>
                  <a:noFill/>
                </a:ln>
                <a:solidFill>
                  <a:schemeClr val="tx1"/>
                </a:solidFill>
                <a:effectLst/>
                <a:latin typeface="Aptos" panose="020B0004020202020204" pitchFamily="34" charset="0"/>
              </a:rPr>
              <a: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Qualité dépendante de la rigueur de saisie à la base</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Délais de saisie parfois importants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0" i="0" u="none" strike="noStrike" cap="none" normalizeH="0" baseline="0" dirty="0">
                <a:ln>
                  <a:noFill/>
                </a:ln>
                <a:solidFill>
                  <a:schemeClr val="tx1"/>
                </a:solidFill>
                <a:effectLst/>
                <a:latin typeface="Aptos" panose="020B0004020202020204" pitchFamily="34" charset="0"/>
              </a:rPr>
              <a:t>Nécessite une formation pour l'extraction et l'analyse des données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principales sources de données</a:t>
            </a:r>
          </a:p>
        </p:txBody>
      </p:sp>
    </p:spTree>
    <p:extLst>
      <p:ext uri="{BB962C8B-B14F-4D97-AF65-F5344CB8AC3E}">
        <p14:creationId xmlns:p14="http://schemas.microsoft.com/office/powerpoint/2010/main" val="199701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sources de données de consommation</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6866129" cy="594224"/>
          </a:xfrm>
          <a:prstGeom prst="rect">
            <a:avLst/>
          </a:prstGeom>
          <a:noFill/>
          <a:ln>
            <a:noFill/>
          </a:ln>
        </p:spPr>
        <p:txBody>
          <a:bodyPr spcFirstLastPara="1" vert="horz" wrap="square" lIns="91425" tIns="45700" rIns="91425" bIns="45700" rtlCol="0" anchor="t" anchorCtr="0">
            <a:normAutofit fontScale="92500"/>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Critères de qualité des données de consommation</a:t>
            </a:r>
          </a:p>
        </p:txBody>
      </p:sp>
      <p:graphicFrame>
        <p:nvGraphicFramePr>
          <p:cNvPr id="3" name="Tableau 2">
            <a:extLst>
              <a:ext uri="{FF2B5EF4-FFF2-40B4-BE49-F238E27FC236}">
                <a16:creationId xmlns:a16="http://schemas.microsoft.com/office/drawing/2014/main" id="{C146CBA0-D8D8-40C6-B3DC-DE430C48A55C}"/>
              </a:ext>
            </a:extLst>
          </p:cNvPr>
          <p:cNvGraphicFramePr>
            <a:graphicFrameLocks noGrp="1"/>
          </p:cNvGraphicFramePr>
          <p:nvPr>
            <p:extLst>
              <p:ext uri="{D42A27DB-BD31-4B8C-83A1-F6EECF244321}">
                <p14:modId xmlns:p14="http://schemas.microsoft.com/office/powerpoint/2010/main" val="3828488966"/>
              </p:ext>
            </p:extLst>
          </p:nvPr>
        </p:nvGraphicFramePr>
        <p:xfrm>
          <a:off x="1082384" y="2675786"/>
          <a:ext cx="10515600" cy="2987040"/>
        </p:xfrm>
        <a:graphic>
          <a:graphicData uri="http://schemas.openxmlformats.org/drawingml/2006/table">
            <a:tbl>
              <a:tblPr/>
              <a:tblGrid>
                <a:gridCol w="2105433">
                  <a:extLst>
                    <a:ext uri="{9D8B030D-6E8A-4147-A177-3AD203B41FA5}">
                      <a16:colId xmlns:a16="http://schemas.microsoft.com/office/drawing/2014/main" val="3916144401"/>
                    </a:ext>
                  </a:extLst>
                </a:gridCol>
                <a:gridCol w="4186106">
                  <a:extLst>
                    <a:ext uri="{9D8B030D-6E8A-4147-A177-3AD203B41FA5}">
                      <a16:colId xmlns:a16="http://schemas.microsoft.com/office/drawing/2014/main" val="2392938393"/>
                    </a:ext>
                  </a:extLst>
                </a:gridCol>
                <a:gridCol w="4224061">
                  <a:extLst>
                    <a:ext uri="{9D8B030D-6E8A-4147-A177-3AD203B41FA5}">
                      <a16:colId xmlns:a16="http://schemas.microsoft.com/office/drawing/2014/main" val="956751643"/>
                    </a:ext>
                  </a:extLst>
                </a:gridCol>
              </a:tblGrid>
              <a:tr h="0">
                <a:tc>
                  <a:txBody>
                    <a:bodyPr/>
                    <a:lstStyle/>
                    <a:p>
                      <a:r>
                        <a:rPr lang="fr-FR" sz="1600" b="1" dirty="0">
                          <a:solidFill>
                            <a:schemeClr val="bg1"/>
                          </a:solidFill>
                          <a:latin typeface="Aptos" panose="020B0004020202020204" pitchFamily="34" charset="0"/>
                        </a:rPr>
                        <a:t>Critère</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Questions clés</a:t>
                      </a:r>
                    </a:p>
                  </a:txBody>
                  <a:tcPr anchor="ctr">
                    <a:lnL>
                      <a:noFill/>
                    </a:lnL>
                    <a:lnR>
                      <a:noFill/>
                    </a:lnR>
                    <a:lnT>
                      <a:noFill/>
                    </a:lnT>
                    <a:lnB>
                      <a:noFill/>
                    </a:lnB>
                    <a:solidFill>
                      <a:srgbClr val="F37504"/>
                    </a:solidFill>
                  </a:tcPr>
                </a:tc>
                <a:extLst>
                  <a:ext uri="{0D108BD9-81ED-4DB2-BD59-A6C34878D82A}">
                    <a16:rowId xmlns:a16="http://schemas.microsoft.com/office/drawing/2014/main" val="2569926380"/>
                  </a:ext>
                </a:extLst>
              </a:tr>
              <a:tr h="0">
                <a:tc>
                  <a:txBody>
                    <a:bodyPr/>
                    <a:lstStyle/>
                    <a:p>
                      <a:r>
                        <a:rPr lang="fr-FR" sz="1600">
                          <a:latin typeface="Aptos" panose="020B0004020202020204" pitchFamily="34" charset="0"/>
                        </a:rPr>
                        <a:t>Complétude</a:t>
                      </a:r>
                    </a:p>
                  </a:txBody>
                  <a:tcPr anchor="ctr">
                    <a:lnL>
                      <a:noFill/>
                    </a:lnL>
                    <a:lnR>
                      <a:noFill/>
                    </a:lnR>
                    <a:lnT>
                      <a:noFill/>
                    </a:lnT>
                    <a:lnB>
                      <a:noFill/>
                    </a:lnB>
                  </a:tcPr>
                </a:tc>
                <a:tc>
                  <a:txBody>
                    <a:bodyPr/>
                    <a:lstStyle/>
                    <a:p>
                      <a:r>
                        <a:rPr lang="fr-FR" sz="1600">
                          <a:latin typeface="Aptos" panose="020B0004020202020204" pitchFamily="34" charset="0"/>
                        </a:rPr>
                        <a:t>Toutes les sources ont-elles rapporté ?</a:t>
                      </a:r>
                    </a:p>
                  </a:txBody>
                  <a:tcPr anchor="ctr">
                    <a:lnL>
                      <a:noFill/>
                    </a:lnL>
                    <a:lnR>
                      <a:noFill/>
                    </a:lnR>
                    <a:lnT>
                      <a:noFill/>
                    </a:lnT>
                    <a:lnB>
                      <a:noFill/>
                    </a:lnB>
                  </a:tcPr>
                </a:tc>
                <a:tc>
                  <a:txBody>
                    <a:bodyPr/>
                    <a:lstStyle/>
                    <a:p>
                      <a:r>
                        <a:rPr lang="fr-FR" sz="1600">
                          <a:latin typeface="Aptos" panose="020B0004020202020204" pitchFamily="34" charset="0"/>
                        </a:rPr>
                        <a:t>Quel est le taux de complétude des rapports ?</a:t>
                      </a:r>
                    </a:p>
                  </a:txBody>
                  <a:tcPr anchor="ctr">
                    <a:lnL>
                      <a:noFill/>
                    </a:lnL>
                    <a:lnR>
                      <a:noFill/>
                    </a:lnR>
                    <a:lnT>
                      <a:noFill/>
                    </a:lnT>
                    <a:lnB>
                      <a:noFill/>
                    </a:lnB>
                  </a:tcPr>
                </a:tc>
                <a:extLst>
                  <a:ext uri="{0D108BD9-81ED-4DB2-BD59-A6C34878D82A}">
                    <a16:rowId xmlns:a16="http://schemas.microsoft.com/office/drawing/2014/main" val="1412037570"/>
                  </a:ext>
                </a:extLst>
              </a:tr>
              <a:tr h="0">
                <a:tc>
                  <a:txBody>
                    <a:bodyPr/>
                    <a:lstStyle/>
                    <a:p>
                      <a:r>
                        <a:rPr lang="fr-FR" sz="1600" dirty="0">
                          <a:latin typeface="Aptos" panose="020B0004020202020204" pitchFamily="34" charset="0"/>
                        </a:rPr>
                        <a:t>Exactitude</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Les données reflètent-elles la réalité ?</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Y a-t-il eu des ruptures qui biaisent les données ?</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677571667"/>
                  </a:ext>
                </a:extLst>
              </a:tr>
              <a:tr h="0">
                <a:tc>
                  <a:txBody>
                    <a:bodyPr/>
                    <a:lstStyle/>
                    <a:p>
                      <a:r>
                        <a:rPr lang="fr-FR" sz="1600">
                          <a:latin typeface="Aptos" panose="020B0004020202020204" pitchFamily="34" charset="0"/>
                        </a:rPr>
                        <a:t>Cohérence</a:t>
                      </a:r>
                    </a:p>
                  </a:txBody>
                  <a:tcPr anchor="ctr">
                    <a:lnL>
                      <a:noFill/>
                    </a:lnL>
                    <a:lnR>
                      <a:noFill/>
                    </a:lnR>
                    <a:lnT>
                      <a:noFill/>
                    </a:lnT>
                    <a:lnB>
                      <a:noFill/>
                    </a:lnB>
                  </a:tcPr>
                </a:tc>
                <a:tc>
                  <a:txBody>
                    <a:bodyPr/>
                    <a:lstStyle/>
                    <a:p>
                      <a:r>
                        <a:rPr lang="fr-FR" sz="1600">
                          <a:latin typeface="Aptos" panose="020B0004020202020204" pitchFamily="34" charset="0"/>
                        </a:rPr>
                        <a:t>Les données sont-elles cohérentes dans le temps et entre sites ?</a:t>
                      </a:r>
                    </a:p>
                  </a:txBody>
                  <a:tcPr anchor="ctr">
                    <a:lnL>
                      <a:noFill/>
                    </a:lnL>
                    <a:lnR>
                      <a:noFill/>
                    </a:lnR>
                    <a:lnT>
                      <a:noFill/>
                    </a:lnT>
                    <a:lnB>
                      <a:noFill/>
                    </a:lnB>
                  </a:tcPr>
                </a:tc>
                <a:tc>
                  <a:txBody>
                    <a:bodyPr/>
                    <a:lstStyle/>
                    <a:p>
                      <a:r>
                        <a:rPr lang="fr-FR" sz="1600">
                          <a:latin typeface="Aptos" panose="020B0004020202020204" pitchFamily="34" charset="0"/>
                        </a:rPr>
                        <a:t>Y a-t-il des valeurs aberrantes inexpliquées ?</a:t>
                      </a:r>
                    </a:p>
                  </a:txBody>
                  <a:tcPr anchor="ctr">
                    <a:lnL>
                      <a:noFill/>
                    </a:lnL>
                    <a:lnR>
                      <a:noFill/>
                    </a:lnR>
                    <a:lnT>
                      <a:noFill/>
                    </a:lnT>
                    <a:lnB>
                      <a:noFill/>
                    </a:lnB>
                  </a:tcPr>
                </a:tc>
                <a:extLst>
                  <a:ext uri="{0D108BD9-81ED-4DB2-BD59-A6C34878D82A}">
                    <a16:rowId xmlns:a16="http://schemas.microsoft.com/office/drawing/2014/main" val="2740252745"/>
                  </a:ext>
                </a:extLst>
              </a:tr>
              <a:tr h="0">
                <a:tc>
                  <a:txBody>
                    <a:bodyPr/>
                    <a:lstStyle/>
                    <a:p>
                      <a:r>
                        <a:rPr lang="fr-FR" sz="1600" dirty="0">
                          <a:latin typeface="Aptos" panose="020B0004020202020204" pitchFamily="34" charset="0"/>
                        </a:rPr>
                        <a:t>Promptitude</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Les données sont-elles disponibles à temps pour la quantification ?</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Avec quel délai les données arrivent-elles ?</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716879419"/>
                  </a:ext>
                </a:extLst>
              </a:tr>
              <a:tr h="0">
                <a:tc>
                  <a:txBody>
                    <a:bodyPr/>
                    <a:lstStyle/>
                    <a:p>
                      <a:r>
                        <a:rPr lang="fr-FR" sz="1600">
                          <a:latin typeface="Aptos" panose="020B0004020202020204" pitchFamily="34" charset="0"/>
                        </a:rPr>
                        <a:t>Granularité</a:t>
                      </a:r>
                    </a:p>
                  </a:txBody>
                  <a:tcPr anchor="ctr">
                    <a:lnL>
                      <a:noFill/>
                    </a:lnL>
                    <a:lnR>
                      <a:noFill/>
                    </a:lnR>
                    <a:lnT>
                      <a:noFill/>
                    </a:lnT>
                    <a:lnB>
                      <a:noFill/>
                    </a:lnB>
                  </a:tcPr>
                </a:tc>
                <a:tc>
                  <a:txBody>
                    <a:bodyPr/>
                    <a:lstStyle/>
                    <a:p>
                      <a:r>
                        <a:rPr lang="fr-FR" sz="1600">
                          <a:latin typeface="Aptos" panose="020B0004020202020204" pitchFamily="34" charset="0"/>
                        </a:rPr>
                        <a:t>Le niveau de détail est-il suffisant ?</a:t>
                      </a:r>
                    </a:p>
                  </a:txBody>
                  <a:tcPr anchor="ctr">
                    <a:lnL>
                      <a:noFill/>
                    </a:lnL>
                    <a:lnR>
                      <a:noFill/>
                    </a:lnR>
                    <a:lnT>
                      <a:noFill/>
                    </a:lnT>
                    <a:lnB>
                      <a:noFill/>
                    </a:lnB>
                  </a:tcPr>
                </a:tc>
                <a:tc>
                  <a:txBody>
                    <a:bodyPr/>
                    <a:lstStyle/>
                    <a:p>
                      <a:r>
                        <a:rPr lang="fr-FR" sz="1600" dirty="0">
                          <a:latin typeface="Aptos" panose="020B0004020202020204" pitchFamily="34" charset="0"/>
                        </a:rPr>
                        <a:t>Peut-on distinguer les données par produit, site, période ?</a:t>
                      </a:r>
                    </a:p>
                  </a:txBody>
                  <a:tcPr anchor="ctr">
                    <a:lnL>
                      <a:noFill/>
                    </a:lnL>
                    <a:lnR>
                      <a:noFill/>
                    </a:lnR>
                    <a:lnT>
                      <a:noFill/>
                    </a:lnT>
                    <a:lnB>
                      <a:noFill/>
                    </a:lnB>
                  </a:tcPr>
                </a:tc>
                <a:extLst>
                  <a:ext uri="{0D108BD9-81ED-4DB2-BD59-A6C34878D82A}">
                    <a16:rowId xmlns:a16="http://schemas.microsoft.com/office/drawing/2014/main" val="1899847155"/>
                  </a:ext>
                </a:extLst>
              </a:tr>
            </a:tbl>
          </a:graphicData>
        </a:graphic>
      </p:graphicFrame>
    </p:spTree>
    <p:extLst>
      <p:ext uri="{BB962C8B-B14F-4D97-AF65-F5344CB8AC3E}">
        <p14:creationId xmlns:p14="http://schemas.microsoft.com/office/powerpoint/2010/main" val="140813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Collecte des données — Procédure standardisée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Définir la période de référence</a:t>
            </a:r>
          </a:p>
        </p:txBody>
      </p:sp>
      <p:graphicFrame>
        <p:nvGraphicFramePr>
          <p:cNvPr id="3" name="Tableau 2">
            <a:extLst>
              <a:ext uri="{FF2B5EF4-FFF2-40B4-BE49-F238E27FC236}">
                <a16:creationId xmlns:a16="http://schemas.microsoft.com/office/drawing/2014/main" id="{B1523034-727C-4012-9AC4-3BF187DBA026}"/>
              </a:ext>
            </a:extLst>
          </p:cNvPr>
          <p:cNvGraphicFramePr>
            <a:graphicFrameLocks noGrp="1"/>
          </p:cNvGraphicFramePr>
          <p:nvPr>
            <p:extLst>
              <p:ext uri="{D42A27DB-BD31-4B8C-83A1-F6EECF244321}">
                <p14:modId xmlns:p14="http://schemas.microsoft.com/office/powerpoint/2010/main" val="2569064239"/>
              </p:ext>
            </p:extLst>
          </p:nvPr>
        </p:nvGraphicFramePr>
        <p:xfrm>
          <a:off x="838200" y="2786514"/>
          <a:ext cx="10515600" cy="2164080"/>
        </p:xfrm>
        <a:graphic>
          <a:graphicData uri="http://schemas.openxmlformats.org/drawingml/2006/table">
            <a:tbl>
              <a:tblPr/>
              <a:tblGrid>
                <a:gridCol w="3505200">
                  <a:extLst>
                    <a:ext uri="{9D8B030D-6E8A-4147-A177-3AD203B41FA5}">
                      <a16:colId xmlns:a16="http://schemas.microsoft.com/office/drawing/2014/main" val="3087027924"/>
                    </a:ext>
                  </a:extLst>
                </a:gridCol>
                <a:gridCol w="3505200">
                  <a:extLst>
                    <a:ext uri="{9D8B030D-6E8A-4147-A177-3AD203B41FA5}">
                      <a16:colId xmlns:a16="http://schemas.microsoft.com/office/drawing/2014/main" val="3049198603"/>
                    </a:ext>
                  </a:extLst>
                </a:gridCol>
                <a:gridCol w="3505200">
                  <a:extLst>
                    <a:ext uri="{9D8B030D-6E8A-4147-A177-3AD203B41FA5}">
                      <a16:colId xmlns:a16="http://schemas.microsoft.com/office/drawing/2014/main" val="4193104983"/>
                    </a:ext>
                  </a:extLst>
                </a:gridCol>
              </a:tblGrid>
              <a:tr h="0">
                <a:tc>
                  <a:txBody>
                    <a:bodyPr/>
                    <a:lstStyle/>
                    <a:p>
                      <a:r>
                        <a:rPr lang="fr-FR" sz="1600" b="1" dirty="0">
                          <a:solidFill>
                            <a:schemeClr val="bg1"/>
                          </a:solidFill>
                          <a:latin typeface="Aptos" panose="020B0004020202020204" pitchFamily="34" charset="0"/>
                        </a:rPr>
                        <a:t>Situation</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Période recommandée</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Justification</a:t>
                      </a:r>
                    </a:p>
                  </a:txBody>
                  <a:tcPr anchor="ctr">
                    <a:lnL>
                      <a:noFill/>
                    </a:lnL>
                    <a:lnR>
                      <a:noFill/>
                    </a:lnR>
                    <a:lnT>
                      <a:noFill/>
                    </a:lnT>
                    <a:lnB>
                      <a:noFill/>
                    </a:lnB>
                    <a:solidFill>
                      <a:srgbClr val="F37504"/>
                    </a:solidFill>
                  </a:tcPr>
                </a:tc>
                <a:extLst>
                  <a:ext uri="{0D108BD9-81ED-4DB2-BD59-A6C34878D82A}">
                    <a16:rowId xmlns:a16="http://schemas.microsoft.com/office/drawing/2014/main" val="2391713747"/>
                  </a:ext>
                </a:extLst>
              </a:tr>
              <a:tr h="0">
                <a:tc>
                  <a:txBody>
                    <a:bodyPr/>
                    <a:lstStyle/>
                    <a:p>
                      <a:r>
                        <a:rPr lang="fr-FR" sz="1600">
                          <a:latin typeface="Aptos" panose="020B0004020202020204" pitchFamily="34" charset="0"/>
                        </a:rPr>
                        <a:t>Données stables et complètes</a:t>
                      </a:r>
                    </a:p>
                  </a:txBody>
                  <a:tcPr anchor="ctr">
                    <a:lnL>
                      <a:noFill/>
                    </a:lnL>
                    <a:lnR>
                      <a:noFill/>
                    </a:lnR>
                    <a:lnT>
                      <a:noFill/>
                    </a:lnT>
                    <a:lnB>
                      <a:noFill/>
                    </a:lnB>
                  </a:tcPr>
                </a:tc>
                <a:tc>
                  <a:txBody>
                    <a:bodyPr/>
                    <a:lstStyle/>
                    <a:p>
                      <a:r>
                        <a:rPr lang="fr-FR" sz="1600">
                          <a:latin typeface="Aptos" panose="020B0004020202020204" pitchFamily="34" charset="0"/>
                        </a:rPr>
                        <a:t>12 mois</a:t>
                      </a:r>
                    </a:p>
                  </a:txBody>
                  <a:tcPr anchor="ctr">
                    <a:lnL>
                      <a:noFill/>
                    </a:lnL>
                    <a:lnR>
                      <a:noFill/>
                    </a:lnR>
                    <a:lnT>
                      <a:noFill/>
                    </a:lnT>
                    <a:lnB>
                      <a:noFill/>
                    </a:lnB>
                  </a:tcPr>
                </a:tc>
                <a:tc>
                  <a:txBody>
                    <a:bodyPr/>
                    <a:lstStyle/>
                    <a:p>
                      <a:r>
                        <a:rPr lang="fr-FR" sz="1600">
                          <a:latin typeface="Aptos" panose="020B0004020202020204" pitchFamily="34" charset="0"/>
                        </a:rPr>
                        <a:t>Capture la saisonnalité complète</a:t>
                      </a:r>
                    </a:p>
                  </a:txBody>
                  <a:tcPr anchor="ctr">
                    <a:lnL>
                      <a:noFill/>
                    </a:lnL>
                    <a:lnR>
                      <a:noFill/>
                    </a:lnR>
                    <a:lnT>
                      <a:noFill/>
                    </a:lnT>
                    <a:lnB>
                      <a:noFill/>
                    </a:lnB>
                  </a:tcPr>
                </a:tc>
                <a:extLst>
                  <a:ext uri="{0D108BD9-81ED-4DB2-BD59-A6C34878D82A}">
                    <a16:rowId xmlns:a16="http://schemas.microsoft.com/office/drawing/2014/main" val="3268105183"/>
                  </a:ext>
                </a:extLst>
              </a:tr>
              <a:tr h="0">
                <a:tc>
                  <a:txBody>
                    <a:bodyPr/>
                    <a:lstStyle/>
                    <a:p>
                      <a:r>
                        <a:rPr lang="fr-FR" sz="1600" dirty="0">
                          <a:latin typeface="Aptos" panose="020B0004020202020204" pitchFamily="34" charset="0"/>
                        </a:rPr>
                        <a:t>Données partiellement disponibles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6 mois minimum</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En dessous, la CMM est peu fiable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435862293"/>
                  </a:ext>
                </a:extLst>
              </a:tr>
              <a:tr h="0">
                <a:tc>
                  <a:txBody>
                    <a:bodyPr/>
                    <a:lstStyle/>
                    <a:p>
                      <a:r>
                        <a:rPr lang="fr-FR" sz="1600">
                          <a:latin typeface="Aptos" panose="020B0004020202020204" pitchFamily="34" charset="0"/>
                        </a:rPr>
                        <a:t>Changement récent de protocole</a:t>
                      </a:r>
                    </a:p>
                  </a:txBody>
                  <a:tcPr anchor="ctr">
                    <a:lnL>
                      <a:noFill/>
                    </a:lnL>
                    <a:lnR>
                      <a:noFill/>
                    </a:lnR>
                    <a:lnT>
                      <a:noFill/>
                    </a:lnT>
                    <a:lnB>
                      <a:noFill/>
                    </a:lnB>
                  </a:tcPr>
                </a:tc>
                <a:tc>
                  <a:txBody>
                    <a:bodyPr/>
                    <a:lstStyle/>
                    <a:p>
                      <a:r>
                        <a:rPr lang="fr-FR" sz="1600">
                          <a:latin typeface="Aptos" panose="020B0004020202020204" pitchFamily="34" charset="0"/>
                        </a:rPr>
                        <a:t>Données post-changement uniquement</a:t>
                      </a:r>
                    </a:p>
                  </a:txBody>
                  <a:tcPr anchor="ctr">
                    <a:lnL>
                      <a:noFill/>
                    </a:lnL>
                    <a:lnR>
                      <a:noFill/>
                    </a:lnR>
                    <a:lnT>
                      <a:noFill/>
                    </a:lnT>
                    <a:lnB>
                      <a:noFill/>
                    </a:lnB>
                  </a:tcPr>
                </a:tc>
                <a:tc>
                  <a:txBody>
                    <a:bodyPr/>
                    <a:lstStyle/>
                    <a:p>
                      <a:r>
                        <a:rPr lang="fr-FR" sz="1600">
                          <a:latin typeface="Aptos" panose="020B0004020202020204" pitchFamily="34" charset="0"/>
                        </a:rPr>
                        <a:t>Les données antérieures ne sont plus pertinentes</a:t>
                      </a:r>
                    </a:p>
                  </a:txBody>
                  <a:tcPr anchor="ctr">
                    <a:lnL>
                      <a:noFill/>
                    </a:lnL>
                    <a:lnR>
                      <a:noFill/>
                    </a:lnR>
                    <a:lnT>
                      <a:noFill/>
                    </a:lnT>
                    <a:lnB>
                      <a:noFill/>
                    </a:lnB>
                  </a:tcPr>
                </a:tc>
                <a:extLst>
                  <a:ext uri="{0D108BD9-81ED-4DB2-BD59-A6C34878D82A}">
                    <a16:rowId xmlns:a16="http://schemas.microsoft.com/office/drawing/2014/main" val="1680030981"/>
                  </a:ext>
                </a:extLst>
              </a:tr>
              <a:tr h="0">
                <a:tc>
                  <a:txBody>
                    <a:bodyPr/>
                    <a:lstStyle/>
                    <a:p>
                      <a:r>
                        <a:rPr lang="fr-FR" sz="1600" dirty="0">
                          <a:latin typeface="Aptos" panose="020B0004020202020204" pitchFamily="34" charset="0"/>
                        </a:rPr>
                        <a:t>Programme en phase de montée en charge</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3 à 6 mois récents + projection</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La tendance est plus importante que la moyenne historique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081752476"/>
                  </a:ext>
                </a:extLst>
              </a:tr>
            </a:tbl>
          </a:graphicData>
        </a:graphic>
      </p:graphicFrame>
    </p:spTree>
    <p:extLst>
      <p:ext uri="{BB962C8B-B14F-4D97-AF65-F5344CB8AC3E}">
        <p14:creationId xmlns:p14="http://schemas.microsoft.com/office/powerpoint/2010/main" val="366942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Collecte des données — Procédure standardisée</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7889586" cy="534132"/>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Formulaire standardisé de collecte des données</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26422"/>
            <a:ext cx="10689850" cy="646331"/>
          </a:xfrm>
          <a:prstGeom prst="rect">
            <a:avLst/>
          </a:prstGeom>
          <a:noFill/>
        </p:spPr>
        <p:txBody>
          <a:bodyPr wrap="square">
            <a:spAutoFit/>
          </a:bodyPr>
          <a:lstStyle/>
          <a:p>
            <a:r>
              <a:rPr lang="fr-FR" dirty="0">
                <a:latin typeface="Aptos" panose="020B0004020202020204" pitchFamily="34" charset="0"/>
              </a:rPr>
              <a:t>Pour garantir la cohérence des données collectées auprès de plusieurs sites, un formulaire standardisé doit être utilisé.</a:t>
            </a:r>
          </a:p>
        </p:txBody>
      </p:sp>
    </p:spTree>
    <p:extLst>
      <p:ext uri="{BB962C8B-B14F-4D97-AF65-F5344CB8AC3E}">
        <p14:creationId xmlns:p14="http://schemas.microsoft.com/office/powerpoint/2010/main" val="301476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pour les ruptures de stock</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657973"/>
            <a:ext cx="10689850" cy="224676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Les mois de rupture biaisent la CMM vers le bas.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L'ajustement consiste à extrapoler la consommation réelle pendant les périodes de rupture.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d'ajustement : </a:t>
            </a:r>
          </a:p>
          <a:p>
            <a:pPr marL="742950" lvl="1" indent="-285750">
              <a:buFont typeface="Courier New" panose="02070309020205020404" pitchFamily="49" charset="0"/>
              <a:buChar char="o"/>
            </a:pPr>
            <a:r>
              <a:rPr lang="fr-FR" sz="2000" b="1" dirty="0">
                <a:latin typeface="Aptos" panose="020B0004020202020204" pitchFamily="34" charset="0"/>
              </a:rPr>
              <a:t>Consommation ajustée du mois = Consommation enregistrée × (Jours du mois ÷ Jours de disponibilité)</a:t>
            </a:r>
          </a:p>
        </p:txBody>
      </p:sp>
    </p:spTree>
    <p:extLst>
      <p:ext uri="{BB962C8B-B14F-4D97-AF65-F5344CB8AC3E}">
        <p14:creationId xmlns:p14="http://schemas.microsoft.com/office/powerpoint/2010/main" val="395527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0170926"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des données de consommation par interpolation</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53382"/>
            <a:ext cx="10689850" cy="1015663"/>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Pour les champs vides , l’interpolation utilise les valeurs les plus proches des deux côtés du champ vide (avant ou après le vide) et calcule la ligne directe entre les deux pour renseigner le champ vide</a:t>
            </a:r>
          </a:p>
        </p:txBody>
      </p:sp>
      <p:pic>
        <p:nvPicPr>
          <p:cNvPr id="13" name="Picture 2">
            <a:extLst>
              <a:ext uri="{FF2B5EF4-FFF2-40B4-BE49-F238E27FC236}">
                <a16:creationId xmlns:a16="http://schemas.microsoft.com/office/drawing/2014/main" id="{326C8697-0D57-43F6-9156-025F176E0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1281" y="3847368"/>
            <a:ext cx="2215062" cy="219423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3">
            <a:extLst>
              <a:ext uri="{FF2B5EF4-FFF2-40B4-BE49-F238E27FC236}">
                <a16:creationId xmlns:a16="http://schemas.microsoft.com/office/drawing/2014/main" id="{3B35A595-8819-4817-AE5C-AC86EF3C88B7}"/>
              </a:ext>
            </a:extLst>
          </p:cNvPr>
          <p:cNvSpPr txBox="1"/>
          <p:nvPr/>
        </p:nvSpPr>
        <p:spPr>
          <a:xfrm rot="16200000">
            <a:off x="1120518" y="4805492"/>
            <a:ext cx="2512300" cy="307777"/>
          </a:xfrm>
          <a:prstGeom prst="rect">
            <a:avLst/>
          </a:prstGeom>
          <a:noFill/>
        </p:spPr>
        <p:txBody>
          <a:bodyPr wrap="square">
            <a:spAutoFit/>
          </a:bodyPr>
          <a:lstStyle/>
          <a:p>
            <a:pPr algn="l"/>
            <a:r>
              <a:rPr lang="en-US" sz="1400" b="0" i="0" dirty="0" err="1">
                <a:solidFill>
                  <a:srgbClr val="212721"/>
                </a:solidFill>
                <a:effectLst/>
                <a:latin typeface="Aptos" panose="020B0004020202020204" pitchFamily="34" charset="0"/>
              </a:rPr>
              <a:t>Consommations</a:t>
            </a:r>
            <a:r>
              <a:rPr lang="en-US" sz="1400" b="0" i="0" dirty="0">
                <a:solidFill>
                  <a:srgbClr val="212721"/>
                </a:solidFill>
                <a:effectLst/>
                <a:latin typeface="Aptos" panose="020B0004020202020204" pitchFamily="34" charset="0"/>
              </a:rPr>
              <a:t> </a:t>
            </a:r>
            <a:r>
              <a:rPr lang="en-US" sz="1400" b="0" i="0" dirty="0" err="1">
                <a:solidFill>
                  <a:srgbClr val="212721"/>
                </a:solidFill>
                <a:effectLst/>
                <a:latin typeface="Aptos" panose="020B0004020202020204" pitchFamily="34" charset="0"/>
              </a:rPr>
              <a:t>réelles</a:t>
            </a:r>
            <a:endParaRPr lang="en-US" sz="1400" b="0" i="0" dirty="0">
              <a:solidFill>
                <a:srgbClr val="212721"/>
              </a:solidFill>
              <a:effectLst/>
              <a:latin typeface="Aptos" panose="020B0004020202020204" pitchFamily="34" charset="0"/>
            </a:endParaRPr>
          </a:p>
        </p:txBody>
      </p:sp>
      <p:sp>
        <p:nvSpPr>
          <p:cNvPr id="16" name="TextBox 15">
            <a:extLst>
              <a:ext uri="{FF2B5EF4-FFF2-40B4-BE49-F238E27FC236}">
                <a16:creationId xmlns:a16="http://schemas.microsoft.com/office/drawing/2014/main" id="{CED0A1B0-D4D5-4E21-A4CE-86B08ED78F6D}"/>
              </a:ext>
            </a:extLst>
          </p:cNvPr>
          <p:cNvSpPr txBox="1"/>
          <p:nvPr/>
        </p:nvSpPr>
        <p:spPr>
          <a:xfrm>
            <a:off x="3081112" y="6061643"/>
            <a:ext cx="1295400" cy="307777"/>
          </a:xfrm>
          <a:prstGeom prst="rect">
            <a:avLst/>
          </a:prstGeom>
          <a:noFill/>
        </p:spPr>
        <p:txBody>
          <a:bodyPr wrap="square">
            <a:spAutoFit/>
          </a:bodyPr>
          <a:lstStyle/>
          <a:p>
            <a:pPr algn="ctr"/>
            <a:r>
              <a:rPr lang="en-US" sz="1400" dirty="0">
                <a:solidFill>
                  <a:srgbClr val="212721"/>
                </a:solidFill>
                <a:latin typeface="Aptos" panose="020B0004020202020204" pitchFamily="34" charset="0"/>
              </a:rPr>
              <a:t>M</a:t>
            </a:r>
            <a:r>
              <a:rPr lang="en-US" sz="1400" b="0" i="0" dirty="0">
                <a:solidFill>
                  <a:srgbClr val="212721"/>
                </a:solidFill>
                <a:effectLst/>
                <a:latin typeface="Aptos" panose="020B0004020202020204" pitchFamily="34" charset="0"/>
              </a:rPr>
              <a:t>ois</a:t>
            </a:r>
          </a:p>
        </p:txBody>
      </p:sp>
    </p:spTree>
    <p:extLst>
      <p:ext uri="{BB962C8B-B14F-4D97-AF65-F5344CB8AC3E}">
        <p14:creationId xmlns:p14="http://schemas.microsoft.com/office/powerpoint/2010/main" val="411944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pour la croissance du programme</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41934"/>
            <a:ext cx="10689850" cy="224676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Si le nombre de patients ou d'utilisateurs du service augmente structurellement, la CMM historique sous-estime les besoins futurs.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Un facteur de croissance doit être appliqué.</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a:t>
            </a:r>
          </a:p>
          <a:p>
            <a:pPr marL="742950" lvl="1" indent="-285750">
              <a:buFont typeface="Courier New" panose="02070309020205020404" pitchFamily="49" charset="0"/>
              <a:buChar char="o"/>
            </a:pPr>
            <a:r>
              <a:rPr lang="fr-FR" sz="2000" b="1" dirty="0">
                <a:latin typeface="Aptos" panose="020B0004020202020204" pitchFamily="34" charset="0"/>
              </a:rPr>
              <a:t>CMM projetée = CMM ajustée × (1 + Taux de croissance annuel)</a:t>
            </a:r>
          </a:p>
        </p:txBody>
      </p:sp>
    </p:spTree>
    <p:extLst>
      <p:ext uri="{BB962C8B-B14F-4D97-AF65-F5344CB8AC3E}">
        <p14:creationId xmlns:p14="http://schemas.microsoft.com/office/powerpoint/2010/main" val="103075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pour les changements de protocole</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41934"/>
            <a:ext cx="10689850" cy="1015663"/>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Quand un protocole de traitement change (nouveau médicament, nouvelle dose, nouveau schéma), les données historiques de l'ancien produit ne sont plus pertinentes pour quantifier le nouveau.</a:t>
            </a:r>
            <a:endParaRPr lang="fr-FR" sz="2000" b="1" dirty="0">
              <a:latin typeface="Aptos" panose="020B0004020202020204" pitchFamily="34" charset="0"/>
            </a:endParaRPr>
          </a:p>
        </p:txBody>
      </p:sp>
    </p:spTree>
    <p:extLst>
      <p:ext uri="{BB962C8B-B14F-4D97-AF65-F5344CB8AC3E}">
        <p14:creationId xmlns:p14="http://schemas.microsoft.com/office/powerpoint/2010/main" val="104553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Détection et traitement des valeurs aberrantes</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41934"/>
            <a:ext cx="10689850" cy="255454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Une valeur aberrante est une donnée qui s'écarte significativement de la tendance générale sans explication documentée.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Elle peut résulter d'une erreur de saisie, d'un transfert non enregistré ou d'un événement exceptionnel.</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Méthode de détection </a:t>
            </a:r>
            <a:r>
              <a:rPr lang="fr-FR" sz="2000" dirty="0">
                <a:latin typeface="Aptos" panose="020B0004020202020204" pitchFamily="34" charset="0"/>
              </a:rPr>
              <a:t>: Calculer la moyenne et l'écart-type des données. Toute valeur à plus de 2 écarts-types de la moyenne est considérée comme aberrante et doit être vérifiée.</a:t>
            </a:r>
            <a:endParaRPr lang="fr-FR" sz="2000" b="1" dirty="0">
              <a:latin typeface="Aptos" panose="020B0004020202020204" pitchFamily="34" charset="0"/>
            </a:endParaRPr>
          </a:p>
        </p:txBody>
      </p:sp>
    </p:spTree>
    <p:extLst>
      <p:ext uri="{BB962C8B-B14F-4D97-AF65-F5344CB8AC3E}">
        <p14:creationId xmlns:p14="http://schemas.microsoft.com/office/powerpoint/2010/main" val="36597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des données — Ajustements nécessaires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pour la couverture attendue</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741934"/>
            <a:ext cx="10689850" cy="1631216"/>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Si le programme prévoit d'étendre sa couverture géographique ou populationnelle, un facteur d'expansion doit être intégré.</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a:t>
            </a:r>
            <a:r>
              <a:rPr lang="fr-FR" sz="2000" b="1" dirty="0">
                <a:latin typeface="Aptos" panose="020B0004020202020204" pitchFamily="34" charset="0"/>
              </a:rPr>
              <a:t>: </a:t>
            </a:r>
          </a:p>
          <a:p>
            <a:pPr marL="800100" lvl="1" indent="-342900">
              <a:buFont typeface="Courier New" panose="02070309020205020404" pitchFamily="49" charset="0"/>
              <a:buChar char="o"/>
            </a:pPr>
            <a:r>
              <a:rPr lang="fr-FR" sz="2000" b="1" dirty="0">
                <a:latin typeface="Aptos" panose="020B0004020202020204" pitchFamily="34" charset="0"/>
              </a:rPr>
              <a:t>Besoin projeté = CMM actuelle × (Couverture cible ÷ Couverture actuelle)</a:t>
            </a:r>
          </a:p>
        </p:txBody>
      </p:sp>
    </p:spTree>
    <p:extLst>
      <p:ext uri="{BB962C8B-B14F-4D97-AF65-F5344CB8AC3E}">
        <p14:creationId xmlns:p14="http://schemas.microsoft.com/office/powerpoint/2010/main" val="1447362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Calcul de la quantification par la méthode de consommation</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273698"/>
            <a:ext cx="10689850" cy="1631216"/>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Une fois les données collectées, vérifiées et ajustées, la quantification peut être calculée.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complète : </a:t>
            </a:r>
          </a:p>
          <a:p>
            <a:pPr marL="800100" lvl="1" indent="-342900">
              <a:buFont typeface="Courier New" panose="02070309020205020404" pitchFamily="49" charset="0"/>
              <a:buChar char="o"/>
            </a:pPr>
            <a:r>
              <a:rPr lang="fr-FR" sz="2000" b="1" dirty="0">
                <a:latin typeface="Aptos" panose="020B0004020202020204" pitchFamily="34" charset="0"/>
              </a:rPr>
              <a:t>Quantité à approvisionner = (CMM ajustée × Mois de planification) + Stock de sécurité − Stock disponible − Commandes en transit</a:t>
            </a:r>
          </a:p>
        </p:txBody>
      </p:sp>
    </p:spTree>
    <p:extLst>
      <p:ext uri="{BB962C8B-B14F-4D97-AF65-F5344CB8AC3E}">
        <p14:creationId xmlns:p14="http://schemas.microsoft.com/office/powerpoint/2010/main" val="201979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1" name="ZoneTexte 10">
            <a:extLst>
              <a:ext uri="{FF2B5EF4-FFF2-40B4-BE49-F238E27FC236}">
                <a16:creationId xmlns:a16="http://schemas.microsoft.com/office/drawing/2014/main" id="{E21294C0-B097-47DC-B830-A5616626DA8B}"/>
              </a:ext>
            </a:extLst>
          </p:cNvPr>
          <p:cNvSpPr txBox="1"/>
          <p:nvPr/>
        </p:nvSpPr>
        <p:spPr>
          <a:xfrm>
            <a:off x="751075" y="2273698"/>
            <a:ext cx="10689850" cy="2246769"/>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5 modèles statistiques d’extrapolation</a:t>
            </a:r>
          </a:p>
          <a:p>
            <a:pPr marL="800100" lvl="1" indent="-342900">
              <a:buFont typeface="Courier New" panose="02070309020205020404" pitchFamily="49" charset="0"/>
              <a:buChar char="o"/>
            </a:pPr>
            <a:r>
              <a:rPr lang="fr-FR" sz="2000" dirty="0">
                <a:latin typeface="Aptos" panose="020B0004020202020204" pitchFamily="34" charset="0"/>
              </a:rPr>
              <a:t> Moyenne Mobile (Moving </a:t>
            </a:r>
            <a:r>
              <a:rPr lang="fr-FR" sz="2000" dirty="0" err="1">
                <a:latin typeface="Aptos" panose="020B0004020202020204" pitchFamily="34" charset="0"/>
              </a:rPr>
              <a:t>average</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 Semi-Moyennes (Semi-</a:t>
            </a:r>
            <a:r>
              <a:rPr lang="fr-FR" sz="2000" dirty="0" err="1">
                <a:latin typeface="Aptos" panose="020B0004020202020204" pitchFamily="34" charset="0"/>
              </a:rPr>
              <a:t>averages</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 Régression </a:t>
            </a:r>
            <a:r>
              <a:rPr lang="fr-FR" sz="2000" dirty="0" err="1">
                <a:latin typeface="Aptos" panose="020B0004020202020204" pitchFamily="34" charset="0"/>
              </a:rPr>
              <a:t>lineaire</a:t>
            </a:r>
            <a:r>
              <a:rPr lang="fr-FR" sz="2000" dirty="0">
                <a:latin typeface="Aptos" panose="020B0004020202020204" pitchFamily="34" charset="0"/>
              </a:rPr>
              <a:t> (</a:t>
            </a:r>
            <a:r>
              <a:rPr lang="fr-FR" sz="2000" dirty="0" err="1">
                <a:latin typeface="Aptos" panose="020B0004020202020204" pitchFamily="34" charset="0"/>
              </a:rPr>
              <a:t>Linear</a:t>
            </a:r>
            <a:r>
              <a:rPr lang="fr-FR" sz="2000" dirty="0">
                <a:latin typeface="Aptos" panose="020B0004020202020204" pitchFamily="34" charset="0"/>
              </a:rPr>
              <a:t> </a:t>
            </a:r>
            <a:r>
              <a:rPr lang="fr-FR" sz="2000" dirty="0" err="1">
                <a:latin typeface="Aptos" panose="020B0004020202020204" pitchFamily="34" charset="0"/>
              </a:rPr>
              <a:t>regression</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 Lissage Exponentiel Triple [Triple </a:t>
            </a:r>
            <a:r>
              <a:rPr lang="fr-FR" sz="2000" dirty="0" err="1">
                <a:latin typeface="Aptos" panose="020B0004020202020204" pitchFamily="34" charset="0"/>
              </a:rPr>
              <a:t>exponential</a:t>
            </a:r>
            <a:r>
              <a:rPr lang="fr-FR" sz="2000" dirty="0">
                <a:latin typeface="Aptos" panose="020B0004020202020204" pitchFamily="34" charset="0"/>
              </a:rPr>
              <a:t> </a:t>
            </a:r>
            <a:r>
              <a:rPr lang="fr-FR" sz="2000" dirty="0" err="1">
                <a:latin typeface="Aptos" panose="020B0004020202020204" pitchFamily="34" charset="0"/>
              </a:rPr>
              <a:t>smoothing</a:t>
            </a:r>
            <a:r>
              <a:rPr lang="fr-FR" sz="2000" dirty="0">
                <a:latin typeface="Aptos" panose="020B0004020202020204" pitchFamily="34" charset="0"/>
              </a:rPr>
              <a:t> (TES, Holt-Winter)]</a:t>
            </a:r>
          </a:p>
          <a:p>
            <a:pPr marL="800100" lvl="1" indent="-342900">
              <a:buFont typeface="Courier New" panose="02070309020205020404" pitchFamily="49" charset="0"/>
              <a:buChar char="o"/>
            </a:pPr>
            <a:r>
              <a:rPr lang="fr-FR" sz="2000" dirty="0">
                <a:latin typeface="Aptos" panose="020B0004020202020204" pitchFamily="34" charset="0"/>
              </a:rPr>
              <a:t> Moyenne Mobile intégrée </a:t>
            </a:r>
            <a:r>
              <a:rPr lang="fr-FR" sz="2000" dirty="0" err="1">
                <a:latin typeface="Aptos" panose="020B0004020202020204" pitchFamily="34" charset="0"/>
              </a:rPr>
              <a:t>autoregressive</a:t>
            </a:r>
            <a:r>
              <a:rPr lang="fr-FR" sz="2000" dirty="0">
                <a:latin typeface="Aptos" panose="020B0004020202020204" pitchFamily="34" charset="0"/>
              </a:rPr>
              <a:t> [Auto-</a:t>
            </a:r>
            <a:r>
              <a:rPr lang="fr-FR" sz="2000" dirty="0" err="1">
                <a:latin typeface="Aptos" panose="020B0004020202020204" pitchFamily="34" charset="0"/>
              </a:rPr>
              <a:t>Regressive</a:t>
            </a:r>
            <a:r>
              <a:rPr lang="fr-FR" sz="2000" dirty="0">
                <a:latin typeface="Aptos" panose="020B0004020202020204" pitchFamily="34" charset="0"/>
              </a:rPr>
              <a:t> Integrated Moving </a:t>
            </a:r>
            <a:r>
              <a:rPr lang="fr-FR" sz="2000" dirty="0" err="1">
                <a:latin typeface="Aptos" panose="020B0004020202020204" pitchFamily="34" charset="0"/>
              </a:rPr>
              <a:t>Average</a:t>
            </a:r>
            <a:r>
              <a:rPr lang="fr-FR" sz="2000" dirty="0">
                <a:latin typeface="Aptos" panose="020B0004020202020204" pitchFamily="34" charset="0"/>
              </a:rPr>
              <a:t> (ARIMA)]</a:t>
            </a:r>
          </a:p>
        </p:txBody>
      </p:sp>
    </p:spTree>
    <p:extLst>
      <p:ext uri="{BB962C8B-B14F-4D97-AF65-F5344CB8AC3E}">
        <p14:creationId xmlns:p14="http://schemas.microsoft.com/office/powerpoint/2010/main" val="386408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0" name="ZoneTexte 9">
            <a:extLst>
              <a:ext uri="{FF2B5EF4-FFF2-40B4-BE49-F238E27FC236}">
                <a16:creationId xmlns:a16="http://schemas.microsoft.com/office/drawing/2014/main" id="{B1C00F0F-4A02-4302-A6AE-7111323D6D95}"/>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Moyenne Mobile (Moving </a:t>
            </a:r>
            <a:r>
              <a:rPr lang="fr-FR" dirty="0" err="1">
                <a:solidFill>
                  <a:srgbClr val="014C9B"/>
                </a:solidFill>
              </a:rPr>
              <a:t>average</a:t>
            </a:r>
            <a:r>
              <a:rPr lang="fr-FR" dirty="0">
                <a:solidFill>
                  <a:srgbClr val="014C9B"/>
                </a:solidFill>
              </a:rPr>
              <a:t>)</a:t>
            </a:r>
          </a:p>
        </p:txBody>
      </p:sp>
      <p:sp>
        <p:nvSpPr>
          <p:cNvPr id="13" name="ZoneTexte 12">
            <a:extLst>
              <a:ext uri="{FF2B5EF4-FFF2-40B4-BE49-F238E27FC236}">
                <a16:creationId xmlns:a16="http://schemas.microsoft.com/office/drawing/2014/main" id="{365C2988-4B59-4DC0-87A1-9C2A437D8372}"/>
              </a:ext>
            </a:extLst>
          </p:cNvPr>
          <p:cNvSpPr txBox="1"/>
          <p:nvPr/>
        </p:nvSpPr>
        <p:spPr>
          <a:xfrm>
            <a:off x="751075" y="2741934"/>
            <a:ext cx="10689850" cy="255454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Une moyenne qui évolue dans le temps, supprimant les données plus anciennes à mesure qu'elle intègre des données plus récentes (+ données = + facile)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Possible avec &lt;14 mois de données (pas de minimum) </a:t>
            </a:r>
          </a:p>
          <a:p>
            <a:pPr marL="285750" indent="-285750">
              <a:buFont typeface="Arial" panose="020B0604020202020204" pitchFamily="34" charset="0"/>
              <a:buChar char="•"/>
            </a:pPr>
            <a:r>
              <a:rPr lang="fr-FR" sz="2000" dirty="0">
                <a:latin typeface="Aptos" panose="020B0004020202020204" pitchFamily="34" charset="0"/>
              </a:rPr>
              <a:t>N’inclue pas : </a:t>
            </a:r>
          </a:p>
          <a:p>
            <a:pPr marL="800100" lvl="1" indent="-342900">
              <a:buFont typeface="Courier New" panose="02070309020205020404" pitchFamily="49" charset="0"/>
              <a:buChar char="o"/>
            </a:pPr>
            <a:r>
              <a:rPr lang="fr-FR" sz="2000" dirty="0">
                <a:latin typeface="Aptos" panose="020B0004020202020204" pitchFamily="34" charset="0"/>
              </a:rPr>
              <a:t>Saisonnalité, </a:t>
            </a:r>
          </a:p>
          <a:p>
            <a:pPr marL="800100" lvl="1" indent="-342900">
              <a:buFont typeface="Courier New" panose="02070309020205020404" pitchFamily="49" charset="0"/>
              <a:buChar char="o"/>
            </a:pPr>
            <a:r>
              <a:rPr lang="fr-FR" sz="2000" dirty="0">
                <a:latin typeface="Aptos" panose="020B0004020202020204" pitchFamily="34" charset="0"/>
              </a:rPr>
              <a:t>Tendance, </a:t>
            </a:r>
          </a:p>
          <a:p>
            <a:pPr marL="800100" lvl="1" indent="-342900">
              <a:buFont typeface="Courier New" panose="02070309020205020404" pitchFamily="49" charset="0"/>
              <a:buChar char="o"/>
            </a:pPr>
            <a:r>
              <a:rPr lang="fr-FR" sz="2000" dirty="0">
                <a:latin typeface="Aptos" panose="020B0004020202020204" pitchFamily="34" charset="0"/>
              </a:rPr>
              <a:t>Intervalle de confiance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7C69612-7C2A-4753-BD98-DC3DEB0A087F}"/>
                  </a:ext>
                </a:extLst>
              </p:cNvPr>
              <p:cNvSpPr txBox="1"/>
              <p:nvPr/>
            </p:nvSpPr>
            <p:spPr>
              <a:xfrm>
                <a:off x="1082384" y="5675169"/>
                <a:ext cx="594652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tx1">
                              <a:lumMod val="75000"/>
                              <a:lumOff val="25000"/>
                            </a:schemeClr>
                          </a:solidFill>
                          <a:latin typeface="Cambria Math" panose="02040503050406030204" pitchFamily="18" charset="0"/>
                        </a:rPr>
                        <m:t>𝑷𝒓</m:t>
                      </m:r>
                      <m:r>
                        <a:rPr lang="en-US" sz="1600" b="1" i="1" smtClean="0">
                          <a:solidFill>
                            <a:schemeClr val="tx1">
                              <a:lumMod val="75000"/>
                              <a:lumOff val="25000"/>
                            </a:schemeClr>
                          </a:solidFill>
                          <a:latin typeface="Cambria Math" panose="02040503050406030204" pitchFamily="18" charset="0"/>
                        </a:rPr>
                        <m:t>é</m:t>
                      </m:r>
                      <m:r>
                        <a:rPr lang="en-US" sz="1600" b="1" i="1" smtClean="0">
                          <a:solidFill>
                            <a:schemeClr val="tx1">
                              <a:lumMod val="75000"/>
                              <a:lumOff val="25000"/>
                            </a:schemeClr>
                          </a:solidFill>
                          <a:latin typeface="Cambria Math" panose="02040503050406030204" pitchFamily="18" charset="0"/>
                        </a:rPr>
                        <m:t>𝒗𝒊𝒔𝒊𝒐𝒏𝒔</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ea typeface="Cambria Math" panose="02040503050406030204" pitchFamily="18" charset="0"/>
                        </a:rPr>
                        <m:t>𝑩𝒂𝒔𝒆</m:t>
                      </m:r>
                      <m:r>
                        <a:rPr lang="en-US" sz="1600" i="1" strike="sngStrike">
                          <a:solidFill>
                            <a:schemeClr val="tx1">
                              <a:lumMod val="75000"/>
                              <a:lumOff val="25000"/>
                            </a:schemeClr>
                          </a:solidFill>
                          <a:latin typeface="Cambria Math" panose="02040503050406030204" pitchFamily="18" charset="0"/>
                          <a:ea typeface="Cambria Math" panose="02040503050406030204" pitchFamily="18" charset="0"/>
                        </a:rPr>
                        <m:t>+</m:t>
                      </m:r>
                      <m:r>
                        <a:rPr lang="en-US" sz="1600" i="1" strike="sngStrike">
                          <a:solidFill>
                            <a:schemeClr val="tx1">
                              <a:lumMod val="75000"/>
                              <a:lumOff val="25000"/>
                            </a:schemeClr>
                          </a:solidFill>
                          <a:latin typeface="Cambria Math" panose="02040503050406030204" pitchFamily="18" charset="0"/>
                          <a:ea typeface="Cambria Math" panose="02040503050406030204" pitchFamily="18" charset="0"/>
                        </a:rPr>
                        <m:t>𝑇𝑒𝑛𝑑𝑎𝑛𝑐𝑒𝑠</m:t>
                      </m:r>
                      <m:r>
                        <a:rPr lang="en-US" sz="1600" i="1" strike="sngStrike">
                          <a:solidFill>
                            <a:schemeClr val="tx1">
                              <a:lumMod val="75000"/>
                              <a:lumOff val="25000"/>
                            </a:schemeClr>
                          </a:solidFill>
                          <a:latin typeface="Cambria Math" panose="02040503050406030204" pitchFamily="18" charset="0"/>
                          <a:ea typeface="Cambria Math" panose="02040503050406030204" pitchFamily="18" charset="0"/>
                        </a:rPr>
                        <m:t>+</m:t>
                      </m:r>
                      <m:r>
                        <a:rPr lang="en-US" sz="1600" i="1" strike="sngStrike">
                          <a:solidFill>
                            <a:schemeClr val="tx1">
                              <a:lumMod val="75000"/>
                              <a:lumOff val="25000"/>
                            </a:schemeClr>
                          </a:solidFill>
                          <a:latin typeface="Cambria Math" panose="02040503050406030204" pitchFamily="18" charset="0"/>
                          <a:ea typeface="Cambria Math" panose="02040503050406030204" pitchFamily="18" charset="0"/>
                        </a:rPr>
                        <m:t>𝑆𝑎𝑖𝑠𝑜𝑛𝑎𝑙𝑖𝑡</m:t>
                      </m:r>
                      <m:r>
                        <a:rPr lang="en-US" sz="1600" b="0" i="1" strike="sngStrike" smtClean="0">
                          <a:solidFill>
                            <a:schemeClr val="tx1">
                              <a:lumMod val="75000"/>
                              <a:lumOff val="25000"/>
                            </a:schemeClr>
                          </a:solidFill>
                          <a:latin typeface="Cambria Math" panose="02040503050406030204" pitchFamily="18" charset="0"/>
                          <a:ea typeface="Cambria Math" panose="02040503050406030204" pitchFamily="18" charset="0"/>
                        </a:rPr>
                        <m:t>é +</m:t>
                      </m:r>
                      <m:r>
                        <a:rPr lang="en-US" sz="1600" b="0" i="1" strike="sngStrike" smtClean="0">
                          <a:solidFill>
                            <a:schemeClr val="tx1">
                              <a:lumMod val="75000"/>
                              <a:lumOff val="25000"/>
                            </a:schemeClr>
                          </a:solidFill>
                          <a:latin typeface="Cambria Math" panose="02040503050406030204" pitchFamily="18" charset="0"/>
                          <a:ea typeface="Cambria Math" panose="02040503050406030204" pitchFamily="18" charset="0"/>
                        </a:rPr>
                        <m:t>𝐴𝑙𝑒𝑎𝑡𝑜𝑖𝑟𝑒</m:t>
                      </m:r>
                    </m:oMath>
                  </m:oMathPara>
                </a14:m>
                <a:endParaRPr lang="en-US" sz="1600" strike="sngStrike" dirty="0">
                  <a:solidFill>
                    <a:schemeClr val="tx1">
                      <a:lumMod val="75000"/>
                      <a:lumOff val="25000"/>
                    </a:schemeClr>
                  </a:solidFill>
                  <a:latin typeface="Aptos" panose="020B0004020202020204" pitchFamily="34" charset="0"/>
                </a:endParaRPr>
              </a:p>
            </p:txBody>
          </p:sp>
        </mc:Choice>
        <mc:Fallback xmlns="">
          <p:sp>
            <p:nvSpPr>
              <p:cNvPr id="15" name="TextBox 14">
                <a:extLst>
                  <a:ext uri="{FF2B5EF4-FFF2-40B4-BE49-F238E27FC236}">
                    <a16:creationId xmlns:a16="http://schemas.microsoft.com/office/drawing/2014/main" id="{07C69612-7C2A-4753-BD98-DC3DEB0A087F}"/>
                  </a:ext>
                </a:extLst>
              </p:cNvPr>
              <p:cNvSpPr txBox="1">
                <a:spLocks noRot="1" noChangeAspect="1" noMove="1" noResize="1" noEditPoints="1" noAdjustHandles="1" noChangeArrowheads="1" noChangeShapeType="1" noTextEdit="1"/>
              </p:cNvSpPr>
              <p:nvPr/>
            </p:nvSpPr>
            <p:spPr>
              <a:xfrm>
                <a:off x="1082384" y="5675169"/>
                <a:ext cx="5946525" cy="33855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408136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0" name="ZoneTexte 9">
            <a:extLst>
              <a:ext uri="{FF2B5EF4-FFF2-40B4-BE49-F238E27FC236}">
                <a16:creationId xmlns:a16="http://schemas.microsoft.com/office/drawing/2014/main" id="{B1C00F0F-4A02-4302-A6AE-7111323D6D95}"/>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Semi-Moyennes (Semi-</a:t>
            </a:r>
            <a:r>
              <a:rPr lang="fr-FR" dirty="0" err="1">
                <a:solidFill>
                  <a:srgbClr val="014C9B"/>
                </a:solidFill>
              </a:rPr>
              <a:t>averages</a:t>
            </a:r>
            <a:r>
              <a:rPr lang="fr-FR" dirty="0">
                <a:solidFill>
                  <a:srgbClr val="014C9B"/>
                </a:solidFill>
              </a:rPr>
              <a:t>)</a:t>
            </a:r>
          </a:p>
        </p:txBody>
      </p:sp>
      <p:sp>
        <p:nvSpPr>
          <p:cNvPr id="13" name="ZoneTexte 12">
            <a:extLst>
              <a:ext uri="{FF2B5EF4-FFF2-40B4-BE49-F238E27FC236}">
                <a16:creationId xmlns:a16="http://schemas.microsoft.com/office/drawing/2014/main" id="{365C2988-4B59-4DC0-87A1-9C2A437D8372}"/>
              </a:ext>
            </a:extLst>
          </p:cNvPr>
          <p:cNvSpPr txBox="1"/>
          <p:nvPr/>
        </p:nvSpPr>
        <p:spPr>
          <a:xfrm>
            <a:off x="751075" y="2741934"/>
            <a:ext cx="6838445" cy="2862322"/>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Divise les données réelles en deux parties égales (moitiés) et calcule la moyenne arithmétique des valeurs de chaque partie (moitié)</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Possible avec &lt;14 mois de données (au moins 3 mois de données)</a:t>
            </a:r>
          </a:p>
          <a:p>
            <a:pPr marL="285750" indent="-285750">
              <a:buFont typeface="Arial" panose="020B0604020202020204" pitchFamily="34" charset="0"/>
              <a:buChar char="•"/>
            </a:pPr>
            <a:r>
              <a:rPr lang="fr-FR" sz="2000" dirty="0">
                <a:latin typeface="Aptos" panose="020B0004020202020204" pitchFamily="34" charset="0"/>
              </a:rPr>
              <a:t>N’inclue pas : </a:t>
            </a:r>
          </a:p>
          <a:p>
            <a:pPr marL="800100" lvl="1" indent="-342900">
              <a:buFont typeface="Courier New" panose="02070309020205020404" pitchFamily="49" charset="0"/>
              <a:buChar char="o"/>
            </a:pPr>
            <a:r>
              <a:rPr lang="fr-FR" sz="2000" dirty="0">
                <a:latin typeface="Aptos" panose="020B0004020202020204" pitchFamily="34" charset="0"/>
              </a:rPr>
              <a:t>Saisonnalité, </a:t>
            </a:r>
          </a:p>
          <a:p>
            <a:pPr marL="800100" lvl="1" indent="-342900">
              <a:buFont typeface="Courier New" panose="02070309020205020404" pitchFamily="49" charset="0"/>
              <a:buChar char="o"/>
            </a:pPr>
            <a:r>
              <a:rPr lang="fr-FR" sz="2000" dirty="0">
                <a:latin typeface="Aptos" panose="020B0004020202020204" pitchFamily="34" charset="0"/>
              </a:rPr>
              <a:t>Données non aléatoire</a:t>
            </a:r>
          </a:p>
        </p:txBody>
      </p:sp>
      <mc:AlternateContent xmlns:mc="http://schemas.openxmlformats.org/markup-compatibility/2006" xmlns:a14="http://schemas.microsoft.com/office/drawing/2010/main">
        <mc:Choice Requires="a14">
          <p:sp>
            <p:nvSpPr>
              <p:cNvPr id="11" name="TextBox 16">
                <a:extLst>
                  <a:ext uri="{FF2B5EF4-FFF2-40B4-BE49-F238E27FC236}">
                    <a16:creationId xmlns:a16="http://schemas.microsoft.com/office/drawing/2014/main" id="{FA3A5E0F-3A73-4CC0-96D9-0B87FC7A10AE}"/>
                  </a:ext>
                </a:extLst>
              </p:cNvPr>
              <p:cNvSpPr txBox="1"/>
              <p:nvPr/>
            </p:nvSpPr>
            <p:spPr>
              <a:xfrm>
                <a:off x="3288646" y="5979446"/>
                <a:ext cx="5862705" cy="338554"/>
              </a:xfrm>
              <a:prstGeom prst="rect">
                <a:avLst/>
              </a:prstGeom>
              <a:noFill/>
            </p:spPr>
            <p:txBody>
              <a:bodyPr wrap="square">
                <a:spAutoFit/>
              </a:bodyPr>
              <a:lstStyle/>
              <a:p>
                <a:r>
                  <a:rPr lang="en-US" sz="1600" b="1" dirty="0">
                    <a:solidFill>
                      <a:schemeClr val="accent3"/>
                    </a:solidFill>
                    <a:latin typeface="Aptos" panose="020B0004020202020204" pitchFamily="34" charset="0"/>
                  </a:rPr>
                  <a:t>Prévision</a:t>
                </a:r>
                <a14:m>
                  <m:oMath xmlns:m="http://schemas.openxmlformats.org/officeDocument/2006/math">
                    <m:r>
                      <a:rPr lang="en-US" sz="1600" b="1" i="1">
                        <a:solidFill>
                          <a:schemeClr val="accent3"/>
                        </a:solidFill>
                        <a:latin typeface="Cambria Math" panose="02040503050406030204" pitchFamily="18" charset="0"/>
                      </a:rPr>
                      <m:t> ≅</m:t>
                    </m:r>
                    <m:r>
                      <a:rPr lang="en-US" sz="1600" b="1" i="1">
                        <a:solidFill>
                          <a:schemeClr val="accent3"/>
                        </a:solidFill>
                        <a:latin typeface="Cambria Math" panose="02040503050406030204" pitchFamily="18" charset="0"/>
                        <a:ea typeface="Cambria Math" panose="02040503050406030204" pitchFamily="18" charset="0"/>
                      </a:rPr>
                      <m:t>𝑩𝒂𝒔𝒆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𝑻</m:t>
                    </m:r>
                    <m:r>
                      <a:rPr lang="en-US" sz="1600" i="1">
                        <a:solidFill>
                          <a:schemeClr val="accent3"/>
                        </a:solidFill>
                        <a:latin typeface="Cambria Math" panose="02040503050406030204" pitchFamily="18" charset="0"/>
                        <a:ea typeface="Cambria Math" panose="02040503050406030204" pitchFamily="18" charset="0"/>
                      </a:rPr>
                      <m:t>𝑒𝑛𝑑𝑎𝑛𝑐𝑒𝑠</m:t>
                    </m:r>
                    <m:r>
                      <a:rPr lang="en-US" sz="1600" i="1">
                        <a:solidFill>
                          <a:schemeClr val="accent3"/>
                        </a:solidFill>
                        <a:latin typeface="Cambria Math" panose="02040503050406030204" pitchFamily="18" charset="0"/>
                        <a:ea typeface="Cambria Math" panose="02040503050406030204" pitchFamily="18" charset="0"/>
                      </a:rPr>
                      <m:t>+</m:t>
                    </m:r>
                    <m:r>
                      <a:rPr lang="en-US" sz="1600" i="1" strike="sngStrike">
                        <a:solidFill>
                          <a:schemeClr val="accent3"/>
                        </a:solidFill>
                        <a:latin typeface="Cambria Math" panose="02040503050406030204" pitchFamily="18" charset="0"/>
                        <a:ea typeface="Cambria Math" panose="02040503050406030204" pitchFamily="18" charset="0"/>
                      </a:rPr>
                      <m:t>𝑆𝑎𝑖𝑠𝑜𝑛𝑎𝑙𝑖𝑡</m:t>
                    </m:r>
                    <m:r>
                      <a:rPr lang="en-US" sz="1600" i="1" strike="sngStrike">
                        <a:solidFill>
                          <a:schemeClr val="accent3"/>
                        </a:solidFill>
                        <a:latin typeface="Cambria Math" panose="02040503050406030204" pitchFamily="18" charset="0"/>
                        <a:ea typeface="Cambria Math" panose="02040503050406030204" pitchFamily="18" charset="0"/>
                      </a:rPr>
                      <m:t>é+</m:t>
                    </m:r>
                    <m:r>
                      <a:rPr lang="en-US" sz="1600" i="1" strike="sngStrike">
                        <a:solidFill>
                          <a:schemeClr val="accent3"/>
                        </a:solidFill>
                        <a:latin typeface="Cambria Math" panose="02040503050406030204" pitchFamily="18" charset="0"/>
                        <a:ea typeface="Cambria Math" panose="02040503050406030204" pitchFamily="18" charset="0"/>
                      </a:rPr>
                      <m:t>𝐴𝑙</m:t>
                    </m:r>
                    <m:r>
                      <a:rPr lang="en-US" sz="1600" i="1" strike="sngStrike">
                        <a:solidFill>
                          <a:schemeClr val="accent3"/>
                        </a:solidFill>
                        <a:latin typeface="Cambria Math" panose="02040503050406030204" pitchFamily="18" charset="0"/>
                        <a:ea typeface="Cambria Math" panose="02040503050406030204" pitchFamily="18" charset="0"/>
                      </a:rPr>
                      <m:t>é</m:t>
                    </m:r>
                    <m:r>
                      <a:rPr lang="en-US" sz="1600" i="1" strike="sngStrike">
                        <a:solidFill>
                          <a:schemeClr val="accent3"/>
                        </a:solidFill>
                        <a:latin typeface="Cambria Math" panose="02040503050406030204" pitchFamily="18" charset="0"/>
                        <a:ea typeface="Cambria Math" panose="02040503050406030204" pitchFamily="18" charset="0"/>
                      </a:rPr>
                      <m:t>𝑎𝑡𝑜𝑖𝑟𝑒</m:t>
                    </m:r>
                  </m:oMath>
                </a14:m>
                <a:endParaRPr lang="en-US" sz="1600" strike="sngStrike" dirty="0">
                  <a:solidFill>
                    <a:schemeClr val="accent3"/>
                  </a:solidFill>
                  <a:latin typeface="Aptos" panose="020B0004020202020204" pitchFamily="34" charset="0"/>
                  <a:ea typeface="Cambria Math" panose="02040503050406030204" pitchFamily="18" charset="0"/>
                </a:endParaRPr>
              </a:p>
            </p:txBody>
          </p:sp>
        </mc:Choice>
        <mc:Fallback xmlns="">
          <p:sp>
            <p:nvSpPr>
              <p:cNvPr id="11" name="TextBox 16">
                <a:extLst>
                  <a:ext uri="{FF2B5EF4-FFF2-40B4-BE49-F238E27FC236}">
                    <a16:creationId xmlns:a16="http://schemas.microsoft.com/office/drawing/2014/main" id="{FA3A5E0F-3A73-4CC0-96D9-0B87FC7A10AE}"/>
                  </a:ext>
                </a:extLst>
              </p:cNvPr>
              <p:cNvSpPr txBox="1">
                <a:spLocks noRot="1" noChangeAspect="1" noMove="1" noResize="1" noEditPoints="1" noAdjustHandles="1" noChangeArrowheads="1" noChangeShapeType="1" noTextEdit="1"/>
              </p:cNvSpPr>
              <p:nvPr/>
            </p:nvSpPr>
            <p:spPr>
              <a:xfrm>
                <a:off x="3288646" y="5979446"/>
                <a:ext cx="5862705" cy="338554"/>
              </a:xfrm>
              <a:prstGeom prst="rect">
                <a:avLst/>
              </a:prstGeom>
              <a:blipFill>
                <a:blip r:embed="rId4"/>
                <a:stretch>
                  <a:fillRect l="-520" t="-5455" b="-23636"/>
                </a:stretch>
              </a:blipFill>
            </p:spPr>
            <p:txBody>
              <a:bodyPr/>
              <a:lstStyle/>
              <a:p>
                <a:r>
                  <a:rPr lang="fr-FR">
                    <a:noFill/>
                  </a:rPr>
                  <a:t> </a:t>
                </a:r>
              </a:p>
            </p:txBody>
          </p:sp>
        </mc:Fallback>
      </mc:AlternateContent>
      <p:graphicFrame>
        <p:nvGraphicFramePr>
          <p:cNvPr id="19" name="Chart 20">
            <a:extLst>
              <a:ext uri="{FF2B5EF4-FFF2-40B4-BE49-F238E27FC236}">
                <a16:creationId xmlns:a16="http://schemas.microsoft.com/office/drawing/2014/main" id="{550271DA-BA85-4B9A-9545-903671A89FD1}"/>
              </a:ext>
            </a:extLst>
          </p:cNvPr>
          <p:cNvGraphicFramePr>
            <a:graphicFrameLocks/>
          </p:cNvGraphicFramePr>
          <p:nvPr>
            <p:extLst>
              <p:ext uri="{D42A27DB-BD31-4B8C-83A1-F6EECF244321}">
                <p14:modId xmlns:p14="http://schemas.microsoft.com/office/powerpoint/2010/main" val="3561276062"/>
              </p:ext>
            </p:extLst>
          </p:nvPr>
        </p:nvGraphicFramePr>
        <p:xfrm>
          <a:off x="7497326" y="2086449"/>
          <a:ext cx="4572000" cy="2762250"/>
        </p:xfrm>
        <a:graphic>
          <a:graphicData uri="http://schemas.openxmlformats.org/drawingml/2006/chart">
            <c:chart xmlns:c="http://schemas.openxmlformats.org/drawingml/2006/chart" xmlns:r="http://schemas.openxmlformats.org/officeDocument/2006/relationships" r:id="rId5"/>
          </a:graphicData>
        </a:graphic>
      </p:graphicFrame>
      <p:cxnSp>
        <p:nvCxnSpPr>
          <p:cNvPr id="20" name="Straight Connector 22">
            <a:extLst>
              <a:ext uri="{FF2B5EF4-FFF2-40B4-BE49-F238E27FC236}">
                <a16:creationId xmlns:a16="http://schemas.microsoft.com/office/drawing/2014/main" id="{E2A9B88F-673B-4B39-BABD-3BA914E7275D}"/>
              </a:ext>
            </a:extLst>
          </p:cNvPr>
          <p:cNvCxnSpPr>
            <a:cxnSpLocks/>
          </p:cNvCxnSpPr>
          <p:nvPr/>
        </p:nvCxnSpPr>
        <p:spPr>
          <a:xfrm flipV="1">
            <a:off x="7794781" y="2440839"/>
            <a:ext cx="3368026" cy="1567731"/>
          </a:xfrm>
          <a:prstGeom prst="line">
            <a:avLst/>
          </a:prstGeom>
          <a:ln w="28575">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21" name="TextBox 28">
            <a:extLst>
              <a:ext uri="{FF2B5EF4-FFF2-40B4-BE49-F238E27FC236}">
                <a16:creationId xmlns:a16="http://schemas.microsoft.com/office/drawing/2014/main" id="{3A68ACB0-0902-4933-AEBA-8FF3B41E6EA3}"/>
              </a:ext>
            </a:extLst>
          </p:cNvPr>
          <p:cNvSpPr txBox="1"/>
          <p:nvPr/>
        </p:nvSpPr>
        <p:spPr>
          <a:xfrm>
            <a:off x="7794781" y="4854557"/>
            <a:ext cx="3556148" cy="738664"/>
          </a:xfrm>
          <a:prstGeom prst="rect">
            <a:avLst/>
          </a:prstGeom>
          <a:noFill/>
          <a:ln>
            <a:noFill/>
          </a:ln>
        </p:spPr>
        <p:txBody>
          <a:bodyPr wrap="square" rtlCol="0">
            <a:spAutoFit/>
          </a:bodyPr>
          <a:lstStyle/>
          <a:p>
            <a:r>
              <a:rPr lang="en-US" sz="1400" dirty="0">
                <a:latin typeface="Aptos" panose="020B0004020202020204" pitchFamily="34" charset="0"/>
              </a:rPr>
              <a:t>Y=</a:t>
            </a:r>
            <a:r>
              <a:rPr lang="en-US" sz="1400" dirty="0" err="1">
                <a:latin typeface="Aptos" panose="020B0004020202020204" pitchFamily="34" charset="0"/>
              </a:rPr>
              <a:t>mx+b</a:t>
            </a:r>
            <a:endParaRPr lang="en-US" sz="1400" dirty="0">
              <a:latin typeface="Aptos" panose="020B0004020202020204" pitchFamily="34" charset="0"/>
            </a:endParaRPr>
          </a:p>
          <a:p>
            <a:r>
              <a:rPr lang="en-US" sz="1400" dirty="0">
                <a:latin typeface="Aptos" panose="020B0004020202020204" pitchFamily="34" charset="0"/>
              </a:rPr>
              <a:t>m= </a:t>
            </a:r>
            <a:r>
              <a:rPr lang="en-US" sz="1400" dirty="0" err="1">
                <a:latin typeface="Aptos" panose="020B0004020202020204" pitchFamily="34" charset="0"/>
              </a:rPr>
              <a:t>Pente</a:t>
            </a:r>
            <a:endParaRPr lang="en-US" sz="1400" dirty="0">
              <a:latin typeface="Aptos" panose="020B0004020202020204" pitchFamily="34" charset="0"/>
            </a:endParaRPr>
          </a:p>
          <a:p>
            <a:r>
              <a:rPr lang="en-US" sz="1400" dirty="0">
                <a:latin typeface="Aptos" panose="020B0004020202020204" pitchFamily="34" charset="0"/>
              </a:rPr>
              <a:t>b= Y-interception avec </a:t>
            </a:r>
            <a:r>
              <a:rPr lang="en-US" sz="1400" dirty="0" err="1">
                <a:latin typeface="Aptos" panose="020B0004020202020204" pitchFamily="34" charset="0"/>
              </a:rPr>
              <a:t>l’axe</a:t>
            </a:r>
            <a:r>
              <a:rPr lang="en-US" sz="1400" dirty="0">
                <a:latin typeface="Aptos" panose="020B0004020202020204" pitchFamily="34" charset="0"/>
              </a:rPr>
              <a:t> des </a:t>
            </a:r>
            <a:r>
              <a:rPr lang="en-US" sz="1400" dirty="0" err="1">
                <a:latin typeface="Aptos" panose="020B0004020202020204" pitchFamily="34" charset="0"/>
              </a:rPr>
              <a:t>ordonnées</a:t>
            </a:r>
            <a:endParaRPr lang="en-US" sz="1400" dirty="0">
              <a:latin typeface="Aptos" panose="020B0004020202020204" pitchFamily="34" charset="0"/>
            </a:endParaRPr>
          </a:p>
        </p:txBody>
      </p:sp>
      <p:sp>
        <p:nvSpPr>
          <p:cNvPr id="22" name="TextBox 3">
            <a:extLst>
              <a:ext uri="{FF2B5EF4-FFF2-40B4-BE49-F238E27FC236}">
                <a16:creationId xmlns:a16="http://schemas.microsoft.com/office/drawing/2014/main" id="{B519E768-0255-4A3A-9A15-8C4C2947D34A}"/>
              </a:ext>
            </a:extLst>
          </p:cNvPr>
          <p:cNvSpPr txBox="1"/>
          <p:nvPr/>
        </p:nvSpPr>
        <p:spPr>
          <a:xfrm>
            <a:off x="7794781" y="5525085"/>
            <a:ext cx="1654488" cy="307777"/>
          </a:xfrm>
          <a:prstGeom prst="rect">
            <a:avLst/>
          </a:prstGeom>
          <a:noFill/>
          <a:ln>
            <a:noFill/>
          </a:ln>
        </p:spPr>
        <p:txBody>
          <a:bodyPr wrap="square" rtlCol="0">
            <a:spAutoFit/>
          </a:bodyPr>
          <a:lstStyle/>
          <a:p>
            <a:r>
              <a:rPr lang="en-US" sz="1400" dirty="0">
                <a:latin typeface="Aptos" panose="020B0004020202020204" pitchFamily="34" charset="0"/>
              </a:rPr>
              <a:t>m=(Y2-Y1)/(X2-X1)</a:t>
            </a:r>
          </a:p>
        </p:txBody>
      </p:sp>
    </p:spTree>
    <p:extLst>
      <p:ext uri="{BB962C8B-B14F-4D97-AF65-F5344CB8AC3E}">
        <p14:creationId xmlns:p14="http://schemas.microsoft.com/office/powerpoint/2010/main" val="410185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0" name="ZoneTexte 9">
            <a:extLst>
              <a:ext uri="{FF2B5EF4-FFF2-40B4-BE49-F238E27FC236}">
                <a16:creationId xmlns:a16="http://schemas.microsoft.com/office/drawing/2014/main" id="{B1C00F0F-4A02-4302-A6AE-7111323D6D95}"/>
              </a:ext>
            </a:extLst>
          </p:cNvPr>
          <p:cNvSpPr txBox="1"/>
          <p:nvPr/>
        </p:nvSpPr>
        <p:spPr>
          <a:xfrm>
            <a:off x="751074" y="2192290"/>
            <a:ext cx="772180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Régression </a:t>
            </a:r>
            <a:r>
              <a:rPr lang="fr-FR" dirty="0" err="1">
                <a:solidFill>
                  <a:srgbClr val="014C9B"/>
                </a:solidFill>
              </a:rPr>
              <a:t>lineaire</a:t>
            </a:r>
            <a:r>
              <a:rPr lang="fr-FR" dirty="0">
                <a:solidFill>
                  <a:srgbClr val="014C9B"/>
                </a:solidFill>
              </a:rPr>
              <a:t> (</a:t>
            </a:r>
            <a:r>
              <a:rPr lang="fr-FR" dirty="0" err="1">
                <a:solidFill>
                  <a:srgbClr val="014C9B"/>
                </a:solidFill>
              </a:rPr>
              <a:t>Linear</a:t>
            </a:r>
            <a:r>
              <a:rPr lang="fr-FR" dirty="0">
                <a:solidFill>
                  <a:srgbClr val="014C9B"/>
                </a:solidFill>
              </a:rPr>
              <a:t> </a:t>
            </a:r>
            <a:r>
              <a:rPr lang="fr-FR" dirty="0" err="1">
                <a:solidFill>
                  <a:srgbClr val="014C9B"/>
                </a:solidFill>
              </a:rPr>
              <a:t>regression</a:t>
            </a:r>
            <a:r>
              <a:rPr lang="fr-FR" dirty="0">
                <a:solidFill>
                  <a:srgbClr val="014C9B"/>
                </a:solidFill>
              </a:rPr>
              <a:t>)</a:t>
            </a:r>
          </a:p>
        </p:txBody>
      </p:sp>
      <p:sp>
        <p:nvSpPr>
          <p:cNvPr id="13" name="ZoneTexte 12">
            <a:extLst>
              <a:ext uri="{FF2B5EF4-FFF2-40B4-BE49-F238E27FC236}">
                <a16:creationId xmlns:a16="http://schemas.microsoft.com/office/drawing/2014/main" id="{365C2988-4B59-4DC0-87A1-9C2A437D8372}"/>
              </a:ext>
            </a:extLst>
          </p:cNvPr>
          <p:cNvSpPr txBox="1"/>
          <p:nvPr/>
        </p:nvSpPr>
        <p:spPr>
          <a:xfrm>
            <a:off x="751075" y="2741934"/>
            <a:ext cx="6838445" cy="2862322"/>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modélise la relation entre deux variables en ajustant une équation linéaire aux données observées. Méthode très utilisée.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Possible avec &lt;14 mois de données (au moins 3 mois de données)</a:t>
            </a:r>
          </a:p>
          <a:p>
            <a:pPr marL="285750" indent="-285750">
              <a:buFont typeface="Arial" panose="020B0604020202020204" pitchFamily="34" charset="0"/>
              <a:buChar char="•"/>
            </a:pPr>
            <a:r>
              <a:rPr lang="fr-FR" sz="2000" dirty="0">
                <a:latin typeface="Aptos" panose="020B0004020202020204" pitchFamily="34" charset="0"/>
              </a:rPr>
              <a:t>N’inclue pas : </a:t>
            </a:r>
          </a:p>
          <a:p>
            <a:pPr marL="800100" lvl="1" indent="-342900">
              <a:buFont typeface="Courier New" panose="02070309020205020404" pitchFamily="49" charset="0"/>
              <a:buChar char="o"/>
            </a:pPr>
            <a:r>
              <a:rPr lang="fr-FR" sz="2000" dirty="0">
                <a:latin typeface="Aptos" panose="020B0004020202020204" pitchFamily="34" charset="0"/>
              </a:rPr>
              <a:t>Saisonnalité, </a:t>
            </a:r>
          </a:p>
          <a:p>
            <a:pPr marL="800100" lvl="1" indent="-342900">
              <a:buFont typeface="Courier New" panose="02070309020205020404" pitchFamily="49" charset="0"/>
              <a:buChar char="o"/>
            </a:pPr>
            <a:r>
              <a:rPr lang="fr-FR" sz="2000" dirty="0">
                <a:latin typeface="Aptos" panose="020B0004020202020204" pitchFamily="34" charset="0"/>
              </a:rPr>
              <a:t>Données non aléatoire</a:t>
            </a:r>
          </a:p>
        </p:txBody>
      </p:sp>
      <p:pic>
        <p:nvPicPr>
          <p:cNvPr id="15" name="Picture 6" descr="Linear Regression using Python. Linear Regression is usually the first… |  by Animesh Agarwal | Towards Data Science">
            <a:extLst>
              <a:ext uri="{FF2B5EF4-FFF2-40B4-BE49-F238E27FC236}">
                <a16:creationId xmlns:a16="http://schemas.microsoft.com/office/drawing/2014/main" id="{C87D01E6-3B2B-4711-92EE-FB511795ED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335" t="11463" r="6557" b="6182"/>
          <a:stretch/>
        </p:blipFill>
        <p:spPr bwMode="auto">
          <a:xfrm>
            <a:off x="7959732" y="3228297"/>
            <a:ext cx="3361008" cy="23759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6">
                <a:extLst>
                  <a:ext uri="{FF2B5EF4-FFF2-40B4-BE49-F238E27FC236}">
                    <a16:creationId xmlns:a16="http://schemas.microsoft.com/office/drawing/2014/main" id="{EA70D79A-F52A-430A-8798-DB49B4D492CF}"/>
                  </a:ext>
                </a:extLst>
              </p:cNvPr>
              <p:cNvSpPr txBox="1"/>
              <p:nvPr/>
            </p:nvSpPr>
            <p:spPr>
              <a:xfrm>
                <a:off x="2983185" y="5874256"/>
                <a:ext cx="6011621" cy="338554"/>
              </a:xfrm>
              <a:prstGeom prst="rect">
                <a:avLst/>
              </a:prstGeom>
              <a:noFill/>
            </p:spPr>
            <p:txBody>
              <a:bodyPr wrap="square">
                <a:spAutoFit/>
              </a:bodyPr>
              <a:lstStyle/>
              <a:p>
                <a:r>
                  <a:rPr lang="en-US" sz="1600" b="1" dirty="0">
                    <a:solidFill>
                      <a:schemeClr val="accent3"/>
                    </a:solidFill>
                    <a:latin typeface="Aptos" panose="020B0004020202020204" pitchFamily="34" charset="0"/>
                  </a:rPr>
                  <a:t>Prévision</a:t>
                </a:r>
                <a14:m>
                  <m:oMath xmlns:m="http://schemas.openxmlformats.org/officeDocument/2006/math">
                    <m:r>
                      <a:rPr lang="en-US" sz="1600" b="1" i="1">
                        <a:solidFill>
                          <a:schemeClr val="accent3"/>
                        </a:solidFill>
                        <a:latin typeface="Cambria Math" panose="02040503050406030204" pitchFamily="18" charset="0"/>
                      </a:rPr>
                      <m:t> ≅</m:t>
                    </m:r>
                    <m:r>
                      <a:rPr lang="en-US" sz="1600" b="1" i="1">
                        <a:solidFill>
                          <a:schemeClr val="accent3"/>
                        </a:solidFill>
                        <a:latin typeface="Cambria Math" panose="02040503050406030204" pitchFamily="18" charset="0"/>
                        <a:ea typeface="Cambria Math" panose="02040503050406030204" pitchFamily="18" charset="0"/>
                      </a:rPr>
                      <m:t>𝑩𝒂𝒔𝒆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𝑻</m:t>
                    </m:r>
                    <m:r>
                      <a:rPr lang="en-US" sz="1600" b="0" i="1" smtClean="0">
                        <a:solidFill>
                          <a:schemeClr val="accent3"/>
                        </a:solidFill>
                        <a:latin typeface="Cambria Math" panose="02040503050406030204" pitchFamily="18" charset="0"/>
                        <a:ea typeface="Cambria Math" panose="02040503050406030204" pitchFamily="18" charset="0"/>
                      </a:rPr>
                      <m:t>𝑒𝑛𝑑𝑎𝑛𝑐𝑒𝑠</m:t>
                    </m:r>
                    <m:r>
                      <a:rPr lang="en-US" sz="1600" i="1">
                        <a:solidFill>
                          <a:schemeClr val="accent3"/>
                        </a:solidFill>
                        <a:latin typeface="Cambria Math" panose="02040503050406030204" pitchFamily="18" charset="0"/>
                        <a:ea typeface="Cambria Math" panose="02040503050406030204" pitchFamily="18" charset="0"/>
                      </a:rPr>
                      <m:t>+</m:t>
                    </m:r>
                    <m:r>
                      <a:rPr lang="en-US" sz="1600" i="1" strike="sngStrike">
                        <a:solidFill>
                          <a:schemeClr val="accent3"/>
                        </a:solidFill>
                        <a:latin typeface="Cambria Math" panose="02040503050406030204" pitchFamily="18" charset="0"/>
                        <a:ea typeface="Cambria Math" panose="02040503050406030204" pitchFamily="18" charset="0"/>
                      </a:rPr>
                      <m:t>𝑆</m:t>
                    </m:r>
                    <m:r>
                      <a:rPr lang="en-US" sz="1600" b="0" i="1" strike="sngStrike" smtClean="0">
                        <a:solidFill>
                          <a:schemeClr val="accent3"/>
                        </a:solidFill>
                        <a:latin typeface="Cambria Math" panose="02040503050406030204" pitchFamily="18" charset="0"/>
                        <a:ea typeface="Cambria Math" panose="02040503050406030204" pitchFamily="18" charset="0"/>
                      </a:rPr>
                      <m:t>𝑎𝑖𝑠𝑜𝑛𝑎𝑙𝑖𝑡</m:t>
                    </m:r>
                    <m:r>
                      <a:rPr lang="en-US" sz="1600" b="0" i="1" strike="sngStrike" smtClean="0">
                        <a:solidFill>
                          <a:schemeClr val="accent3"/>
                        </a:solidFill>
                        <a:latin typeface="Cambria Math" panose="02040503050406030204" pitchFamily="18" charset="0"/>
                        <a:ea typeface="Cambria Math" panose="02040503050406030204" pitchFamily="18" charset="0"/>
                      </a:rPr>
                      <m:t>é+</m:t>
                    </m:r>
                    <m:r>
                      <a:rPr lang="en-US" sz="1600" b="0" i="1" strike="sngStrike" smtClean="0">
                        <a:solidFill>
                          <a:schemeClr val="accent3"/>
                        </a:solidFill>
                        <a:latin typeface="Cambria Math" panose="02040503050406030204" pitchFamily="18" charset="0"/>
                        <a:ea typeface="Cambria Math" panose="02040503050406030204" pitchFamily="18" charset="0"/>
                      </a:rPr>
                      <m:t>𝐴𝑙</m:t>
                    </m:r>
                    <m:r>
                      <a:rPr lang="en-US" sz="1600" b="0" i="1" strike="sngStrike" smtClean="0">
                        <a:solidFill>
                          <a:schemeClr val="accent3"/>
                        </a:solidFill>
                        <a:latin typeface="Cambria Math" panose="02040503050406030204" pitchFamily="18" charset="0"/>
                        <a:ea typeface="Cambria Math" panose="02040503050406030204" pitchFamily="18" charset="0"/>
                      </a:rPr>
                      <m:t>é</m:t>
                    </m:r>
                    <m:r>
                      <a:rPr lang="en-US" sz="1600" b="0" i="1" strike="sngStrike" smtClean="0">
                        <a:solidFill>
                          <a:schemeClr val="accent3"/>
                        </a:solidFill>
                        <a:latin typeface="Cambria Math" panose="02040503050406030204" pitchFamily="18" charset="0"/>
                        <a:ea typeface="Cambria Math" panose="02040503050406030204" pitchFamily="18" charset="0"/>
                      </a:rPr>
                      <m:t>𝑎𝑡𝑜𝑖𝑟𝑒</m:t>
                    </m:r>
                  </m:oMath>
                </a14:m>
                <a:endParaRPr lang="en-US" sz="1600" strike="sngStrike" dirty="0">
                  <a:solidFill>
                    <a:schemeClr val="accent3"/>
                  </a:solidFill>
                  <a:latin typeface="Aptos" panose="020B0004020202020204" pitchFamily="34" charset="0"/>
                  <a:ea typeface="Cambria Math" panose="02040503050406030204" pitchFamily="18" charset="0"/>
                </a:endParaRPr>
              </a:p>
            </p:txBody>
          </p:sp>
        </mc:Choice>
        <mc:Fallback xmlns="">
          <p:sp>
            <p:nvSpPr>
              <p:cNvPr id="16" name="TextBox 16">
                <a:extLst>
                  <a:ext uri="{FF2B5EF4-FFF2-40B4-BE49-F238E27FC236}">
                    <a16:creationId xmlns:a16="http://schemas.microsoft.com/office/drawing/2014/main" id="{EA70D79A-F52A-430A-8798-DB49B4D492CF}"/>
                  </a:ext>
                </a:extLst>
              </p:cNvPr>
              <p:cNvSpPr txBox="1">
                <a:spLocks noRot="1" noChangeAspect="1" noMove="1" noResize="1" noEditPoints="1" noAdjustHandles="1" noChangeArrowheads="1" noChangeShapeType="1" noTextEdit="1"/>
              </p:cNvSpPr>
              <p:nvPr/>
            </p:nvSpPr>
            <p:spPr>
              <a:xfrm>
                <a:off x="2983185" y="5874256"/>
                <a:ext cx="6011621" cy="338554"/>
              </a:xfrm>
              <a:prstGeom prst="rect">
                <a:avLst/>
              </a:prstGeom>
              <a:blipFill>
                <a:blip r:embed="rId5"/>
                <a:stretch>
                  <a:fillRect l="-507" t="-5455" b="-23636"/>
                </a:stretch>
              </a:blipFill>
            </p:spPr>
            <p:txBody>
              <a:bodyPr/>
              <a:lstStyle/>
              <a:p>
                <a:r>
                  <a:rPr lang="fr-FR">
                    <a:noFill/>
                  </a:rPr>
                  <a:t> </a:t>
                </a:r>
              </a:p>
            </p:txBody>
          </p:sp>
        </mc:Fallback>
      </mc:AlternateContent>
    </p:spTree>
    <p:extLst>
      <p:ext uri="{BB962C8B-B14F-4D97-AF65-F5344CB8AC3E}">
        <p14:creationId xmlns:p14="http://schemas.microsoft.com/office/powerpoint/2010/main" val="360500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0" name="ZoneTexte 9">
            <a:extLst>
              <a:ext uri="{FF2B5EF4-FFF2-40B4-BE49-F238E27FC236}">
                <a16:creationId xmlns:a16="http://schemas.microsoft.com/office/drawing/2014/main" id="{B1C00F0F-4A02-4302-A6AE-7111323D6D95}"/>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fontScale="92500"/>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 Lissage Exponentiel Triple [Triple </a:t>
            </a:r>
            <a:r>
              <a:rPr lang="fr-FR" dirty="0" err="1">
                <a:solidFill>
                  <a:srgbClr val="014C9B"/>
                </a:solidFill>
              </a:rPr>
              <a:t>exponential</a:t>
            </a:r>
            <a:r>
              <a:rPr lang="fr-FR" dirty="0">
                <a:solidFill>
                  <a:srgbClr val="014C9B"/>
                </a:solidFill>
              </a:rPr>
              <a:t> </a:t>
            </a:r>
            <a:r>
              <a:rPr lang="fr-FR" dirty="0" err="1">
                <a:solidFill>
                  <a:srgbClr val="014C9B"/>
                </a:solidFill>
              </a:rPr>
              <a:t>smoothing</a:t>
            </a:r>
            <a:r>
              <a:rPr lang="fr-FR" dirty="0">
                <a:solidFill>
                  <a:srgbClr val="014C9B"/>
                </a:solidFill>
              </a:rPr>
              <a:t> (TES, Holt-Winter)]</a:t>
            </a:r>
          </a:p>
        </p:txBody>
      </p:sp>
      <p:sp>
        <p:nvSpPr>
          <p:cNvPr id="13" name="ZoneTexte 12">
            <a:extLst>
              <a:ext uri="{FF2B5EF4-FFF2-40B4-BE49-F238E27FC236}">
                <a16:creationId xmlns:a16="http://schemas.microsoft.com/office/drawing/2014/main" id="{365C2988-4B59-4DC0-87A1-9C2A437D8372}"/>
              </a:ext>
            </a:extLst>
          </p:cNvPr>
          <p:cNvSpPr txBox="1"/>
          <p:nvPr/>
        </p:nvSpPr>
        <p:spPr>
          <a:xfrm>
            <a:off x="751075" y="2741934"/>
            <a:ext cx="9229504" cy="347787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Utilise des données plus anciennes à des poids décroissants de manière exponentielle au fil du temps (supérieur = Plus de poids aux données récentes)</a:t>
            </a:r>
          </a:p>
          <a:p>
            <a:pPr marL="800100" lvl="1" indent="-342900">
              <a:buFont typeface="Courier New" panose="02070309020205020404" pitchFamily="49" charset="0"/>
              <a:buChar char="o"/>
            </a:pPr>
            <a:r>
              <a:rPr lang="fr-FR" sz="2000" b="1" dirty="0">
                <a:latin typeface="Aptos" panose="020B0004020202020204" pitchFamily="34" charset="0"/>
              </a:rPr>
              <a:t>alpha</a:t>
            </a:r>
            <a:r>
              <a:rPr lang="fr-FR" sz="2000" dirty="0">
                <a:latin typeface="Aptos" panose="020B0004020202020204" pitchFamily="34" charset="0"/>
              </a:rPr>
              <a:t>, s’applique à la base</a:t>
            </a:r>
          </a:p>
          <a:p>
            <a:pPr marL="800100" lvl="1" indent="-342900">
              <a:buFont typeface="Courier New" panose="02070309020205020404" pitchFamily="49" charset="0"/>
              <a:buChar char="o"/>
            </a:pPr>
            <a:r>
              <a:rPr lang="fr-FR" sz="2000" b="1" dirty="0">
                <a:latin typeface="Aptos" panose="020B0004020202020204" pitchFamily="34" charset="0"/>
              </a:rPr>
              <a:t>beta</a:t>
            </a:r>
            <a:r>
              <a:rPr lang="fr-FR" sz="2000" dirty="0">
                <a:latin typeface="Aptos" panose="020B0004020202020204" pitchFamily="34" charset="0"/>
              </a:rPr>
              <a:t>, s’applique à la tendance</a:t>
            </a:r>
          </a:p>
          <a:p>
            <a:pPr marL="800100" lvl="1" indent="-342900">
              <a:buFont typeface="Courier New" panose="02070309020205020404" pitchFamily="49" charset="0"/>
              <a:buChar char="o"/>
            </a:pPr>
            <a:r>
              <a:rPr lang="fr-FR" sz="2000" b="1" dirty="0">
                <a:latin typeface="Aptos" panose="020B0004020202020204" pitchFamily="34" charset="0"/>
              </a:rPr>
              <a:t>gamma</a:t>
            </a:r>
            <a:r>
              <a:rPr lang="fr-FR" sz="2000" dirty="0">
                <a:latin typeface="Aptos" panose="020B0004020202020204" pitchFamily="34" charset="0"/>
              </a:rPr>
              <a:t>, s’applique à la saisonnalité</a:t>
            </a:r>
          </a:p>
          <a:p>
            <a:pPr marL="800100" lvl="1" indent="-342900">
              <a:buFont typeface="Courier New" panose="02070309020205020404" pitchFamily="49" charset="0"/>
              <a:buChar char="o"/>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Possible qu’ avec &gt;24 mois de données, </a:t>
            </a:r>
          </a:p>
          <a:p>
            <a:pPr marL="285750" indent="-285750">
              <a:buFont typeface="Arial" panose="020B0604020202020204" pitchFamily="34" charset="0"/>
              <a:buChar char="•"/>
            </a:pPr>
            <a:r>
              <a:rPr lang="fr-FR" sz="2000" dirty="0">
                <a:latin typeface="Aptos" panose="020B0004020202020204" pitchFamily="34" charset="0"/>
              </a:rPr>
              <a:t>Inclue : </a:t>
            </a:r>
          </a:p>
          <a:p>
            <a:pPr marL="800100" lvl="1" indent="-342900">
              <a:buFont typeface="Courier New" panose="02070309020205020404" pitchFamily="49" charset="0"/>
              <a:buChar char="o"/>
            </a:pPr>
            <a:r>
              <a:rPr lang="fr-FR" sz="2000" dirty="0">
                <a:latin typeface="Aptos" panose="020B0004020202020204" pitchFamily="34" charset="0"/>
              </a:rPr>
              <a:t>saisonalité, </a:t>
            </a:r>
          </a:p>
          <a:p>
            <a:pPr marL="800100" lvl="1" indent="-342900">
              <a:buFont typeface="Courier New" panose="02070309020205020404" pitchFamily="49" charset="0"/>
              <a:buChar char="o"/>
            </a:pPr>
            <a:r>
              <a:rPr lang="fr-FR" sz="2000" dirty="0">
                <a:latin typeface="Aptos" panose="020B0004020202020204" pitchFamily="34" charset="0"/>
              </a:rPr>
              <a:t>tendance, </a:t>
            </a:r>
          </a:p>
          <a:p>
            <a:pPr marL="800100" lvl="1" indent="-342900">
              <a:buFont typeface="Courier New" panose="02070309020205020404" pitchFamily="49" charset="0"/>
              <a:buChar char="o"/>
            </a:pPr>
            <a:r>
              <a:rPr lang="fr-FR" sz="2000" dirty="0">
                <a:latin typeface="Aptos" panose="020B0004020202020204" pitchFamily="34" charset="0"/>
              </a:rPr>
              <a:t>intervalle de confiance</a:t>
            </a:r>
          </a:p>
        </p:txBody>
      </p:sp>
      <mc:AlternateContent xmlns:mc="http://schemas.openxmlformats.org/markup-compatibility/2006" xmlns:a14="http://schemas.microsoft.com/office/drawing/2010/main">
        <mc:Choice Requires="a14">
          <p:sp>
            <p:nvSpPr>
              <p:cNvPr id="17" name="TextBox 3">
                <a:extLst>
                  <a:ext uri="{FF2B5EF4-FFF2-40B4-BE49-F238E27FC236}">
                    <a16:creationId xmlns:a16="http://schemas.microsoft.com/office/drawing/2014/main" id="{453553C3-8D55-439A-B4F4-B1A663565FB1}"/>
                  </a:ext>
                </a:extLst>
              </p:cNvPr>
              <p:cNvSpPr txBox="1"/>
              <p:nvPr/>
            </p:nvSpPr>
            <p:spPr>
              <a:xfrm>
                <a:off x="5282119" y="5089896"/>
                <a:ext cx="657152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3"/>
                          </a:solidFill>
                          <a:latin typeface="Cambria Math" panose="02040503050406030204" pitchFamily="18" charset="0"/>
                        </a:rPr>
                        <m:t>𝑷𝒓</m:t>
                      </m:r>
                      <m:r>
                        <a:rPr lang="en-US" sz="1600" b="1" i="1" smtClean="0">
                          <a:solidFill>
                            <a:schemeClr val="accent3"/>
                          </a:solidFill>
                          <a:latin typeface="Cambria Math" panose="02040503050406030204" pitchFamily="18" charset="0"/>
                        </a:rPr>
                        <m:t>é</m:t>
                      </m:r>
                      <m:r>
                        <a:rPr lang="en-US" sz="1600" b="1" i="1" smtClean="0">
                          <a:solidFill>
                            <a:schemeClr val="accent3"/>
                          </a:solidFill>
                          <a:latin typeface="Cambria Math" panose="02040503050406030204" pitchFamily="18" charset="0"/>
                        </a:rPr>
                        <m:t>𝒗𝒊𝒔𝒊𝒐𝒏</m:t>
                      </m:r>
                      <m:r>
                        <a:rPr lang="en-US" sz="1600" b="1" i="1" smtClean="0">
                          <a:solidFill>
                            <a:schemeClr val="accent3"/>
                          </a:solidFill>
                          <a:latin typeface="Cambria Math" panose="02040503050406030204" pitchFamily="18" charset="0"/>
                        </a:rPr>
                        <m:t> ≅</m:t>
                      </m:r>
                      <m:r>
                        <a:rPr lang="en-US" sz="1600" b="1" i="1">
                          <a:solidFill>
                            <a:schemeClr val="accent3"/>
                          </a:solidFill>
                          <a:latin typeface="Cambria Math" panose="02040503050406030204" pitchFamily="18" charset="0"/>
                          <a:ea typeface="Cambria Math" panose="02040503050406030204" pitchFamily="18" charset="0"/>
                        </a:rPr>
                        <m:t>𝑩𝒂𝒔𝒆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𝑻𝒆𝒏𝒅𝒂𝒏𝒄𝒆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𝑺𝒂𝒊𝒔𝒐𝒏𝒏𝒂𝒍𝒊𝒕</m:t>
                      </m:r>
                      <m:r>
                        <a:rPr lang="en-US" sz="1600" b="1" i="1" smtClean="0">
                          <a:solidFill>
                            <a:schemeClr val="accent3"/>
                          </a:solidFill>
                          <a:latin typeface="Cambria Math" panose="02040503050406030204" pitchFamily="18" charset="0"/>
                          <a:ea typeface="Cambria Math" panose="02040503050406030204" pitchFamily="18" charset="0"/>
                        </a:rPr>
                        <m:t>é +</m:t>
                      </m:r>
                      <m:r>
                        <a:rPr lang="en-US" sz="1600" b="1" i="1" smtClean="0">
                          <a:solidFill>
                            <a:schemeClr val="accent3"/>
                          </a:solidFill>
                          <a:latin typeface="Cambria Math" panose="02040503050406030204" pitchFamily="18" charset="0"/>
                          <a:ea typeface="Cambria Math" panose="02040503050406030204" pitchFamily="18" charset="0"/>
                        </a:rPr>
                        <m:t>𝑨𝒍</m:t>
                      </m:r>
                      <m:r>
                        <a:rPr lang="en-US" sz="1600" b="1" i="1" smtClean="0">
                          <a:solidFill>
                            <a:schemeClr val="accent3"/>
                          </a:solidFill>
                          <a:latin typeface="Cambria Math" panose="02040503050406030204" pitchFamily="18" charset="0"/>
                          <a:ea typeface="Cambria Math" panose="02040503050406030204" pitchFamily="18" charset="0"/>
                        </a:rPr>
                        <m:t>é</m:t>
                      </m:r>
                      <m:r>
                        <a:rPr lang="en-US" sz="1600" b="1" i="1" smtClean="0">
                          <a:solidFill>
                            <a:schemeClr val="accent3"/>
                          </a:solidFill>
                          <a:latin typeface="Cambria Math" panose="02040503050406030204" pitchFamily="18" charset="0"/>
                          <a:ea typeface="Cambria Math" panose="02040503050406030204" pitchFamily="18" charset="0"/>
                        </a:rPr>
                        <m:t>𝒂𝒕𝒐𝒊𝒓𝒆</m:t>
                      </m:r>
                    </m:oMath>
                  </m:oMathPara>
                </a14:m>
                <a:endParaRPr lang="en-US" sz="1600" b="1" dirty="0">
                  <a:solidFill>
                    <a:schemeClr val="accent3"/>
                  </a:solidFill>
                  <a:latin typeface="Aptos" panose="020B0004020202020204" pitchFamily="34" charset="0"/>
                  <a:ea typeface="Cambria Math" panose="02040503050406030204" pitchFamily="18" charset="0"/>
                </a:endParaRPr>
              </a:p>
            </p:txBody>
          </p:sp>
        </mc:Choice>
        <mc:Fallback xmlns="">
          <p:sp>
            <p:nvSpPr>
              <p:cNvPr id="17" name="TextBox 3">
                <a:extLst>
                  <a:ext uri="{FF2B5EF4-FFF2-40B4-BE49-F238E27FC236}">
                    <a16:creationId xmlns:a16="http://schemas.microsoft.com/office/drawing/2014/main" id="{453553C3-8D55-439A-B4F4-B1A663565FB1}"/>
                  </a:ext>
                </a:extLst>
              </p:cNvPr>
              <p:cNvSpPr txBox="1">
                <a:spLocks noRot="1" noChangeAspect="1" noMove="1" noResize="1" noEditPoints="1" noAdjustHandles="1" noChangeArrowheads="1" noChangeShapeType="1" noTextEdit="1"/>
              </p:cNvSpPr>
              <p:nvPr/>
            </p:nvSpPr>
            <p:spPr>
              <a:xfrm>
                <a:off x="5282119" y="5089896"/>
                <a:ext cx="6571524" cy="33855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86191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Modèles statistiques d’extrapolation</a:t>
            </a:r>
          </a:p>
        </p:txBody>
      </p:sp>
      <p:sp>
        <p:nvSpPr>
          <p:cNvPr id="10" name="ZoneTexte 9">
            <a:extLst>
              <a:ext uri="{FF2B5EF4-FFF2-40B4-BE49-F238E27FC236}">
                <a16:creationId xmlns:a16="http://schemas.microsoft.com/office/drawing/2014/main" id="{B1C00F0F-4A02-4302-A6AE-7111323D6D95}"/>
              </a:ext>
            </a:extLst>
          </p:cNvPr>
          <p:cNvSpPr txBox="1"/>
          <p:nvPr/>
        </p:nvSpPr>
        <p:spPr>
          <a:xfrm>
            <a:off x="751074" y="2192289"/>
            <a:ext cx="10970756" cy="782835"/>
          </a:xfrm>
          <a:prstGeom prst="rect">
            <a:avLst/>
          </a:prstGeom>
          <a:noFill/>
          <a:ln>
            <a:noFill/>
          </a:ln>
        </p:spPr>
        <p:txBody>
          <a:bodyPr spcFirstLastPara="1" vert="horz" wrap="square" lIns="91425" tIns="45700" rIns="91425" bIns="45700" rtlCol="0" anchor="t" anchorCtr="0">
            <a:normAutofit lnSpcReduction="10000"/>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 Moyenne Mobile intégrée autorégressive [Auto-</a:t>
            </a:r>
            <a:r>
              <a:rPr lang="fr-FR" dirty="0" err="1">
                <a:solidFill>
                  <a:srgbClr val="014C9B"/>
                </a:solidFill>
              </a:rPr>
              <a:t>Regressive</a:t>
            </a:r>
            <a:r>
              <a:rPr lang="fr-FR" dirty="0">
                <a:solidFill>
                  <a:srgbClr val="014C9B"/>
                </a:solidFill>
              </a:rPr>
              <a:t> Integrated Moving </a:t>
            </a:r>
            <a:r>
              <a:rPr lang="fr-FR" dirty="0" err="1">
                <a:solidFill>
                  <a:srgbClr val="014C9B"/>
                </a:solidFill>
              </a:rPr>
              <a:t>Average</a:t>
            </a:r>
            <a:r>
              <a:rPr lang="fr-FR" dirty="0">
                <a:solidFill>
                  <a:srgbClr val="014C9B"/>
                </a:solidFill>
              </a:rPr>
              <a:t> (ARIMA)]</a:t>
            </a:r>
          </a:p>
        </p:txBody>
      </p:sp>
      <p:sp>
        <p:nvSpPr>
          <p:cNvPr id="13" name="ZoneTexte 12">
            <a:extLst>
              <a:ext uri="{FF2B5EF4-FFF2-40B4-BE49-F238E27FC236}">
                <a16:creationId xmlns:a16="http://schemas.microsoft.com/office/drawing/2014/main" id="{365C2988-4B59-4DC0-87A1-9C2A437D8372}"/>
              </a:ext>
            </a:extLst>
          </p:cNvPr>
          <p:cNvSpPr txBox="1"/>
          <p:nvPr/>
        </p:nvSpPr>
        <p:spPr>
          <a:xfrm>
            <a:off x="751073" y="2975125"/>
            <a:ext cx="11102569" cy="317009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"Auto-</a:t>
            </a:r>
            <a:r>
              <a:rPr lang="fr-FR" sz="2000" dirty="0" err="1">
                <a:latin typeface="Aptos" panose="020B0004020202020204" pitchFamily="34" charset="0"/>
              </a:rPr>
              <a:t>regressive</a:t>
            </a:r>
            <a:r>
              <a:rPr lang="fr-FR" sz="2000" dirty="0">
                <a:latin typeface="Aptos" panose="020B0004020202020204" pitchFamily="34" charset="0"/>
              </a:rPr>
              <a:t>" (AR) Chaque point est influence par ses valeurs précédentes </a:t>
            </a:r>
          </a:p>
          <a:p>
            <a:pPr marL="285750" indent="-285750">
              <a:buFont typeface="Arial" panose="020B0604020202020204" pitchFamily="34" charset="0"/>
              <a:buChar char="•"/>
            </a:pPr>
            <a:r>
              <a:rPr lang="fr-FR" sz="2000" dirty="0">
                <a:latin typeface="Aptos" panose="020B0004020202020204" pitchFamily="34" charset="0"/>
              </a:rPr>
              <a:t>“Moyenne mobile" (MA) Chaque point est une Moyenne d’un ou de plusieurs points adjacents. </a:t>
            </a:r>
          </a:p>
          <a:p>
            <a:pPr marL="800100" lvl="1" indent="-342900">
              <a:buFont typeface="Courier New" panose="02070309020205020404" pitchFamily="49" charset="0"/>
              <a:buChar char="o"/>
            </a:pPr>
            <a:r>
              <a:rPr lang="fr-FR" sz="2000" b="1" dirty="0">
                <a:latin typeface="Aptos" panose="020B0004020202020204" pitchFamily="34" charset="0"/>
              </a:rPr>
              <a:t>AR</a:t>
            </a:r>
            <a:r>
              <a:rPr lang="fr-FR" sz="2000" dirty="0">
                <a:latin typeface="Aptos" panose="020B0004020202020204" pitchFamily="34" charset="0"/>
              </a:rPr>
              <a:t> &amp; </a:t>
            </a:r>
            <a:r>
              <a:rPr lang="fr-FR" sz="2000" b="1" dirty="0">
                <a:latin typeface="Aptos" panose="020B0004020202020204" pitchFamily="34" charset="0"/>
              </a:rPr>
              <a:t>MA</a:t>
            </a:r>
            <a:r>
              <a:rPr lang="fr-FR" sz="2000" dirty="0">
                <a:latin typeface="Aptos" panose="020B0004020202020204" pitchFamily="34" charset="0"/>
              </a:rPr>
              <a:t> sont "intégrés" pour ajuster un meilleur modèle pour la série par différenciation (en utilisant ma différence entre les points d’une série chronologique au lieu des valeurs brutes)</a:t>
            </a:r>
          </a:p>
          <a:p>
            <a:pPr marL="800100" lvl="1" indent="-342900">
              <a:buFont typeface="Courier New" panose="02070309020205020404" pitchFamily="49" charset="0"/>
              <a:buChar char="o"/>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Possible qu’ avec &gt;14 mois de données, </a:t>
            </a:r>
          </a:p>
          <a:p>
            <a:pPr marL="285750" indent="-285750">
              <a:buFont typeface="Arial" panose="020B0604020202020204" pitchFamily="34" charset="0"/>
              <a:buChar char="•"/>
            </a:pPr>
            <a:r>
              <a:rPr lang="fr-FR" sz="2000" dirty="0">
                <a:latin typeface="Aptos" panose="020B0004020202020204" pitchFamily="34" charset="0"/>
              </a:rPr>
              <a:t>Inclue : </a:t>
            </a:r>
          </a:p>
          <a:p>
            <a:pPr marL="800100" lvl="1" indent="-342900">
              <a:buFont typeface="Courier New" panose="02070309020205020404" pitchFamily="49" charset="0"/>
              <a:buChar char="o"/>
            </a:pPr>
            <a:r>
              <a:rPr lang="fr-FR" sz="2000" dirty="0">
                <a:latin typeface="Aptos" panose="020B0004020202020204" pitchFamily="34" charset="0"/>
              </a:rPr>
              <a:t>saisonalité, </a:t>
            </a:r>
          </a:p>
          <a:p>
            <a:pPr marL="800100" lvl="1" indent="-342900">
              <a:buFont typeface="Courier New" panose="02070309020205020404" pitchFamily="49" charset="0"/>
              <a:buChar char="o"/>
            </a:pPr>
            <a:r>
              <a:rPr lang="fr-FR" sz="2000" dirty="0">
                <a:latin typeface="Aptos" panose="020B0004020202020204" pitchFamily="34" charset="0"/>
              </a:rPr>
              <a:t>tendance, </a:t>
            </a:r>
          </a:p>
          <a:p>
            <a:pPr marL="800100" lvl="1" indent="-342900">
              <a:buFont typeface="Courier New" panose="02070309020205020404" pitchFamily="49" charset="0"/>
              <a:buChar char="o"/>
            </a:pPr>
            <a:r>
              <a:rPr lang="fr-FR" sz="2000" dirty="0">
                <a:latin typeface="Aptos" panose="020B0004020202020204" pitchFamily="34" charset="0"/>
              </a:rPr>
              <a:t>intervalle de confiance</a:t>
            </a:r>
          </a:p>
        </p:txBody>
      </p:sp>
      <mc:AlternateContent xmlns:mc="http://schemas.openxmlformats.org/markup-compatibility/2006" xmlns:a14="http://schemas.microsoft.com/office/drawing/2010/main">
        <mc:Choice Requires="a14">
          <p:sp>
            <p:nvSpPr>
              <p:cNvPr id="11" name="TextBox 3">
                <a:extLst>
                  <a:ext uri="{FF2B5EF4-FFF2-40B4-BE49-F238E27FC236}">
                    <a16:creationId xmlns:a16="http://schemas.microsoft.com/office/drawing/2014/main" id="{71192D9C-19AC-45E5-AF9B-3E80C20C210F}"/>
                  </a:ext>
                </a:extLst>
              </p:cNvPr>
              <p:cNvSpPr txBox="1"/>
              <p:nvPr/>
            </p:nvSpPr>
            <p:spPr>
              <a:xfrm>
                <a:off x="5282119" y="5089896"/>
                <a:ext cx="6571524"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3"/>
                          </a:solidFill>
                          <a:latin typeface="Cambria Math" panose="02040503050406030204" pitchFamily="18" charset="0"/>
                        </a:rPr>
                        <m:t>𝑷𝒓</m:t>
                      </m:r>
                      <m:r>
                        <a:rPr lang="en-US" sz="1600" b="1" i="1" smtClean="0">
                          <a:solidFill>
                            <a:schemeClr val="accent3"/>
                          </a:solidFill>
                          <a:latin typeface="Cambria Math" panose="02040503050406030204" pitchFamily="18" charset="0"/>
                        </a:rPr>
                        <m:t>é</m:t>
                      </m:r>
                      <m:r>
                        <a:rPr lang="en-US" sz="1600" b="1" i="1" smtClean="0">
                          <a:solidFill>
                            <a:schemeClr val="accent3"/>
                          </a:solidFill>
                          <a:latin typeface="Cambria Math" panose="02040503050406030204" pitchFamily="18" charset="0"/>
                        </a:rPr>
                        <m:t>𝒗𝒊𝒔𝒊𝒐𝒏</m:t>
                      </m:r>
                      <m:r>
                        <a:rPr lang="en-US" sz="1600" b="1" i="1" smtClean="0">
                          <a:solidFill>
                            <a:schemeClr val="accent3"/>
                          </a:solidFill>
                          <a:latin typeface="Cambria Math" panose="02040503050406030204" pitchFamily="18" charset="0"/>
                        </a:rPr>
                        <m:t> ≅</m:t>
                      </m:r>
                      <m:r>
                        <a:rPr lang="en-US" sz="1600" b="1" i="1">
                          <a:solidFill>
                            <a:schemeClr val="accent3"/>
                          </a:solidFill>
                          <a:latin typeface="Cambria Math" panose="02040503050406030204" pitchFamily="18" charset="0"/>
                          <a:ea typeface="Cambria Math" panose="02040503050406030204" pitchFamily="18" charset="0"/>
                        </a:rPr>
                        <m:t>𝑩𝒂𝒔𝒆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𝑻𝒆𝒏𝒅𝒂𝒏𝒄𝒆</m:t>
                      </m:r>
                      <m:r>
                        <a:rPr lang="en-US" sz="1600" b="1" i="1">
                          <a:solidFill>
                            <a:schemeClr val="accent3"/>
                          </a:solidFill>
                          <a:latin typeface="Cambria Math" panose="02040503050406030204" pitchFamily="18" charset="0"/>
                          <a:ea typeface="Cambria Math" panose="02040503050406030204" pitchFamily="18" charset="0"/>
                        </a:rPr>
                        <m:t>+</m:t>
                      </m:r>
                      <m:r>
                        <a:rPr lang="en-US" sz="1600" b="1" i="1">
                          <a:solidFill>
                            <a:schemeClr val="accent3"/>
                          </a:solidFill>
                          <a:latin typeface="Cambria Math" panose="02040503050406030204" pitchFamily="18" charset="0"/>
                          <a:ea typeface="Cambria Math" panose="02040503050406030204" pitchFamily="18" charset="0"/>
                        </a:rPr>
                        <m:t>𝑺𝒂𝒊𝒔𝒐𝒏𝒏𝒂𝒍𝒊𝒕</m:t>
                      </m:r>
                      <m:r>
                        <a:rPr lang="en-US" sz="1600" b="1" i="1" smtClean="0">
                          <a:solidFill>
                            <a:schemeClr val="accent3"/>
                          </a:solidFill>
                          <a:latin typeface="Cambria Math" panose="02040503050406030204" pitchFamily="18" charset="0"/>
                          <a:ea typeface="Cambria Math" panose="02040503050406030204" pitchFamily="18" charset="0"/>
                        </a:rPr>
                        <m:t>é +</m:t>
                      </m:r>
                      <m:r>
                        <a:rPr lang="en-US" sz="1600" b="1" i="1" smtClean="0">
                          <a:solidFill>
                            <a:schemeClr val="accent3"/>
                          </a:solidFill>
                          <a:latin typeface="Cambria Math" panose="02040503050406030204" pitchFamily="18" charset="0"/>
                          <a:ea typeface="Cambria Math" panose="02040503050406030204" pitchFamily="18" charset="0"/>
                        </a:rPr>
                        <m:t>𝑨𝒍</m:t>
                      </m:r>
                      <m:r>
                        <a:rPr lang="en-US" sz="1600" b="1" i="1" smtClean="0">
                          <a:solidFill>
                            <a:schemeClr val="accent3"/>
                          </a:solidFill>
                          <a:latin typeface="Cambria Math" panose="02040503050406030204" pitchFamily="18" charset="0"/>
                          <a:ea typeface="Cambria Math" panose="02040503050406030204" pitchFamily="18" charset="0"/>
                        </a:rPr>
                        <m:t>é</m:t>
                      </m:r>
                      <m:r>
                        <a:rPr lang="en-US" sz="1600" b="1" i="1" smtClean="0">
                          <a:solidFill>
                            <a:schemeClr val="accent3"/>
                          </a:solidFill>
                          <a:latin typeface="Cambria Math" panose="02040503050406030204" pitchFamily="18" charset="0"/>
                          <a:ea typeface="Cambria Math" panose="02040503050406030204" pitchFamily="18" charset="0"/>
                        </a:rPr>
                        <m:t>𝒂𝒕𝒐𝒊𝒓𝒆</m:t>
                      </m:r>
                    </m:oMath>
                  </m:oMathPara>
                </a14:m>
                <a:endParaRPr lang="en-US" sz="1600" b="1" dirty="0">
                  <a:solidFill>
                    <a:schemeClr val="accent3"/>
                  </a:solidFill>
                  <a:latin typeface="Aptos" panose="020B0004020202020204" pitchFamily="34" charset="0"/>
                  <a:ea typeface="Cambria Math" panose="02040503050406030204" pitchFamily="18" charset="0"/>
                </a:endParaRPr>
              </a:p>
            </p:txBody>
          </p:sp>
        </mc:Choice>
        <mc:Fallback xmlns="">
          <p:sp>
            <p:nvSpPr>
              <p:cNvPr id="11" name="TextBox 3">
                <a:extLst>
                  <a:ext uri="{FF2B5EF4-FFF2-40B4-BE49-F238E27FC236}">
                    <a16:creationId xmlns:a16="http://schemas.microsoft.com/office/drawing/2014/main" id="{71192D9C-19AC-45E5-AF9B-3E80C20C210F}"/>
                  </a:ext>
                </a:extLst>
              </p:cNvPr>
              <p:cNvSpPr txBox="1">
                <a:spLocks noRot="1" noChangeAspect="1" noMove="1" noResize="1" noEditPoints="1" noAdjustHandles="1" noChangeArrowheads="1" noChangeShapeType="1" noTextEdit="1"/>
              </p:cNvSpPr>
              <p:nvPr/>
            </p:nvSpPr>
            <p:spPr>
              <a:xfrm>
                <a:off x="5282119" y="5089896"/>
                <a:ext cx="6571524" cy="33855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70683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consommation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5" name="Rectangle: Rounded Corners 6">
            <a:extLst>
              <a:ext uri="{FF2B5EF4-FFF2-40B4-BE49-F238E27FC236}">
                <a16:creationId xmlns:a16="http://schemas.microsoft.com/office/drawing/2014/main" id="{1984E0CC-9389-4D34-917A-B1101442F6E4}"/>
              </a:ext>
            </a:extLst>
          </p:cNvPr>
          <p:cNvSpPr/>
          <p:nvPr/>
        </p:nvSpPr>
        <p:spPr>
          <a:xfrm>
            <a:off x="1082384" y="3622006"/>
            <a:ext cx="1324474" cy="762000"/>
          </a:xfrm>
          <a:prstGeom prst="roundRect">
            <a:avLst/>
          </a:prstGeom>
          <a:solidFill>
            <a:srgbClr val="33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latin typeface="Aptos" panose="020B0004020202020204" pitchFamily="34" charset="0"/>
              </a:rPr>
              <a:t>Prévision </a:t>
            </a:r>
            <a:r>
              <a:rPr lang="en-US" sz="1000" b="1" dirty="0" err="1">
                <a:solidFill>
                  <a:schemeClr val="tx1">
                    <a:lumMod val="75000"/>
                    <a:lumOff val="25000"/>
                  </a:schemeClr>
                </a:solidFill>
                <a:latin typeface="Aptos" panose="020B0004020202020204" pitchFamily="34" charset="0"/>
              </a:rPr>
              <a:t>basée</a:t>
            </a:r>
            <a:r>
              <a:rPr lang="en-US" sz="1000" b="1" dirty="0">
                <a:solidFill>
                  <a:schemeClr val="tx1">
                    <a:lumMod val="75000"/>
                    <a:lumOff val="25000"/>
                  </a:schemeClr>
                </a:solidFill>
                <a:latin typeface="Aptos" panose="020B0004020202020204" pitchFamily="34" charset="0"/>
              </a:rPr>
              <a:t> sur les modèles de données</a:t>
            </a:r>
          </a:p>
        </p:txBody>
      </p:sp>
      <p:sp>
        <p:nvSpPr>
          <p:cNvPr id="16" name="Rectangle: Rounded Corners 10">
            <a:extLst>
              <a:ext uri="{FF2B5EF4-FFF2-40B4-BE49-F238E27FC236}">
                <a16:creationId xmlns:a16="http://schemas.microsoft.com/office/drawing/2014/main" id="{7DBEDDB9-8841-4C6E-98A4-26160F22C429}"/>
              </a:ext>
            </a:extLst>
          </p:cNvPr>
          <p:cNvSpPr/>
          <p:nvPr/>
        </p:nvSpPr>
        <p:spPr>
          <a:xfrm>
            <a:off x="2776108" y="3116093"/>
            <a:ext cx="1324474" cy="4800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 Tendance</a:t>
            </a:r>
          </a:p>
          <a:p>
            <a:pPr algn="ctr"/>
            <a:r>
              <a:rPr lang="en-US" sz="1000" b="1">
                <a:solidFill>
                  <a:schemeClr val="tx1">
                    <a:lumMod val="75000"/>
                    <a:lumOff val="25000"/>
                  </a:schemeClr>
                </a:solidFill>
                <a:latin typeface="Aptos" panose="020B0004020202020204" pitchFamily="34" charset="0"/>
              </a:rPr>
              <a:t>Pas de saisonalité</a:t>
            </a:r>
          </a:p>
        </p:txBody>
      </p:sp>
      <p:sp>
        <p:nvSpPr>
          <p:cNvPr id="17" name="Rectangle: Rounded Corners 11">
            <a:extLst>
              <a:ext uri="{FF2B5EF4-FFF2-40B4-BE49-F238E27FC236}">
                <a16:creationId xmlns:a16="http://schemas.microsoft.com/office/drawing/2014/main" id="{88BD1C81-70E7-4950-9550-D4F0306DDF0A}"/>
              </a:ext>
            </a:extLst>
          </p:cNvPr>
          <p:cNvSpPr/>
          <p:nvPr/>
        </p:nvSpPr>
        <p:spPr>
          <a:xfrm>
            <a:off x="2776110" y="5498974"/>
            <a:ext cx="1324474" cy="4800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  Saisonalité </a:t>
            </a:r>
          </a:p>
          <a:p>
            <a:pPr algn="ctr"/>
            <a:r>
              <a:rPr lang="en-US" sz="1000" b="1">
                <a:solidFill>
                  <a:schemeClr val="tx1">
                    <a:lumMod val="75000"/>
                    <a:lumOff val="25000"/>
                  </a:schemeClr>
                </a:solidFill>
                <a:latin typeface="Aptos" panose="020B0004020202020204" pitchFamily="34" charset="0"/>
              </a:rPr>
              <a:t>Pas de tendance</a:t>
            </a:r>
          </a:p>
        </p:txBody>
      </p:sp>
      <p:sp>
        <p:nvSpPr>
          <p:cNvPr id="18" name="Rectangle: Rounded Corners 14">
            <a:extLst>
              <a:ext uri="{FF2B5EF4-FFF2-40B4-BE49-F238E27FC236}">
                <a16:creationId xmlns:a16="http://schemas.microsoft.com/office/drawing/2014/main" id="{4BA12E81-86ED-44E1-8681-5956C70F5DD2}"/>
              </a:ext>
            </a:extLst>
          </p:cNvPr>
          <p:cNvSpPr/>
          <p:nvPr/>
        </p:nvSpPr>
        <p:spPr>
          <a:xfrm>
            <a:off x="2776111" y="2097226"/>
            <a:ext cx="1324474" cy="4800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Pas de tendance ou de saisonalité</a:t>
            </a:r>
          </a:p>
        </p:txBody>
      </p:sp>
      <p:sp>
        <p:nvSpPr>
          <p:cNvPr id="19" name="Rectangle 18">
            <a:extLst>
              <a:ext uri="{FF2B5EF4-FFF2-40B4-BE49-F238E27FC236}">
                <a16:creationId xmlns:a16="http://schemas.microsoft.com/office/drawing/2014/main" id="{1D1C27CC-F08F-40DE-BC8A-78BB5D3FD2A6}"/>
              </a:ext>
            </a:extLst>
          </p:cNvPr>
          <p:cNvSpPr/>
          <p:nvPr/>
        </p:nvSpPr>
        <p:spPr>
          <a:xfrm>
            <a:off x="7192247" y="1565088"/>
            <a:ext cx="2072640" cy="3312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75000"/>
                    <a:lumOff val="25000"/>
                  </a:schemeClr>
                </a:solidFill>
                <a:latin typeface="Aptos" panose="020B0004020202020204" pitchFamily="34" charset="0"/>
              </a:rPr>
              <a:t>Meilleures unites de </a:t>
            </a:r>
            <a:r>
              <a:rPr lang="en-US" sz="1200" b="1" dirty="0" err="1">
                <a:solidFill>
                  <a:schemeClr val="tx1">
                    <a:lumMod val="75000"/>
                    <a:lumOff val="25000"/>
                  </a:schemeClr>
                </a:solidFill>
                <a:latin typeface="Aptos" panose="020B0004020202020204" pitchFamily="34" charset="0"/>
              </a:rPr>
              <a:t>mesure</a:t>
            </a:r>
            <a:endParaRPr lang="en-US" sz="1200" b="1" dirty="0">
              <a:solidFill>
                <a:schemeClr val="tx1">
                  <a:lumMod val="75000"/>
                  <a:lumOff val="25000"/>
                </a:schemeClr>
              </a:solidFill>
              <a:latin typeface="Aptos" panose="020B0004020202020204" pitchFamily="34" charset="0"/>
            </a:endParaRPr>
          </a:p>
        </p:txBody>
      </p:sp>
      <p:cxnSp>
        <p:nvCxnSpPr>
          <p:cNvPr id="20" name="Straight Arrow Connector 29">
            <a:extLst>
              <a:ext uri="{FF2B5EF4-FFF2-40B4-BE49-F238E27FC236}">
                <a16:creationId xmlns:a16="http://schemas.microsoft.com/office/drawing/2014/main" id="{B9676B95-EC81-4E2A-B95A-22E85A468F93}"/>
              </a:ext>
            </a:extLst>
          </p:cNvPr>
          <p:cNvCxnSpPr>
            <a:cxnSpLocks/>
            <a:endCxn id="18" idx="1"/>
          </p:cNvCxnSpPr>
          <p:nvPr/>
        </p:nvCxnSpPr>
        <p:spPr>
          <a:xfrm flipV="1">
            <a:off x="2436446" y="2337256"/>
            <a:ext cx="339665" cy="17435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54">
            <a:extLst>
              <a:ext uri="{FF2B5EF4-FFF2-40B4-BE49-F238E27FC236}">
                <a16:creationId xmlns:a16="http://schemas.microsoft.com/office/drawing/2014/main" id="{EE40C4A8-35EF-4036-AAB6-099CC08742C0}"/>
              </a:ext>
            </a:extLst>
          </p:cNvPr>
          <p:cNvCxnSpPr>
            <a:cxnSpLocks/>
            <a:endCxn id="28" idx="1"/>
          </p:cNvCxnSpPr>
          <p:nvPr/>
        </p:nvCxnSpPr>
        <p:spPr>
          <a:xfrm>
            <a:off x="4100582" y="2379313"/>
            <a:ext cx="44764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66">
            <a:extLst>
              <a:ext uri="{FF2B5EF4-FFF2-40B4-BE49-F238E27FC236}">
                <a16:creationId xmlns:a16="http://schemas.microsoft.com/office/drawing/2014/main" id="{8528547E-43F6-4209-A656-5E9E9E990531}"/>
              </a:ext>
            </a:extLst>
          </p:cNvPr>
          <p:cNvCxnSpPr>
            <a:cxnSpLocks/>
            <a:endCxn id="25" idx="1"/>
          </p:cNvCxnSpPr>
          <p:nvPr/>
        </p:nvCxnSpPr>
        <p:spPr>
          <a:xfrm>
            <a:off x="2448792" y="4025076"/>
            <a:ext cx="327317" cy="5398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94">
            <a:extLst>
              <a:ext uri="{FF2B5EF4-FFF2-40B4-BE49-F238E27FC236}">
                <a16:creationId xmlns:a16="http://schemas.microsoft.com/office/drawing/2014/main" id="{C4F0FDCA-72F2-4C17-96C2-0D17BB4A0CF5}"/>
              </a:ext>
            </a:extLst>
          </p:cNvPr>
          <p:cNvCxnSpPr>
            <a:cxnSpLocks/>
            <a:endCxn id="16" idx="1"/>
          </p:cNvCxnSpPr>
          <p:nvPr/>
        </p:nvCxnSpPr>
        <p:spPr>
          <a:xfrm flipV="1">
            <a:off x="2445766" y="3356123"/>
            <a:ext cx="330342" cy="6336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95">
            <a:extLst>
              <a:ext uri="{FF2B5EF4-FFF2-40B4-BE49-F238E27FC236}">
                <a16:creationId xmlns:a16="http://schemas.microsoft.com/office/drawing/2014/main" id="{002B6D76-6501-418B-B4A8-1E8987056782}"/>
              </a:ext>
            </a:extLst>
          </p:cNvPr>
          <p:cNvCxnSpPr>
            <a:cxnSpLocks/>
            <a:endCxn id="17" idx="1"/>
          </p:cNvCxnSpPr>
          <p:nvPr/>
        </p:nvCxnSpPr>
        <p:spPr>
          <a:xfrm>
            <a:off x="2427062" y="3975219"/>
            <a:ext cx="349048" cy="17637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42">
            <a:extLst>
              <a:ext uri="{FF2B5EF4-FFF2-40B4-BE49-F238E27FC236}">
                <a16:creationId xmlns:a16="http://schemas.microsoft.com/office/drawing/2014/main" id="{20379D5A-07A0-44D7-9437-8728E68DFB59}"/>
              </a:ext>
            </a:extLst>
          </p:cNvPr>
          <p:cNvSpPr/>
          <p:nvPr/>
        </p:nvSpPr>
        <p:spPr>
          <a:xfrm>
            <a:off x="2776109" y="4324906"/>
            <a:ext cx="1324474" cy="4800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  Tendance</a:t>
            </a:r>
          </a:p>
          <a:p>
            <a:pPr algn="ctr"/>
            <a:r>
              <a:rPr lang="en-US" sz="1000" b="1">
                <a:solidFill>
                  <a:schemeClr val="tx1">
                    <a:lumMod val="75000"/>
                    <a:lumOff val="25000"/>
                  </a:schemeClr>
                </a:solidFill>
                <a:latin typeface="Aptos" panose="020B0004020202020204" pitchFamily="34" charset="0"/>
              </a:rPr>
              <a:t>✔ Saisonalité</a:t>
            </a:r>
          </a:p>
        </p:txBody>
      </p:sp>
      <p:sp>
        <p:nvSpPr>
          <p:cNvPr id="26" name="Rectangle: Rounded Corners 43">
            <a:extLst>
              <a:ext uri="{FF2B5EF4-FFF2-40B4-BE49-F238E27FC236}">
                <a16:creationId xmlns:a16="http://schemas.microsoft.com/office/drawing/2014/main" id="{CFE2EABC-894B-4DAC-A6FC-8AB0FA953727}"/>
              </a:ext>
            </a:extLst>
          </p:cNvPr>
          <p:cNvSpPr/>
          <p:nvPr/>
        </p:nvSpPr>
        <p:spPr>
          <a:xfrm>
            <a:off x="4577788" y="3116093"/>
            <a:ext cx="2083157" cy="863822"/>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Semi-</a:t>
            </a:r>
            <a:r>
              <a:rPr lang="en-US" sz="1000" b="1" err="1">
                <a:solidFill>
                  <a:schemeClr val="tx1">
                    <a:lumMod val="75000"/>
                    <a:lumOff val="25000"/>
                  </a:schemeClr>
                </a:solidFill>
                <a:latin typeface="Aptos" panose="020B0004020202020204" pitchFamily="34" charset="0"/>
              </a:rPr>
              <a:t>moyennes</a:t>
            </a:r>
            <a:endParaRPr lang="en-US" sz="1000" b="1">
              <a:solidFill>
                <a:schemeClr val="tx1">
                  <a:lumMod val="75000"/>
                  <a:lumOff val="25000"/>
                </a:schemeClr>
              </a:solidFill>
              <a:latin typeface="Aptos" panose="020B0004020202020204" pitchFamily="34" charset="0"/>
            </a:endParaRPr>
          </a:p>
          <a:p>
            <a:pPr algn="ctr"/>
            <a:r>
              <a:rPr lang="en-US" sz="1000" b="1">
                <a:solidFill>
                  <a:schemeClr val="tx1">
                    <a:lumMod val="75000"/>
                    <a:lumOff val="25000"/>
                  </a:schemeClr>
                </a:solidFill>
                <a:latin typeface="Aptos" panose="020B0004020202020204" pitchFamily="34" charset="0"/>
              </a:rPr>
              <a:t>Régression </a:t>
            </a:r>
            <a:r>
              <a:rPr lang="en-US" sz="1000" b="1" err="1">
                <a:solidFill>
                  <a:schemeClr val="tx1">
                    <a:lumMod val="75000"/>
                    <a:lumOff val="25000"/>
                  </a:schemeClr>
                </a:solidFill>
                <a:latin typeface="Aptos" panose="020B0004020202020204" pitchFamily="34" charset="0"/>
              </a:rPr>
              <a:t>linéaire</a:t>
            </a:r>
            <a:endParaRPr lang="en-US" sz="1000" b="1">
              <a:solidFill>
                <a:schemeClr val="tx1">
                  <a:lumMod val="75000"/>
                  <a:lumOff val="25000"/>
                </a:schemeClr>
              </a:solidFill>
              <a:latin typeface="Aptos" panose="020B0004020202020204" pitchFamily="34" charset="0"/>
            </a:endParaRPr>
          </a:p>
        </p:txBody>
      </p:sp>
      <p:sp>
        <p:nvSpPr>
          <p:cNvPr id="27" name="Rectangle: Rounded Corners 44">
            <a:extLst>
              <a:ext uri="{FF2B5EF4-FFF2-40B4-BE49-F238E27FC236}">
                <a16:creationId xmlns:a16="http://schemas.microsoft.com/office/drawing/2014/main" id="{4136D739-1887-4F46-AAD2-D0FC6E01DE3D}"/>
              </a:ext>
            </a:extLst>
          </p:cNvPr>
          <p:cNvSpPr/>
          <p:nvPr/>
        </p:nvSpPr>
        <p:spPr>
          <a:xfrm>
            <a:off x="4548223" y="5498974"/>
            <a:ext cx="2160965" cy="724063"/>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ARIMA</a:t>
            </a:r>
          </a:p>
          <a:p>
            <a:pPr algn="ctr"/>
            <a:r>
              <a:rPr lang="en-US" sz="1000" b="1">
                <a:solidFill>
                  <a:schemeClr val="tx1">
                    <a:lumMod val="75000"/>
                    <a:lumOff val="25000"/>
                  </a:schemeClr>
                </a:solidFill>
                <a:latin typeface="Aptos" panose="020B0004020202020204" pitchFamily="34" charset="0"/>
              </a:rPr>
              <a:t>Lissage Exponential Triple </a:t>
            </a:r>
          </a:p>
        </p:txBody>
      </p:sp>
      <p:sp>
        <p:nvSpPr>
          <p:cNvPr id="28" name="Rectangle: Rounded Corners 45">
            <a:extLst>
              <a:ext uri="{FF2B5EF4-FFF2-40B4-BE49-F238E27FC236}">
                <a16:creationId xmlns:a16="http://schemas.microsoft.com/office/drawing/2014/main" id="{731ACA76-BBA4-419C-9168-353C40778BA7}"/>
              </a:ext>
            </a:extLst>
          </p:cNvPr>
          <p:cNvSpPr/>
          <p:nvPr/>
        </p:nvSpPr>
        <p:spPr>
          <a:xfrm>
            <a:off x="4548223" y="1947402"/>
            <a:ext cx="2160965" cy="863822"/>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lumMod val="75000"/>
                    <a:lumOff val="25000"/>
                  </a:schemeClr>
                </a:solidFill>
                <a:latin typeface="Aptos" panose="020B0004020202020204" pitchFamily="34" charset="0"/>
              </a:rPr>
              <a:t>Naïve, Simple Moyenne, or </a:t>
            </a:r>
          </a:p>
          <a:p>
            <a:pPr algn="ctr"/>
            <a:r>
              <a:rPr lang="en-US" sz="1000" b="1">
                <a:solidFill>
                  <a:schemeClr val="tx1">
                    <a:lumMod val="75000"/>
                    <a:lumOff val="25000"/>
                  </a:schemeClr>
                </a:solidFill>
                <a:latin typeface="Aptos" panose="020B0004020202020204" pitchFamily="34" charset="0"/>
              </a:rPr>
              <a:t>Moyenne mobile</a:t>
            </a:r>
          </a:p>
        </p:txBody>
      </p:sp>
      <p:sp>
        <p:nvSpPr>
          <p:cNvPr id="29" name="Rectangle: Rounded Corners 46">
            <a:extLst>
              <a:ext uri="{FF2B5EF4-FFF2-40B4-BE49-F238E27FC236}">
                <a16:creationId xmlns:a16="http://schemas.microsoft.com/office/drawing/2014/main" id="{69DD9572-C2F7-41A2-8A27-7111116A2EA8}"/>
              </a:ext>
            </a:extLst>
          </p:cNvPr>
          <p:cNvSpPr/>
          <p:nvPr/>
        </p:nvSpPr>
        <p:spPr>
          <a:xfrm>
            <a:off x="4548222" y="4324906"/>
            <a:ext cx="2160965" cy="76200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lumMod val="75000"/>
                    <a:lumOff val="25000"/>
                  </a:schemeClr>
                </a:solidFill>
                <a:latin typeface="Aptos" panose="020B0004020202020204" pitchFamily="34" charset="0"/>
              </a:rPr>
              <a:t>ARIMA</a:t>
            </a:r>
          </a:p>
          <a:p>
            <a:pPr algn="ctr"/>
            <a:r>
              <a:rPr lang="en-US" sz="1000" b="1">
                <a:solidFill>
                  <a:schemeClr val="tx1">
                    <a:lumMod val="75000"/>
                    <a:lumOff val="25000"/>
                  </a:schemeClr>
                </a:solidFill>
                <a:latin typeface="Aptos" panose="020B0004020202020204" pitchFamily="34" charset="0"/>
              </a:rPr>
              <a:t>Lissage Exponential Triple </a:t>
            </a:r>
          </a:p>
        </p:txBody>
      </p:sp>
      <p:cxnSp>
        <p:nvCxnSpPr>
          <p:cNvPr id="30" name="Straight Arrow Connector 52">
            <a:extLst>
              <a:ext uri="{FF2B5EF4-FFF2-40B4-BE49-F238E27FC236}">
                <a16:creationId xmlns:a16="http://schemas.microsoft.com/office/drawing/2014/main" id="{9BFFE4A0-02F4-4F95-BFC4-E5B0BC6F98F6}"/>
              </a:ext>
            </a:extLst>
          </p:cNvPr>
          <p:cNvCxnSpPr>
            <a:cxnSpLocks/>
          </p:cNvCxnSpPr>
          <p:nvPr/>
        </p:nvCxnSpPr>
        <p:spPr>
          <a:xfrm>
            <a:off x="4100580" y="3478186"/>
            <a:ext cx="44764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53">
            <a:extLst>
              <a:ext uri="{FF2B5EF4-FFF2-40B4-BE49-F238E27FC236}">
                <a16:creationId xmlns:a16="http://schemas.microsoft.com/office/drawing/2014/main" id="{5C467EED-F373-469B-8199-590DBFF9F5F4}"/>
              </a:ext>
            </a:extLst>
          </p:cNvPr>
          <p:cNvCxnSpPr>
            <a:cxnSpLocks/>
          </p:cNvCxnSpPr>
          <p:nvPr/>
        </p:nvCxnSpPr>
        <p:spPr>
          <a:xfrm>
            <a:off x="4100581" y="4705906"/>
            <a:ext cx="44764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55">
            <a:extLst>
              <a:ext uri="{FF2B5EF4-FFF2-40B4-BE49-F238E27FC236}">
                <a16:creationId xmlns:a16="http://schemas.microsoft.com/office/drawing/2014/main" id="{8681E958-B40E-411A-AA72-192435F8EE9A}"/>
              </a:ext>
            </a:extLst>
          </p:cNvPr>
          <p:cNvCxnSpPr>
            <a:cxnSpLocks/>
          </p:cNvCxnSpPr>
          <p:nvPr/>
        </p:nvCxnSpPr>
        <p:spPr>
          <a:xfrm>
            <a:off x="4100582" y="5850100"/>
            <a:ext cx="44764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Callout: Left Arrow 22">
            <a:extLst>
              <a:ext uri="{FF2B5EF4-FFF2-40B4-BE49-F238E27FC236}">
                <a16:creationId xmlns:a16="http://schemas.microsoft.com/office/drawing/2014/main" id="{6B038C25-7B4C-4C1C-BCF5-675AA1389EE2}"/>
              </a:ext>
            </a:extLst>
          </p:cNvPr>
          <p:cNvSpPr/>
          <p:nvPr/>
        </p:nvSpPr>
        <p:spPr>
          <a:xfrm>
            <a:off x="6793632" y="2031423"/>
            <a:ext cx="2135370" cy="810404"/>
          </a:xfrm>
          <a:prstGeom prst="leftArrowCallout">
            <a:avLst>
              <a:gd name="adj1" fmla="val 25000"/>
              <a:gd name="adj2" fmla="val 24060"/>
              <a:gd name="adj3" fmla="val 25000"/>
              <a:gd name="adj4" fmla="val 649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75000"/>
                    <a:lumOff val="25000"/>
                  </a:schemeClr>
                </a:solidFill>
                <a:latin typeface="Aptos" panose="020B0004020202020204" pitchFamily="34" charset="0"/>
              </a:rPr>
              <a:t>MAPE</a:t>
            </a:r>
          </a:p>
          <a:p>
            <a:pPr algn="ctr"/>
            <a:r>
              <a:rPr lang="en-US" sz="1100">
                <a:solidFill>
                  <a:schemeClr val="tx1">
                    <a:lumMod val="75000"/>
                    <a:lumOff val="25000"/>
                  </a:schemeClr>
                </a:solidFill>
                <a:latin typeface="Aptos" panose="020B0004020202020204" pitchFamily="34" charset="0"/>
              </a:rPr>
              <a:t>WAPE*</a:t>
            </a:r>
          </a:p>
          <a:p>
            <a:pPr algn="ctr"/>
            <a:r>
              <a:rPr lang="en-US" sz="1100">
                <a:solidFill>
                  <a:schemeClr val="tx1">
                    <a:lumMod val="75000"/>
                    <a:lumOff val="25000"/>
                  </a:schemeClr>
                </a:solidFill>
                <a:latin typeface="Aptos" panose="020B0004020202020204" pitchFamily="34" charset="0"/>
              </a:rPr>
              <a:t>RMSE</a:t>
            </a:r>
          </a:p>
        </p:txBody>
      </p:sp>
      <p:sp>
        <p:nvSpPr>
          <p:cNvPr id="34" name="Callout: Left Arrow 56">
            <a:extLst>
              <a:ext uri="{FF2B5EF4-FFF2-40B4-BE49-F238E27FC236}">
                <a16:creationId xmlns:a16="http://schemas.microsoft.com/office/drawing/2014/main" id="{2DFBC8A9-B00C-4F8C-AD4C-C0DAD9A7D093}"/>
              </a:ext>
            </a:extLst>
          </p:cNvPr>
          <p:cNvSpPr/>
          <p:nvPr/>
        </p:nvSpPr>
        <p:spPr>
          <a:xfrm>
            <a:off x="6793632" y="4307106"/>
            <a:ext cx="2135370" cy="810404"/>
          </a:xfrm>
          <a:prstGeom prst="leftArrowCallout">
            <a:avLst>
              <a:gd name="adj1" fmla="val 25000"/>
              <a:gd name="adj2" fmla="val 24060"/>
              <a:gd name="adj3" fmla="val 25000"/>
              <a:gd name="adj4" fmla="val 649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75000"/>
                    <a:lumOff val="25000"/>
                  </a:schemeClr>
                </a:solidFill>
                <a:latin typeface="Aptos" panose="020B0004020202020204" pitchFamily="34" charset="0"/>
              </a:rPr>
              <a:t>WAPE*</a:t>
            </a:r>
          </a:p>
          <a:p>
            <a:pPr algn="ctr"/>
            <a:r>
              <a:rPr lang="en-US" sz="1100">
                <a:solidFill>
                  <a:schemeClr val="tx1">
                    <a:lumMod val="75000"/>
                    <a:lumOff val="25000"/>
                  </a:schemeClr>
                </a:solidFill>
                <a:latin typeface="Aptos" panose="020B0004020202020204" pitchFamily="34" charset="0"/>
              </a:rPr>
              <a:t>RMSE</a:t>
            </a:r>
          </a:p>
          <a:p>
            <a:pPr algn="ctr"/>
            <a:r>
              <a:rPr lang="en-US" sz="1100">
                <a:solidFill>
                  <a:schemeClr val="tx1">
                    <a:lumMod val="75000"/>
                    <a:lumOff val="25000"/>
                  </a:schemeClr>
                </a:solidFill>
                <a:latin typeface="Aptos" panose="020B0004020202020204" pitchFamily="34" charset="0"/>
              </a:rPr>
              <a:t>MAE</a:t>
            </a:r>
          </a:p>
        </p:txBody>
      </p:sp>
      <p:sp>
        <p:nvSpPr>
          <p:cNvPr id="35" name="Callout: Left Arrow 57">
            <a:extLst>
              <a:ext uri="{FF2B5EF4-FFF2-40B4-BE49-F238E27FC236}">
                <a16:creationId xmlns:a16="http://schemas.microsoft.com/office/drawing/2014/main" id="{FD872865-6BEA-402C-BF98-488FE500F317}"/>
              </a:ext>
            </a:extLst>
          </p:cNvPr>
          <p:cNvSpPr/>
          <p:nvPr/>
        </p:nvSpPr>
        <p:spPr>
          <a:xfrm>
            <a:off x="6793632" y="3245276"/>
            <a:ext cx="2135370" cy="810404"/>
          </a:xfrm>
          <a:prstGeom prst="leftArrowCallout">
            <a:avLst>
              <a:gd name="adj1" fmla="val 25000"/>
              <a:gd name="adj2" fmla="val 24060"/>
              <a:gd name="adj3" fmla="val 25000"/>
              <a:gd name="adj4" fmla="val 649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75000"/>
                    <a:lumOff val="25000"/>
                  </a:schemeClr>
                </a:solidFill>
                <a:latin typeface="Aptos" panose="020B0004020202020204" pitchFamily="34" charset="0"/>
              </a:rPr>
              <a:t>MAPE</a:t>
            </a:r>
          </a:p>
          <a:p>
            <a:pPr algn="ctr"/>
            <a:r>
              <a:rPr lang="en-US" sz="1100">
                <a:solidFill>
                  <a:schemeClr val="tx1">
                    <a:lumMod val="75000"/>
                    <a:lumOff val="25000"/>
                  </a:schemeClr>
                </a:solidFill>
                <a:latin typeface="Aptos" panose="020B0004020202020204" pitchFamily="34" charset="0"/>
              </a:rPr>
              <a:t>WAPE*</a:t>
            </a:r>
          </a:p>
          <a:p>
            <a:pPr algn="ctr"/>
            <a:r>
              <a:rPr lang="en-US" sz="1100">
                <a:solidFill>
                  <a:schemeClr val="tx1">
                    <a:lumMod val="75000"/>
                    <a:lumOff val="25000"/>
                  </a:schemeClr>
                </a:solidFill>
                <a:latin typeface="Aptos" panose="020B0004020202020204" pitchFamily="34" charset="0"/>
              </a:rPr>
              <a:t>RMSE</a:t>
            </a:r>
          </a:p>
          <a:p>
            <a:pPr algn="ctr"/>
            <a:r>
              <a:rPr lang="en-US" sz="1100">
                <a:solidFill>
                  <a:schemeClr val="tx1">
                    <a:lumMod val="75000"/>
                    <a:lumOff val="25000"/>
                  </a:schemeClr>
                </a:solidFill>
                <a:latin typeface="Aptos" panose="020B0004020202020204" pitchFamily="34" charset="0"/>
              </a:rPr>
              <a:t>MAE</a:t>
            </a:r>
          </a:p>
        </p:txBody>
      </p:sp>
      <p:sp>
        <p:nvSpPr>
          <p:cNvPr id="36" name="Callout: Left Arrow 59">
            <a:extLst>
              <a:ext uri="{FF2B5EF4-FFF2-40B4-BE49-F238E27FC236}">
                <a16:creationId xmlns:a16="http://schemas.microsoft.com/office/drawing/2014/main" id="{119886F3-5007-4B0C-8D6F-2E0628A7CDB8}"/>
              </a:ext>
            </a:extLst>
          </p:cNvPr>
          <p:cNvSpPr/>
          <p:nvPr/>
        </p:nvSpPr>
        <p:spPr>
          <a:xfrm>
            <a:off x="6793632" y="5475502"/>
            <a:ext cx="2135370" cy="810404"/>
          </a:xfrm>
          <a:prstGeom prst="leftArrowCallout">
            <a:avLst>
              <a:gd name="adj1" fmla="val 25000"/>
              <a:gd name="adj2" fmla="val 24060"/>
              <a:gd name="adj3" fmla="val 25000"/>
              <a:gd name="adj4" fmla="val 649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75000"/>
                    <a:lumOff val="25000"/>
                  </a:schemeClr>
                </a:solidFill>
                <a:latin typeface="Aptos" panose="020B0004020202020204" pitchFamily="34" charset="0"/>
              </a:rPr>
              <a:t>WAPE*</a:t>
            </a:r>
          </a:p>
          <a:p>
            <a:pPr algn="ctr"/>
            <a:r>
              <a:rPr lang="en-US" sz="1100">
                <a:solidFill>
                  <a:schemeClr val="tx1">
                    <a:lumMod val="75000"/>
                    <a:lumOff val="25000"/>
                  </a:schemeClr>
                </a:solidFill>
                <a:latin typeface="Aptos" panose="020B0004020202020204" pitchFamily="34" charset="0"/>
              </a:rPr>
              <a:t>RMSE</a:t>
            </a:r>
          </a:p>
          <a:p>
            <a:pPr algn="ctr"/>
            <a:r>
              <a:rPr lang="en-US" sz="1100">
                <a:solidFill>
                  <a:schemeClr val="tx1">
                    <a:lumMod val="75000"/>
                    <a:lumOff val="25000"/>
                  </a:schemeClr>
                </a:solidFill>
                <a:latin typeface="Aptos" panose="020B0004020202020204" pitchFamily="34" charset="0"/>
              </a:rPr>
              <a:t>MAE</a:t>
            </a:r>
          </a:p>
        </p:txBody>
      </p:sp>
      <p:sp>
        <p:nvSpPr>
          <p:cNvPr id="37" name="Rectangle 36">
            <a:extLst>
              <a:ext uri="{FF2B5EF4-FFF2-40B4-BE49-F238E27FC236}">
                <a16:creationId xmlns:a16="http://schemas.microsoft.com/office/drawing/2014/main" id="{9873107F-F5AF-4526-B28C-BA4B0B28DD99}"/>
              </a:ext>
            </a:extLst>
          </p:cNvPr>
          <p:cNvSpPr/>
          <p:nvPr/>
        </p:nvSpPr>
        <p:spPr>
          <a:xfrm>
            <a:off x="4473050" y="1562820"/>
            <a:ext cx="2320582" cy="3312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lumMod val="75000"/>
                    <a:lumOff val="25000"/>
                  </a:schemeClr>
                </a:solidFill>
                <a:latin typeface="Aptos" panose="020B0004020202020204" pitchFamily="34" charset="0"/>
              </a:rPr>
              <a:t>Méthodes d’extrapolation</a:t>
            </a:r>
          </a:p>
        </p:txBody>
      </p:sp>
      <p:sp>
        <p:nvSpPr>
          <p:cNvPr id="38" name="Rectangle 37">
            <a:extLst>
              <a:ext uri="{FF2B5EF4-FFF2-40B4-BE49-F238E27FC236}">
                <a16:creationId xmlns:a16="http://schemas.microsoft.com/office/drawing/2014/main" id="{599B1F8F-BB2B-467F-B8D4-ABAFBB5537EE}"/>
              </a:ext>
            </a:extLst>
          </p:cNvPr>
          <p:cNvSpPr/>
          <p:nvPr/>
        </p:nvSpPr>
        <p:spPr>
          <a:xfrm>
            <a:off x="2406858" y="1562819"/>
            <a:ext cx="1889472" cy="3312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75000"/>
                    <a:lumOff val="25000"/>
                  </a:schemeClr>
                </a:solidFill>
                <a:latin typeface="Aptos" panose="020B0004020202020204" pitchFamily="34" charset="0"/>
              </a:rPr>
              <a:t>Modèles de </a:t>
            </a:r>
            <a:r>
              <a:rPr lang="en-US" sz="1200" b="1" dirty="0" err="1">
                <a:solidFill>
                  <a:schemeClr val="tx1">
                    <a:lumMod val="75000"/>
                    <a:lumOff val="25000"/>
                  </a:schemeClr>
                </a:solidFill>
                <a:latin typeface="Aptos" panose="020B0004020202020204" pitchFamily="34" charset="0"/>
              </a:rPr>
              <a:t>données</a:t>
            </a:r>
            <a:endParaRPr lang="en-US" sz="1200" b="1" dirty="0">
              <a:solidFill>
                <a:schemeClr val="tx1">
                  <a:lumMod val="75000"/>
                  <a:lumOff val="25000"/>
                </a:schemeClr>
              </a:solidFill>
              <a:latin typeface="Aptos" panose="020B0004020202020204" pitchFamily="34" charset="0"/>
            </a:endParaRPr>
          </a:p>
        </p:txBody>
      </p:sp>
      <p:sp>
        <p:nvSpPr>
          <p:cNvPr id="39" name="TextBox 38">
            <a:extLst>
              <a:ext uri="{FF2B5EF4-FFF2-40B4-BE49-F238E27FC236}">
                <a16:creationId xmlns:a16="http://schemas.microsoft.com/office/drawing/2014/main" id="{291A39CB-1623-4965-A6E5-3654DFC60ECB}"/>
              </a:ext>
            </a:extLst>
          </p:cNvPr>
          <p:cNvSpPr txBox="1"/>
          <p:nvPr/>
        </p:nvSpPr>
        <p:spPr>
          <a:xfrm>
            <a:off x="2602919" y="2572697"/>
            <a:ext cx="2118497" cy="338554"/>
          </a:xfrm>
          <a:prstGeom prst="rect">
            <a:avLst/>
          </a:prstGeom>
          <a:noFill/>
        </p:spPr>
        <p:txBody>
          <a:bodyPr wrap="square">
            <a:spAutoFit/>
          </a:bodyPr>
          <a:lstStyle/>
          <a:p>
            <a:pPr algn="ctr"/>
            <a:r>
              <a:rPr lang="en-US" sz="800" i="1">
                <a:solidFill>
                  <a:schemeClr val="tx1">
                    <a:lumMod val="75000"/>
                    <a:lumOff val="25000"/>
                  </a:schemeClr>
                </a:solidFill>
                <a:latin typeface="Aptos" panose="020B0004020202020204" pitchFamily="34" charset="0"/>
              </a:rPr>
              <a:t>ex. </a:t>
            </a:r>
            <a:r>
              <a:rPr lang="en-US" sz="800" i="1" err="1">
                <a:solidFill>
                  <a:schemeClr val="tx1">
                    <a:lumMod val="75000"/>
                    <a:lumOff val="25000"/>
                  </a:schemeClr>
                </a:solidFill>
                <a:latin typeface="Aptos" panose="020B0004020202020204" pitchFamily="34" charset="0"/>
              </a:rPr>
              <a:t>Faible</a:t>
            </a:r>
            <a:r>
              <a:rPr lang="en-US" sz="800" i="1">
                <a:solidFill>
                  <a:schemeClr val="tx1">
                    <a:lumMod val="75000"/>
                    <a:lumOff val="25000"/>
                  </a:schemeClr>
                </a:solidFill>
                <a:latin typeface="Aptos" panose="020B0004020202020204" pitchFamily="34" charset="0"/>
              </a:rPr>
              <a:t> dose, les </a:t>
            </a:r>
            <a:r>
              <a:rPr lang="en-US" sz="800" i="1" err="1">
                <a:solidFill>
                  <a:schemeClr val="tx1">
                    <a:lumMod val="75000"/>
                    <a:lumOff val="25000"/>
                  </a:schemeClr>
                </a:solidFill>
                <a:latin typeface="Aptos" panose="020B0004020202020204" pitchFamily="34" charset="0"/>
              </a:rPr>
              <a:t>progestatifs</a:t>
            </a:r>
            <a:r>
              <a:rPr lang="en-US" sz="800" i="1">
                <a:solidFill>
                  <a:schemeClr val="tx1">
                    <a:lumMod val="75000"/>
                    <a:lumOff val="25000"/>
                  </a:schemeClr>
                </a:solidFill>
                <a:latin typeface="Aptos" panose="020B0004020202020204" pitchFamily="34" charset="0"/>
              </a:rPr>
              <a:t> en comp, </a:t>
            </a:r>
          </a:p>
          <a:p>
            <a:pPr algn="ctr"/>
            <a:r>
              <a:rPr lang="en-US" sz="800" i="1">
                <a:solidFill>
                  <a:schemeClr val="tx1">
                    <a:lumMod val="75000"/>
                    <a:lumOff val="25000"/>
                  </a:schemeClr>
                </a:solidFill>
                <a:latin typeface="Aptos" panose="020B0004020202020204" pitchFamily="34" charset="0"/>
              </a:rPr>
              <a:t>DTG-10 (stable, après introduction) </a:t>
            </a:r>
          </a:p>
        </p:txBody>
      </p:sp>
      <p:sp>
        <p:nvSpPr>
          <p:cNvPr id="40" name="TextBox 41">
            <a:extLst>
              <a:ext uri="{FF2B5EF4-FFF2-40B4-BE49-F238E27FC236}">
                <a16:creationId xmlns:a16="http://schemas.microsoft.com/office/drawing/2014/main" id="{2E29A641-4C3A-46D5-B3B8-4500F939003D}"/>
              </a:ext>
            </a:extLst>
          </p:cNvPr>
          <p:cNvSpPr txBox="1"/>
          <p:nvPr/>
        </p:nvSpPr>
        <p:spPr>
          <a:xfrm>
            <a:off x="2445767" y="3631780"/>
            <a:ext cx="2118497" cy="461665"/>
          </a:xfrm>
          <a:prstGeom prst="rect">
            <a:avLst/>
          </a:prstGeom>
          <a:noFill/>
        </p:spPr>
        <p:txBody>
          <a:bodyPr wrap="square">
            <a:spAutoFit/>
          </a:bodyPr>
          <a:lstStyle/>
          <a:p>
            <a:pPr algn="ctr"/>
            <a:r>
              <a:rPr lang="en-US" sz="800" i="1">
                <a:solidFill>
                  <a:schemeClr val="tx1">
                    <a:lumMod val="75000"/>
                    <a:lumOff val="25000"/>
                  </a:schemeClr>
                </a:solidFill>
                <a:latin typeface="Aptos" panose="020B0004020202020204" pitchFamily="34" charset="0"/>
              </a:rPr>
              <a:t>ex. </a:t>
            </a:r>
            <a:r>
              <a:rPr lang="en-US" sz="800" i="1" err="1">
                <a:solidFill>
                  <a:schemeClr val="tx1">
                    <a:lumMod val="75000"/>
                    <a:lumOff val="25000"/>
                  </a:schemeClr>
                </a:solidFill>
                <a:latin typeface="Aptos" panose="020B0004020202020204" pitchFamily="34" charset="0"/>
              </a:rPr>
              <a:t>Etonogestrel</a:t>
            </a:r>
            <a:r>
              <a:rPr lang="en-US" sz="800" i="1">
                <a:solidFill>
                  <a:schemeClr val="tx1">
                    <a:lumMod val="75000"/>
                    <a:lumOff val="25000"/>
                  </a:schemeClr>
                </a:solidFill>
                <a:latin typeface="Aptos" panose="020B0004020202020204" pitchFamily="34" charset="0"/>
              </a:rPr>
              <a:t> 4-year contraceptive Implant, TLD-90, </a:t>
            </a:r>
          </a:p>
          <a:p>
            <a:pPr algn="ctr"/>
            <a:r>
              <a:rPr lang="en-US" sz="800" i="1" err="1">
                <a:solidFill>
                  <a:schemeClr val="tx1">
                    <a:lumMod val="75000"/>
                    <a:lumOff val="25000"/>
                  </a:schemeClr>
                </a:solidFill>
                <a:latin typeface="Aptos" panose="020B0004020202020204" pitchFamily="34" charset="0"/>
              </a:rPr>
              <a:t>sulfadoxine</a:t>
            </a:r>
            <a:r>
              <a:rPr lang="en-US" sz="800" i="1">
                <a:solidFill>
                  <a:schemeClr val="tx1">
                    <a:lumMod val="75000"/>
                    <a:lumOff val="25000"/>
                  </a:schemeClr>
                </a:solidFill>
                <a:latin typeface="Aptos" panose="020B0004020202020204" pitchFamily="34" charset="0"/>
              </a:rPr>
              <a:t>-pyrimethamine</a:t>
            </a:r>
          </a:p>
        </p:txBody>
      </p:sp>
      <p:sp>
        <p:nvSpPr>
          <p:cNvPr id="41" name="TextBox 47">
            <a:extLst>
              <a:ext uri="{FF2B5EF4-FFF2-40B4-BE49-F238E27FC236}">
                <a16:creationId xmlns:a16="http://schemas.microsoft.com/office/drawing/2014/main" id="{596604AF-077D-4482-A04E-72E621DFC427}"/>
              </a:ext>
            </a:extLst>
          </p:cNvPr>
          <p:cNvSpPr txBox="1"/>
          <p:nvPr/>
        </p:nvSpPr>
        <p:spPr>
          <a:xfrm>
            <a:off x="2648207" y="4831045"/>
            <a:ext cx="1715974" cy="338554"/>
          </a:xfrm>
          <a:prstGeom prst="rect">
            <a:avLst/>
          </a:prstGeom>
          <a:noFill/>
        </p:spPr>
        <p:txBody>
          <a:bodyPr wrap="square">
            <a:spAutoFit/>
          </a:bodyPr>
          <a:lstStyle/>
          <a:p>
            <a:pPr algn="ctr"/>
            <a:r>
              <a:rPr lang="en-US" sz="800" i="1">
                <a:solidFill>
                  <a:schemeClr val="tx1">
                    <a:lumMod val="75000"/>
                    <a:lumOff val="25000"/>
                  </a:schemeClr>
                </a:solidFill>
                <a:latin typeface="Aptos" panose="020B0004020202020204" pitchFamily="34" charset="0"/>
              </a:rPr>
              <a:t>ex. Artemether-Lumefantrine (</a:t>
            </a:r>
            <a:r>
              <a:rPr lang="en-US" sz="800" i="1" err="1">
                <a:solidFill>
                  <a:schemeClr val="tx1">
                    <a:lumMod val="75000"/>
                    <a:lumOff val="25000"/>
                  </a:schemeClr>
                </a:solidFill>
                <a:latin typeface="Aptos" panose="020B0004020202020204" pitchFamily="34" charset="0"/>
              </a:rPr>
              <a:t>Endemies</a:t>
            </a:r>
            <a:r>
              <a:rPr lang="en-US" sz="800" i="1">
                <a:solidFill>
                  <a:schemeClr val="tx1">
                    <a:lumMod val="75000"/>
                    <a:lumOff val="25000"/>
                  </a:schemeClr>
                </a:solidFill>
                <a:latin typeface="Aptos" panose="020B0004020202020204" pitchFamily="34" charset="0"/>
              </a:rPr>
              <a:t>)</a:t>
            </a:r>
          </a:p>
        </p:txBody>
      </p:sp>
      <p:sp>
        <p:nvSpPr>
          <p:cNvPr id="42" name="ZoneTexte 41">
            <a:extLst>
              <a:ext uri="{FF2B5EF4-FFF2-40B4-BE49-F238E27FC236}">
                <a16:creationId xmlns:a16="http://schemas.microsoft.com/office/drawing/2014/main" id="{DEF80154-2C4B-487F-AEE8-471BC0E3A3DE}"/>
              </a:ext>
            </a:extLst>
          </p:cNvPr>
          <p:cNvSpPr txBox="1"/>
          <p:nvPr/>
        </p:nvSpPr>
        <p:spPr>
          <a:xfrm>
            <a:off x="8929002" y="5701131"/>
            <a:ext cx="2872140" cy="584775"/>
          </a:xfrm>
          <a:prstGeom prst="rect">
            <a:avLst/>
          </a:prstGeom>
          <a:noFill/>
        </p:spPr>
        <p:txBody>
          <a:bodyPr wrap="square">
            <a:spAutoFit/>
          </a:bodyPr>
          <a:lstStyle/>
          <a:p>
            <a:pPr lvl="1"/>
            <a:r>
              <a:rPr lang="en-US" sz="800" b="1" dirty="0">
                <a:solidFill>
                  <a:schemeClr val="tx1">
                    <a:lumMod val="75000"/>
                    <a:lumOff val="25000"/>
                  </a:schemeClr>
                </a:solidFill>
                <a:latin typeface="Aptos" panose="020B0004020202020204" pitchFamily="34" charset="0"/>
              </a:rPr>
              <a:t>MAPE</a:t>
            </a:r>
            <a:r>
              <a:rPr lang="en-US" sz="800" dirty="0">
                <a:solidFill>
                  <a:schemeClr val="tx1">
                    <a:lumMod val="75000"/>
                    <a:lumOff val="25000"/>
                  </a:schemeClr>
                </a:solidFill>
                <a:latin typeface="Aptos" panose="020B0004020202020204" pitchFamily="34" charset="0"/>
              </a:rPr>
              <a:t> :</a:t>
            </a:r>
            <a:r>
              <a:rPr lang="fr-FR" sz="800" dirty="0">
                <a:solidFill>
                  <a:schemeClr val="tx1">
                    <a:lumMod val="75000"/>
                    <a:lumOff val="25000"/>
                  </a:schemeClr>
                </a:solidFill>
                <a:latin typeface="Aptos" panose="020B0004020202020204" pitchFamily="34" charset="0"/>
              </a:rPr>
              <a:t> Erreur Absolue Moyenne en Pourcentage</a:t>
            </a:r>
            <a:endParaRPr lang="en-US" sz="800" dirty="0">
              <a:solidFill>
                <a:schemeClr val="tx1">
                  <a:lumMod val="75000"/>
                  <a:lumOff val="25000"/>
                </a:schemeClr>
              </a:solidFill>
              <a:latin typeface="Aptos" panose="020B0004020202020204" pitchFamily="34" charset="0"/>
            </a:endParaRPr>
          </a:p>
          <a:p>
            <a:pPr lvl="1"/>
            <a:r>
              <a:rPr lang="en-US" sz="800" b="1" dirty="0">
                <a:solidFill>
                  <a:schemeClr val="tx1">
                    <a:lumMod val="75000"/>
                    <a:lumOff val="25000"/>
                  </a:schemeClr>
                </a:solidFill>
                <a:latin typeface="Aptos" panose="020B0004020202020204" pitchFamily="34" charset="0"/>
              </a:rPr>
              <a:t>WAPE</a:t>
            </a:r>
            <a:r>
              <a:rPr lang="en-US" sz="800" dirty="0">
                <a:solidFill>
                  <a:schemeClr val="tx1">
                    <a:lumMod val="75000"/>
                    <a:lumOff val="25000"/>
                  </a:schemeClr>
                </a:solidFill>
                <a:latin typeface="Aptos" panose="020B0004020202020204" pitchFamily="34" charset="0"/>
              </a:rPr>
              <a:t> : </a:t>
            </a:r>
            <a:r>
              <a:rPr lang="en-US" sz="800" dirty="0" err="1">
                <a:solidFill>
                  <a:schemeClr val="tx1">
                    <a:lumMod val="75000"/>
                    <a:lumOff val="25000"/>
                  </a:schemeClr>
                </a:solidFill>
                <a:latin typeface="Aptos" panose="020B0004020202020204" pitchFamily="34" charset="0"/>
              </a:rPr>
              <a:t>Pourcentage</a:t>
            </a:r>
            <a:r>
              <a:rPr lang="en-US" sz="800" dirty="0">
                <a:solidFill>
                  <a:schemeClr val="tx1">
                    <a:lumMod val="75000"/>
                    <a:lumOff val="25000"/>
                  </a:schemeClr>
                </a:solidFill>
                <a:latin typeface="Aptos" panose="020B0004020202020204" pitchFamily="34" charset="0"/>
              </a:rPr>
              <a:t> </a:t>
            </a:r>
            <a:r>
              <a:rPr lang="en-US" sz="800" dirty="0" err="1">
                <a:solidFill>
                  <a:schemeClr val="tx1">
                    <a:lumMod val="75000"/>
                    <a:lumOff val="25000"/>
                  </a:schemeClr>
                </a:solidFill>
                <a:latin typeface="Aptos" panose="020B0004020202020204" pitchFamily="34" charset="0"/>
              </a:rPr>
              <a:t>d’Erreur</a:t>
            </a:r>
            <a:r>
              <a:rPr lang="en-US" sz="800" dirty="0">
                <a:solidFill>
                  <a:schemeClr val="tx1">
                    <a:lumMod val="75000"/>
                    <a:lumOff val="25000"/>
                  </a:schemeClr>
                </a:solidFill>
                <a:latin typeface="Aptos" panose="020B0004020202020204" pitchFamily="34" charset="0"/>
              </a:rPr>
              <a:t> Absolu </a:t>
            </a:r>
            <a:r>
              <a:rPr lang="en-US" sz="800" dirty="0" err="1">
                <a:solidFill>
                  <a:schemeClr val="tx1">
                    <a:lumMod val="75000"/>
                    <a:lumOff val="25000"/>
                  </a:schemeClr>
                </a:solidFill>
                <a:latin typeface="Aptos" panose="020B0004020202020204" pitchFamily="34" charset="0"/>
              </a:rPr>
              <a:t>Pondéré</a:t>
            </a:r>
            <a:endParaRPr lang="en-US" sz="800" dirty="0">
              <a:solidFill>
                <a:schemeClr val="tx1">
                  <a:lumMod val="75000"/>
                  <a:lumOff val="25000"/>
                </a:schemeClr>
              </a:solidFill>
              <a:latin typeface="Aptos" panose="020B0004020202020204" pitchFamily="34" charset="0"/>
            </a:endParaRPr>
          </a:p>
          <a:p>
            <a:pPr lvl="1"/>
            <a:r>
              <a:rPr lang="en-US" sz="800" b="1" dirty="0">
                <a:solidFill>
                  <a:schemeClr val="tx1">
                    <a:lumMod val="75000"/>
                    <a:lumOff val="25000"/>
                  </a:schemeClr>
                </a:solidFill>
                <a:latin typeface="Aptos" panose="020B0004020202020204" pitchFamily="34" charset="0"/>
              </a:rPr>
              <a:t>RMSE</a:t>
            </a:r>
            <a:r>
              <a:rPr lang="en-US" sz="800" dirty="0">
                <a:solidFill>
                  <a:schemeClr val="tx1">
                    <a:lumMod val="75000"/>
                    <a:lumOff val="25000"/>
                  </a:schemeClr>
                </a:solidFill>
                <a:latin typeface="Aptos" panose="020B0004020202020204" pitchFamily="34" charset="0"/>
              </a:rPr>
              <a:t> : </a:t>
            </a:r>
            <a:r>
              <a:rPr lang="en-US" sz="800" dirty="0" err="1">
                <a:solidFill>
                  <a:schemeClr val="tx1">
                    <a:lumMod val="75000"/>
                    <a:lumOff val="25000"/>
                  </a:schemeClr>
                </a:solidFill>
                <a:latin typeface="Aptos" panose="020B0004020202020204" pitchFamily="34" charset="0"/>
              </a:rPr>
              <a:t>Erreur</a:t>
            </a:r>
            <a:r>
              <a:rPr lang="en-US" sz="800" dirty="0">
                <a:solidFill>
                  <a:schemeClr val="tx1">
                    <a:lumMod val="75000"/>
                    <a:lumOff val="25000"/>
                  </a:schemeClr>
                </a:solidFill>
                <a:latin typeface="Aptos" panose="020B0004020202020204" pitchFamily="34" charset="0"/>
              </a:rPr>
              <a:t> </a:t>
            </a:r>
            <a:r>
              <a:rPr lang="en-US" sz="800" dirty="0" err="1">
                <a:solidFill>
                  <a:schemeClr val="tx1">
                    <a:lumMod val="75000"/>
                    <a:lumOff val="25000"/>
                  </a:schemeClr>
                </a:solidFill>
                <a:latin typeface="Aptos" panose="020B0004020202020204" pitchFamily="34" charset="0"/>
              </a:rPr>
              <a:t>Quadratique</a:t>
            </a:r>
            <a:r>
              <a:rPr lang="en-US" sz="800" dirty="0">
                <a:solidFill>
                  <a:schemeClr val="tx1">
                    <a:lumMod val="75000"/>
                    <a:lumOff val="25000"/>
                  </a:schemeClr>
                </a:solidFill>
                <a:latin typeface="Aptos" panose="020B0004020202020204" pitchFamily="34" charset="0"/>
              </a:rPr>
              <a:t> Moyenne</a:t>
            </a:r>
          </a:p>
          <a:p>
            <a:pPr lvl="1"/>
            <a:r>
              <a:rPr lang="en-US" sz="800" b="1" dirty="0">
                <a:solidFill>
                  <a:schemeClr val="tx1">
                    <a:lumMod val="75000"/>
                    <a:lumOff val="25000"/>
                  </a:schemeClr>
                </a:solidFill>
                <a:latin typeface="Aptos" panose="020B0004020202020204" pitchFamily="34" charset="0"/>
              </a:rPr>
              <a:t>MAE</a:t>
            </a:r>
            <a:r>
              <a:rPr lang="en-US" sz="800" dirty="0">
                <a:solidFill>
                  <a:schemeClr val="tx1">
                    <a:lumMod val="75000"/>
                    <a:lumOff val="25000"/>
                  </a:schemeClr>
                </a:solidFill>
                <a:latin typeface="Aptos" panose="020B0004020202020204" pitchFamily="34" charset="0"/>
              </a:rPr>
              <a:t> : </a:t>
            </a:r>
            <a:r>
              <a:rPr lang="en-US" sz="800" dirty="0" err="1">
                <a:solidFill>
                  <a:schemeClr val="tx1">
                    <a:lumMod val="75000"/>
                    <a:lumOff val="25000"/>
                  </a:schemeClr>
                </a:solidFill>
                <a:latin typeface="Aptos" panose="020B0004020202020204" pitchFamily="34" charset="0"/>
              </a:rPr>
              <a:t>Erreur</a:t>
            </a:r>
            <a:r>
              <a:rPr lang="en-US" sz="800" dirty="0">
                <a:solidFill>
                  <a:schemeClr val="tx1">
                    <a:lumMod val="75000"/>
                    <a:lumOff val="25000"/>
                  </a:schemeClr>
                </a:solidFill>
                <a:latin typeface="Aptos" panose="020B0004020202020204" pitchFamily="34" charset="0"/>
              </a:rPr>
              <a:t> </a:t>
            </a:r>
            <a:r>
              <a:rPr lang="en-US" sz="800" dirty="0" err="1">
                <a:solidFill>
                  <a:schemeClr val="tx1">
                    <a:lumMod val="75000"/>
                    <a:lumOff val="25000"/>
                  </a:schemeClr>
                </a:solidFill>
                <a:latin typeface="Aptos" panose="020B0004020202020204" pitchFamily="34" charset="0"/>
              </a:rPr>
              <a:t>Absolue</a:t>
            </a:r>
            <a:r>
              <a:rPr lang="en-US" sz="800" dirty="0">
                <a:solidFill>
                  <a:schemeClr val="tx1">
                    <a:lumMod val="75000"/>
                    <a:lumOff val="25000"/>
                  </a:schemeClr>
                </a:solidFill>
                <a:latin typeface="Aptos" panose="020B0004020202020204" pitchFamily="34" charset="0"/>
              </a:rPr>
              <a:t> Moyenne</a:t>
            </a:r>
          </a:p>
        </p:txBody>
      </p:sp>
    </p:spTree>
    <p:extLst>
      <p:ext uri="{BB962C8B-B14F-4D97-AF65-F5344CB8AC3E}">
        <p14:creationId xmlns:p14="http://schemas.microsoft.com/office/powerpoint/2010/main" val="253558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43" name="Google Shape;245;p12">
            <a:extLst>
              <a:ext uri="{FF2B5EF4-FFF2-40B4-BE49-F238E27FC236}">
                <a16:creationId xmlns:a16="http://schemas.microsoft.com/office/drawing/2014/main" id="{C46C8C03-ED79-4C7C-9CEF-CC9782DD4293}"/>
              </a:ext>
            </a:extLst>
          </p:cNvPr>
          <p:cNvSpPr/>
          <p:nvPr/>
        </p:nvSpPr>
        <p:spPr>
          <a:xfrm>
            <a:off x="1397903" y="4437615"/>
            <a:ext cx="1609020" cy="402788"/>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fr-FR" sz="1400" i="0" u="none" strike="noStrike" kern="0" cap="none" spc="0" normalizeH="0" baseline="0" dirty="0">
                <a:ln>
                  <a:noFill/>
                </a:ln>
                <a:solidFill>
                  <a:srgbClr val="FFFFFF"/>
                </a:solidFill>
                <a:effectLst/>
                <a:uLnTx/>
                <a:uFillTx/>
                <a:latin typeface="Aptos" panose="020B0004020202020204" pitchFamily="34" charset="0"/>
                <a:ea typeface="Gill Sans"/>
                <a:cs typeface="Gill Sans"/>
                <a:sym typeface="Gill Sans"/>
              </a:rPr>
              <a:t>Démographiques</a:t>
            </a:r>
          </a:p>
        </p:txBody>
      </p:sp>
      <p:sp>
        <p:nvSpPr>
          <p:cNvPr id="44" name="Google Shape;246;p12">
            <a:extLst>
              <a:ext uri="{FF2B5EF4-FFF2-40B4-BE49-F238E27FC236}">
                <a16:creationId xmlns:a16="http://schemas.microsoft.com/office/drawing/2014/main" id="{45362C4A-93EA-4946-BDC6-09A781A7ADD3}"/>
              </a:ext>
            </a:extLst>
          </p:cNvPr>
          <p:cNvSpPr/>
          <p:nvPr/>
        </p:nvSpPr>
        <p:spPr>
          <a:xfrm>
            <a:off x="1397903" y="3539898"/>
            <a:ext cx="1609020" cy="802243"/>
          </a:xfrm>
          <a:prstGeom prst="rect">
            <a:avLst/>
          </a:prstGeom>
          <a:solidFill>
            <a:srgbClr val="F3750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Population</a:t>
            </a:r>
            <a:br>
              <a:rPr kumimoji="0" lang="en-US" sz="1800" b="1"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br>
            <a:r>
              <a:rPr kumimoji="0" lang="en-US" sz="1100" b="1" i="1" u="none" strike="noStrike" kern="0" cap="none" spc="0" normalizeH="0" baseline="0" noProof="0" dirty="0" err="1">
                <a:ln>
                  <a:noFill/>
                </a:ln>
                <a:solidFill>
                  <a:srgbClr val="FFFFFF"/>
                </a:solidFill>
                <a:effectLst/>
                <a:uLnTx/>
                <a:uFillTx/>
                <a:latin typeface="Aptos" panose="020B0004020202020204" pitchFamily="34" charset="0"/>
                <a:ea typeface="Gill Sans"/>
                <a:cs typeface="Gill Sans"/>
                <a:sym typeface="Gill Sans"/>
              </a:rPr>
              <a:t>Population</a:t>
            </a:r>
            <a:r>
              <a:rPr kumimoji="0" lang="en-US" sz="1100" b="1" i="1"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 du pays</a:t>
            </a:r>
            <a:endParaRPr kumimoji="0" sz="1800" b="1" i="1"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endParaRPr>
          </a:p>
        </p:txBody>
      </p:sp>
      <p:sp>
        <p:nvSpPr>
          <p:cNvPr id="45" name="Google Shape;247;p12">
            <a:extLst>
              <a:ext uri="{FF2B5EF4-FFF2-40B4-BE49-F238E27FC236}">
                <a16:creationId xmlns:a16="http://schemas.microsoft.com/office/drawing/2014/main" id="{67FB476D-6ABC-472D-BBCA-69F8053D46FF}"/>
              </a:ext>
            </a:extLst>
          </p:cNvPr>
          <p:cNvSpPr/>
          <p:nvPr/>
        </p:nvSpPr>
        <p:spPr>
          <a:xfrm>
            <a:off x="6625787" y="2429896"/>
            <a:ext cx="1404119" cy="854137"/>
          </a:xfrm>
          <a:prstGeom prst="rect">
            <a:avLst/>
          </a:prstGeom>
          <a:solidFill>
            <a:srgbClr val="339933"/>
          </a:solidFill>
          <a:ln>
            <a:noFill/>
          </a:ln>
        </p:spPr>
        <p:txBody>
          <a:bodyPr spcFirstLastPara="1" wrap="square" lIns="91425" tIns="45700" rIns="91425" bIns="45700" anchor="ctr" anchorCtr="0">
            <a:noAutofit/>
          </a:bodyPr>
          <a:lstStyle/>
          <a:p>
            <a:pPr algn="ctr">
              <a:buClr>
                <a:srgbClr val="000000"/>
              </a:buClr>
              <a:buFont typeface="Arial"/>
              <a:buNone/>
            </a:pPr>
            <a:r>
              <a:rPr lang="en-US" b="1" kern="0">
                <a:solidFill>
                  <a:srgbClr val="FFFFFF"/>
                </a:solidFill>
                <a:latin typeface="Aptos" panose="020B0004020202020204" pitchFamily="34" charset="0"/>
                <a:ea typeface="Gill Sans"/>
                <a:cs typeface="Gill Sans"/>
                <a:sym typeface="Gill Sans"/>
              </a:rPr>
              <a:t>Services</a:t>
            </a:r>
            <a:br>
              <a:rPr lang="en-US" sz="1600" b="1" kern="0">
                <a:solidFill>
                  <a:srgbClr val="FFFFFF"/>
                </a:solidFill>
                <a:latin typeface="Aptos" panose="020B0004020202020204" pitchFamily="34" charset="0"/>
                <a:ea typeface="Gill Sans"/>
                <a:cs typeface="Gill Sans"/>
                <a:sym typeface="Gill Sans"/>
              </a:rPr>
            </a:br>
            <a:r>
              <a:rPr lang="en-US" sz="1100" b="1" i="1" kern="0">
                <a:solidFill>
                  <a:srgbClr val="FFFFFF"/>
                </a:solidFill>
                <a:latin typeface="Aptos" panose="020B0004020202020204" pitchFamily="34" charset="0"/>
                <a:ea typeface="Gill Sans"/>
                <a:cs typeface="Gill Sans"/>
                <a:sym typeface="Gill Sans"/>
              </a:rPr>
              <a:t># de Tests/Visite</a:t>
            </a:r>
            <a:endParaRPr sz="1600" b="1" kern="0">
              <a:solidFill>
                <a:srgbClr val="FFFFFF"/>
              </a:solidFill>
              <a:latin typeface="Aptos" panose="020B0004020202020204" pitchFamily="34" charset="0"/>
              <a:ea typeface="Gill Sans"/>
              <a:cs typeface="Gill Sans"/>
              <a:sym typeface="Gill Sans"/>
            </a:endParaRPr>
          </a:p>
        </p:txBody>
      </p:sp>
      <p:sp>
        <p:nvSpPr>
          <p:cNvPr id="46" name="Google Shape;248;p12">
            <a:extLst>
              <a:ext uri="{FF2B5EF4-FFF2-40B4-BE49-F238E27FC236}">
                <a16:creationId xmlns:a16="http://schemas.microsoft.com/office/drawing/2014/main" id="{EC679649-557B-4F15-9644-0DE089329D6D}"/>
              </a:ext>
            </a:extLst>
          </p:cNvPr>
          <p:cNvSpPr/>
          <p:nvPr/>
        </p:nvSpPr>
        <p:spPr>
          <a:xfrm>
            <a:off x="6629861" y="2006617"/>
            <a:ext cx="1395970" cy="313713"/>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algn="ctr">
              <a:buClr>
                <a:srgbClr val="000000"/>
              </a:buClr>
              <a:buFont typeface="Arial"/>
              <a:buNone/>
            </a:pPr>
            <a:r>
              <a:rPr lang="en-US" sz="1400" kern="0">
                <a:solidFill>
                  <a:srgbClr val="FFFFFF"/>
                </a:solidFill>
                <a:latin typeface="Aptos" panose="020B0004020202020204" pitchFamily="34" charset="0"/>
                <a:ea typeface="Gill Sans"/>
                <a:cs typeface="Gill Sans"/>
                <a:sym typeface="Gill Sans"/>
              </a:rPr>
              <a:t>Services</a:t>
            </a:r>
            <a:endParaRPr sz="1400" i="1" kern="0">
              <a:solidFill>
                <a:srgbClr val="FFFFFF"/>
              </a:solidFill>
              <a:latin typeface="Aptos" panose="020B0004020202020204" pitchFamily="34" charset="0"/>
              <a:ea typeface="Gill Sans"/>
              <a:cs typeface="Gill Sans"/>
              <a:sym typeface="Gill Sans"/>
            </a:endParaRPr>
          </a:p>
        </p:txBody>
      </p:sp>
      <p:sp>
        <p:nvSpPr>
          <p:cNvPr id="47" name="Google Shape;249;p12">
            <a:extLst>
              <a:ext uri="{FF2B5EF4-FFF2-40B4-BE49-F238E27FC236}">
                <a16:creationId xmlns:a16="http://schemas.microsoft.com/office/drawing/2014/main" id="{B945F4EF-95B1-4ABA-B195-B5C01D264DD3}"/>
              </a:ext>
            </a:extLst>
          </p:cNvPr>
          <p:cNvSpPr/>
          <p:nvPr/>
        </p:nvSpPr>
        <p:spPr>
          <a:xfrm>
            <a:off x="8728546" y="4437615"/>
            <a:ext cx="1493116" cy="357288"/>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rPr>
              <a:t>Consommation</a:t>
            </a:r>
            <a:endParaRPr kumimoji="0" sz="1400" i="0" u="none" strike="noStrike" kern="0" cap="none" spc="0" normalizeH="0" baseline="0" noProof="0" dirty="0">
              <a:ln>
                <a:noFill/>
              </a:ln>
              <a:solidFill>
                <a:srgbClr val="FFFFFF"/>
              </a:solidFill>
              <a:effectLst/>
              <a:uLnTx/>
              <a:uFillTx/>
              <a:latin typeface="Aptos" panose="020B0004020202020204" pitchFamily="34" charset="0"/>
              <a:ea typeface="Gill Sans"/>
              <a:cs typeface="Gill Sans"/>
              <a:sym typeface="Gill Sans"/>
            </a:endParaRPr>
          </a:p>
        </p:txBody>
      </p:sp>
      <p:sp>
        <p:nvSpPr>
          <p:cNvPr id="48" name="Google Shape;250;p12">
            <a:extLst>
              <a:ext uri="{FF2B5EF4-FFF2-40B4-BE49-F238E27FC236}">
                <a16:creationId xmlns:a16="http://schemas.microsoft.com/office/drawing/2014/main" id="{ED34915A-A115-424E-B8A7-327F96A3B2DC}"/>
              </a:ext>
            </a:extLst>
          </p:cNvPr>
          <p:cNvSpPr/>
          <p:nvPr/>
        </p:nvSpPr>
        <p:spPr>
          <a:xfrm>
            <a:off x="8708610" y="3514958"/>
            <a:ext cx="1513052" cy="835231"/>
          </a:xfrm>
          <a:prstGeom prst="rect">
            <a:avLst/>
          </a:prstGeom>
          <a:solidFill>
            <a:srgbClr val="F3750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t>Produits</a:t>
            </a:r>
            <a:br>
              <a:rPr kumimoji="0" lang="en-US" sz="1800" b="1" i="0"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br>
            <a:r>
              <a:rPr kumimoji="0" lang="en-US" sz="1100" b="1" i="1"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rPr>
              <a:t># d’unité</a:t>
            </a:r>
            <a:endParaRPr kumimoji="0" sz="1800" b="1" i="1" u="none" strike="noStrike" kern="0" cap="none" spc="0" normalizeH="0" baseline="0" noProof="0">
              <a:ln>
                <a:noFill/>
              </a:ln>
              <a:solidFill>
                <a:srgbClr val="FFFFFF"/>
              </a:solidFill>
              <a:effectLst/>
              <a:uLnTx/>
              <a:uFillTx/>
              <a:latin typeface="Aptos" panose="020B0004020202020204" pitchFamily="34" charset="0"/>
              <a:ea typeface="Gill Sans"/>
              <a:cs typeface="Gill Sans"/>
              <a:sym typeface="Gill Sans"/>
            </a:endParaRPr>
          </a:p>
        </p:txBody>
      </p:sp>
      <p:sp>
        <p:nvSpPr>
          <p:cNvPr id="49" name="Google Shape;251;p12">
            <a:extLst>
              <a:ext uri="{FF2B5EF4-FFF2-40B4-BE49-F238E27FC236}">
                <a16:creationId xmlns:a16="http://schemas.microsoft.com/office/drawing/2014/main" id="{9062B2EB-72B6-4D03-9300-4B2CCFB95C42}"/>
              </a:ext>
            </a:extLst>
          </p:cNvPr>
          <p:cNvSpPr/>
          <p:nvPr/>
        </p:nvSpPr>
        <p:spPr>
          <a:xfrm>
            <a:off x="4551113" y="3539897"/>
            <a:ext cx="1395971" cy="802243"/>
          </a:xfrm>
          <a:prstGeom prst="rect">
            <a:avLst/>
          </a:prstGeom>
          <a:solidFill>
            <a:srgbClr val="014E9D"/>
          </a:solidFill>
          <a:ln>
            <a:noFill/>
          </a:ln>
        </p:spPr>
        <p:txBody>
          <a:bodyPr spcFirstLastPara="1" wrap="square" lIns="91425" tIns="45700" rIns="91425" bIns="45700" anchor="ctr" anchorCtr="0">
            <a:noAutofit/>
          </a:bodyPr>
          <a:lstStyle/>
          <a:p>
            <a:pPr algn="ctr">
              <a:buClr>
                <a:srgbClr val="000000"/>
              </a:buClr>
              <a:buFont typeface="Arial"/>
              <a:buNone/>
            </a:pPr>
            <a:r>
              <a:rPr lang="en-US" b="1" kern="0">
                <a:solidFill>
                  <a:srgbClr val="FFFFFF"/>
                </a:solidFill>
                <a:latin typeface="Aptos" panose="020B0004020202020204" pitchFamily="34" charset="0"/>
                <a:ea typeface="Gill Sans"/>
                <a:cs typeface="Gill Sans"/>
                <a:sym typeface="Gill Sans"/>
              </a:rPr>
              <a:t>Patients</a:t>
            </a:r>
            <a:br>
              <a:rPr lang="en-US" b="1" kern="0">
                <a:solidFill>
                  <a:srgbClr val="FFFFFF"/>
                </a:solidFill>
                <a:latin typeface="Aptos" panose="020B0004020202020204" pitchFamily="34" charset="0"/>
                <a:ea typeface="Gill Sans"/>
                <a:cs typeface="Gill Sans"/>
                <a:sym typeface="Gill Sans"/>
              </a:rPr>
            </a:br>
            <a:r>
              <a:rPr lang="en-US" sz="1100" b="1" i="1" kern="0">
                <a:solidFill>
                  <a:srgbClr val="FFFFFF"/>
                </a:solidFill>
                <a:latin typeface="Aptos" panose="020B0004020202020204" pitchFamily="34" charset="0"/>
                <a:ea typeface="Gill Sans"/>
                <a:cs typeface="Gill Sans"/>
                <a:sym typeface="Gill Sans"/>
              </a:rPr>
              <a:t># de Patients</a:t>
            </a:r>
            <a:endParaRPr b="1" i="1" kern="0">
              <a:solidFill>
                <a:srgbClr val="FFFFFF"/>
              </a:solidFill>
              <a:latin typeface="Aptos" panose="020B0004020202020204" pitchFamily="34" charset="0"/>
              <a:ea typeface="Gill Sans"/>
              <a:cs typeface="Gill Sans"/>
              <a:sym typeface="Gill Sans"/>
            </a:endParaRPr>
          </a:p>
        </p:txBody>
      </p:sp>
      <p:sp>
        <p:nvSpPr>
          <p:cNvPr id="50" name="Google Shape;252;p12">
            <a:extLst>
              <a:ext uri="{FF2B5EF4-FFF2-40B4-BE49-F238E27FC236}">
                <a16:creationId xmlns:a16="http://schemas.microsoft.com/office/drawing/2014/main" id="{4784D43C-A3D9-446D-ACB0-EBAE1EFB89E2}"/>
              </a:ext>
            </a:extLst>
          </p:cNvPr>
          <p:cNvSpPr/>
          <p:nvPr/>
        </p:nvSpPr>
        <p:spPr>
          <a:xfrm>
            <a:off x="4551112" y="4456656"/>
            <a:ext cx="1395972" cy="338246"/>
          </a:xfrm>
          <a:prstGeom prst="roundRect">
            <a:avLst>
              <a:gd name="adj" fmla="val 16667"/>
            </a:avLst>
          </a:prstGeom>
          <a:solidFill>
            <a:schemeClr val="tx1">
              <a:lumMod val="75000"/>
              <a:lumOff val="25000"/>
            </a:schemeClr>
          </a:solidFill>
          <a:ln>
            <a:noFill/>
          </a:ln>
        </p:spPr>
        <p:txBody>
          <a:bodyPr spcFirstLastPara="1" wrap="square" lIns="91425" tIns="45700" rIns="91425" bIns="45700" anchor="ctr" anchorCtr="0">
            <a:noAutofit/>
          </a:bodyPr>
          <a:lstStyle/>
          <a:p>
            <a:pPr algn="ctr">
              <a:buClr>
                <a:srgbClr val="000000"/>
              </a:buClr>
              <a:buFont typeface="Arial"/>
              <a:buNone/>
            </a:pPr>
            <a:r>
              <a:rPr lang="en-US" sz="1400" kern="0">
                <a:solidFill>
                  <a:srgbClr val="FFFFFF"/>
                </a:solidFill>
                <a:latin typeface="Aptos" panose="020B0004020202020204" pitchFamily="34" charset="0"/>
                <a:ea typeface="Gill Sans"/>
                <a:cs typeface="Gill Sans"/>
                <a:sym typeface="Gill Sans"/>
              </a:rPr>
              <a:t>Morbidité</a:t>
            </a:r>
            <a:endParaRPr sz="1400" kern="0">
              <a:solidFill>
                <a:srgbClr val="000000"/>
              </a:solidFill>
              <a:latin typeface="Aptos" panose="020B0004020202020204" pitchFamily="34" charset="0"/>
              <a:cs typeface="Arial"/>
              <a:sym typeface="Arial"/>
            </a:endParaRPr>
          </a:p>
        </p:txBody>
      </p:sp>
      <p:cxnSp>
        <p:nvCxnSpPr>
          <p:cNvPr id="51" name="Google Shape;259;p12">
            <a:extLst>
              <a:ext uri="{FF2B5EF4-FFF2-40B4-BE49-F238E27FC236}">
                <a16:creationId xmlns:a16="http://schemas.microsoft.com/office/drawing/2014/main" id="{4CB185DC-0D6C-4E1A-97E6-68E3CFAEFEA7}"/>
              </a:ext>
            </a:extLst>
          </p:cNvPr>
          <p:cNvCxnSpPr>
            <a:cxnSpLocks/>
            <a:stCxn id="44" idx="3"/>
            <a:endCxn id="49" idx="1"/>
          </p:cNvCxnSpPr>
          <p:nvPr/>
        </p:nvCxnSpPr>
        <p:spPr>
          <a:xfrm flipV="1">
            <a:off x="3006923" y="3941019"/>
            <a:ext cx="1544190" cy="1"/>
          </a:xfrm>
          <a:prstGeom prst="straightConnector1">
            <a:avLst/>
          </a:prstGeom>
          <a:noFill/>
          <a:ln w="38100" cap="flat" cmpd="sng">
            <a:solidFill>
              <a:srgbClr val="000000"/>
            </a:solidFill>
            <a:prstDash val="solid"/>
            <a:miter lim="800000"/>
            <a:headEnd type="none" w="sm" len="sm"/>
            <a:tailEnd type="triangle" w="med" len="med"/>
          </a:ln>
        </p:spPr>
      </p:cxnSp>
      <p:cxnSp>
        <p:nvCxnSpPr>
          <p:cNvPr id="52" name="Google Shape;260;p12">
            <a:extLst>
              <a:ext uri="{FF2B5EF4-FFF2-40B4-BE49-F238E27FC236}">
                <a16:creationId xmlns:a16="http://schemas.microsoft.com/office/drawing/2014/main" id="{B6C50B63-E384-4A5B-AB91-B2070C97D7DA}"/>
              </a:ext>
            </a:extLst>
          </p:cNvPr>
          <p:cNvCxnSpPr>
            <a:stCxn id="49" idx="0"/>
            <a:endCxn id="45" idx="1"/>
          </p:cNvCxnSpPr>
          <p:nvPr/>
        </p:nvCxnSpPr>
        <p:spPr>
          <a:xfrm rot="10800000" flipH="1">
            <a:off x="5249099" y="2857097"/>
            <a:ext cx="1376700" cy="682800"/>
          </a:xfrm>
          <a:prstGeom prst="straightConnector1">
            <a:avLst/>
          </a:prstGeom>
          <a:noFill/>
          <a:ln w="38100" cap="flat" cmpd="sng">
            <a:solidFill>
              <a:srgbClr val="000000"/>
            </a:solidFill>
            <a:prstDash val="solid"/>
            <a:miter lim="800000"/>
            <a:headEnd type="none" w="sm" len="sm"/>
            <a:tailEnd type="triangle" w="med" len="med"/>
          </a:ln>
        </p:spPr>
      </p:cxnSp>
      <p:cxnSp>
        <p:nvCxnSpPr>
          <p:cNvPr id="53" name="Google Shape;261;p12">
            <a:extLst>
              <a:ext uri="{FF2B5EF4-FFF2-40B4-BE49-F238E27FC236}">
                <a16:creationId xmlns:a16="http://schemas.microsoft.com/office/drawing/2014/main" id="{B4DBFD1B-8BA3-42B9-9CBC-90B9B306D65E}"/>
              </a:ext>
            </a:extLst>
          </p:cNvPr>
          <p:cNvCxnSpPr>
            <a:stCxn id="49" idx="3"/>
            <a:endCxn id="48" idx="1"/>
          </p:cNvCxnSpPr>
          <p:nvPr/>
        </p:nvCxnSpPr>
        <p:spPr>
          <a:xfrm rot="10800000" flipH="1">
            <a:off x="5947084" y="3932618"/>
            <a:ext cx="2761500" cy="8400"/>
          </a:xfrm>
          <a:prstGeom prst="straightConnector1">
            <a:avLst/>
          </a:prstGeom>
          <a:noFill/>
          <a:ln w="38100" cap="flat" cmpd="sng">
            <a:solidFill>
              <a:srgbClr val="000000"/>
            </a:solidFill>
            <a:prstDash val="solid"/>
            <a:miter lim="800000"/>
            <a:headEnd type="none" w="sm" len="sm"/>
            <a:tailEnd type="triangle" w="med" len="med"/>
          </a:ln>
        </p:spPr>
      </p:cxnSp>
      <p:cxnSp>
        <p:nvCxnSpPr>
          <p:cNvPr id="54" name="Google Shape;262;p12">
            <a:extLst>
              <a:ext uri="{FF2B5EF4-FFF2-40B4-BE49-F238E27FC236}">
                <a16:creationId xmlns:a16="http://schemas.microsoft.com/office/drawing/2014/main" id="{5F3FD0B2-14E9-4327-985D-49779A3E9B52}"/>
              </a:ext>
            </a:extLst>
          </p:cNvPr>
          <p:cNvCxnSpPr>
            <a:stCxn id="45" idx="3"/>
            <a:endCxn id="48" idx="0"/>
          </p:cNvCxnSpPr>
          <p:nvPr/>
        </p:nvCxnSpPr>
        <p:spPr>
          <a:xfrm>
            <a:off x="8029906" y="2856965"/>
            <a:ext cx="1435200" cy="657900"/>
          </a:xfrm>
          <a:prstGeom prst="straightConnector1">
            <a:avLst/>
          </a:prstGeom>
          <a:noFill/>
          <a:ln w="38100" cap="flat" cmpd="sng">
            <a:solidFill>
              <a:srgbClr val="000000"/>
            </a:solidFill>
            <a:prstDash val="solid"/>
            <a:miter lim="800000"/>
            <a:headEnd type="none" w="sm" len="sm"/>
            <a:tailEnd type="triangle" w="med" len="med"/>
          </a:ln>
        </p:spPr>
      </p:cxnSp>
      <p:sp>
        <p:nvSpPr>
          <p:cNvPr id="55" name="Google Shape;263;p12">
            <a:extLst>
              <a:ext uri="{FF2B5EF4-FFF2-40B4-BE49-F238E27FC236}">
                <a16:creationId xmlns:a16="http://schemas.microsoft.com/office/drawing/2014/main" id="{2FBF1489-465C-40B9-8C0B-5A9812C3681B}"/>
              </a:ext>
            </a:extLst>
          </p:cNvPr>
          <p:cNvSpPr txBox="1"/>
          <p:nvPr/>
        </p:nvSpPr>
        <p:spPr>
          <a:xfrm>
            <a:off x="2973990" y="4004638"/>
            <a:ext cx="1609020" cy="738623"/>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Les patients représentent quel pourcentage de la population?</a:t>
            </a:r>
            <a:endParaRPr lang="fr-FR" b="1" dirty="0">
              <a:solidFill>
                <a:schemeClr val="tx1">
                  <a:lumMod val="75000"/>
                  <a:lumOff val="25000"/>
                </a:schemeClr>
              </a:solidFill>
              <a:sym typeface="Arial"/>
            </a:endParaRPr>
          </a:p>
        </p:txBody>
      </p:sp>
      <p:sp>
        <p:nvSpPr>
          <p:cNvPr id="56" name="Google Shape;264;p12">
            <a:extLst>
              <a:ext uri="{FF2B5EF4-FFF2-40B4-BE49-F238E27FC236}">
                <a16:creationId xmlns:a16="http://schemas.microsoft.com/office/drawing/2014/main" id="{06E930E4-EBB2-4212-ABA4-64C7B16B720D}"/>
              </a:ext>
            </a:extLst>
          </p:cNvPr>
          <p:cNvSpPr txBox="1"/>
          <p:nvPr/>
        </p:nvSpPr>
        <p:spPr>
          <a:xfrm>
            <a:off x="4617115" y="2605222"/>
            <a:ext cx="1659679" cy="430847"/>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services par patient?</a:t>
            </a:r>
            <a:endParaRPr lang="fr-FR" b="1" dirty="0">
              <a:solidFill>
                <a:schemeClr val="tx1">
                  <a:lumMod val="75000"/>
                  <a:lumOff val="25000"/>
                </a:schemeClr>
              </a:solidFill>
              <a:sym typeface="Arial"/>
            </a:endParaRPr>
          </a:p>
        </p:txBody>
      </p:sp>
      <p:sp>
        <p:nvSpPr>
          <p:cNvPr id="57" name="Google Shape;265;p12">
            <a:extLst>
              <a:ext uri="{FF2B5EF4-FFF2-40B4-BE49-F238E27FC236}">
                <a16:creationId xmlns:a16="http://schemas.microsoft.com/office/drawing/2014/main" id="{60E2ACE2-89C1-4897-8D1A-35B548061134}"/>
              </a:ext>
            </a:extLst>
          </p:cNvPr>
          <p:cNvSpPr txBox="1"/>
          <p:nvPr/>
        </p:nvSpPr>
        <p:spPr>
          <a:xfrm>
            <a:off x="6400163" y="4027412"/>
            <a:ext cx="1875304" cy="430847"/>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produits requis par patient?</a:t>
            </a:r>
            <a:endParaRPr lang="fr-FR" b="1" dirty="0">
              <a:solidFill>
                <a:schemeClr val="tx1">
                  <a:lumMod val="75000"/>
                  <a:lumOff val="25000"/>
                </a:schemeClr>
              </a:solidFill>
              <a:sym typeface="Arial"/>
            </a:endParaRPr>
          </a:p>
        </p:txBody>
      </p:sp>
      <p:sp>
        <p:nvSpPr>
          <p:cNvPr id="58" name="Google Shape;266;p12">
            <a:extLst>
              <a:ext uri="{FF2B5EF4-FFF2-40B4-BE49-F238E27FC236}">
                <a16:creationId xmlns:a16="http://schemas.microsoft.com/office/drawing/2014/main" id="{B3A1D124-FCD7-46BD-88AD-A72DE11D758B}"/>
              </a:ext>
            </a:extLst>
          </p:cNvPr>
          <p:cNvSpPr txBox="1"/>
          <p:nvPr/>
        </p:nvSpPr>
        <p:spPr>
          <a:xfrm>
            <a:off x="8399332" y="2553089"/>
            <a:ext cx="1822330" cy="577041"/>
          </a:xfrm>
          <a:prstGeom prst="rect">
            <a:avLst/>
          </a:prstGeom>
          <a:noFill/>
          <a:ln>
            <a:noFill/>
          </a:ln>
        </p:spPr>
        <p:txBody>
          <a:bodyPr spcFirstLastPara="1" wrap="square" lIns="91425" tIns="45700" rIns="91425" bIns="45700" anchor="t" anchorCtr="0">
            <a:spAutoFit/>
          </a:bodyPr>
          <a:lstStyle>
            <a:defPPr>
              <a:defRPr lang="en-US"/>
            </a:defPPr>
            <a:lvl1pPr algn="ctr">
              <a:buClr>
                <a:srgbClr val="000000"/>
              </a:buClr>
              <a:buFont typeface="Arial"/>
              <a:buNone/>
              <a:defRPr sz="1050" kern="0">
                <a:solidFill>
                  <a:srgbClr val="000000"/>
                </a:solidFill>
                <a:latin typeface="Aptos" panose="020B0004020202020204" pitchFamily="34" charset="0"/>
                <a:ea typeface="Gill Sans"/>
                <a:cs typeface="Gill Sans"/>
              </a:defRPr>
            </a:lvl1pPr>
          </a:lstStyle>
          <a:p>
            <a:r>
              <a:rPr lang="fr-FR" b="1" dirty="0">
                <a:solidFill>
                  <a:schemeClr val="tx1">
                    <a:lumMod val="75000"/>
                    <a:lumOff val="25000"/>
                  </a:schemeClr>
                </a:solidFill>
                <a:sym typeface="Gill Sans"/>
              </a:rPr>
              <a:t>Quel est le nombre de produits requis par service?</a:t>
            </a:r>
            <a:endParaRPr lang="fr-FR" b="1" dirty="0">
              <a:solidFill>
                <a:schemeClr val="tx1">
                  <a:lumMod val="75000"/>
                  <a:lumOff val="25000"/>
                </a:schemeClr>
              </a:solidFill>
              <a:sym typeface="Arial"/>
            </a:endParaRPr>
          </a:p>
        </p:txBody>
      </p:sp>
    </p:spTree>
    <p:extLst>
      <p:ext uri="{BB962C8B-B14F-4D97-AF65-F5344CB8AC3E}">
        <p14:creationId xmlns:p14="http://schemas.microsoft.com/office/powerpoint/2010/main" val="219843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4" name="ZoneTexte 23">
            <a:extLst>
              <a:ext uri="{FF2B5EF4-FFF2-40B4-BE49-F238E27FC236}">
                <a16:creationId xmlns:a16="http://schemas.microsoft.com/office/drawing/2014/main" id="{A1FE27E1-E3B3-4A9C-96F5-C17C62D05858}"/>
              </a:ext>
            </a:extLst>
          </p:cNvPr>
          <p:cNvSpPr txBox="1"/>
          <p:nvPr/>
        </p:nvSpPr>
        <p:spPr>
          <a:xfrm>
            <a:off x="753042" y="1180330"/>
            <a:ext cx="11050268" cy="532453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méthode basée sur la morbidité part d'une logique radicalement différente de la méthode basée sur la consommation.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Au lieu de regarder ce qui a été consommé dans le passé, elle part de ce qui devrait être consommé, compte tenu du nombre de cas de maladie attendus et des protocoles de traitement en vigueur.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C'est une méthode de construction des besoins à partir de la demande théorique.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est particulièrement utile quand les données historiques de consommation sont inexistantes, peu fiables, ou quand le contexte a changé significativement (nouveau programme, nouveau protocole, extension géographique).</a:t>
            </a:r>
          </a:p>
          <a:p>
            <a:pPr marL="342900" indent="-342900">
              <a:buFont typeface="Arial" panose="020B0604020202020204" pitchFamily="34" charset="0"/>
              <a:buChar char="•"/>
            </a:pP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Sa précision dépend de deux facteurs critiques : </a:t>
            </a:r>
          </a:p>
          <a:p>
            <a:pPr marL="800100" lvl="1" indent="-342900">
              <a:buFont typeface="Courier New" panose="02070309020205020404" pitchFamily="49" charset="0"/>
              <a:buChar char="o"/>
            </a:pPr>
            <a:r>
              <a:rPr lang="fr-FR" sz="2000" dirty="0">
                <a:latin typeface="Aptos" panose="020B0004020202020204" pitchFamily="34" charset="0"/>
              </a:rPr>
              <a:t>la fiabilité des données épidémiologiques (combien de cas sont attendus ?) et </a:t>
            </a:r>
          </a:p>
          <a:p>
            <a:pPr marL="800100" lvl="1" indent="-342900">
              <a:buFont typeface="Courier New" panose="02070309020205020404" pitchFamily="49" charset="0"/>
              <a:buChar char="o"/>
            </a:pPr>
            <a:r>
              <a:rPr lang="fr-FR" sz="2000" dirty="0">
                <a:latin typeface="Aptos" panose="020B0004020202020204" pitchFamily="34" charset="0"/>
              </a:rPr>
              <a:t>la rigueur de l'application des protocoles de traitement (quelle quantité de médicament par cas ?).</a:t>
            </a:r>
          </a:p>
        </p:txBody>
      </p:sp>
    </p:spTree>
    <p:extLst>
      <p:ext uri="{BB962C8B-B14F-4D97-AF65-F5344CB8AC3E}">
        <p14:creationId xmlns:p14="http://schemas.microsoft.com/office/powerpoint/2010/main" val="118874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 général de la méthode</a:t>
            </a:r>
          </a:p>
        </p:txBody>
      </p:sp>
      <p:sp>
        <p:nvSpPr>
          <p:cNvPr id="2" name="Rectangle 1">
            <a:extLst>
              <a:ext uri="{FF2B5EF4-FFF2-40B4-BE49-F238E27FC236}">
                <a16:creationId xmlns:a16="http://schemas.microsoft.com/office/drawing/2014/main" id="{47D59145-A86D-4175-BE5A-CDA81856B868}"/>
              </a:ext>
            </a:extLst>
          </p:cNvPr>
          <p:cNvSpPr>
            <a:spLocks noChangeArrowheads="1"/>
          </p:cNvSpPr>
          <p:nvPr/>
        </p:nvSpPr>
        <p:spPr bwMode="auto">
          <a:xfrm>
            <a:off x="800653" y="2211753"/>
            <a:ext cx="1059069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La méthode basée sur la morbidité construit les besoins en médicaments à partir de trois composantes :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Besoin = Nombre de cas attendus × Taux de traitement × Quantité de médicament par cas traité</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Chacune de ces trois composantes doit être estimée avec soin.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Aptos" panose="020B0004020202020204" pitchFamily="34" charset="0"/>
              </a:rPr>
              <a:t>Une erreur sur l'une d'elles se propage et amplifie l'erreur finale.</a:t>
            </a:r>
          </a:p>
        </p:txBody>
      </p:sp>
    </p:spTree>
    <p:extLst>
      <p:ext uri="{BB962C8B-B14F-4D97-AF65-F5344CB8AC3E}">
        <p14:creationId xmlns:p14="http://schemas.microsoft.com/office/powerpoint/2010/main" val="359377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Nombre de cas attendus</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Sources de données épidémiologiques</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9229504" cy="1938992"/>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Source 1 — Données de morbidité des services de santé (données de consultation)</a:t>
            </a:r>
          </a:p>
          <a:p>
            <a:pPr marL="800100" lvl="1" indent="-342900">
              <a:buFont typeface="Courier New" panose="02070309020205020404" pitchFamily="49" charset="0"/>
              <a:buChar char="o"/>
            </a:pPr>
            <a:r>
              <a:rPr lang="fr-FR" sz="2000" dirty="0">
                <a:latin typeface="Aptos" panose="020B0004020202020204" pitchFamily="34" charset="0"/>
              </a:rPr>
              <a:t>Les registres de consultation des formations sanitaires enregistrent le nombre de cas diagnostiqués et traités pour chaque pathologie. </a:t>
            </a:r>
          </a:p>
          <a:p>
            <a:pPr marL="800100" lvl="1" indent="-342900">
              <a:buFont typeface="Courier New" panose="02070309020205020404" pitchFamily="49" charset="0"/>
              <a:buChar char="o"/>
            </a:pPr>
            <a:r>
              <a:rPr lang="fr-FR" sz="2000" dirty="0">
                <a:latin typeface="Aptos" panose="020B0004020202020204" pitchFamily="34" charset="0"/>
              </a:rPr>
              <a:t>C'est la source la plus directe mais elle ne capture que les cas qui se présentent dans les structures de santé.</a:t>
            </a:r>
          </a:p>
        </p:txBody>
      </p:sp>
    </p:spTree>
    <p:extLst>
      <p:ext uri="{BB962C8B-B14F-4D97-AF65-F5344CB8AC3E}">
        <p14:creationId xmlns:p14="http://schemas.microsoft.com/office/powerpoint/2010/main" val="174600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Nombre de cas attendus</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Sources de données épidémiologiques</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9229504" cy="1631216"/>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Source 2 — Données d'incidence issues des enquêtes populationnelles</a:t>
            </a:r>
          </a:p>
          <a:p>
            <a:pPr marL="800100" lvl="1" indent="-342900">
              <a:buFont typeface="Courier New" panose="02070309020205020404" pitchFamily="49" charset="0"/>
              <a:buChar char="o"/>
            </a:pPr>
            <a:r>
              <a:rPr lang="fr-FR" sz="2000" dirty="0">
                <a:latin typeface="Aptos" panose="020B0004020202020204" pitchFamily="34" charset="0"/>
              </a:rPr>
              <a:t>Les enquêtes de santé (EDS, MICS, enquêtes de ménages) estiment l'incidence des maladies dans la population totale, indépendamment du recours aux soins. </a:t>
            </a:r>
          </a:p>
          <a:p>
            <a:pPr marL="800100" lvl="1" indent="-342900">
              <a:buFont typeface="Courier New" panose="02070309020205020404" pitchFamily="49" charset="0"/>
              <a:buChar char="o"/>
            </a:pPr>
            <a:r>
              <a:rPr lang="fr-FR" sz="2000" dirty="0">
                <a:latin typeface="Aptos" panose="020B0004020202020204" pitchFamily="34" charset="0"/>
              </a:rPr>
              <a:t>Elles donnent une image plus complète de la charge de morbidité réelle.</a:t>
            </a:r>
          </a:p>
        </p:txBody>
      </p:sp>
    </p:spTree>
    <p:extLst>
      <p:ext uri="{BB962C8B-B14F-4D97-AF65-F5344CB8AC3E}">
        <p14:creationId xmlns:p14="http://schemas.microsoft.com/office/powerpoint/2010/main" val="409131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Nombre de cas attendus</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Sources de données épidémiologiques</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9229504" cy="2246769"/>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Source 3 — Données historiques de morbidité ajustées</a:t>
            </a:r>
          </a:p>
          <a:p>
            <a:pPr marL="800100" lvl="1" indent="-342900">
              <a:buFont typeface="Courier New" panose="02070309020205020404" pitchFamily="49" charset="0"/>
              <a:buChar char="o"/>
            </a:pPr>
            <a:r>
              <a:rPr lang="fr-FR" sz="2000" dirty="0">
                <a:latin typeface="Aptos" panose="020B0004020202020204" pitchFamily="34" charset="0"/>
              </a:rPr>
              <a:t>Quand les deux sources précédentes ne sont pas disponibles ou récentes, on peut utiliser les données historiques de morbidité des années précédentes, ajustées pour la croissance de la population et les tendances épidémiologiques.</a:t>
            </a:r>
          </a:p>
          <a:p>
            <a:pPr marL="800100" lvl="1" indent="-342900">
              <a:buFont typeface="Courier New" panose="02070309020205020404" pitchFamily="49" charset="0"/>
              <a:buChar char="o"/>
            </a:pPr>
            <a:r>
              <a:rPr lang="fr-FR" sz="2000" dirty="0">
                <a:latin typeface="Aptos" panose="020B0004020202020204" pitchFamily="34" charset="0"/>
              </a:rPr>
              <a:t>Formule : </a:t>
            </a:r>
            <a:r>
              <a:rPr lang="fr-FR" sz="2000" b="1" dirty="0">
                <a:latin typeface="Aptos" panose="020B0004020202020204" pitchFamily="34" charset="0"/>
              </a:rPr>
              <a:t>Cas attendus année N = Cas enregistrés année N-1 × Facteur de croissance population × Facteur tendance épidémiologique</a:t>
            </a:r>
          </a:p>
        </p:txBody>
      </p:sp>
    </p:spTree>
    <p:extLst>
      <p:ext uri="{BB962C8B-B14F-4D97-AF65-F5344CB8AC3E}">
        <p14:creationId xmlns:p14="http://schemas.microsoft.com/office/powerpoint/2010/main" val="107593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Nombre de cas attendus</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Ajustement pour le taux d'utilisation des services</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255454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 taux d'utilisation des services de santé mesure la proportion de personnes malades qui consultent dans une formation sanitaire.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Il est crucial pour ne quantifier que les médicaments qui seront réellement distribués dans le système public de santé.</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 </a:t>
            </a:r>
            <a:r>
              <a:rPr lang="fr-FR" sz="2000" b="1" dirty="0">
                <a:latin typeface="Aptos" panose="020B0004020202020204" pitchFamily="34" charset="0"/>
              </a:rPr>
              <a:t>Cas traités dans le système public = Cas totaux dans la population × Taux d'utilisation des services publics</a:t>
            </a:r>
          </a:p>
        </p:txBody>
      </p:sp>
    </p:spTree>
    <p:extLst>
      <p:ext uri="{BB962C8B-B14F-4D97-AF65-F5344CB8AC3E}">
        <p14:creationId xmlns:p14="http://schemas.microsoft.com/office/powerpoint/2010/main" val="100352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2 — Les protocoles de traitement</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Définition et importance</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255454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Un protocole de traitement (ou schéma thérapeutique standard) définit précisément quels médicaments utiliser, à quelle dose, pendant combien de jours, pour traiter une pathologie donnée.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Dans la méthode basée sur la morbidité, les protocoles sont la clé de conversion entre le nombre de cas et les quantités de médicaments nécessaires.</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Principe : </a:t>
            </a:r>
            <a:r>
              <a:rPr lang="fr-FR" sz="2000" b="1" dirty="0">
                <a:latin typeface="Aptos" panose="020B0004020202020204" pitchFamily="34" charset="0"/>
              </a:rPr>
              <a:t>Quantité de médicament par cas = Dose × Fréquence × Durée du traitement</a:t>
            </a:r>
          </a:p>
        </p:txBody>
      </p:sp>
    </p:spTree>
    <p:extLst>
      <p:ext uri="{BB962C8B-B14F-4D97-AF65-F5344CB8AC3E}">
        <p14:creationId xmlns:p14="http://schemas.microsoft.com/office/powerpoint/2010/main" val="351853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2 — Les protocoles de traitement</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Sources des protocoles de traitement</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490173" cy="2862322"/>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Les protocoles utilisés dans la quantification doivent impérativement être les protocoles nationaux officiels validés par le Ministère de la Santé.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Utiliser des protocoles non officiels ou obsolètes invalide toute la quantification.</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Documents de référence :</a:t>
            </a:r>
          </a:p>
          <a:p>
            <a:pPr marL="800100" lvl="1" indent="-342900">
              <a:buFont typeface="Courier New" panose="02070309020205020404" pitchFamily="49" charset="0"/>
              <a:buChar char="o"/>
            </a:pPr>
            <a:r>
              <a:rPr lang="fr-FR" sz="2000" dirty="0">
                <a:latin typeface="Aptos" panose="020B0004020202020204" pitchFamily="34" charset="0"/>
              </a:rPr>
              <a:t>Guide national de prise en charge des maladies</a:t>
            </a:r>
          </a:p>
          <a:p>
            <a:pPr marL="800100" lvl="1" indent="-342900">
              <a:buFont typeface="Courier New" panose="02070309020205020404" pitchFamily="49" charset="0"/>
              <a:buChar char="o"/>
            </a:pPr>
            <a:r>
              <a:rPr lang="fr-FR" sz="2000" dirty="0">
                <a:latin typeface="Aptos" panose="020B0004020202020204" pitchFamily="34" charset="0"/>
              </a:rPr>
              <a:t>Protocoles standardisés des programmes verticaux (PNLP, PNLT, PNLS)</a:t>
            </a:r>
          </a:p>
          <a:p>
            <a:pPr marL="800100" lvl="1" indent="-342900">
              <a:buFont typeface="Courier New" panose="02070309020205020404" pitchFamily="49" charset="0"/>
              <a:buChar char="o"/>
            </a:pPr>
            <a:r>
              <a:rPr lang="fr-FR" sz="2000" dirty="0">
                <a:latin typeface="Aptos" panose="020B0004020202020204" pitchFamily="34" charset="0"/>
              </a:rPr>
              <a:t>Formulaire national des médicaments essentiels</a:t>
            </a:r>
            <a:endParaRPr lang="fr-FR" sz="2000" b="1" dirty="0">
              <a:latin typeface="Aptos" panose="020B0004020202020204" pitchFamily="34" charset="0"/>
            </a:endParaRPr>
          </a:p>
        </p:txBody>
      </p:sp>
    </p:spTree>
    <p:extLst>
      <p:ext uri="{BB962C8B-B14F-4D97-AF65-F5344CB8AC3E}">
        <p14:creationId xmlns:p14="http://schemas.microsoft.com/office/powerpoint/2010/main" val="38621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3 — Taux de traitement</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Définition</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317009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 taux de traitement est la proportion des cas diagnostiqués qui reçoivent effectivement le traitement recommandé par le protocole national.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Il n'est jamais de 100% pour plusieurs raisons : </a:t>
            </a:r>
          </a:p>
          <a:p>
            <a:pPr marL="800100" lvl="1" indent="-342900">
              <a:buFont typeface="Courier New" panose="02070309020205020404" pitchFamily="49" charset="0"/>
              <a:buChar char="o"/>
            </a:pPr>
            <a:r>
              <a:rPr lang="fr-FR" sz="2000" dirty="0">
                <a:latin typeface="Aptos" panose="020B0004020202020204" pitchFamily="34" charset="0"/>
              </a:rPr>
              <a:t>ruptures de stock, </a:t>
            </a:r>
          </a:p>
          <a:p>
            <a:pPr marL="800100" lvl="1" indent="-342900">
              <a:buFont typeface="Courier New" panose="02070309020205020404" pitchFamily="49" charset="0"/>
              <a:buChar char="o"/>
            </a:pPr>
            <a:r>
              <a:rPr lang="fr-FR" sz="2000" dirty="0">
                <a:latin typeface="Aptos" panose="020B0004020202020204" pitchFamily="34" charset="0"/>
              </a:rPr>
              <a:t>refus du patient, </a:t>
            </a:r>
          </a:p>
          <a:p>
            <a:pPr marL="800100" lvl="1" indent="-342900">
              <a:buFont typeface="Courier New" panose="02070309020205020404" pitchFamily="49" charset="0"/>
              <a:buChar char="o"/>
            </a:pPr>
            <a:r>
              <a:rPr lang="fr-FR" sz="2000" dirty="0">
                <a:latin typeface="Aptos" panose="020B0004020202020204" pitchFamily="34" charset="0"/>
              </a:rPr>
              <a:t>prescriptions alternatives, </a:t>
            </a:r>
          </a:p>
          <a:p>
            <a:pPr marL="800100" lvl="1" indent="-342900">
              <a:buFont typeface="Courier New" panose="02070309020205020404" pitchFamily="49" charset="0"/>
              <a:buChar char="o"/>
            </a:pPr>
            <a:r>
              <a:rPr lang="fr-FR" sz="2000" dirty="0">
                <a:latin typeface="Aptos" panose="020B0004020202020204" pitchFamily="34" charset="0"/>
              </a:rPr>
              <a:t>automédication préalable.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 </a:t>
            </a:r>
            <a:r>
              <a:rPr lang="fr-FR" sz="2000" b="1" dirty="0">
                <a:latin typeface="Aptos" panose="020B0004020202020204" pitchFamily="34" charset="0"/>
              </a:rPr>
              <a:t>Taux de traitement = Cas traités selon protocole ÷ Total cas diagnostiqués × 100</a:t>
            </a:r>
          </a:p>
        </p:txBody>
      </p:sp>
    </p:spTree>
    <p:extLst>
      <p:ext uri="{BB962C8B-B14F-4D97-AF65-F5344CB8AC3E}">
        <p14:creationId xmlns:p14="http://schemas.microsoft.com/office/powerpoint/2010/main" val="328186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Calcul complet par la méthode de morbidité</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Formule complète </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1323439"/>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Besoin total = Σ (Cas attendus par catégorie × Taux de traitement × Quantité par cas)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La sommation porte sur toutes les catégories de patients (tranches d'âge, formes de la maladie, </a:t>
            </a:r>
            <a:r>
              <a:rPr lang="fr-FR" sz="2000" dirty="0" err="1">
                <a:latin typeface="Aptos" panose="020B0004020202020204" pitchFamily="34" charset="0"/>
              </a:rPr>
              <a:t>etc</a:t>
            </a:r>
            <a:endParaRPr lang="fr-FR" sz="2000" dirty="0">
              <a:latin typeface="Aptos" panose="020B0004020202020204" pitchFamily="34" charset="0"/>
            </a:endParaRPr>
          </a:p>
        </p:txBody>
      </p:sp>
    </p:spTree>
    <p:extLst>
      <p:ext uri="{BB962C8B-B14F-4D97-AF65-F5344CB8AC3E}">
        <p14:creationId xmlns:p14="http://schemas.microsoft.com/office/powerpoint/2010/main" val="50541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limites et conditions d'utilisation</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Avantages de la méthode basée sur la morbidité :</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1631216"/>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Elle permet de quantifier pour des programmes nouveaux où il n'y a pas encore de données de consommation. </a:t>
            </a:r>
          </a:p>
          <a:p>
            <a:pPr marL="285750" indent="-285750">
              <a:buFont typeface="Arial" panose="020B0604020202020204" pitchFamily="34" charset="0"/>
              <a:buChar char="•"/>
            </a:pPr>
            <a:r>
              <a:rPr lang="fr-FR" sz="2000" dirty="0">
                <a:latin typeface="Aptos" panose="020B0004020202020204" pitchFamily="34" charset="0"/>
              </a:rPr>
              <a:t>Elle révèle les besoins non satisfaits (demande non couverte par le système actuel). </a:t>
            </a:r>
          </a:p>
          <a:p>
            <a:pPr marL="285750" indent="-285750">
              <a:buFont typeface="Arial" panose="020B0604020202020204" pitchFamily="34" charset="0"/>
              <a:buChar char="•"/>
            </a:pPr>
            <a:r>
              <a:rPr lang="fr-FR" sz="2000" dirty="0">
                <a:latin typeface="Aptos" panose="020B0004020202020204" pitchFamily="34" charset="0"/>
              </a:rPr>
              <a:t>Elle permet de planifier l'impact d'une extension de couverture. </a:t>
            </a:r>
          </a:p>
          <a:p>
            <a:pPr marL="285750" indent="-285750">
              <a:buFont typeface="Arial" panose="020B0604020202020204" pitchFamily="34" charset="0"/>
              <a:buChar char="•"/>
            </a:pPr>
            <a:r>
              <a:rPr lang="fr-FR" sz="2000" dirty="0">
                <a:latin typeface="Aptos" panose="020B0004020202020204" pitchFamily="34" charset="0"/>
              </a:rPr>
              <a:t>Elle est indépendante des biais liés aux ruptures de stock passées.</a:t>
            </a:r>
          </a:p>
        </p:txBody>
      </p:sp>
    </p:spTree>
    <p:extLst>
      <p:ext uri="{BB962C8B-B14F-4D97-AF65-F5344CB8AC3E}">
        <p14:creationId xmlns:p14="http://schemas.microsoft.com/office/powerpoint/2010/main" val="31368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limites et conditions d'utilisation</a:t>
            </a:r>
          </a:p>
        </p:txBody>
      </p:sp>
      <p:sp>
        <p:nvSpPr>
          <p:cNvPr id="10" name="ZoneTexte 9">
            <a:extLst>
              <a:ext uri="{FF2B5EF4-FFF2-40B4-BE49-F238E27FC236}">
                <a16:creationId xmlns:a16="http://schemas.microsoft.com/office/drawing/2014/main" id="{6E653CF7-5AE2-4A9F-818D-9193F16DFBED}"/>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Limites de la méthode basée sur la morbidité :</a:t>
            </a:r>
          </a:p>
        </p:txBody>
      </p:sp>
      <p:sp>
        <p:nvSpPr>
          <p:cNvPr id="11" name="ZoneTexte 10">
            <a:extLst>
              <a:ext uri="{FF2B5EF4-FFF2-40B4-BE49-F238E27FC236}">
                <a16:creationId xmlns:a16="http://schemas.microsoft.com/office/drawing/2014/main" id="{8F5FDE91-5AB5-4509-B650-1B2AA928CFDE}"/>
              </a:ext>
            </a:extLst>
          </p:cNvPr>
          <p:cNvSpPr txBox="1"/>
          <p:nvPr/>
        </p:nvSpPr>
        <p:spPr>
          <a:xfrm>
            <a:off x="751075" y="2741934"/>
            <a:ext cx="10689851" cy="224676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La qualité des données épidémiologiques est souvent insuffisante dans les contextes à ressources limitées. </a:t>
            </a:r>
          </a:p>
          <a:p>
            <a:pPr marL="285750" indent="-285750">
              <a:buFont typeface="Arial" panose="020B0604020202020204" pitchFamily="34" charset="0"/>
              <a:buChar char="•"/>
            </a:pPr>
            <a:r>
              <a:rPr lang="fr-FR" sz="2000" dirty="0">
                <a:latin typeface="Aptos" panose="020B0004020202020204" pitchFamily="34" charset="0"/>
              </a:rPr>
              <a:t>Le taux d'utilisation des services est difficile à estimer avec précision. </a:t>
            </a:r>
          </a:p>
          <a:p>
            <a:pPr marL="285750" indent="-285750">
              <a:buFont typeface="Arial" panose="020B0604020202020204" pitchFamily="34" charset="0"/>
              <a:buChar char="•"/>
            </a:pPr>
            <a:r>
              <a:rPr lang="fr-FR" sz="2000" dirty="0">
                <a:latin typeface="Aptos" panose="020B0004020202020204" pitchFamily="34" charset="0"/>
              </a:rPr>
              <a:t>Les protocoles de traitement ne sont pas toujours parfaitement respectés sur le terrain. </a:t>
            </a:r>
          </a:p>
          <a:p>
            <a:pPr marL="285750" indent="-285750">
              <a:buFont typeface="Arial" panose="020B0604020202020204" pitchFamily="34" charset="0"/>
              <a:buChar char="•"/>
            </a:pPr>
            <a:r>
              <a:rPr lang="fr-FR" sz="2000" dirty="0">
                <a:latin typeface="Aptos" panose="020B0004020202020204" pitchFamily="34" charset="0"/>
              </a:rPr>
              <a:t>La distribution par tranche d'âge et par forme clinique requiert des données démographiques précises. </a:t>
            </a:r>
          </a:p>
          <a:p>
            <a:pPr marL="285750" indent="-285750">
              <a:buFont typeface="Arial" panose="020B0604020202020204" pitchFamily="34" charset="0"/>
              <a:buChar char="•"/>
            </a:pPr>
            <a:r>
              <a:rPr lang="fr-FR" sz="2000" dirty="0">
                <a:latin typeface="Aptos" panose="020B0004020202020204" pitchFamily="34" charset="0"/>
              </a:rPr>
              <a:t>L'incidence réelle dépasse souvent l'incidence enregistrée.</a:t>
            </a:r>
          </a:p>
        </p:txBody>
      </p:sp>
    </p:spTree>
    <p:extLst>
      <p:ext uri="{BB962C8B-B14F-4D97-AF65-F5344CB8AC3E}">
        <p14:creationId xmlns:p14="http://schemas.microsoft.com/office/powerpoint/2010/main" val="120008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Conditions d'utilisation optimale </a:t>
            </a:r>
          </a:p>
        </p:txBody>
      </p:sp>
      <p:graphicFrame>
        <p:nvGraphicFramePr>
          <p:cNvPr id="2" name="Tableau 1">
            <a:extLst>
              <a:ext uri="{FF2B5EF4-FFF2-40B4-BE49-F238E27FC236}">
                <a16:creationId xmlns:a16="http://schemas.microsoft.com/office/drawing/2014/main" id="{B60739F2-AAE9-48E2-8683-6F1C3616974C}"/>
              </a:ext>
            </a:extLst>
          </p:cNvPr>
          <p:cNvGraphicFramePr>
            <a:graphicFrameLocks noGrp="1"/>
          </p:cNvGraphicFramePr>
          <p:nvPr>
            <p:extLst>
              <p:ext uri="{D42A27DB-BD31-4B8C-83A1-F6EECF244321}">
                <p14:modId xmlns:p14="http://schemas.microsoft.com/office/powerpoint/2010/main" val="1150409342"/>
              </p:ext>
            </p:extLst>
          </p:nvPr>
        </p:nvGraphicFramePr>
        <p:xfrm>
          <a:off x="838200" y="2249573"/>
          <a:ext cx="10515600" cy="3017520"/>
        </p:xfrm>
        <a:graphic>
          <a:graphicData uri="http://schemas.openxmlformats.org/drawingml/2006/table">
            <a:tbl>
              <a:tblPr/>
              <a:tblGrid>
                <a:gridCol w="5257800">
                  <a:extLst>
                    <a:ext uri="{9D8B030D-6E8A-4147-A177-3AD203B41FA5}">
                      <a16:colId xmlns:a16="http://schemas.microsoft.com/office/drawing/2014/main" val="907409422"/>
                    </a:ext>
                  </a:extLst>
                </a:gridCol>
                <a:gridCol w="5257800">
                  <a:extLst>
                    <a:ext uri="{9D8B030D-6E8A-4147-A177-3AD203B41FA5}">
                      <a16:colId xmlns:a16="http://schemas.microsoft.com/office/drawing/2014/main" val="88607264"/>
                    </a:ext>
                  </a:extLst>
                </a:gridCol>
              </a:tblGrid>
              <a:tr h="0">
                <a:tc>
                  <a:txBody>
                    <a:bodyPr/>
                    <a:lstStyle/>
                    <a:p>
                      <a:r>
                        <a:rPr lang="fr-FR" b="1" dirty="0">
                          <a:solidFill>
                            <a:schemeClr val="bg1"/>
                          </a:solidFill>
                          <a:latin typeface="Aptos" panose="020B0004020202020204" pitchFamily="34" charset="0"/>
                        </a:rPr>
                        <a:t>Condition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extLst>
                  <a:ext uri="{0D108BD9-81ED-4DB2-BD59-A6C34878D82A}">
                    <a16:rowId xmlns:a16="http://schemas.microsoft.com/office/drawing/2014/main" val="3093651460"/>
                  </a:ext>
                </a:extLst>
              </a:tr>
              <a:tr h="0">
                <a:tc>
                  <a:txBody>
                    <a:bodyPr/>
                    <a:lstStyle/>
                    <a:p>
                      <a:r>
                        <a:rPr lang="fr-FR">
                          <a:latin typeface="Aptos" panose="020B0004020202020204" pitchFamily="34" charset="0"/>
                        </a:rPr>
                        <a:t>Données épidémiologiques récentes</a:t>
                      </a:r>
                    </a:p>
                  </a:txBody>
                  <a:tcPr anchor="ctr">
                    <a:lnL>
                      <a:noFill/>
                    </a:lnL>
                    <a:lnR>
                      <a:noFill/>
                    </a:lnR>
                    <a:lnT>
                      <a:noFill/>
                    </a:lnT>
                    <a:lnB>
                      <a:noFill/>
                    </a:lnB>
                  </a:tcPr>
                </a:tc>
                <a:tc>
                  <a:txBody>
                    <a:bodyPr/>
                    <a:lstStyle/>
                    <a:p>
                      <a:r>
                        <a:rPr lang="fr-FR" dirty="0">
                          <a:latin typeface="Aptos" panose="020B0004020202020204" pitchFamily="34" charset="0"/>
                        </a:rPr>
                        <a:t>Enquêtes de moins de 5 ans, données de surveillance à jour</a:t>
                      </a:r>
                    </a:p>
                  </a:txBody>
                  <a:tcPr anchor="ctr">
                    <a:lnL>
                      <a:noFill/>
                    </a:lnL>
                    <a:lnR>
                      <a:noFill/>
                    </a:lnR>
                    <a:lnT>
                      <a:noFill/>
                    </a:lnT>
                    <a:lnB>
                      <a:noFill/>
                    </a:lnB>
                  </a:tcPr>
                </a:tc>
                <a:extLst>
                  <a:ext uri="{0D108BD9-81ED-4DB2-BD59-A6C34878D82A}">
                    <a16:rowId xmlns:a16="http://schemas.microsoft.com/office/drawing/2014/main" val="1267574510"/>
                  </a:ext>
                </a:extLst>
              </a:tr>
              <a:tr h="0">
                <a:tc>
                  <a:txBody>
                    <a:bodyPr/>
                    <a:lstStyle/>
                    <a:p>
                      <a:r>
                        <a:rPr lang="fr-FR" dirty="0">
                          <a:latin typeface="Aptos" panose="020B0004020202020204" pitchFamily="34" charset="0"/>
                        </a:rPr>
                        <a:t>Protocoles nationaux validés</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Schémas thérapeutiques officiels et appliqués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991777775"/>
                  </a:ext>
                </a:extLst>
              </a:tr>
              <a:tr h="0">
                <a:tc>
                  <a:txBody>
                    <a:bodyPr/>
                    <a:lstStyle/>
                    <a:p>
                      <a:r>
                        <a:rPr lang="fr-FR">
                          <a:latin typeface="Aptos" panose="020B0004020202020204" pitchFamily="34" charset="0"/>
                        </a:rPr>
                        <a:t>Données démographiques fiables</a:t>
                      </a:r>
                    </a:p>
                  </a:txBody>
                  <a:tcPr anchor="ctr">
                    <a:lnL>
                      <a:noFill/>
                    </a:lnL>
                    <a:lnR>
                      <a:noFill/>
                    </a:lnR>
                    <a:lnT>
                      <a:noFill/>
                    </a:lnT>
                    <a:lnB>
                      <a:noFill/>
                    </a:lnB>
                  </a:tcPr>
                </a:tc>
                <a:tc>
                  <a:txBody>
                    <a:bodyPr/>
                    <a:lstStyle/>
                    <a:p>
                      <a:r>
                        <a:rPr lang="fr-FR">
                          <a:latin typeface="Aptos" panose="020B0004020202020204" pitchFamily="34" charset="0"/>
                        </a:rPr>
                        <a:t>Recensement récent ou projections validées</a:t>
                      </a:r>
                    </a:p>
                  </a:txBody>
                  <a:tcPr anchor="ctr">
                    <a:lnL>
                      <a:noFill/>
                    </a:lnL>
                    <a:lnR>
                      <a:noFill/>
                    </a:lnR>
                    <a:lnT>
                      <a:noFill/>
                    </a:lnT>
                    <a:lnB>
                      <a:noFill/>
                    </a:lnB>
                  </a:tcPr>
                </a:tc>
                <a:extLst>
                  <a:ext uri="{0D108BD9-81ED-4DB2-BD59-A6C34878D82A}">
                    <a16:rowId xmlns:a16="http://schemas.microsoft.com/office/drawing/2014/main" val="2439151509"/>
                  </a:ext>
                </a:extLst>
              </a:tr>
              <a:tr h="0">
                <a:tc>
                  <a:txBody>
                    <a:bodyPr/>
                    <a:lstStyle/>
                    <a:p>
                      <a:r>
                        <a:rPr lang="fr-FR" dirty="0">
                          <a:latin typeface="Aptos" panose="020B0004020202020204" pitchFamily="34" charset="0"/>
                        </a:rPr>
                        <a:t>Taux d'utilisation connu</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Estimé à partir d'enquêtes ou de données historiques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345202575"/>
                  </a:ext>
                </a:extLst>
              </a:tr>
              <a:tr h="0">
                <a:tc>
                  <a:txBody>
                    <a:bodyPr/>
                    <a:lstStyle/>
                    <a:p>
                      <a:r>
                        <a:rPr lang="fr-FR">
                          <a:latin typeface="Aptos" panose="020B0004020202020204" pitchFamily="34" charset="0"/>
                        </a:rPr>
                        <a:t>Programme nouveau ou en expansion</a:t>
                      </a:r>
                    </a:p>
                  </a:txBody>
                  <a:tcPr anchor="ctr">
                    <a:lnL>
                      <a:noFill/>
                    </a:lnL>
                    <a:lnR>
                      <a:noFill/>
                    </a:lnR>
                    <a:lnT>
                      <a:noFill/>
                    </a:lnT>
                    <a:lnB>
                      <a:noFill/>
                    </a:lnB>
                  </a:tcPr>
                </a:tc>
                <a:tc>
                  <a:txBody>
                    <a:bodyPr/>
                    <a:lstStyle/>
                    <a:p>
                      <a:r>
                        <a:rPr lang="fr-FR" dirty="0">
                          <a:latin typeface="Aptos" panose="020B0004020202020204" pitchFamily="34" charset="0"/>
                        </a:rPr>
                        <a:t>Contexte où les données de consommation sont inexistantes ou non représentatives</a:t>
                      </a:r>
                    </a:p>
                  </a:txBody>
                  <a:tcPr anchor="ctr">
                    <a:lnL>
                      <a:noFill/>
                    </a:lnL>
                    <a:lnR>
                      <a:noFill/>
                    </a:lnR>
                    <a:lnT>
                      <a:noFill/>
                    </a:lnT>
                    <a:lnB>
                      <a:noFill/>
                    </a:lnB>
                  </a:tcPr>
                </a:tc>
                <a:extLst>
                  <a:ext uri="{0D108BD9-81ED-4DB2-BD59-A6C34878D82A}">
                    <a16:rowId xmlns:a16="http://schemas.microsoft.com/office/drawing/2014/main" val="1225656116"/>
                  </a:ext>
                </a:extLst>
              </a:tr>
            </a:tbl>
          </a:graphicData>
        </a:graphic>
      </p:graphicFrame>
    </p:spTree>
    <p:extLst>
      <p:ext uri="{BB962C8B-B14F-4D97-AF65-F5344CB8AC3E}">
        <p14:creationId xmlns:p14="http://schemas.microsoft.com/office/powerpoint/2010/main" val="349929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la morbidité </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6A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synthèse — Méthode basée sur la morbidité</a:t>
            </a:r>
          </a:p>
        </p:txBody>
      </p:sp>
      <p:graphicFrame>
        <p:nvGraphicFramePr>
          <p:cNvPr id="3" name="Tableau 2">
            <a:extLst>
              <a:ext uri="{FF2B5EF4-FFF2-40B4-BE49-F238E27FC236}">
                <a16:creationId xmlns:a16="http://schemas.microsoft.com/office/drawing/2014/main" id="{A253CC85-778F-4CE0-93C3-185DB1C10206}"/>
              </a:ext>
            </a:extLst>
          </p:cNvPr>
          <p:cNvGraphicFramePr>
            <a:graphicFrameLocks noGrp="1"/>
          </p:cNvGraphicFramePr>
          <p:nvPr>
            <p:extLst>
              <p:ext uri="{D42A27DB-BD31-4B8C-83A1-F6EECF244321}">
                <p14:modId xmlns:p14="http://schemas.microsoft.com/office/powerpoint/2010/main" val="2035663906"/>
              </p:ext>
            </p:extLst>
          </p:nvPr>
        </p:nvGraphicFramePr>
        <p:xfrm>
          <a:off x="591949" y="2193143"/>
          <a:ext cx="11267287" cy="4123640"/>
        </p:xfrm>
        <a:graphic>
          <a:graphicData uri="http://schemas.openxmlformats.org/drawingml/2006/table">
            <a:tbl>
              <a:tblPr/>
              <a:tblGrid>
                <a:gridCol w="2764884">
                  <a:extLst>
                    <a:ext uri="{9D8B030D-6E8A-4147-A177-3AD203B41FA5}">
                      <a16:colId xmlns:a16="http://schemas.microsoft.com/office/drawing/2014/main" val="775418385"/>
                    </a:ext>
                  </a:extLst>
                </a:gridCol>
                <a:gridCol w="4746641">
                  <a:extLst>
                    <a:ext uri="{9D8B030D-6E8A-4147-A177-3AD203B41FA5}">
                      <a16:colId xmlns:a16="http://schemas.microsoft.com/office/drawing/2014/main" val="3038840240"/>
                    </a:ext>
                  </a:extLst>
                </a:gridCol>
                <a:gridCol w="3755762">
                  <a:extLst>
                    <a:ext uri="{9D8B030D-6E8A-4147-A177-3AD203B41FA5}">
                      <a16:colId xmlns:a16="http://schemas.microsoft.com/office/drawing/2014/main" val="1953539843"/>
                    </a:ext>
                  </a:extLst>
                </a:gridCol>
              </a:tblGrid>
              <a:tr h="274035">
                <a:tc>
                  <a:txBody>
                    <a:bodyPr/>
                    <a:lstStyle/>
                    <a:p>
                      <a:r>
                        <a:rPr lang="fr-FR" sz="1400" b="1" dirty="0">
                          <a:solidFill>
                            <a:schemeClr val="bg1"/>
                          </a:solidFill>
                          <a:latin typeface="Aptos" panose="020B0004020202020204" pitchFamily="34" charset="0"/>
                        </a:rPr>
                        <a:t>Étape</a:t>
                      </a:r>
                    </a:p>
                  </a:txBody>
                  <a:tcPr marL="71333" marR="71333" marT="35667" marB="35667"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Action</a:t>
                      </a:r>
                    </a:p>
                  </a:txBody>
                  <a:tcPr marL="71333" marR="71333" marT="35667" marB="35667"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Source de données</a:t>
                      </a:r>
                    </a:p>
                  </a:txBody>
                  <a:tcPr marL="71333" marR="71333" marT="35667" marB="35667" anchor="ctr">
                    <a:lnL>
                      <a:noFill/>
                    </a:lnL>
                    <a:lnR>
                      <a:noFill/>
                    </a:lnR>
                    <a:lnT>
                      <a:noFill/>
                    </a:lnT>
                    <a:lnB>
                      <a:noFill/>
                    </a:lnB>
                    <a:solidFill>
                      <a:srgbClr val="F37504"/>
                    </a:solidFill>
                  </a:tcPr>
                </a:tc>
                <a:extLst>
                  <a:ext uri="{0D108BD9-81ED-4DB2-BD59-A6C34878D82A}">
                    <a16:rowId xmlns:a16="http://schemas.microsoft.com/office/drawing/2014/main" val="2746600651"/>
                  </a:ext>
                </a:extLst>
              </a:tr>
              <a:tr h="454690">
                <a:tc>
                  <a:txBody>
                    <a:bodyPr/>
                    <a:lstStyle/>
                    <a:p>
                      <a:r>
                        <a:rPr lang="fr-FR" sz="1400">
                          <a:latin typeface="Aptos" panose="020B0004020202020204" pitchFamily="34" charset="0"/>
                        </a:rPr>
                        <a:t>1. Estimer le nombre de cas</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Utiliser données morbidité, incidence ou historique ajusté</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Registres, enquêtes EDS/MICS, DHIS2</a:t>
                      </a:r>
                    </a:p>
                  </a:txBody>
                  <a:tcPr marL="71333" marR="71333" marT="35667" marB="35667" anchor="ctr">
                    <a:lnL>
                      <a:noFill/>
                    </a:lnL>
                    <a:lnR>
                      <a:noFill/>
                    </a:lnR>
                    <a:lnT>
                      <a:noFill/>
                    </a:lnT>
                    <a:lnB>
                      <a:noFill/>
                    </a:lnB>
                  </a:tcPr>
                </a:tc>
                <a:extLst>
                  <a:ext uri="{0D108BD9-81ED-4DB2-BD59-A6C34878D82A}">
                    <a16:rowId xmlns:a16="http://schemas.microsoft.com/office/drawing/2014/main" val="270878170"/>
                  </a:ext>
                </a:extLst>
              </a:tr>
              <a:tr h="479406">
                <a:tc>
                  <a:txBody>
                    <a:bodyPr/>
                    <a:lstStyle/>
                    <a:p>
                      <a:r>
                        <a:rPr lang="fr-FR" sz="1400" dirty="0">
                          <a:latin typeface="Aptos" panose="020B0004020202020204" pitchFamily="34" charset="0"/>
                        </a:rPr>
                        <a:t>2. Ajuster pour le taux d'utilisation</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Appliquer la proportion de cas se présentant dans le système</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Enquêtes, taux de recours aux soins</a:t>
                      </a:r>
                    </a:p>
                  </a:txBody>
                  <a:tcPr marL="71333" marR="71333" marT="35667" marB="35667" anchor="ctr">
                    <a:lnL>
                      <a:noFill/>
                    </a:lnL>
                    <a:lnR>
                      <a:noFill/>
                    </a:lnR>
                    <a:lnT>
                      <a:noFill/>
                    </a:lnT>
                    <a:lnB>
                      <a:noFill/>
                    </a:lnB>
                    <a:solidFill>
                      <a:schemeClr val="bg2">
                        <a:lumMod val="90000"/>
                      </a:schemeClr>
                    </a:solidFill>
                  </a:tcPr>
                </a:tc>
                <a:extLst>
                  <a:ext uri="{0D108BD9-81ED-4DB2-BD59-A6C34878D82A}">
                    <a16:rowId xmlns:a16="http://schemas.microsoft.com/office/drawing/2014/main" val="1682217330"/>
                  </a:ext>
                </a:extLst>
              </a:tr>
              <a:tr h="454690">
                <a:tc>
                  <a:txBody>
                    <a:bodyPr/>
                    <a:lstStyle/>
                    <a:p>
                      <a:r>
                        <a:rPr lang="fr-FR" sz="1400">
                          <a:latin typeface="Aptos" panose="020B0004020202020204" pitchFamily="34" charset="0"/>
                        </a:rPr>
                        <a:t>3. Distribuer par catégorie</a:t>
                      </a:r>
                    </a:p>
                  </a:txBody>
                  <a:tcPr marL="71333" marR="71333" marT="35667" marB="35667" anchor="ctr">
                    <a:lnL>
                      <a:noFill/>
                    </a:lnL>
                    <a:lnR>
                      <a:noFill/>
                    </a:lnR>
                    <a:lnT>
                      <a:noFill/>
                    </a:lnT>
                    <a:lnB>
                      <a:noFill/>
                    </a:lnB>
                  </a:tcPr>
                </a:tc>
                <a:tc>
                  <a:txBody>
                    <a:bodyPr/>
                    <a:lstStyle/>
                    <a:p>
                      <a:r>
                        <a:rPr lang="fr-FR" sz="1400" dirty="0">
                          <a:latin typeface="Aptos" panose="020B0004020202020204" pitchFamily="34" charset="0"/>
                        </a:rPr>
                        <a:t>Répartir les cas par tranche d'âge et forme clinique</a:t>
                      </a:r>
                    </a:p>
                  </a:txBody>
                  <a:tcPr marL="71333" marR="71333" marT="35667" marB="35667" anchor="ctr">
                    <a:lnL>
                      <a:noFill/>
                    </a:lnL>
                    <a:lnR>
                      <a:noFill/>
                    </a:lnR>
                    <a:lnT>
                      <a:noFill/>
                    </a:lnT>
                    <a:lnB>
                      <a:noFill/>
                    </a:lnB>
                  </a:tcPr>
                </a:tc>
                <a:tc>
                  <a:txBody>
                    <a:bodyPr/>
                    <a:lstStyle/>
                    <a:p>
                      <a:r>
                        <a:rPr lang="fr-FR" sz="1400" dirty="0">
                          <a:latin typeface="Aptos" panose="020B0004020202020204" pitchFamily="34" charset="0"/>
                        </a:rPr>
                        <a:t>Données démographiques, registres</a:t>
                      </a:r>
                    </a:p>
                  </a:txBody>
                  <a:tcPr marL="71333" marR="71333" marT="35667" marB="35667" anchor="ctr">
                    <a:lnL>
                      <a:noFill/>
                    </a:lnL>
                    <a:lnR>
                      <a:noFill/>
                    </a:lnR>
                    <a:lnT>
                      <a:noFill/>
                    </a:lnT>
                    <a:lnB>
                      <a:noFill/>
                    </a:lnB>
                  </a:tcPr>
                </a:tc>
                <a:extLst>
                  <a:ext uri="{0D108BD9-81ED-4DB2-BD59-A6C34878D82A}">
                    <a16:rowId xmlns:a16="http://schemas.microsoft.com/office/drawing/2014/main" val="507140067"/>
                  </a:ext>
                </a:extLst>
              </a:tr>
              <a:tr h="454690">
                <a:tc>
                  <a:txBody>
                    <a:bodyPr/>
                    <a:lstStyle/>
                    <a:p>
                      <a:r>
                        <a:rPr lang="fr-FR" sz="1400" dirty="0">
                          <a:latin typeface="Aptos" panose="020B0004020202020204" pitchFamily="34" charset="0"/>
                        </a:rPr>
                        <a:t>4. Identifier les protocoles</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Utiliser les protocoles nationaux officiels</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Guide national de prise en charge</a:t>
                      </a:r>
                    </a:p>
                  </a:txBody>
                  <a:tcPr marL="71333" marR="71333" marT="35667" marB="35667" anchor="ctr">
                    <a:lnL>
                      <a:noFill/>
                    </a:lnL>
                    <a:lnR>
                      <a:noFill/>
                    </a:lnR>
                    <a:lnT>
                      <a:noFill/>
                    </a:lnT>
                    <a:lnB>
                      <a:noFill/>
                    </a:lnB>
                    <a:solidFill>
                      <a:schemeClr val="bg2">
                        <a:lumMod val="90000"/>
                      </a:schemeClr>
                    </a:solidFill>
                  </a:tcPr>
                </a:tc>
                <a:extLst>
                  <a:ext uri="{0D108BD9-81ED-4DB2-BD59-A6C34878D82A}">
                    <a16:rowId xmlns:a16="http://schemas.microsoft.com/office/drawing/2014/main" val="383469452"/>
                  </a:ext>
                </a:extLst>
              </a:tr>
              <a:tr h="274035">
                <a:tc>
                  <a:txBody>
                    <a:bodyPr/>
                    <a:lstStyle/>
                    <a:p>
                      <a:r>
                        <a:rPr lang="fr-FR" sz="1400">
                          <a:latin typeface="Aptos" panose="020B0004020202020204" pitchFamily="34" charset="0"/>
                        </a:rPr>
                        <a:t>5. Calculer la quantité par cas</a:t>
                      </a:r>
                    </a:p>
                  </a:txBody>
                  <a:tcPr marL="71333" marR="71333" marT="35667" marB="35667" anchor="ctr">
                    <a:lnL>
                      <a:noFill/>
                    </a:lnL>
                    <a:lnR>
                      <a:noFill/>
                    </a:lnR>
                    <a:lnT>
                      <a:noFill/>
                    </a:lnT>
                    <a:lnB>
                      <a:noFill/>
                    </a:lnB>
                  </a:tcPr>
                </a:tc>
                <a:tc>
                  <a:txBody>
                    <a:bodyPr/>
                    <a:lstStyle/>
                    <a:p>
                      <a:r>
                        <a:rPr lang="fr-FR" sz="1400" dirty="0">
                          <a:latin typeface="Aptos" panose="020B0004020202020204" pitchFamily="34" charset="0"/>
                        </a:rPr>
                        <a:t>Dose × Fréquence × Durée</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Protocole de traitement</a:t>
                      </a:r>
                    </a:p>
                  </a:txBody>
                  <a:tcPr marL="71333" marR="71333" marT="35667" marB="35667" anchor="ctr">
                    <a:lnL>
                      <a:noFill/>
                    </a:lnL>
                    <a:lnR>
                      <a:noFill/>
                    </a:lnR>
                    <a:lnT>
                      <a:noFill/>
                    </a:lnT>
                    <a:lnB>
                      <a:noFill/>
                    </a:lnB>
                  </a:tcPr>
                </a:tc>
                <a:extLst>
                  <a:ext uri="{0D108BD9-81ED-4DB2-BD59-A6C34878D82A}">
                    <a16:rowId xmlns:a16="http://schemas.microsoft.com/office/drawing/2014/main" val="2790343434"/>
                  </a:ext>
                </a:extLst>
              </a:tr>
              <a:tr h="454690">
                <a:tc>
                  <a:txBody>
                    <a:bodyPr/>
                    <a:lstStyle/>
                    <a:p>
                      <a:r>
                        <a:rPr lang="fr-FR" sz="1400" dirty="0">
                          <a:latin typeface="Aptos" panose="020B0004020202020204" pitchFamily="34" charset="0"/>
                        </a:rPr>
                        <a:t>6. Appliquer le taux de traitement</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Proportion de cas traités selon le protocole</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Données historiques, objectifs du programme</a:t>
                      </a:r>
                    </a:p>
                  </a:txBody>
                  <a:tcPr marL="71333" marR="71333" marT="35667" marB="35667" anchor="ctr">
                    <a:lnL>
                      <a:noFill/>
                    </a:lnL>
                    <a:lnR>
                      <a:noFill/>
                    </a:lnR>
                    <a:lnT>
                      <a:noFill/>
                    </a:lnT>
                    <a:lnB>
                      <a:noFill/>
                    </a:lnB>
                    <a:solidFill>
                      <a:schemeClr val="bg2">
                        <a:lumMod val="90000"/>
                      </a:schemeClr>
                    </a:solidFill>
                  </a:tcPr>
                </a:tc>
                <a:extLst>
                  <a:ext uri="{0D108BD9-81ED-4DB2-BD59-A6C34878D82A}">
                    <a16:rowId xmlns:a16="http://schemas.microsoft.com/office/drawing/2014/main" val="3953166204"/>
                  </a:ext>
                </a:extLst>
              </a:tr>
              <a:tr h="454690">
                <a:tc>
                  <a:txBody>
                    <a:bodyPr/>
                    <a:lstStyle/>
                    <a:p>
                      <a:r>
                        <a:rPr lang="fr-FR" sz="1400">
                          <a:latin typeface="Aptos" panose="020B0004020202020204" pitchFamily="34" charset="0"/>
                        </a:rPr>
                        <a:t>7. Calculer le besoin total</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Σ (Cas × Taux traitement × Quantité/cas)</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Calcul</a:t>
                      </a:r>
                    </a:p>
                  </a:txBody>
                  <a:tcPr marL="71333" marR="71333" marT="35667" marB="35667" anchor="ctr">
                    <a:lnL>
                      <a:noFill/>
                    </a:lnL>
                    <a:lnR>
                      <a:noFill/>
                    </a:lnR>
                    <a:lnT>
                      <a:noFill/>
                    </a:lnT>
                    <a:lnB>
                      <a:noFill/>
                    </a:lnB>
                  </a:tcPr>
                </a:tc>
                <a:extLst>
                  <a:ext uri="{0D108BD9-81ED-4DB2-BD59-A6C34878D82A}">
                    <a16:rowId xmlns:a16="http://schemas.microsoft.com/office/drawing/2014/main" val="4294200675"/>
                  </a:ext>
                </a:extLst>
              </a:tr>
              <a:tr h="274035">
                <a:tc>
                  <a:txBody>
                    <a:bodyPr/>
                    <a:lstStyle/>
                    <a:p>
                      <a:r>
                        <a:rPr lang="fr-FR" sz="1400" dirty="0">
                          <a:latin typeface="Aptos" panose="020B0004020202020204" pitchFamily="34" charset="0"/>
                        </a:rPr>
                        <a:t>8. Ajouter stock de sécurité</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CMM équivalente × 2 mois</a:t>
                      </a:r>
                    </a:p>
                  </a:txBody>
                  <a:tcPr marL="71333" marR="71333" marT="35667" marB="35667"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Politique nationale</a:t>
                      </a:r>
                    </a:p>
                  </a:txBody>
                  <a:tcPr marL="71333" marR="71333" marT="35667" marB="35667" anchor="ctr">
                    <a:lnL>
                      <a:noFill/>
                    </a:lnL>
                    <a:lnR>
                      <a:noFill/>
                    </a:lnR>
                    <a:lnT>
                      <a:noFill/>
                    </a:lnT>
                    <a:lnB>
                      <a:noFill/>
                    </a:lnB>
                    <a:solidFill>
                      <a:schemeClr val="bg2">
                        <a:lumMod val="90000"/>
                      </a:schemeClr>
                    </a:solidFill>
                  </a:tcPr>
                </a:tc>
                <a:extLst>
                  <a:ext uri="{0D108BD9-81ED-4DB2-BD59-A6C34878D82A}">
                    <a16:rowId xmlns:a16="http://schemas.microsoft.com/office/drawing/2014/main" val="2148107942"/>
                  </a:ext>
                </a:extLst>
              </a:tr>
              <a:tr h="479406">
                <a:tc>
                  <a:txBody>
                    <a:bodyPr/>
                    <a:lstStyle/>
                    <a:p>
                      <a:r>
                        <a:rPr lang="fr-FR" sz="1400">
                          <a:latin typeface="Aptos" panose="020B0004020202020204" pitchFamily="34" charset="0"/>
                        </a:rPr>
                        <a:t>9. Déduire stock disponible et transit</a:t>
                      </a:r>
                    </a:p>
                  </a:txBody>
                  <a:tcPr marL="71333" marR="71333" marT="35667" marB="35667" anchor="ctr">
                    <a:lnL>
                      <a:noFill/>
                    </a:lnL>
                    <a:lnR>
                      <a:noFill/>
                    </a:lnR>
                    <a:lnT>
                      <a:noFill/>
                    </a:lnT>
                    <a:lnB>
                      <a:noFill/>
                    </a:lnB>
                  </a:tcPr>
                </a:tc>
                <a:tc>
                  <a:txBody>
                    <a:bodyPr/>
                    <a:lstStyle/>
                    <a:p>
                      <a:r>
                        <a:rPr lang="fr-FR" sz="1400">
                          <a:latin typeface="Aptos" panose="020B0004020202020204" pitchFamily="34" charset="0"/>
                        </a:rPr>
                        <a:t>Stock physique + commandes en cours</a:t>
                      </a:r>
                    </a:p>
                  </a:txBody>
                  <a:tcPr marL="71333" marR="71333" marT="35667" marB="35667" anchor="ctr">
                    <a:lnL>
                      <a:noFill/>
                    </a:lnL>
                    <a:lnR>
                      <a:noFill/>
                    </a:lnR>
                    <a:lnT>
                      <a:noFill/>
                    </a:lnT>
                    <a:lnB>
                      <a:noFill/>
                    </a:lnB>
                  </a:tcPr>
                </a:tc>
                <a:tc>
                  <a:txBody>
                    <a:bodyPr/>
                    <a:lstStyle/>
                    <a:p>
                      <a:r>
                        <a:rPr lang="fr-FR" sz="1400" dirty="0">
                          <a:latin typeface="Aptos" panose="020B0004020202020204" pitchFamily="34" charset="0"/>
                        </a:rPr>
                        <a:t>Inventaire</a:t>
                      </a:r>
                    </a:p>
                  </a:txBody>
                  <a:tcPr marL="71333" marR="71333" marT="35667" marB="35667" anchor="ctr">
                    <a:lnL>
                      <a:noFill/>
                    </a:lnL>
                    <a:lnR>
                      <a:noFill/>
                    </a:lnR>
                    <a:lnT>
                      <a:noFill/>
                    </a:lnT>
                    <a:lnB>
                      <a:noFill/>
                    </a:lnB>
                  </a:tcPr>
                </a:tc>
                <a:extLst>
                  <a:ext uri="{0D108BD9-81ED-4DB2-BD59-A6C34878D82A}">
                    <a16:rowId xmlns:a16="http://schemas.microsoft.com/office/drawing/2014/main" val="1726278152"/>
                  </a:ext>
                </a:extLst>
              </a:tr>
            </a:tbl>
          </a:graphicData>
        </a:graphic>
      </p:graphicFrame>
    </p:spTree>
    <p:extLst>
      <p:ext uri="{BB962C8B-B14F-4D97-AF65-F5344CB8AC3E}">
        <p14:creationId xmlns:p14="http://schemas.microsoft.com/office/powerpoint/2010/main" val="95268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0" name="ZoneTexte 9">
            <a:extLst>
              <a:ext uri="{FF2B5EF4-FFF2-40B4-BE49-F238E27FC236}">
                <a16:creationId xmlns:a16="http://schemas.microsoft.com/office/drawing/2014/main" id="{671F90E4-BBCF-4899-93E3-5A9E4286D6E2}"/>
              </a:ext>
            </a:extLst>
          </p:cNvPr>
          <p:cNvSpPr txBox="1"/>
          <p:nvPr/>
        </p:nvSpPr>
        <p:spPr>
          <a:xfrm>
            <a:off x="753042" y="1304590"/>
            <a:ext cx="11259993" cy="5016758"/>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méthode basée sur les services utilise les données de prestation de soins comme point de départ de la quantification.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part du nombre d'actes de service rendus : </a:t>
            </a:r>
          </a:p>
          <a:p>
            <a:pPr marL="800100" lvl="1" indent="-342900">
              <a:buFont typeface="Courier New" panose="02070309020205020404" pitchFamily="49" charset="0"/>
              <a:buChar char="o"/>
            </a:pPr>
            <a:r>
              <a:rPr lang="fr-FR" sz="2000" dirty="0">
                <a:latin typeface="Aptos" panose="020B0004020202020204" pitchFamily="34" charset="0"/>
              </a:rPr>
              <a:t>consultations prénatales effectuées, </a:t>
            </a:r>
          </a:p>
          <a:p>
            <a:pPr marL="800100" lvl="1" indent="-342900">
              <a:buFont typeface="Courier New" panose="02070309020205020404" pitchFamily="49" charset="0"/>
              <a:buChar char="o"/>
            </a:pPr>
            <a:r>
              <a:rPr lang="fr-FR" sz="2000" dirty="0">
                <a:latin typeface="Aptos" panose="020B0004020202020204" pitchFamily="34" charset="0"/>
              </a:rPr>
              <a:t>accouchements assistés, </a:t>
            </a:r>
          </a:p>
          <a:p>
            <a:pPr marL="800100" lvl="1" indent="-342900">
              <a:buFont typeface="Courier New" panose="02070309020205020404" pitchFamily="49" charset="0"/>
              <a:buChar char="o"/>
            </a:pPr>
            <a:r>
              <a:rPr lang="fr-FR" sz="2000" dirty="0">
                <a:latin typeface="Aptos" panose="020B0004020202020204" pitchFamily="34" charset="0"/>
              </a:rPr>
              <a:t>vaccinations réalisées, </a:t>
            </a:r>
          </a:p>
          <a:p>
            <a:pPr marL="800100" lvl="1" indent="-342900">
              <a:buFont typeface="Courier New" panose="02070309020205020404" pitchFamily="49" charset="0"/>
              <a:buChar char="o"/>
            </a:pPr>
            <a:r>
              <a:rPr lang="fr-FR" sz="2000" dirty="0">
                <a:latin typeface="Aptos" panose="020B0004020202020204" pitchFamily="34" charset="0"/>
              </a:rPr>
              <a:t>tests de dépistage conduits, </a:t>
            </a:r>
          </a:p>
          <a:p>
            <a:pPr marL="800100" lvl="1" indent="-342900">
              <a:buFont typeface="Courier New" panose="02070309020205020404" pitchFamily="49" charset="0"/>
              <a:buChar char="o"/>
            </a:pPr>
            <a:r>
              <a:rPr lang="fr-FR" sz="2000" dirty="0">
                <a:latin typeface="Aptos" panose="020B0004020202020204" pitchFamily="34" charset="0"/>
              </a:rPr>
              <a:t>chirurgies pratiquées. </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Chaque acte de service consomme une quantité définie de produits selon un protocole standardisé. En multipliant le nombre d'actes par la quantité de produits consommés par acte, on obtient le besoin total.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C'est la méthode de prédilection pour les produits liés à des services spécifiques et mesurables (santé reproductive, les réactifs de laboratoire, les vaccins et les consommables chirurgicaux).</a:t>
            </a:r>
          </a:p>
        </p:txBody>
      </p:sp>
    </p:spTree>
    <p:extLst>
      <p:ext uri="{BB962C8B-B14F-4D97-AF65-F5344CB8AC3E}">
        <p14:creationId xmlns:p14="http://schemas.microsoft.com/office/powerpoint/2010/main" val="3014355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 général de la méthode</a:t>
            </a:r>
          </a:p>
        </p:txBody>
      </p:sp>
      <p:sp>
        <p:nvSpPr>
          <p:cNvPr id="2" name="Rectangle 1">
            <a:extLst>
              <a:ext uri="{FF2B5EF4-FFF2-40B4-BE49-F238E27FC236}">
                <a16:creationId xmlns:a16="http://schemas.microsoft.com/office/drawing/2014/main" id="{0EBA10F7-49BA-45F0-92FF-82352EDDB0C2}"/>
              </a:ext>
            </a:extLst>
          </p:cNvPr>
          <p:cNvSpPr>
            <a:spLocks noChangeArrowheads="1"/>
          </p:cNvSpPr>
          <p:nvPr/>
        </p:nvSpPr>
        <p:spPr bwMode="auto">
          <a:xfrm>
            <a:off x="753042" y="2290612"/>
            <a:ext cx="111006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1" i="0" u="none" strike="noStrike" cap="none" normalizeH="0" baseline="0" dirty="0">
                <a:ln>
                  <a:noFill/>
                </a:ln>
                <a:solidFill>
                  <a:schemeClr val="tx1"/>
                </a:solidFill>
                <a:effectLst/>
                <a:latin typeface="Aptos" panose="020B0004020202020204" pitchFamily="34" charset="0"/>
              </a:rPr>
              <a:t>Besoin total = Nombre d'actes de service × Quantité de produit par acte de service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La force de cette méthode réside dans le fait que les données de prestation de soins sont souvent mieux enregistrées que les données de consommation de médicaments. </a:t>
            </a:r>
          </a:p>
          <a:p>
            <a:pPr marL="0" marR="0" lvl="0" indent="0" algn="l" defTabSz="914400" rtl="0" eaLnBrk="0" fontAlgn="base" latinLnBrk="0" hangingPunct="0">
              <a:lnSpc>
                <a:spcPct val="100000"/>
              </a:lnSpc>
              <a:spcBef>
                <a:spcPct val="0"/>
              </a:spcBef>
              <a:spcAft>
                <a:spcPct val="0"/>
              </a:spcAft>
              <a:buClrTx/>
              <a:buSzTx/>
              <a:buFontTx/>
              <a:buNone/>
              <a:tabLst/>
            </a:pPr>
            <a:endParaRPr lang="fr-FR" altLang="fr-FR" sz="2000" dirty="0">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Le nombre de consultations prénatales, d'accouchements ou de vaccinations est systématiquement enregistré dans les registres d'activités des formations sanitaires et rapporté dans les systèmes d'information sanitaire.</a:t>
            </a:r>
          </a:p>
        </p:txBody>
      </p:sp>
    </p:spTree>
    <p:extLst>
      <p:ext uri="{BB962C8B-B14F-4D97-AF65-F5344CB8AC3E}">
        <p14:creationId xmlns:p14="http://schemas.microsoft.com/office/powerpoint/2010/main" val="38104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types de services et leurs produits associés</a:t>
            </a:r>
          </a:p>
        </p:txBody>
      </p:sp>
      <p:graphicFrame>
        <p:nvGraphicFramePr>
          <p:cNvPr id="3" name="Tableau 2">
            <a:extLst>
              <a:ext uri="{FF2B5EF4-FFF2-40B4-BE49-F238E27FC236}">
                <a16:creationId xmlns:a16="http://schemas.microsoft.com/office/drawing/2014/main" id="{1BAE2AF6-7A03-4740-A74B-D5AC47B3889D}"/>
              </a:ext>
            </a:extLst>
          </p:cNvPr>
          <p:cNvGraphicFramePr>
            <a:graphicFrameLocks noGrp="1"/>
          </p:cNvGraphicFramePr>
          <p:nvPr>
            <p:extLst>
              <p:ext uri="{D42A27DB-BD31-4B8C-83A1-F6EECF244321}">
                <p14:modId xmlns:p14="http://schemas.microsoft.com/office/powerpoint/2010/main" val="3387327299"/>
              </p:ext>
            </p:extLst>
          </p:nvPr>
        </p:nvGraphicFramePr>
        <p:xfrm>
          <a:off x="704237" y="2187488"/>
          <a:ext cx="11031524" cy="4202702"/>
        </p:xfrm>
        <a:graphic>
          <a:graphicData uri="http://schemas.openxmlformats.org/drawingml/2006/table">
            <a:tbl>
              <a:tblPr/>
              <a:tblGrid>
                <a:gridCol w="2776757">
                  <a:extLst>
                    <a:ext uri="{9D8B030D-6E8A-4147-A177-3AD203B41FA5}">
                      <a16:colId xmlns:a16="http://schemas.microsoft.com/office/drawing/2014/main" val="2312281670"/>
                    </a:ext>
                  </a:extLst>
                </a:gridCol>
                <a:gridCol w="8254767">
                  <a:extLst>
                    <a:ext uri="{9D8B030D-6E8A-4147-A177-3AD203B41FA5}">
                      <a16:colId xmlns:a16="http://schemas.microsoft.com/office/drawing/2014/main" val="2158859430"/>
                    </a:ext>
                  </a:extLst>
                </a:gridCol>
              </a:tblGrid>
              <a:tr h="232314">
                <a:tc>
                  <a:txBody>
                    <a:bodyPr/>
                    <a:lstStyle/>
                    <a:p>
                      <a:r>
                        <a:rPr lang="fr-FR" sz="1400" b="1">
                          <a:solidFill>
                            <a:schemeClr val="bg1"/>
                          </a:solidFill>
                          <a:latin typeface="Aptos" panose="020B0004020202020204" pitchFamily="34" charset="0"/>
                        </a:rPr>
                        <a:t>Service</a:t>
                      </a:r>
                    </a:p>
                  </a:txBody>
                  <a:tcPr marL="64945" marR="64945" marT="32473" marB="32473"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Produits associés</a:t>
                      </a:r>
                    </a:p>
                  </a:txBody>
                  <a:tcPr marL="64945" marR="64945" marT="32473" marB="32473" anchor="ctr">
                    <a:lnL>
                      <a:noFill/>
                    </a:lnL>
                    <a:lnR>
                      <a:noFill/>
                    </a:lnR>
                    <a:lnT>
                      <a:noFill/>
                    </a:lnT>
                    <a:lnB>
                      <a:noFill/>
                    </a:lnB>
                    <a:solidFill>
                      <a:srgbClr val="F37504"/>
                    </a:solidFill>
                  </a:tcPr>
                </a:tc>
                <a:extLst>
                  <a:ext uri="{0D108BD9-81ED-4DB2-BD59-A6C34878D82A}">
                    <a16:rowId xmlns:a16="http://schemas.microsoft.com/office/drawing/2014/main" val="2489956670"/>
                  </a:ext>
                </a:extLst>
              </a:tr>
              <a:tr h="573532">
                <a:tc>
                  <a:txBody>
                    <a:bodyPr/>
                    <a:lstStyle/>
                    <a:p>
                      <a:r>
                        <a:rPr lang="fr-FR" sz="1400">
                          <a:latin typeface="Aptos" panose="020B0004020202020204" pitchFamily="34" charset="0"/>
                        </a:rPr>
                        <a:t>Consultation prénatale (CPN)</a:t>
                      </a:r>
                    </a:p>
                  </a:txBody>
                  <a:tcPr marL="64945" marR="64945" marT="32473" marB="32473" anchor="ctr">
                    <a:lnL>
                      <a:noFill/>
                    </a:lnL>
                    <a:lnR>
                      <a:noFill/>
                    </a:lnR>
                    <a:lnT>
                      <a:noFill/>
                    </a:lnT>
                    <a:lnB>
                      <a:noFill/>
                    </a:lnB>
                  </a:tcPr>
                </a:tc>
                <a:tc>
                  <a:txBody>
                    <a:bodyPr/>
                    <a:lstStyle/>
                    <a:p>
                      <a:r>
                        <a:rPr lang="fr-FR" sz="1400">
                          <a:latin typeface="Aptos" panose="020B0004020202020204" pitchFamily="34" charset="0"/>
                        </a:rPr>
                        <a:t>Fer acide folique, Albendazole, Moustiquaire imprégnée (MILD), TPI (Sulfadoxine-Pyriméthamine), test de dépistage VIH, test syphilis</a:t>
                      </a:r>
                    </a:p>
                  </a:txBody>
                  <a:tcPr marL="64945" marR="64945" marT="32473" marB="32473" anchor="ctr">
                    <a:lnL>
                      <a:noFill/>
                    </a:lnL>
                    <a:lnR>
                      <a:noFill/>
                    </a:lnR>
                    <a:lnT>
                      <a:noFill/>
                    </a:lnT>
                    <a:lnB>
                      <a:noFill/>
                    </a:lnB>
                  </a:tcPr>
                </a:tc>
                <a:extLst>
                  <a:ext uri="{0D108BD9-81ED-4DB2-BD59-A6C34878D82A}">
                    <a16:rowId xmlns:a16="http://schemas.microsoft.com/office/drawing/2014/main" val="3638011236"/>
                  </a:ext>
                </a:extLst>
              </a:tr>
              <a:tr h="573532">
                <a:tc>
                  <a:txBody>
                    <a:bodyPr/>
                    <a:lstStyle/>
                    <a:p>
                      <a:r>
                        <a:rPr lang="fr-FR" sz="1400" dirty="0">
                          <a:latin typeface="Aptos" panose="020B0004020202020204" pitchFamily="34" charset="0"/>
                        </a:rPr>
                        <a:t>Accouchement assisté</a:t>
                      </a:r>
                    </a:p>
                  </a:txBody>
                  <a:tcPr marL="64945" marR="64945" marT="32473" marB="32473" anchor="ctr">
                    <a:lnL>
                      <a:noFill/>
                    </a:lnL>
                    <a:lnR>
                      <a:noFill/>
                    </a:lnR>
                    <a:lnT>
                      <a:noFill/>
                    </a:lnT>
                    <a:lnB>
                      <a:noFill/>
                    </a:lnB>
                    <a:solidFill>
                      <a:schemeClr val="bg2">
                        <a:lumMod val="90000"/>
                      </a:schemeClr>
                    </a:solidFill>
                  </a:tcPr>
                </a:tc>
                <a:tc>
                  <a:txBody>
                    <a:bodyPr/>
                    <a:lstStyle/>
                    <a:p>
                      <a:r>
                        <a:rPr lang="fr-FR" sz="1400" dirty="0" err="1">
                          <a:latin typeface="Aptos" panose="020B0004020202020204" pitchFamily="34" charset="0"/>
                        </a:rPr>
                        <a:t>Oxytocine</a:t>
                      </a:r>
                      <a:r>
                        <a:rPr lang="fr-FR" sz="1400" dirty="0">
                          <a:latin typeface="Aptos" panose="020B0004020202020204" pitchFamily="34" charset="0"/>
                        </a:rPr>
                        <a:t>, Misoprostol, </a:t>
                      </a:r>
                      <a:r>
                        <a:rPr lang="fr-FR" sz="1400" dirty="0" err="1">
                          <a:latin typeface="Aptos" panose="020B0004020202020204" pitchFamily="34" charset="0"/>
                        </a:rPr>
                        <a:t>Ergométrine</a:t>
                      </a:r>
                      <a:r>
                        <a:rPr lang="fr-FR" sz="1400" dirty="0">
                          <a:latin typeface="Aptos" panose="020B0004020202020204" pitchFamily="34" charset="0"/>
                        </a:rPr>
                        <a:t>, Gants stériles, Lame de bistouri, Fil de suture, Lidocaïne, Vitamine K néonatale</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881164418"/>
                  </a:ext>
                </a:extLst>
              </a:tr>
              <a:tr h="232314">
                <a:tc>
                  <a:txBody>
                    <a:bodyPr/>
                    <a:lstStyle/>
                    <a:p>
                      <a:r>
                        <a:rPr lang="fr-FR" sz="1400">
                          <a:latin typeface="Aptos" panose="020B0004020202020204" pitchFamily="34" charset="0"/>
                        </a:rPr>
                        <a:t>Consultation nourrisson (CPN0/CPS)</a:t>
                      </a:r>
                    </a:p>
                  </a:txBody>
                  <a:tcPr marL="64945" marR="64945" marT="32473" marB="32473" anchor="ctr">
                    <a:lnL>
                      <a:noFill/>
                    </a:lnL>
                    <a:lnR>
                      <a:noFill/>
                    </a:lnR>
                    <a:lnT>
                      <a:noFill/>
                    </a:lnT>
                    <a:lnB>
                      <a:noFill/>
                    </a:lnB>
                  </a:tcPr>
                </a:tc>
                <a:tc>
                  <a:txBody>
                    <a:bodyPr/>
                    <a:lstStyle/>
                    <a:p>
                      <a:r>
                        <a:rPr lang="fr-FR" sz="1400" dirty="0">
                          <a:latin typeface="Aptos" panose="020B0004020202020204" pitchFamily="34" charset="0"/>
                        </a:rPr>
                        <a:t>Vitamine A, Vaccins (PEV), Zinc, SRO</a:t>
                      </a:r>
                    </a:p>
                  </a:txBody>
                  <a:tcPr marL="64945" marR="64945" marT="32473" marB="32473" anchor="ctr">
                    <a:lnL>
                      <a:noFill/>
                    </a:lnL>
                    <a:lnR>
                      <a:noFill/>
                    </a:lnR>
                    <a:lnT>
                      <a:noFill/>
                    </a:lnT>
                    <a:lnB>
                      <a:noFill/>
                    </a:lnB>
                  </a:tcPr>
                </a:tc>
                <a:extLst>
                  <a:ext uri="{0D108BD9-81ED-4DB2-BD59-A6C34878D82A}">
                    <a16:rowId xmlns:a16="http://schemas.microsoft.com/office/drawing/2014/main" val="3236276141"/>
                  </a:ext>
                </a:extLst>
              </a:tr>
              <a:tr h="401472">
                <a:tc>
                  <a:txBody>
                    <a:bodyPr/>
                    <a:lstStyle/>
                    <a:p>
                      <a:r>
                        <a:rPr lang="fr-FR" sz="1400" dirty="0">
                          <a:latin typeface="Aptos" panose="020B0004020202020204" pitchFamily="34" charset="0"/>
                        </a:rPr>
                        <a:t>Planification familiale</a:t>
                      </a:r>
                    </a:p>
                  </a:txBody>
                  <a:tcPr marL="64945" marR="64945" marT="32473" marB="32473"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Contraceptifs oraux, Injectables (DMPA), Implants, DIU, Préservatifs</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1567074046"/>
                  </a:ext>
                </a:extLst>
              </a:tr>
              <a:tr h="401472">
                <a:tc>
                  <a:txBody>
                    <a:bodyPr/>
                    <a:lstStyle/>
                    <a:p>
                      <a:r>
                        <a:rPr lang="fr-FR" sz="1400">
                          <a:latin typeface="Aptos" panose="020B0004020202020204" pitchFamily="34" charset="0"/>
                        </a:rPr>
                        <a:t>Dépistage VIH</a:t>
                      </a:r>
                    </a:p>
                  </a:txBody>
                  <a:tcPr marL="64945" marR="64945" marT="32473" marB="32473" anchor="ctr">
                    <a:lnL>
                      <a:noFill/>
                    </a:lnL>
                    <a:lnR>
                      <a:noFill/>
                    </a:lnR>
                    <a:lnT>
                      <a:noFill/>
                    </a:lnT>
                    <a:lnB>
                      <a:noFill/>
                    </a:lnB>
                  </a:tcPr>
                </a:tc>
                <a:tc>
                  <a:txBody>
                    <a:bodyPr/>
                    <a:lstStyle/>
                    <a:p>
                      <a:r>
                        <a:rPr lang="fr-FR" sz="1400">
                          <a:latin typeface="Aptos" panose="020B0004020202020204" pitchFamily="34" charset="0"/>
                        </a:rPr>
                        <a:t>Tests de dépistage rapide (TDR VIH), réactifs de confirmation</a:t>
                      </a:r>
                    </a:p>
                  </a:txBody>
                  <a:tcPr marL="64945" marR="64945" marT="32473" marB="32473" anchor="ctr">
                    <a:lnL>
                      <a:noFill/>
                    </a:lnL>
                    <a:lnR>
                      <a:noFill/>
                    </a:lnR>
                    <a:lnT>
                      <a:noFill/>
                    </a:lnT>
                    <a:lnB>
                      <a:noFill/>
                    </a:lnB>
                  </a:tcPr>
                </a:tc>
                <a:extLst>
                  <a:ext uri="{0D108BD9-81ED-4DB2-BD59-A6C34878D82A}">
                    <a16:rowId xmlns:a16="http://schemas.microsoft.com/office/drawing/2014/main" val="1043682714"/>
                  </a:ext>
                </a:extLst>
              </a:tr>
              <a:tr h="232314">
                <a:tc>
                  <a:txBody>
                    <a:bodyPr/>
                    <a:lstStyle/>
                    <a:p>
                      <a:r>
                        <a:rPr lang="fr-FR" sz="1400" dirty="0">
                          <a:latin typeface="Aptos" panose="020B0004020202020204" pitchFamily="34" charset="0"/>
                        </a:rPr>
                        <a:t>Consultation curative adulte</a:t>
                      </a:r>
                    </a:p>
                  </a:txBody>
                  <a:tcPr marL="64945" marR="64945" marT="32473" marB="32473"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Variable selon pathologie (voir méthode morbidité)</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2100699544"/>
                  </a:ext>
                </a:extLst>
              </a:tr>
              <a:tr h="401472">
                <a:tc>
                  <a:txBody>
                    <a:bodyPr/>
                    <a:lstStyle/>
                    <a:p>
                      <a:r>
                        <a:rPr lang="fr-FR" sz="1400">
                          <a:latin typeface="Aptos" panose="020B0004020202020204" pitchFamily="34" charset="0"/>
                        </a:rPr>
                        <a:t>Chirurgie</a:t>
                      </a:r>
                    </a:p>
                  </a:txBody>
                  <a:tcPr marL="64945" marR="64945" marT="32473" marB="32473" anchor="ctr">
                    <a:lnL>
                      <a:noFill/>
                    </a:lnL>
                    <a:lnR>
                      <a:noFill/>
                    </a:lnR>
                    <a:lnT>
                      <a:noFill/>
                    </a:lnT>
                    <a:lnB>
                      <a:noFill/>
                    </a:lnB>
                  </a:tcPr>
                </a:tc>
                <a:tc>
                  <a:txBody>
                    <a:bodyPr/>
                    <a:lstStyle/>
                    <a:p>
                      <a:r>
                        <a:rPr lang="fr-FR" sz="1400" dirty="0">
                          <a:latin typeface="Aptos" panose="020B0004020202020204" pitchFamily="34" charset="0"/>
                        </a:rPr>
                        <a:t>Matériel de suture, anesthésiques, antibiotiques prophylactiques, antiseptiques</a:t>
                      </a:r>
                    </a:p>
                  </a:txBody>
                  <a:tcPr marL="64945" marR="64945" marT="32473" marB="32473" anchor="ctr">
                    <a:lnL>
                      <a:noFill/>
                    </a:lnL>
                    <a:lnR>
                      <a:noFill/>
                    </a:lnR>
                    <a:lnT>
                      <a:noFill/>
                    </a:lnT>
                    <a:lnB>
                      <a:noFill/>
                    </a:lnB>
                  </a:tcPr>
                </a:tc>
                <a:extLst>
                  <a:ext uri="{0D108BD9-81ED-4DB2-BD59-A6C34878D82A}">
                    <a16:rowId xmlns:a16="http://schemas.microsoft.com/office/drawing/2014/main" val="20899104"/>
                  </a:ext>
                </a:extLst>
              </a:tr>
              <a:tr h="401472">
                <a:tc>
                  <a:txBody>
                    <a:bodyPr/>
                    <a:lstStyle/>
                    <a:p>
                      <a:r>
                        <a:rPr lang="fr-FR" sz="1400" dirty="0">
                          <a:latin typeface="Aptos" panose="020B0004020202020204" pitchFamily="34" charset="0"/>
                        </a:rPr>
                        <a:t>Laboratoire</a:t>
                      </a:r>
                    </a:p>
                  </a:txBody>
                  <a:tcPr marL="64945" marR="64945" marT="32473" marB="32473"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Réactifs selon types d'examens (NFS, glycémie, TDR paludisme, BK, CD4)</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3044851541"/>
                  </a:ext>
                </a:extLst>
              </a:tr>
              <a:tr h="401472">
                <a:tc>
                  <a:txBody>
                    <a:bodyPr/>
                    <a:lstStyle/>
                    <a:p>
                      <a:r>
                        <a:rPr lang="fr-FR" sz="1400">
                          <a:latin typeface="Aptos" panose="020B0004020202020204" pitchFamily="34" charset="0"/>
                        </a:rPr>
                        <a:t>Vaccination (PEV)</a:t>
                      </a:r>
                    </a:p>
                  </a:txBody>
                  <a:tcPr marL="64945" marR="64945" marT="32473" marB="32473" anchor="ctr">
                    <a:lnL>
                      <a:noFill/>
                    </a:lnL>
                    <a:lnR>
                      <a:noFill/>
                    </a:lnR>
                    <a:lnT>
                      <a:noFill/>
                    </a:lnT>
                    <a:lnB>
                      <a:noFill/>
                    </a:lnB>
                  </a:tcPr>
                </a:tc>
                <a:tc>
                  <a:txBody>
                    <a:bodyPr/>
                    <a:lstStyle/>
                    <a:p>
                      <a:r>
                        <a:rPr lang="fr-FR" sz="1400" dirty="0">
                          <a:latin typeface="Aptos" panose="020B0004020202020204" pitchFamily="34" charset="0"/>
                        </a:rPr>
                        <a:t>Vaccins selon calendrier, seringues autobloquantes, coton, alcool</a:t>
                      </a:r>
                    </a:p>
                  </a:txBody>
                  <a:tcPr marL="64945" marR="64945" marT="32473" marB="32473" anchor="ctr">
                    <a:lnL>
                      <a:noFill/>
                    </a:lnL>
                    <a:lnR>
                      <a:noFill/>
                    </a:lnR>
                    <a:lnT>
                      <a:noFill/>
                    </a:lnT>
                    <a:lnB>
                      <a:noFill/>
                    </a:lnB>
                  </a:tcPr>
                </a:tc>
                <a:extLst>
                  <a:ext uri="{0D108BD9-81ED-4DB2-BD59-A6C34878D82A}">
                    <a16:rowId xmlns:a16="http://schemas.microsoft.com/office/drawing/2014/main" val="1775947530"/>
                  </a:ext>
                </a:extLst>
              </a:tr>
            </a:tbl>
          </a:graphicData>
        </a:graphic>
      </p:graphicFrame>
    </p:spTree>
    <p:extLst>
      <p:ext uri="{BB962C8B-B14F-4D97-AF65-F5344CB8AC3E}">
        <p14:creationId xmlns:p14="http://schemas.microsoft.com/office/powerpoint/2010/main" val="114365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Collecte des données de prestation de soins</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Sources de données</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689851" cy="3785652"/>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Source 1 — Les registres d'activités des formations sanitaires</a:t>
            </a:r>
          </a:p>
          <a:p>
            <a:pPr marL="800100" lvl="1" indent="-342900">
              <a:buFont typeface="Courier New" panose="02070309020205020404" pitchFamily="49" charset="0"/>
              <a:buChar char="o"/>
            </a:pPr>
            <a:r>
              <a:rPr lang="fr-FR" sz="2000" dirty="0">
                <a:latin typeface="Aptos" panose="020B0004020202020204" pitchFamily="34" charset="0"/>
              </a:rPr>
              <a:t>Chaque service clinique tient un registre où sont enregistrés tous les actes effectués. Ces registres sont la source primaire des données de prestation.</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Source 2 — Les rapports mensuels d'activités (DHIS2, SIGMED)</a:t>
            </a:r>
          </a:p>
          <a:p>
            <a:pPr marL="800100" lvl="1" indent="-342900">
              <a:buFont typeface="Courier New" panose="02070309020205020404" pitchFamily="49" charset="0"/>
              <a:buChar char="o"/>
            </a:pPr>
            <a:r>
              <a:rPr lang="fr-FR" sz="2000" dirty="0">
                <a:latin typeface="Aptos" panose="020B0004020202020204" pitchFamily="34" charset="0"/>
              </a:rPr>
              <a:t>Les formations sanitaires transmettent mensuellement leurs données d'activités aux niveaux district, régional et national via les systèmes d'information. Ces données permettent la consolidation à grande échelle.</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Source 3 — Les données du Programme Élargi de Vaccination (PEV)</a:t>
            </a:r>
          </a:p>
          <a:p>
            <a:pPr marL="800100" lvl="1" indent="-342900">
              <a:buFont typeface="Courier New" panose="02070309020205020404" pitchFamily="49" charset="0"/>
              <a:buChar char="o"/>
            </a:pPr>
            <a:r>
              <a:rPr lang="fr-FR" sz="2000" dirty="0">
                <a:latin typeface="Aptos" panose="020B0004020202020204" pitchFamily="34" charset="0"/>
              </a:rPr>
              <a:t>Le PEV dispose de ses propres registres et rapports de vaccination, avec le nombre de doses administrées par antigène et par tranche d'âge.</a:t>
            </a:r>
          </a:p>
        </p:txBody>
      </p:sp>
    </p:spTree>
    <p:extLst>
      <p:ext uri="{BB962C8B-B14F-4D97-AF65-F5344CB8AC3E}">
        <p14:creationId xmlns:p14="http://schemas.microsoft.com/office/powerpoint/2010/main" val="353975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Collecte des données de prestation de soins</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Vérification de la qualité des données de service</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689851" cy="2862322"/>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Comme pour les données de consommation, les données de prestation de soins doivent être évaluées avant utilisation.</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Contrôle de cohérence interne :</a:t>
            </a:r>
          </a:p>
          <a:p>
            <a:pPr marL="800100" lvl="1" indent="-342900">
              <a:buFont typeface="Courier New" panose="02070309020205020404" pitchFamily="49" charset="0"/>
              <a:buChar char="o"/>
            </a:pPr>
            <a:r>
              <a:rPr lang="fr-FR" sz="2000" dirty="0">
                <a:latin typeface="Aptos" panose="020B0004020202020204" pitchFamily="34" charset="0"/>
              </a:rPr>
              <a:t>Une règle de cohérence bien connue stipule que le nombre de CPN4 ne peut pas dépasser le nombre de CPN1 (on ne peut pas avoir plus de femmes ayant effectué 4 visites que de femmes ayant effectué la première visite). </a:t>
            </a:r>
          </a:p>
          <a:p>
            <a:pPr marL="800100" lvl="1" indent="-342900">
              <a:buFont typeface="Courier New" panose="02070309020205020404" pitchFamily="49" charset="0"/>
              <a:buChar char="o"/>
            </a:pPr>
            <a:r>
              <a:rPr lang="fr-FR" sz="2000" dirty="0">
                <a:latin typeface="Aptos" panose="020B0004020202020204" pitchFamily="34" charset="0"/>
              </a:rPr>
              <a:t>De même, le nombre d'accouchements assistés doit être inférieur au nombre de CPN4 (si toutes les femmes qui terminent le suivi accouchent dans la structure).</a:t>
            </a:r>
          </a:p>
        </p:txBody>
      </p:sp>
    </p:spTree>
    <p:extLst>
      <p:ext uri="{BB962C8B-B14F-4D97-AF65-F5344CB8AC3E}">
        <p14:creationId xmlns:p14="http://schemas.microsoft.com/office/powerpoint/2010/main" val="349580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Définition des normes de consommation par acte de service</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Qu'est-ce qu'une norme de consommation par acte ?</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817343" cy="1938992"/>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La norme de consommation par acte (aussi appelée norme de service ou norme d'utilisation) définit la quantité standard d'un produit consommée lors d'un acte de service donné. </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Elle est établie sur la base des protocoles cliniques nationaux.</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Formule : </a:t>
            </a:r>
            <a:r>
              <a:rPr lang="fr-FR" sz="2000" b="1" dirty="0">
                <a:latin typeface="Aptos" panose="020B0004020202020204" pitchFamily="34" charset="0"/>
              </a:rPr>
              <a:t>Norme par acte = Quantité du produit utilisée lors d'un acte de service standard</a:t>
            </a:r>
          </a:p>
        </p:txBody>
      </p:sp>
    </p:spTree>
    <p:extLst>
      <p:ext uri="{BB962C8B-B14F-4D97-AF65-F5344CB8AC3E}">
        <p14:creationId xmlns:p14="http://schemas.microsoft.com/office/powerpoint/2010/main" val="45815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Calcul complet par la méthode basée sur les services</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Formule</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817343" cy="1015663"/>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Besoin total = Σ (Nombre d'actes de service × Norme de consommation par acte)</a:t>
            </a:r>
          </a:p>
          <a:p>
            <a:pPr marL="285750" indent="-285750">
              <a:buFont typeface="Arial" panose="020B0604020202020204" pitchFamily="34" charset="0"/>
              <a:buChar char="•"/>
            </a:pPr>
            <a:endParaRPr lang="fr-FR" sz="2000" dirty="0">
              <a:latin typeface="Aptos" panose="020B0004020202020204" pitchFamily="34" charset="0"/>
            </a:endParaRPr>
          </a:p>
          <a:p>
            <a:r>
              <a:rPr lang="fr-FR" sz="2000" dirty="0">
                <a:latin typeface="Aptos" panose="020B0004020202020204" pitchFamily="34" charset="0"/>
              </a:rPr>
              <a:t>La sommation porte sur tous les types de services et toutes les normes applicables.</a:t>
            </a:r>
            <a:endParaRPr lang="fr-FR" sz="2000" b="1" dirty="0">
              <a:latin typeface="Aptos" panose="020B0004020202020204" pitchFamily="34" charset="0"/>
            </a:endParaRPr>
          </a:p>
        </p:txBody>
      </p:sp>
    </p:spTree>
    <p:extLst>
      <p:ext uri="{BB962C8B-B14F-4D97-AF65-F5344CB8AC3E}">
        <p14:creationId xmlns:p14="http://schemas.microsoft.com/office/powerpoint/2010/main" val="4535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Application à grande échelle — Consolidation nationale</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Étapes de la consolidation nationale</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817343" cy="3170099"/>
          </a:xfrm>
          <a:prstGeom prst="rect">
            <a:avLst/>
          </a:prstGeom>
          <a:noFill/>
        </p:spPr>
        <p:txBody>
          <a:bodyPr wrap="square">
            <a:spAutoFit/>
          </a:bodyPr>
          <a:lstStyle/>
          <a:p>
            <a:pPr marL="285750" indent="-285750">
              <a:buFont typeface="Arial" panose="020B0604020202020204" pitchFamily="34" charset="0"/>
              <a:buChar char="•"/>
            </a:pPr>
            <a:r>
              <a:rPr lang="fr-FR" sz="2000" b="1" dirty="0">
                <a:latin typeface="Aptos" panose="020B0004020202020204" pitchFamily="34" charset="0"/>
              </a:rPr>
              <a:t>Étape 1 — Collecte des données de service de tous les sites </a:t>
            </a:r>
            <a:r>
              <a:rPr lang="fr-FR" sz="2000" dirty="0">
                <a:latin typeface="Aptos" panose="020B0004020202020204" pitchFamily="34" charset="0"/>
              </a:rPr>
              <a:t>: Via DHIS2 ou les rapports mensuels, collecter les données de prestation de soins de toutes les formations sanitaires.</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Étape 2 — Estimation pour les sites non </a:t>
            </a:r>
            <a:r>
              <a:rPr lang="fr-FR" sz="2000" b="1" dirty="0" err="1">
                <a:latin typeface="Aptos" panose="020B0004020202020204" pitchFamily="34" charset="0"/>
              </a:rPr>
              <a:t>rapportants</a:t>
            </a:r>
            <a:r>
              <a:rPr lang="fr-FR" sz="2000" b="1" dirty="0">
                <a:latin typeface="Aptos" panose="020B0004020202020204" pitchFamily="34" charset="0"/>
              </a:rPr>
              <a:t> </a:t>
            </a:r>
            <a:r>
              <a:rPr lang="fr-FR" sz="2000" dirty="0">
                <a:latin typeface="Aptos" panose="020B0004020202020204" pitchFamily="34" charset="0"/>
              </a:rPr>
              <a:t>: Appliquer les moyennes régionales aux sites qui n'ont pas rapporté.</a:t>
            </a:r>
          </a:p>
          <a:p>
            <a:pPr marL="285750" indent="-285750">
              <a:buFont typeface="Arial" panose="020B0604020202020204" pitchFamily="34" charset="0"/>
              <a:buChar char="•"/>
            </a:pPr>
            <a:endParaRPr lang="fr-FR" sz="2000" b="1"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Étape 3 — Application des normes nationales </a:t>
            </a:r>
            <a:r>
              <a:rPr lang="fr-FR" sz="2000" dirty="0">
                <a:latin typeface="Aptos" panose="020B0004020202020204" pitchFamily="34" charset="0"/>
              </a:rPr>
              <a:t>: Utiliser les normes de consommation par acte validées au niveau national (pas les normes locales qui peuvent varier).</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Étape 4 — Calcul des besoins par niveau et agrégation</a:t>
            </a:r>
          </a:p>
        </p:txBody>
      </p:sp>
    </p:spTree>
    <p:extLst>
      <p:ext uri="{BB962C8B-B14F-4D97-AF65-F5344CB8AC3E}">
        <p14:creationId xmlns:p14="http://schemas.microsoft.com/office/powerpoint/2010/main" val="333049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et limites</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Avantages spécifiques de la méthode basée sur les services :</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817343" cy="2554545"/>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Les données de prestation de soins sont généralement mieux collectées et plus fiables que les données de consommation de médicaments. </a:t>
            </a:r>
          </a:p>
          <a:p>
            <a:pPr marL="285750" indent="-285750">
              <a:buFont typeface="Arial" panose="020B0604020202020204" pitchFamily="34" charset="0"/>
              <a:buChar char="•"/>
            </a:pPr>
            <a:r>
              <a:rPr lang="fr-FR" sz="2000" dirty="0">
                <a:latin typeface="Aptos" panose="020B0004020202020204" pitchFamily="34" charset="0"/>
              </a:rPr>
              <a:t>La méthode est particulièrement adaptée aux produits dont la consommation est directement liée à un acte clinique mesurable. </a:t>
            </a:r>
          </a:p>
          <a:p>
            <a:pPr marL="285750" indent="-285750">
              <a:buFont typeface="Arial" panose="020B0604020202020204" pitchFamily="34" charset="0"/>
              <a:buChar char="•"/>
            </a:pPr>
            <a:r>
              <a:rPr lang="fr-FR" sz="2000" dirty="0">
                <a:latin typeface="Aptos" panose="020B0004020202020204" pitchFamily="34" charset="0"/>
              </a:rPr>
              <a:t>Elle permet de détecter les inefficiences (gaspillage au-delà des normes) en comparant consommation réelle et consommation théorique calculée selon les normes. </a:t>
            </a:r>
          </a:p>
          <a:p>
            <a:pPr marL="285750" indent="-285750">
              <a:buFont typeface="Arial" panose="020B0604020202020204" pitchFamily="34" charset="0"/>
              <a:buChar char="•"/>
            </a:pPr>
            <a:r>
              <a:rPr lang="fr-FR" sz="2000" dirty="0">
                <a:latin typeface="Aptos" panose="020B0004020202020204" pitchFamily="34" charset="0"/>
              </a:rPr>
              <a:t>Elle facilite la planification budgétaire car elle lie directement les coûts aux prestations de soins.</a:t>
            </a:r>
          </a:p>
        </p:txBody>
      </p:sp>
    </p:spTree>
    <p:extLst>
      <p:ext uri="{BB962C8B-B14F-4D97-AF65-F5344CB8AC3E}">
        <p14:creationId xmlns:p14="http://schemas.microsoft.com/office/powerpoint/2010/main" val="17093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et limites</a:t>
            </a:r>
          </a:p>
        </p:txBody>
      </p:sp>
      <p:sp>
        <p:nvSpPr>
          <p:cNvPr id="10" name="ZoneTexte 9">
            <a:extLst>
              <a:ext uri="{FF2B5EF4-FFF2-40B4-BE49-F238E27FC236}">
                <a16:creationId xmlns:a16="http://schemas.microsoft.com/office/drawing/2014/main" id="{2A5183A6-2D82-410C-ACEE-1E90232A4140}"/>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Limites de la méthode basée sur les services :</a:t>
            </a:r>
          </a:p>
        </p:txBody>
      </p:sp>
      <p:sp>
        <p:nvSpPr>
          <p:cNvPr id="11" name="ZoneTexte 10">
            <a:extLst>
              <a:ext uri="{FF2B5EF4-FFF2-40B4-BE49-F238E27FC236}">
                <a16:creationId xmlns:a16="http://schemas.microsoft.com/office/drawing/2014/main" id="{50BC7C01-E408-4E85-9A4F-B7B3276F18A9}"/>
              </a:ext>
            </a:extLst>
          </p:cNvPr>
          <p:cNvSpPr txBox="1"/>
          <p:nvPr/>
        </p:nvSpPr>
        <p:spPr>
          <a:xfrm>
            <a:off x="751075" y="2741934"/>
            <a:ext cx="10817343" cy="2246769"/>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Les normes de consommation par acte doivent être établies, validées et mises à jour régulièrement. </a:t>
            </a:r>
          </a:p>
          <a:p>
            <a:pPr marL="285750" indent="-285750">
              <a:buFont typeface="Arial" panose="020B0604020202020204" pitchFamily="34" charset="0"/>
              <a:buChar char="•"/>
            </a:pPr>
            <a:r>
              <a:rPr lang="fr-FR" sz="2000" dirty="0">
                <a:latin typeface="Aptos" panose="020B0004020202020204" pitchFamily="34" charset="0"/>
              </a:rPr>
              <a:t>Elles varient selon le niveau de la structure et le contexte. </a:t>
            </a:r>
          </a:p>
          <a:p>
            <a:pPr marL="285750" indent="-285750">
              <a:buFont typeface="Arial" panose="020B0604020202020204" pitchFamily="34" charset="0"/>
              <a:buChar char="•"/>
            </a:pPr>
            <a:r>
              <a:rPr lang="fr-FR" sz="2000" dirty="0">
                <a:latin typeface="Aptos" panose="020B0004020202020204" pitchFamily="34" charset="0"/>
              </a:rPr>
              <a:t>Les données de service peuvent elles-mêmes être biaisées (sous-enregistrement des accouchements à domicile, surnotification dans certains contextes de financement basé sur les résultats). </a:t>
            </a:r>
          </a:p>
          <a:p>
            <a:pPr marL="285750" indent="-285750">
              <a:buFont typeface="Arial" panose="020B0604020202020204" pitchFamily="34" charset="0"/>
              <a:buChar char="•"/>
            </a:pPr>
            <a:r>
              <a:rPr lang="fr-FR" sz="2000" dirty="0">
                <a:latin typeface="Aptos" panose="020B0004020202020204" pitchFamily="34" charset="0"/>
              </a:rPr>
              <a:t>La méthode ne capture que les actes enregistrés, pas les actes réalisés sans enregistrement.</a:t>
            </a:r>
          </a:p>
        </p:txBody>
      </p:sp>
    </p:spTree>
    <p:extLst>
      <p:ext uri="{BB962C8B-B14F-4D97-AF65-F5344CB8AC3E}">
        <p14:creationId xmlns:p14="http://schemas.microsoft.com/office/powerpoint/2010/main" val="41094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Comparaison avec les autres méthodes</a:t>
            </a:r>
          </a:p>
        </p:txBody>
      </p:sp>
      <p:graphicFrame>
        <p:nvGraphicFramePr>
          <p:cNvPr id="2" name="Tableau 1">
            <a:extLst>
              <a:ext uri="{FF2B5EF4-FFF2-40B4-BE49-F238E27FC236}">
                <a16:creationId xmlns:a16="http://schemas.microsoft.com/office/drawing/2014/main" id="{92E16BF9-3653-403B-99C3-0A12BA8F625E}"/>
              </a:ext>
            </a:extLst>
          </p:cNvPr>
          <p:cNvGraphicFramePr>
            <a:graphicFrameLocks noGrp="1"/>
          </p:cNvGraphicFramePr>
          <p:nvPr>
            <p:extLst>
              <p:ext uri="{D42A27DB-BD31-4B8C-83A1-F6EECF244321}">
                <p14:modId xmlns:p14="http://schemas.microsoft.com/office/powerpoint/2010/main" val="2631334634"/>
              </p:ext>
            </p:extLst>
          </p:nvPr>
        </p:nvGraphicFramePr>
        <p:xfrm>
          <a:off x="586355" y="2128638"/>
          <a:ext cx="11141456" cy="4351336"/>
        </p:xfrm>
        <a:graphic>
          <a:graphicData uri="http://schemas.openxmlformats.org/drawingml/2006/table">
            <a:tbl>
              <a:tblPr/>
              <a:tblGrid>
                <a:gridCol w="2785364">
                  <a:extLst>
                    <a:ext uri="{9D8B030D-6E8A-4147-A177-3AD203B41FA5}">
                      <a16:colId xmlns:a16="http://schemas.microsoft.com/office/drawing/2014/main" val="2287864743"/>
                    </a:ext>
                  </a:extLst>
                </a:gridCol>
                <a:gridCol w="2785364">
                  <a:extLst>
                    <a:ext uri="{9D8B030D-6E8A-4147-A177-3AD203B41FA5}">
                      <a16:colId xmlns:a16="http://schemas.microsoft.com/office/drawing/2014/main" val="3700948100"/>
                    </a:ext>
                  </a:extLst>
                </a:gridCol>
                <a:gridCol w="2785364">
                  <a:extLst>
                    <a:ext uri="{9D8B030D-6E8A-4147-A177-3AD203B41FA5}">
                      <a16:colId xmlns:a16="http://schemas.microsoft.com/office/drawing/2014/main" val="1589294966"/>
                    </a:ext>
                  </a:extLst>
                </a:gridCol>
                <a:gridCol w="2785364">
                  <a:extLst>
                    <a:ext uri="{9D8B030D-6E8A-4147-A177-3AD203B41FA5}">
                      <a16:colId xmlns:a16="http://schemas.microsoft.com/office/drawing/2014/main" val="1425926723"/>
                    </a:ext>
                  </a:extLst>
                </a:gridCol>
              </a:tblGrid>
              <a:tr h="348107">
                <a:tc>
                  <a:txBody>
                    <a:bodyPr/>
                    <a:lstStyle/>
                    <a:p>
                      <a:r>
                        <a:rPr lang="fr-FR" sz="1600" b="1" dirty="0">
                          <a:solidFill>
                            <a:schemeClr val="bg1"/>
                          </a:solidFill>
                          <a:latin typeface="Aptos" panose="020B0004020202020204" pitchFamily="34" charset="0"/>
                        </a:rPr>
                        <a:t>Critère</a:t>
                      </a:r>
                    </a:p>
                  </a:txBody>
                  <a:tcPr marL="87027" marR="87027" marT="43513" marB="43513"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Méthode consommation</a:t>
                      </a:r>
                    </a:p>
                  </a:txBody>
                  <a:tcPr marL="87027" marR="87027" marT="43513" marB="43513"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Méthode morbidité</a:t>
                      </a:r>
                    </a:p>
                  </a:txBody>
                  <a:tcPr marL="87027" marR="87027" marT="43513" marB="43513"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Méthode services</a:t>
                      </a:r>
                    </a:p>
                  </a:txBody>
                  <a:tcPr marL="87027" marR="87027" marT="43513" marB="43513" anchor="ctr">
                    <a:lnL>
                      <a:noFill/>
                    </a:lnL>
                    <a:lnR>
                      <a:noFill/>
                    </a:lnR>
                    <a:lnT>
                      <a:noFill/>
                    </a:lnT>
                    <a:lnB>
                      <a:noFill/>
                    </a:lnB>
                    <a:solidFill>
                      <a:srgbClr val="F37504"/>
                    </a:solidFill>
                  </a:tcPr>
                </a:tc>
                <a:extLst>
                  <a:ext uri="{0D108BD9-81ED-4DB2-BD59-A6C34878D82A}">
                    <a16:rowId xmlns:a16="http://schemas.microsoft.com/office/drawing/2014/main" val="4010062816"/>
                  </a:ext>
                </a:extLst>
              </a:tr>
              <a:tr h="609187">
                <a:tc>
                  <a:txBody>
                    <a:bodyPr/>
                    <a:lstStyle/>
                    <a:p>
                      <a:r>
                        <a:rPr lang="fr-FR" sz="1600" dirty="0">
                          <a:latin typeface="Aptos" panose="020B0004020202020204" pitchFamily="34" charset="0"/>
                        </a:rPr>
                        <a:t>Données requises</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Sorties de stock</a:t>
                      </a:r>
                    </a:p>
                  </a:txBody>
                  <a:tcPr marL="87027" marR="87027" marT="43513" marB="43513" anchor="ctr">
                    <a:lnL>
                      <a:noFill/>
                    </a:lnL>
                    <a:lnR>
                      <a:noFill/>
                    </a:lnR>
                    <a:lnT>
                      <a:noFill/>
                    </a:lnT>
                    <a:lnB>
                      <a:noFill/>
                    </a:lnB>
                  </a:tcPr>
                </a:tc>
                <a:tc>
                  <a:txBody>
                    <a:bodyPr/>
                    <a:lstStyle/>
                    <a:p>
                      <a:r>
                        <a:rPr lang="fr-FR" sz="1600">
                          <a:latin typeface="Aptos" panose="020B0004020202020204" pitchFamily="34" charset="0"/>
                        </a:rPr>
                        <a:t>Incidence des maladies + protocoles</a:t>
                      </a:r>
                    </a:p>
                  </a:txBody>
                  <a:tcPr marL="87027" marR="87027" marT="43513" marB="43513" anchor="ctr">
                    <a:lnL>
                      <a:noFill/>
                    </a:lnL>
                    <a:lnR>
                      <a:noFill/>
                    </a:lnR>
                    <a:lnT>
                      <a:noFill/>
                    </a:lnT>
                    <a:lnB>
                      <a:noFill/>
                    </a:lnB>
                  </a:tcPr>
                </a:tc>
                <a:tc>
                  <a:txBody>
                    <a:bodyPr/>
                    <a:lstStyle/>
                    <a:p>
                      <a:r>
                        <a:rPr lang="fr-FR" sz="1600">
                          <a:latin typeface="Aptos" panose="020B0004020202020204" pitchFamily="34" charset="0"/>
                        </a:rPr>
                        <a:t>Actes de service + normes</a:t>
                      </a:r>
                    </a:p>
                  </a:txBody>
                  <a:tcPr marL="87027" marR="87027" marT="43513" marB="43513" anchor="ctr">
                    <a:lnL>
                      <a:noFill/>
                    </a:lnL>
                    <a:lnR>
                      <a:noFill/>
                    </a:lnR>
                    <a:lnT>
                      <a:noFill/>
                    </a:lnT>
                    <a:lnB>
                      <a:noFill/>
                    </a:lnB>
                  </a:tcPr>
                </a:tc>
                <a:extLst>
                  <a:ext uri="{0D108BD9-81ED-4DB2-BD59-A6C34878D82A}">
                    <a16:rowId xmlns:a16="http://schemas.microsoft.com/office/drawing/2014/main" val="1253945818"/>
                  </a:ext>
                </a:extLst>
              </a:tr>
              <a:tr h="609187">
                <a:tc>
                  <a:txBody>
                    <a:bodyPr/>
                    <a:lstStyle/>
                    <a:p>
                      <a:r>
                        <a:rPr lang="fr-FR" sz="1600" dirty="0">
                          <a:latin typeface="Aptos" panose="020B0004020202020204" pitchFamily="34" charset="0"/>
                        </a:rPr>
                        <a:t>Fiabilité si données de qualité</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Élevée</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Moyenne à élevée</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Élevée</a:t>
                      </a:r>
                    </a:p>
                  </a:txBody>
                  <a:tcPr marL="87027" marR="87027" marT="43513" marB="43513" anchor="ctr">
                    <a:lnL>
                      <a:noFill/>
                    </a:lnL>
                    <a:lnR>
                      <a:noFill/>
                    </a:lnR>
                    <a:lnT>
                      <a:noFill/>
                    </a:lnT>
                    <a:lnB>
                      <a:noFill/>
                    </a:lnB>
                    <a:solidFill>
                      <a:schemeClr val="bg2">
                        <a:lumMod val="90000"/>
                      </a:schemeClr>
                    </a:solidFill>
                  </a:tcPr>
                </a:tc>
                <a:extLst>
                  <a:ext uri="{0D108BD9-81ED-4DB2-BD59-A6C34878D82A}">
                    <a16:rowId xmlns:a16="http://schemas.microsoft.com/office/drawing/2014/main" val="209590521"/>
                  </a:ext>
                </a:extLst>
              </a:tr>
              <a:tr h="609187">
                <a:tc>
                  <a:txBody>
                    <a:bodyPr/>
                    <a:lstStyle/>
                    <a:p>
                      <a:r>
                        <a:rPr lang="fr-FR" sz="1600">
                          <a:latin typeface="Aptos" panose="020B0004020202020204" pitchFamily="34" charset="0"/>
                        </a:rPr>
                        <a:t>Adapté aux programmes nouveaux</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Non</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Oui</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Si normes disponibles</a:t>
                      </a:r>
                    </a:p>
                  </a:txBody>
                  <a:tcPr marL="87027" marR="87027" marT="43513" marB="43513" anchor="ctr">
                    <a:lnL>
                      <a:noFill/>
                    </a:lnL>
                    <a:lnR>
                      <a:noFill/>
                    </a:lnR>
                    <a:lnT>
                      <a:noFill/>
                    </a:lnT>
                    <a:lnB>
                      <a:noFill/>
                    </a:lnB>
                  </a:tcPr>
                </a:tc>
                <a:extLst>
                  <a:ext uri="{0D108BD9-81ED-4DB2-BD59-A6C34878D82A}">
                    <a16:rowId xmlns:a16="http://schemas.microsoft.com/office/drawing/2014/main" val="1153677254"/>
                  </a:ext>
                </a:extLst>
              </a:tr>
              <a:tr h="609187">
                <a:tc>
                  <a:txBody>
                    <a:bodyPr/>
                    <a:lstStyle/>
                    <a:p>
                      <a:r>
                        <a:rPr lang="fr-FR" sz="1600" dirty="0">
                          <a:latin typeface="Aptos" panose="020B0004020202020204" pitchFamily="34" charset="0"/>
                        </a:rPr>
                        <a:t>Capte la demande non satisfaite</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Non</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Oui</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Partiellement</a:t>
                      </a:r>
                    </a:p>
                  </a:txBody>
                  <a:tcPr marL="87027" marR="87027" marT="43513" marB="43513" anchor="ctr">
                    <a:lnL>
                      <a:noFill/>
                    </a:lnL>
                    <a:lnR>
                      <a:noFill/>
                    </a:lnR>
                    <a:lnT>
                      <a:noFill/>
                    </a:lnT>
                    <a:lnB>
                      <a:noFill/>
                    </a:lnB>
                    <a:solidFill>
                      <a:schemeClr val="bg2">
                        <a:lumMod val="90000"/>
                      </a:schemeClr>
                    </a:solidFill>
                  </a:tcPr>
                </a:tc>
                <a:extLst>
                  <a:ext uri="{0D108BD9-81ED-4DB2-BD59-A6C34878D82A}">
                    <a16:rowId xmlns:a16="http://schemas.microsoft.com/office/drawing/2014/main" val="2986793530"/>
                  </a:ext>
                </a:extLst>
              </a:tr>
              <a:tr h="609187">
                <a:tc>
                  <a:txBody>
                    <a:bodyPr/>
                    <a:lstStyle/>
                    <a:p>
                      <a:r>
                        <a:rPr lang="fr-FR" sz="1600">
                          <a:latin typeface="Aptos" panose="020B0004020202020204" pitchFamily="34" charset="0"/>
                        </a:rPr>
                        <a:t>Lien direct avec activités cliniques</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Non</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Indirect</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Oui</a:t>
                      </a:r>
                    </a:p>
                  </a:txBody>
                  <a:tcPr marL="87027" marR="87027" marT="43513" marB="43513" anchor="ctr">
                    <a:lnL>
                      <a:noFill/>
                    </a:lnL>
                    <a:lnR>
                      <a:noFill/>
                    </a:lnR>
                    <a:lnT>
                      <a:noFill/>
                    </a:lnT>
                    <a:lnB>
                      <a:noFill/>
                    </a:lnB>
                  </a:tcPr>
                </a:tc>
                <a:extLst>
                  <a:ext uri="{0D108BD9-81ED-4DB2-BD59-A6C34878D82A}">
                    <a16:rowId xmlns:a16="http://schemas.microsoft.com/office/drawing/2014/main" val="3130140606"/>
                  </a:ext>
                </a:extLst>
              </a:tr>
              <a:tr h="348107">
                <a:tc>
                  <a:txBody>
                    <a:bodyPr/>
                    <a:lstStyle/>
                    <a:p>
                      <a:r>
                        <a:rPr lang="fr-FR" sz="1600" dirty="0">
                          <a:latin typeface="Aptos" panose="020B0004020202020204" pitchFamily="34" charset="0"/>
                        </a:rPr>
                        <a:t>Facilité d'application</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Simple</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Complexe</a:t>
                      </a:r>
                    </a:p>
                  </a:txBody>
                  <a:tcPr marL="87027" marR="87027" marT="43513" marB="43513"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Moyenne</a:t>
                      </a:r>
                    </a:p>
                  </a:txBody>
                  <a:tcPr marL="87027" marR="87027" marT="43513" marB="43513" anchor="ctr">
                    <a:lnL>
                      <a:noFill/>
                    </a:lnL>
                    <a:lnR>
                      <a:noFill/>
                    </a:lnR>
                    <a:lnT>
                      <a:noFill/>
                    </a:lnT>
                    <a:lnB>
                      <a:noFill/>
                    </a:lnB>
                    <a:solidFill>
                      <a:schemeClr val="bg2">
                        <a:lumMod val="90000"/>
                      </a:schemeClr>
                    </a:solidFill>
                  </a:tcPr>
                </a:tc>
                <a:extLst>
                  <a:ext uri="{0D108BD9-81ED-4DB2-BD59-A6C34878D82A}">
                    <a16:rowId xmlns:a16="http://schemas.microsoft.com/office/drawing/2014/main" val="3951428369"/>
                  </a:ext>
                </a:extLst>
              </a:tr>
              <a:tr h="609187">
                <a:tc>
                  <a:txBody>
                    <a:bodyPr/>
                    <a:lstStyle/>
                    <a:p>
                      <a:r>
                        <a:rPr lang="fr-FR" sz="1600">
                          <a:latin typeface="Aptos" panose="020B0004020202020204" pitchFamily="34" charset="0"/>
                        </a:rPr>
                        <a:t>Produits adaptés</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Médicaments de routine</a:t>
                      </a:r>
                    </a:p>
                  </a:txBody>
                  <a:tcPr marL="87027" marR="87027" marT="43513" marB="43513" anchor="ctr">
                    <a:lnL>
                      <a:noFill/>
                    </a:lnL>
                    <a:lnR>
                      <a:noFill/>
                    </a:lnR>
                    <a:lnT>
                      <a:noFill/>
                    </a:lnT>
                    <a:lnB>
                      <a:noFill/>
                    </a:lnB>
                  </a:tcPr>
                </a:tc>
                <a:tc>
                  <a:txBody>
                    <a:bodyPr/>
                    <a:lstStyle/>
                    <a:p>
                      <a:r>
                        <a:rPr lang="fr-FR" sz="1600">
                          <a:latin typeface="Aptos" panose="020B0004020202020204" pitchFamily="34" charset="0"/>
                        </a:rPr>
                        <a:t>Médicaments curatifs</a:t>
                      </a:r>
                    </a:p>
                  </a:txBody>
                  <a:tcPr marL="87027" marR="87027" marT="43513" marB="43513" anchor="ctr">
                    <a:lnL>
                      <a:noFill/>
                    </a:lnL>
                    <a:lnR>
                      <a:noFill/>
                    </a:lnR>
                    <a:lnT>
                      <a:noFill/>
                    </a:lnT>
                    <a:lnB>
                      <a:noFill/>
                    </a:lnB>
                  </a:tcPr>
                </a:tc>
                <a:tc>
                  <a:txBody>
                    <a:bodyPr/>
                    <a:lstStyle/>
                    <a:p>
                      <a:r>
                        <a:rPr lang="fr-FR" sz="1600" dirty="0">
                          <a:latin typeface="Aptos" panose="020B0004020202020204" pitchFamily="34" charset="0"/>
                        </a:rPr>
                        <a:t>Intrants liés à des actes spécifiques</a:t>
                      </a:r>
                    </a:p>
                  </a:txBody>
                  <a:tcPr marL="87027" marR="87027" marT="43513" marB="43513" anchor="ctr">
                    <a:lnL>
                      <a:noFill/>
                    </a:lnL>
                    <a:lnR>
                      <a:noFill/>
                    </a:lnR>
                    <a:lnT>
                      <a:noFill/>
                    </a:lnT>
                    <a:lnB>
                      <a:noFill/>
                    </a:lnB>
                  </a:tcPr>
                </a:tc>
                <a:extLst>
                  <a:ext uri="{0D108BD9-81ED-4DB2-BD59-A6C34878D82A}">
                    <a16:rowId xmlns:a16="http://schemas.microsoft.com/office/drawing/2014/main" val="2712405558"/>
                  </a:ext>
                </a:extLst>
              </a:tr>
            </a:tbl>
          </a:graphicData>
        </a:graphic>
      </p:graphicFrame>
    </p:spTree>
    <p:extLst>
      <p:ext uri="{BB962C8B-B14F-4D97-AF65-F5344CB8AC3E}">
        <p14:creationId xmlns:p14="http://schemas.microsoft.com/office/powerpoint/2010/main" val="1266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services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synthèse — Méthode basée sur les services</a:t>
            </a:r>
          </a:p>
        </p:txBody>
      </p:sp>
      <p:graphicFrame>
        <p:nvGraphicFramePr>
          <p:cNvPr id="3" name="Tableau 2">
            <a:extLst>
              <a:ext uri="{FF2B5EF4-FFF2-40B4-BE49-F238E27FC236}">
                <a16:creationId xmlns:a16="http://schemas.microsoft.com/office/drawing/2014/main" id="{95ACE226-0A87-4BC8-B733-4B4ACB140B7F}"/>
              </a:ext>
            </a:extLst>
          </p:cNvPr>
          <p:cNvGraphicFramePr>
            <a:graphicFrameLocks noGrp="1"/>
          </p:cNvGraphicFramePr>
          <p:nvPr>
            <p:extLst>
              <p:ext uri="{D42A27DB-BD31-4B8C-83A1-F6EECF244321}">
                <p14:modId xmlns:p14="http://schemas.microsoft.com/office/powerpoint/2010/main" val="1419386144"/>
              </p:ext>
            </p:extLst>
          </p:nvPr>
        </p:nvGraphicFramePr>
        <p:xfrm>
          <a:off x="721453" y="2162191"/>
          <a:ext cx="11132190" cy="4370124"/>
        </p:xfrm>
        <a:graphic>
          <a:graphicData uri="http://schemas.openxmlformats.org/drawingml/2006/table">
            <a:tbl>
              <a:tblPr/>
              <a:tblGrid>
                <a:gridCol w="3187817">
                  <a:extLst>
                    <a:ext uri="{9D8B030D-6E8A-4147-A177-3AD203B41FA5}">
                      <a16:colId xmlns:a16="http://schemas.microsoft.com/office/drawing/2014/main" val="1042596813"/>
                    </a:ext>
                  </a:extLst>
                </a:gridCol>
                <a:gridCol w="4538444">
                  <a:extLst>
                    <a:ext uri="{9D8B030D-6E8A-4147-A177-3AD203B41FA5}">
                      <a16:colId xmlns:a16="http://schemas.microsoft.com/office/drawing/2014/main" val="3590441926"/>
                    </a:ext>
                  </a:extLst>
                </a:gridCol>
                <a:gridCol w="3405929">
                  <a:extLst>
                    <a:ext uri="{9D8B030D-6E8A-4147-A177-3AD203B41FA5}">
                      <a16:colId xmlns:a16="http://schemas.microsoft.com/office/drawing/2014/main" val="2975597746"/>
                    </a:ext>
                  </a:extLst>
                </a:gridCol>
              </a:tblGrid>
              <a:tr h="271959">
                <a:tc>
                  <a:txBody>
                    <a:bodyPr/>
                    <a:lstStyle/>
                    <a:p>
                      <a:r>
                        <a:rPr lang="fr-FR" sz="1400" b="1" dirty="0">
                          <a:solidFill>
                            <a:schemeClr val="bg1"/>
                          </a:solidFill>
                          <a:latin typeface="Aptos" panose="020B0004020202020204" pitchFamily="34" charset="0"/>
                        </a:rPr>
                        <a:t>Étape</a:t>
                      </a:r>
                    </a:p>
                  </a:txBody>
                  <a:tcPr marL="67990" marR="67990" marT="33995" marB="33995"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Action</a:t>
                      </a:r>
                    </a:p>
                  </a:txBody>
                  <a:tcPr marL="67990" marR="67990" marT="33995" marB="33995"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Source de données</a:t>
                      </a:r>
                    </a:p>
                  </a:txBody>
                  <a:tcPr marL="67990" marR="67990" marT="33995" marB="33995" anchor="ctr">
                    <a:lnL>
                      <a:noFill/>
                    </a:lnL>
                    <a:lnR>
                      <a:noFill/>
                    </a:lnR>
                    <a:lnT>
                      <a:noFill/>
                    </a:lnT>
                    <a:lnB>
                      <a:noFill/>
                    </a:lnB>
                    <a:solidFill>
                      <a:srgbClr val="F37504"/>
                    </a:solidFill>
                  </a:tcPr>
                </a:tc>
                <a:extLst>
                  <a:ext uri="{0D108BD9-81ED-4DB2-BD59-A6C34878D82A}">
                    <a16:rowId xmlns:a16="http://schemas.microsoft.com/office/drawing/2014/main" val="1337283717"/>
                  </a:ext>
                </a:extLst>
              </a:tr>
              <a:tr h="475928">
                <a:tc>
                  <a:txBody>
                    <a:bodyPr/>
                    <a:lstStyle/>
                    <a:p>
                      <a:r>
                        <a:rPr lang="fr-FR" sz="1400" dirty="0">
                          <a:latin typeface="Aptos" panose="020B0004020202020204" pitchFamily="34" charset="0"/>
                        </a:rPr>
                        <a:t>1. Identifier les services</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Lister les actes de service consommant le produit</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Protocoles cliniques nationaux</a:t>
                      </a:r>
                    </a:p>
                  </a:txBody>
                  <a:tcPr marL="67990" marR="67990" marT="33995" marB="33995" anchor="ctr">
                    <a:lnL>
                      <a:noFill/>
                    </a:lnL>
                    <a:lnR>
                      <a:noFill/>
                    </a:lnR>
                    <a:lnT>
                      <a:noFill/>
                    </a:lnT>
                    <a:lnB>
                      <a:noFill/>
                    </a:lnB>
                  </a:tcPr>
                </a:tc>
                <a:extLst>
                  <a:ext uri="{0D108BD9-81ED-4DB2-BD59-A6C34878D82A}">
                    <a16:rowId xmlns:a16="http://schemas.microsoft.com/office/drawing/2014/main" val="4060193356"/>
                  </a:ext>
                </a:extLst>
              </a:tr>
              <a:tr h="475928">
                <a:tc>
                  <a:txBody>
                    <a:bodyPr/>
                    <a:lstStyle/>
                    <a:p>
                      <a:r>
                        <a:rPr lang="fr-FR" sz="1400" dirty="0">
                          <a:latin typeface="Aptos" panose="020B0004020202020204" pitchFamily="34" charset="0"/>
                        </a:rPr>
                        <a:t>2. Collecter les données de service</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Registres d'activités, rapports mensuels, DHIS2</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Formations sanitaires</a:t>
                      </a:r>
                    </a:p>
                  </a:txBody>
                  <a:tcPr marL="67990" marR="67990" marT="33995" marB="33995" anchor="ctr">
                    <a:lnL>
                      <a:noFill/>
                    </a:lnL>
                    <a:lnR>
                      <a:noFill/>
                    </a:lnR>
                    <a:lnT>
                      <a:noFill/>
                    </a:lnT>
                    <a:lnB>
                      <a:noFill/>
                    </a:lnB>
                    <a:solidFill>
                      <a:schemeClr val="bg2">
                        <a:lumMod val="90000"/>
                      </a:schemeClr>
                    </a:solidFill>
                  </a:tcPr>
                </a:tc>
                <a:extLst>
                  <a:ext uri="{0D108BD9-81ED-4DB2-BD59-A6C34878D82A}">
                    <a16:rowId xmlns:a16="http://schemas.microsoft.com/office/drawing/2014/main" val="632649242"/>
                  </a:ext>
                </a:extLst>
              </a:tr>
              <a:tr h="475928">
                <a:tc>
                  <a:txBody>
                    <a:bodyPr/>
                    <a:lstStyle/>
                    <a:p>
                      <a:r>
                        <a:rPr lang="fr-FR" sz="1400" dirty="0">
                          <a:latin typeface="Aptos" panose="020B0004020202020204" pitchFamily="34" charset="0"/>
                        </a:rPr>
                        <a:t>3. Vérifier la cohérence</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Contrôles de cohérence entre indicateurs liés</a:t>
                      </a:r>
                    </a:p>
                  </a:txBody>
                  <a:tcPr marL="67990" marR="67990" marT="33995" marB="33995" anchor="ctr">
                    <a:lnL>
                      <a:noFill/>
                    </a:lnL>
                    <a:lnR>
                      <a:noFill/>
                    </a:lnR>
                    <a:lnT>
                      <a:noFill/>
                    </a:lnT>
                    <a:lnB>
                      <a:noFill/>
                    </a:lnB>
                  </a:tcPr>
                </a:tc>
                <a:tc>
                  <a:txBody>
                    <a:bodyPr/>
                    <a:lstStyle/>
                    <a:p>
                      <a:r>
                        <a:rPr lang="fr-FR" sz="1400">
                          <a:latin typeface="Aptos" panose="020B0004020202020204" pitchFamily="34" charset="0"/>
                        </a:rPr>
                        <a:t>Analyse interne</a:t>
                      </a:r>
                    </a:p>
                  </a:txBody>
                  <a:tcPr marL="67990" marR="67990" marT="33995" marB="33995" anchor="ctr">
                    <a:lnL>
                      <a:noFill/>
                    </a:lnL>
                    <a:lnR>
                      <a:noFill/>
                    </a:lnR>
                    <a:lnT>
                      <a:noFill/>
                    </a:lnT>
                    <a:lnB>
                      <a:noFill/>
                    </a:lnB>
                  </a:tcPr>
                </a:tc>
                <a:extLst>
                  <a:ext uri="{0D108BD9-81ED-4DB2-BD59-A6C34878D82A}">
                    <a16:rowId xmlns:a16="http://schemas.microsoft.com/office/drawing/2014/main" val="2212701093"/>
                  </a:ext>
                </a:extLst>
              </a:tr>
              <a:tr h="475928">
                <a:tc>
                  <a:txBody>
                    <a:bodyPr/>
                    <a:lstStyle/>
                    <a:p>
                      <a:r>
                        <a:rPr lang="fr-FR" sz="1400" dirty="0">
                          <a:latin typeface="Aptos" panose="020B0004020202020204" pitchFamily="34" charset="0"/>
                        </a:rPr>
                        <a:t>4. Projeter les actes futurs</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Appliquer le taux de croissance historique</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Tendance des 3 dernières années</a:t>
                      </a:r>
                    </a:p>
                  </a:txBody>
                  <a:tcPr marL="67990" marR="67990" marT="33995" marB="33995" anchor="ctr">
                    <a:lnL>
                      <a:noFill/>
                    </a:lnL>
                    <a:lnR>
                      <a:noFill/>
                    </a:lnR>
                    <a:lnT>
                      <a:noFill/>
                    </a:lnT>
                    <a:lnB>
                      <a:noFill/>
                    </a:lnB>
                    <a:solidFill>
                      <a:schemeClr val="bg2">
                        <a:lumMod val="90000"/>
                      </a:schemeClr>
                    </a:solidFill>
                  </a:tcPr>
                </a:tc>
                <a:extLst>
                  <a:ext uri="{0D108BD9-81ED-4DB2-BD59-A6C34878D82A}">
                    <a16:rowId xmlns:a16="http://schemas.microsoft.com/office/drawing/2014/main" val="508965386"/>
                  </a:ext>
                </a:extLst>
              </a:tr>
              <a:tr h="475928">
                <a:tc>
                  <a:txBody>
                    <a:bodyPr/>
                    <a:lstStyle/>
                    <a:p>
                      <a:r>
                        <a:rPr lang="fr-FR" sz="1400">
                          <a:latin typeface="Aptos" panose="020B0004020202020204" pitchFamily="34" charset="0"/>
                        </a:rPr>
                        <a:t>5. Définir les normes par acte</a:t>
                      </a:r>
                    </a:p>
                  </a:txBody>
                  <a:tcPr marL="67990" marR="67990" marT="33995" marB="33995" anchor="ctr">
                    <a:lnL>
                      <a:noFill/>
                    </a:lnL>
                    <a:lnR>
                      <a:noFill/>
                    </a:lnR>
                    <a:lnT>
                      <a:noFill/>
                    </a:lnT>
                    <a:lnB>
                      <a:noFill/>
                    </a:lnB>
                  </a:tcPr>
                </a:tc>
                <a:tc>
                  <a:txBody>
                    <a:bodyPr/>
                    <a:lstStyle/>
                    <a:p>
                      <a:r>
                        <a:rPr lang="fr-FR" sz="1400">
                          <a:latin typeface="Aptos" panose="020B0004020202020204" pitchFamily="34" charset="0"/>
                        </a:rPr>
                        <a:t>Quantité de produit par acte selon le protocole</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Guide national, protocoles programmes</a:t>
                      </a:r>
                    </a:p>
                  </a:txBody>
                  <a:tcPr marL="67990" marR="67990" marT="33995" marB="33995" anchor="ctr">
                    <a:lnL>
                      <a:noFill/>
                    </a:lnL>
                    <a:lnR>
                      <a:noFill/>
                    </a:lnR>
                    <a:lnT>
                      <a:noFill/>
                    </a:lnT>
                    <a:lnB>
                      <a:noFill/>
                    </a:lnB>
                  </a:tcPr>
                </a:tc>
                <a:extLst>
                  <a:ext uri="{0D108BD9-81ED-4DB2-BD59-A6C34878D82A}">
                    <a16:rowId xmlns:a16="http://schemas.microsoft.com/office/drawing/2014/main" val="1229099113"/>
                  </a:ext>
                </a:extLst>
              </a:tr>
              <a:tr h="475928">
                <a:tc>
                  <a:txBody>
                    <a:bodyPr/>
                    <a:lstStyle/>
                    <a:p>
                      <a:r>
                        <a:rPr lang="fr-FR" sz="1400" dirty="0">
                          <a:latin typeface="Aptos" panose="020B0004020202020204" pitchFamily="34" charset="0"/>
                        </a:rPr>
                        <a:t>6. Calculer les besoins bruts</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Nombre d'actes projetés × Norme par acte</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Calcul</a:t>
                      </a:r>
                    </a:p>
                  </a:txBody>
                  <a:tcPr marL="67990" marR="67990" marT="33995" marB="33995" anchor="ctr">
                    <a:lnL>
                      <a:noFill/>
                    </a:lnL>
                    <a:lnR>
                      <a:noFill/>
                    </a:lnR>
                    <a:lnT>
                      <a:noFill/>
                    </a:lnT>
                    <a:lnB>
                      <a:noFill/>
                    </a:lnB>
                    <a:solidFill>
                      <a:schemeClr val="bg2">
                        <a:lumMod val="90000"/>
                      </a:schemeClr>
                    </a:solidFill>
                  </a:tcPr>
                </a:tc>
                <a:extLst>
                  <a:ext uri="{0D108BD9-81ED-4DB2-BD59-A6C34878D82A}">
                    <a16:rowId xmlns:a16="http://schemas.microsoft.com/office/drawing/2014/main" val="2621662045"/>
                  </a:ext>
                </a:extLst>
              </a:tr>
              <a:tr h="271959">
                <a:tc>
                  <a:txBody>
                    <a:bodyPr/>
                    <a:lstStyle/>
                    <a:p>
                      <a:r>
                        <a:rPr lang="fr-FR" sz="1400">
                          <a:latin typeface="Aptos" panose="020B0004020202020204" pitchFamily="34" charset="0"/>
                        </a:rPr>
                        <a:t>7. Ajouter le stock de sécurité</a:t>
                      </a:r>
                    </a:p>
                  </a:txBody>
                  <a:tcPr marL="67990" marR="67990" marT="33995" marB="33995" anchor="ctr">
                    <a:lnL>
                      <a:noFill/>
                    </a:lnL>
                    <a:lnR>
                      <a:noFill/>
                    </a:lnR>
                    <a:lnT>
                      <a:noFill/>
                    </a:lnT>
                    <a:lnB>
                      <a:noFill/>
                    </a:lnB>
                  </a:tcPr>
                </a:tc>
                <a:tc>
                  <a:txBody>
                    <a:bodyPr/>
                    <a:lstStyle/>
                    <a:p>
                      <a:r>
                        <a:rPr lang="fr-FR" sz="1400">
                          <a:latin typeface="Aptos" panose="020B0004020202020204" pitchFamily="34" charset="0"/>
                        </a:rPr>
                        <a:t>CMM équivalente × 2 mois</a:t>
                      </a:r>
                    </a:p>
                  </a:txBody>
                  <a:tcPr marL="67990" marR="67990" marT="33995" marB="33995" anchor="ctr">
                    <a:lnL>
                      <a:noFill/>
                    </a:lnL>
                    <a:lnR>
                      <a:noFill/>
                    </a:lnR>
                    <a:lnT>
                      <a:noFill/>
                    </a:lnT>
                    <a:lnB>
                      <a:noFill/>
                    </a:lnB>
                  </a:tcPr>
                </a:tc>
                <a:tc>
                  <a:txBody>
                    <a:bodyPr/>
                    <a:lstStyle/>
                    <a:p>
                      <a:r>
                        <a:rPr lang="fr-FR" sz="1400">
                          <a:latin typeface="Aptos" panose="020B0004020202020204" pitchFamily="34" charset="0"/>
                        </a:rPr>
                        <a:t>Politique nationale</a:t>
                      </a:r>
                    </a:p>
                  </a:txBody>
                  <a:tcPr marL="67990" marR="67990" marT="33995" marB="33995" anchor="ctr">
                    <a:lnL>
                      <a:noFill/>
                    </a:lnL>
                    <a:lnR>
                      <a:noFill/>
                    </a:lnR>
                    <a:lnT>
                      <a:noFill/>
                    </a:lnT>
                    <a:lnB>
                      <a:noFill/>
                    </a:lnB>
                  </a:tcPr>
                </a:tc>
                <a:extLst>
                  <a:ext uri="{0D108BD9-81ED-4DB2-BD59-A6C34878D82A}">
                    <a16:rowId xmlns:a16="http://schemas.microsoft.com/office/drawing/2014/main" val="3857467193"/>
                  </a:ext>
                </a:extLst>
              </a:tr>
              <a:tr h="475928">
                <a:tc>
                  <a:txBody>
                    <a:bodyPr/>
                    <a:lstStyle/>
                    <a:p>
                      <a:r>
                        <a:rPr lang="fr-FR" sz="1400" dirty="0">
                          <a:latin typeface="Aptos" panose="020B0004020202020204" pitchFamily="34" charset="0"/>
                        </a:rPr>
                        <a:t>8. Déduire stock disponible et transit</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Inventaire physique + commandes en cours</a:t>
                      </a:r>
                    </a:p>
                  </a:txBody>
                  <a:tcPr marL="67990" marR="67990" marT="33995" marB="33995"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Gestionnaire</a:t>
                      </a:r>
                    </a:p>
                  </a:txBody>
                  <a:tcPr marL="67990" marR="67990" marT="33995" marB="33995" anchor="ctr">
                    <a:lnL>
                      <a:noFill/>
                    </a:lnL>
                    <a:lnR>
                      <a:noFill/>
                    </a:lnR>
                    <a:lnT>
                      <a:noFill/>
                    </a:lnT>
                    <a:lnB>
                      <a:noFill/>
                    </a:lnB>
                    <a:solidFill>
                      <a:schemeClr val="bg2">
                        <a:lumMod val="90000"/>
                      </a:schemeClr>
                    </a:solidFill>
                  </a:tcPr>
                </a:tc>
                <a:extLst>
                  <a:ext uri="{0D108BD9-81ED-4DB2-BD59-A6C34878D82A}">
                    <a16:rowId xmlns:a16="http://schemas.microsoft.com/office/drawing/2014/main" val="1811934302"/>
                  </a:ext>
                </a:extLst>
              </a:tr>
              <a:tr h="475928">
                <a:tc>
                  <a:txBody>
                    <a:bodyPr/>
                    <a:lstStyle/>
                    <a:p>
                      <a:r>
                        <a:rPr lang="fr-FR" sz="1400">
                          <a:latin typeface="Aptos" panose="020B0004020202020204" pitchFamily="34" charset="0"/>
                        </a:rPr>
                        <a:t>9. Consolider si multi-sites</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Agréger les besoins de toutes les formations sanitaires</a:t>
                      </a:r>
                    </a:p>
                  </a:txBody>
                  <a:tcPr marL="67990" marR="67990" marT="33995" marB="33995" anchor="ctr">
                    <a:lnL>
                      <a:noFill/>
                    </a:lnL>
                    <a:lnR>
                      <a:noFill/>
                    </a:lnR>
                    <a:lnT>
                      <a:noFill/>
                    </a:lnT>
                    <a:lnB>
                      <a:noFill/>
                    </a:lnB>
                  </a:tcPr>
                </a:tc>
                <a:tc>
                  <a:txBody>
                    <a:bodyPr/>
                    <a:lstStyle/>
                    <a:p>
                      <a:r>
                        <a:rPr lang="fr-FR" sz="1400" dirty="0">
                          <a:latin typeface="Aptos" panose="020B0004020202020204" pitchFamily="34" charset="0"/>
                        </a:rPr>
                        <a:t>Système d'information</a:t>
                      </a:r>
                    </a:p>
                  </a:txBody>
                  <a:tcPr marL="67990" marR="67990" marT="33995" marB="33995" anchor="ctr">
                    <a:lnL>
                      <a:noFill/>
                    </a:lnL>
                    <a:lnR>
                      <a:noFill/>
                    </a:lnR>
                    <a:lnT>
                      <a:noFill/>
                    </a:lnT>
                    <a:lnB>
                      <a:noFill/>
                    </a:lnB>
                  </a:tcPr>
                </a:tc>
                <a:extLst>
                  <a:ext uri="{0D108BD9-81ED-4DB2-BD59-A6C34878D82A}">
                    <a16:rowId xmlns:a16="http://schemas.microsoft.com/office/drawing/2014/main" val="1435305888"/>
                  </a:ext>
                </a:extLst>
              </a:tr>
            </a:tbl>
          </a:graphicData>
        </a:graphic>
      </p:graphicFrame>
    </p:spTree>
    <p:extLst>
      <p:ext uri="{BB962C8B-B14F-4D97-AF65-F5344CB8AC3E}">
        <p14:creationId xmlns:p14="http://schemas.microsoft.com/office/powerpoint/2010/main" val="333723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0" name="ZoneTexte 9">
            <a:extLst>
              <a:ext uri="{FF2B5EF4-FFF2-40B4-BE49-F238E27FC236}">
                <a16:creationId xmlns:a16="http://schemas.microsoft.com/office/drawing/2014/main" id="{1C83C376-55B9-4E70-A88C-B64C9515C6A8}"/>
              </a:ext>
            </a:extLst>
          </p:cNvPr>
          <p:cNvSpPr txBox="1"/>
          <p:nvPr/>
        </p:nvSpPr>
        <p:spPr>
          <a:xfrm>
            <a:off x="753042" y="1223077"/>
            <a:ext cx="11352272" cy="5293757"/>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méthode basée sur les cibles de population est la plus prospective des quatre méthodes de quantification. Elle ne part ni de ce qui a été consommé (méthode consommation), ni du nombre de cas enregistrés (méthode morbidité), ni des actes de service réalisés (méthode services), mais de la population cible qui devrait bénéficier d'un produit ou d'une intervention sanitaire, qu'elle ait ou non déjà accès au service.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C'est la méthode des programmes d'envergure nationale ou régionale qui visent à atteindre une couverture universelle ou un objectif de couverture défini.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est particulièrement adaptée aux produits dont la distribution est planifiée de façon systématique pour une population entière ou un sous-groupe démographique précis, indépendamment d'une demande spontanée : </a:t>
            </a:r>
          </a:p>
          <a:p>
            <a:pPr marL="800100" lvl="1" indent="-342900">
              <a:buFont typeface="Courier New" panose="02070309020205020404" pitchFamily="49" charset="0"/>
              <a:buChar char="o"/>
            </a:pPr>
            <a:r>
              <a:rPr lang="fr-FR" sz="2000" dirty="0">
                <a:latin typeface="Aptos" panose="020B0004020202020204" pitchFamily="34" charset="0"/>
              </a:rPr>
              <a:t>vaccins du PEV, </a:t>
            </a:r>
          </a:p>
          <a:p>
            <a:pPr marL="800100" lvl="1" indent="-342900">
              <a:buFont typeface="Courier New" panose="02070309020205020404" pitchFamily="49" charset="0"/>
              <a:buChar char="o"/>
            </a:pPr>
            <a:r>
              <a:rPr lang="fr-FR" sz="2000" dirty="0">
                <a:latin typeface="Aptos" panose="020B0004020202020204" pitchFamily="34" charset="0"/>
              </a:rPr>
              <a:t>supplémentation en micronutriments, </a:t>
            </a:r>
          </a:p>
          <a:p>
            <a:pPr marL="800100" lvl="1" indent="-342900">
              <a:buFont typeface="Courier New" panose="02070309020205020404" pitchFamily="49" charset="0"/>
              <a:buChar char="o"/>
            </a:pPr>
            <a:r>
              <a:rPr lang="fr-FR" sz="2000" dirty="0">
                <a:latin typeface="Aptos" panose="020B0004020202020204" pitchFamily="34" charset="0"/>
              </a:rPr>
              <a:t>moustiquaires imprégnées, </a:t>
            </a:r>
          </a:p>
          <a:p>
            <a:pPr marL="800100" lvl="1" indent="-342900">
              <a:buFont typeface="Courier New" panose="02070309020205020404" pitchFamily="49" charset="0"/>
              <a:buChar char="o"/>
            </a:pPr>
            <a:r>
              <a:rPr lang="fr-FR" sz="2000" dirty="0">
                <a:latin typeface="Aptos" panose="020B0004020202020204" pitchFamily="34" charset="0"/>
              </a:rPr>
              <a:t>contraceptifs dans le cadre d'objectifs de planification familiale, </a:t>
            </a:r>
          </a:p>
          <a:p>
            <a:pPr marL="800100" lvl="1" indent="-342900">
              <a:buFont typeface="Courier New" panose="02070309020205020404" pitchFamily="49" charset="0"/>
              <a:buChar char="o"/>
            </a:pPr>
            <a:r>
              <a:rPr lang="fr-FR" sz="2000" dirty="0">
                <a:latin typeface="Aptos" panose="020B0004020202020204" pitchFamily="34" charset="0"/>
              </a:rPr>
              <a:t>traitement préventif de masse.</a:t>
            </a:r>
          </a:p>
        </p:txBody>
      </p:sp>
    </p:spTree>
    <p:extLst>
      <p:ext uri="{BB962C8B-B14F-4D97-AF65-F5344CB8AC3E}">
        <p14:creationId xmlns:p14="http://schemas.microsoft.com/office/powerpoint/2010/main" val="747840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 général de la méthode</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3042" y="2262349"/>
            <a:ext cx="10817343" cy="3785652"/>
          </a:xfrm>
          <a:prstGeom prst="rect">
            <a:avLst/>
          </a:prstGeom>
          <a:noFill/>
        </p:spPr>
        <p:txBody>
          <a:bodyPr wrap="square">
            <a:spAutoFit/>
          </a:bodyPr>
          <a:lstStyle/>
          <a:p>
            <a:r>
              <a:rPr lang="fr-FR" sz="2000" b="1" dirty="0">
                <a:latin typeface="Aptos" panose="020B0004020202020204" pitchFamily="34" charset="0"/>
              </a:rPr>
              <a:t>Besoin total = Population cible × Taux de couverture visé × Quantité de produit par personne cible</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dirty="0">
                <a:latin typeface="Aptos" panose="020B0004020202020204" pitchFamily="34" charset="0"/>
              </a:rPr>
              <a:t>Les trois composantes sont distinctes et doivent chacune être estimées avec soin :</a:t>
            </a:r>
          </a:p>
          <a:p>
            <a:pPr marL="800100" lvl="1" indent="-342900">
              <a:buFont typeface="Courier New" panose="02070309020205020404" pitchFamily="49" charset="0"/>
              <a:buChar char="o"/>
            </a:pPr>
            <a:r>
              <a:rPr lang="fr-FR" sz="2000" b="1" dirty="0">
                <a:latin typeface="Aptos" panose="020B0004020202020204" pitchFamily="34" charset="0"/>
              </a:rPr>
              <a:t>Population cible </a:t>
            </a:r>
            <a:r>
              <a:rPr lang="fr-FR" sz="2000" dirty="0">
                <a:latin typeface="Aptos" panose="020B0004020202020204" pitchFamily="34" charset="0"/>
              </a:rPr>
              <a:t>: le sous-groupe de la population qui doit recevoir le produit (enfants de 6 à 59 mois, femmes enceintes, adultes de 15 à 49 ans, etc.)</a:t>
            </a:r>
          </a:p>
          <a:p>
            <a:pPr marL="800100" lvl="1" indent="-342900">
              <a:buFont typeface="Courier New" panose="02070309020205020404" pitchFamily="49" charset="0"/>
              <a:buChar char="o"/>
            </a:pPr>
            <a:endParaRPr lang="fr-FR" sz="2000" dirty="0">
              <a:latin typeface="Aptos" panose="020B0004020202020204" pitchFamily="34" charset="0"/>
            </a:endParaRPr>
          </a:p>
          <a:p>
            <a:pPr marL="800100" lvl="1" indent="-342900">
              <a:buFont typeface="Courier New" panose="02070309020205020404" pitchFamily="49" charset="0"/>
              <a:buChar char="o"/>
            </a:pPr>
            <a:r>
              <a:rPr lang="fr-FR" sz="2000" b="1" dirty="0">
                <a:latin typeface="Aptos" panose="020B0004020202020204" pitchFamily="34" charset="0"/>
              </a:rPr>
              <a:t>Taux de couverture visé </a:t>
            </a:r>
            <a:r>
              <a:rPr lang="fr-FR" sz="2000" dirty="0">
                <a:latin typeface="Aptos" panose="020B0004020202020204" pitchFamily="34" charset="0"/>
              </a:rPr>
              <a:t>: la proportion de la population cible qui doit effectivement recevoir le produit (objectif du programme)</a:t>
            </a:r>
          </a:p>
          <a:p>
            <a:pPr marL="800100" lvl="1" indent="-342900">
              <a:buFont typeface="Courier New" panose="02070309020205020404" pitchFamily="49" charset="0"/>
              <a:buChar char="o"/>
            </a:pPr>
            <a:endParaRPr lang="fr-FR" sz="2000" dirty="0">
              <a:latin typeface="Aptos" panose="020B0004020202020204" pitchFamily="34" charset="0"/>
            </a:endParaRPr>
          </a:p>
          <a:p>
            <a:pPr marL="800100" lvl="1" indent="-342900">
              <a:buFont typeface="Courier New" panose="02070309020205020404" pitchFamily="49" charset="0"/>
              <a:buChar char="o"/>
            </a:pPr>
            <a:r>
              <a:rPr lang="fr-FR" sz="2000" b="1" dirty="0">
                <a:latin typeface="Aptos" panose="020B0004020202020204" pitchFamily="34" charset="0"/>
              </a:rPr>
              <a:t>Quantité par personne </a:t>
            </a:r>
            <a:r>
              <a:rPr lang="fr-FR" sz="2000" dirty="0">
                <a:latin typeface="Aptos" panose="020B0004020202020204" pitchFamily="34" charset="0"/>
              </a:rPr>
              <a:t>: nombre d'unités du produit administrées par personne cible (doses, comprimés, moustiquaires)</a:t>
            </a:r>
          </a:p>
        </p:txBody>
      </p:sp>
    </p:spTree>
    <p:extLst>
      <p:ext uri="{BB962C8B-B14F-4D97-AF65-F5344CB8AC3E}">
        <p14:creationId xmlns:p14="http://schemas.microsoft.com/office/powerpoint/2010/main" val="313381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Estimation de la population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Les sources de données démographiques</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2554545"/>
          </a:xfrm>
          <a:prstGeom prst="rect">
            <a:avLst/>
          </a:prstGeom>
          <a:noFill/>
        </p:spPr>
        <p:txBody>
          <a:bodyPr wrap="square">
            <a:spAutoFit/>
          </a:bodyPr>
          <a:lstStyle/>
          <a:p>
            <a:r>
              <a:rPr lang="fr-FR" sz="2000" b="1" dirty="0">
                <a:latin typeface="Aptos" panose="020B0004020202020204" pitchFamily="34" charset="0"/>
              </a:rPr>
              <a:t>Source 1 — Le recensement général de la population</a:t>
            </a:r>
          </a:p>
          <a:p>
            <a:pPr marL="285750" indent="-285750">
              <a:buFont typeface="Arial" panose="020B0604020202020204" pitchFamily="34" charset="0"/>
              <a:buChar char="•"/>
            </a:pPr>
            <a:r>
              <a:rPr lang="fr-FR" sz="2000" dirty="0">
                <a:latin typeface="Aptos" panose="020B0004020202020204" pitchFamily="34" charset="0"/>
              </a:rPr>
              <a:t>C'est la source la plus fiable. Il fournit des données précises sur la structure par âge et par sexe de la population à la date du recensement.</a:t>
            </a:r>
          </a:p>
          <a:p>
            <a:pPr marL="285750" indent="-285750">
              <a:buFont typeface="Arial" panose="020B0604020202020204" pitchFamily="34" charset="0"/>
              <a:buChar char="•"/>
            </a:pPr>
            <a:endParaRPr lang="fr-FR" sz="2000" dirty="0">
              <a:latin typeface="Aptos" panose="020B0004020202020204" pitchFamily="34" charset="0"/>
            </a:endParaRPr>
          </a:p>
          <a:p>
            <a:pPr marL="285750" indent="-285750">
              <a:buFont typeface="Arial" panose="020B0604020202020204" pitchFamily="34" charset="0"/>
              <a:buChar char="•"/>
            </a:pPr>
            <a:r>
              <a:rPr lang="fr-FR" sz="2000" b="1" dirty="0">
                <a:latin typeface="Aptos" panose="020B0004020202020204" pitchFamily="34" charset="0"/>
              </a:rPr>
              <a:t>Limite principale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Les recensements sont réalisés tous les 10 ans en moyenne. </a:t>
            </a:r>
          </a:p>
          <a:p>
            <a:pPr marL="800100" lvl="1" indent="-342900">
              <a:buFont typeface="Courier New" panose="02070309020205020404" pitchFamily="49" charset="0"/>
              <a:buChar char="o"/>
            </a:pPr>
            <a:r>
              <a:rPr lang="fr-FR" sz="2000" dirty="0">
                <a:latin typeface="Aptos" panose="020B0004020202020204" pitchFamily="34" charset="0"/>
              </a:rPr>
              <a:t>Entre deux recensements, les données vieillissent et doivent être mises à jour par projection.</a:t>
            </a:r>
          </a:p>
        </p:txBody>
      </p:sp>
    </p:spTree>
    <p:extLst>
      <p:ext uri="{BB962C8B-B14F-4D97-AF65-F5344CB8AC3E}">
        <p14:creationId xmlns:p14="http://schemas.microsoft.com/office/powerpoint/2010/main" val="29963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Estimation de la population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Les sources de données démographiques</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1938992"/>
          </a:xfrm>
          <a:prstGeom prst="rect">
            <a:avLst/>
          </a:prstGeom>
          <a:noFill/>
        </p:spPr>
        <p:txBody>
          <a:bodyPr wrap="square">
            <a:spAutoFit/>
          </a:bodyPr>
          <a:lstStyle/>
          <a:p>
            <a:r>
              <a:rPr lang="fr-FR" sz="2000" b="1" dirty="0">
                <a:latin typeface="Aptos" panose="020B0004020202020204" pitchFamily="34" charset="0"/>
              </a:rPr>
              <a:t>Source 2 — Les projections démographiques</a:t>
            </a:r>
          </a:p>
          <a:p>
            <a:pPr marL="342900" indent="-342900">
              <a:buFont typeface="Arial" panose="020B0604020202020204" pitchFamily="34" charset="0"/>
              <a:buChar char="•"/>
            </a:pPr>
            <a:r>
              <a:rPr lang="fr-FR" sz="2000" dirty="0">
                <a:latin typeface="Aptos" panose="020B0004020202020204" pitchFamily="34" charset="0"/>
              </a:rPr>
              <a:t>À partir des données du dernier recensement, les instituts nationaux de statistique calculent des projections annuelles en appliquant les taux de natalité, mortalité et migration.</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Formule de projection : </a:t>
            </a:r>
            <a:r>
              <a:rPr lang="fr-FR" sz="2000" b="1" dirty="0">
                <a:latin typeface="Aptos" panose="020B0004020202020204" pitchFamily="34" charset="0"/>
              </a:rPr>
              <a:t>Population année N = Population recensement × (1 + Taux de croissance annuel)^(N − Année recensement)</a:t>
            </a:r>
          </a:p>
        </p:txBody>
      </p:sp>
    </p:spTree>
    <p:extLst>
      <p:ext uri="{BB962C8B-B14F-4D97-AF65-F5344CB8AC3E}">
        <p14:creationId xmlns:p14="http://schemas.microsoft.com/office/powerpoint/2010/main" val="155457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Estimation de la population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Les sources de données démographiques</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1323439"/>
          </a:xfrm>
          <a:prstGeom prst="rect">
            <a:avLst/>
          </a:prstGeom>
          <a:noFill/>
        </p:spPr>
        <p:txBody>
          <a:bodyPr wrap="square">
            <a:spAutoFit/>
          </a:bodyPr>
          <a:lstStyle/>
          <a:p>
            <a:r>
              <a:rPr lang="fr-FR" sz="2000" b="1" dirty="0">
                <a:latin typeface="Aptos" panose="020B0004020202020204" pitchFamily="34" charset="0"/>
              </a:rPr>
              <a:t>Source 3 — Les données DHIS2 et les dénombrements administratifs</a:t>
            </a:r>
          </a:p>
          <a:p>
            <a:pPr marL="342900" indent="-342900">
              <a:buFont typeface="Arial" panose="020B0604020202020204" pitchFamily="34" charset="0"/>
              <a:buChar char="•"/>
            </a:pPr>
            <a:r>
              <a:rPr lang="fr-FR" sz="2000" dirty="0">
                <a:latin typeface="Aptos" panose="020B0004020202020204" pitchFamily="34" charset="0"/>
              </a:rPr>
              <a:t>Pour les niveaux district et infranationaux, les dénombrements administratifs annuels (recensements administratifs, dénombrements communautaires) fournissent des données plus récentes et localisées.</a:t>
            </a:r>
          </a:p>
        </p:txBody>
      </p:sp>
    </p:spTree>
    <p:extLst>
      <p:ext uri="{BB962C8B-B14F-4D97-AF65-F5344CB8AC3E}">
        <p14:creationId xmlns:p14="http://schemas.microsoft.com/office/powerpoint/2010/main" val="338648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Estimation de la population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Calcul des sous-groupes de population cible</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1323439"/>
          </a:xfrm>
          <a:prstGeom prst="rect">
            <a:avLst/>
          </a:prstGeom>
          <a:noFill/>
        </p:spPr>
        <p:txBody>
          <a:bodyPr wrap="square">
            <a:spAutoFit/>
          </a:bodyPr>
          <a:lstStyle/>
          <a:p>
            <a:r>
              <a:rPr lang="fr-FR" sz="2000" dirty="0">
                <a:latin typeface="Aptos" panose="020B0004020202020204" pitchFamily="34" charset="0"/>
              </a:rPr>
              <a:t>Les programmes de santé ciblent rarement la population totale. Ils ciblent des sous-groupes démographiques précis. </a:t>
            </a:r>
          </a:p>
          <a:p>
            <a:r>
              <a:rPr lang="fr-FR" sz="2000" dirty="0">
                <a:latin typeface="Aptos" panose="020B0004020202020204" pitchFamily="34" charset="0"/>
              </a:rPr>
              <a:t>Ces sous-groupes sont calculés en appliquant des coefficients démographiques standards à la population totale.</a:t>
            </a:r>
          </a:p>
        </p:txBody>
      </p:sp>
      <p:graphicFrame>
        <p:nvGraphicFramePr>
          <p:cNvPr id="2" name="Tableau 1">
            <a:extLst>
              <a:ext uri="{FF2B5EF4-FFF2-40B4-BE49-F238E27FC236}">
                <a16:creationId xmlns:a16="http://schemas.microsoft.com/office/drawing/2014/main" id="{EEA4F804-EF32-4959-912C-4CAA8E1B2524}"/>
              </a:ext>
            </a:extLst>
          </p:cNvPr>
          <p:cNvGraphicFramePr>
            <a:graphicFrameLocks noGrp="1"/>
          </p:cNvGraphicFramePr>
          <p:nvPr>
            <p:extLst>
              <p:ext uri="{D42A27DB-BD31-4B8C-83A1-F6EECF244321}">
                <p14:modId xmlns:p14="http://schemas.microsoft.com/office/powerpoint/2010/main" val="3482056694"/>
              </p:ext>
            </p:extLst>
          </p:nvPr>
        </p:nvGraphicFramePr>
        <p:xfrm>
          <a:off x="3716323" y="4014600"/>
          <a:ext cx="7998904" cy="2438400"/>
        </p:xfrm>
        <a:graphic>
          <a:graphicData uri="http://schemas.openxmlformats.org/drawingml/2006/table">
            <a:tbl>
              <a:tblPr/>
              <a:tblGrid>
                <a:gridCol w="3999452">
                  <a:extLst>
                    <a:ext uri="{9D8B030D-6E8A-4147-A177-3AD203B41FA5}">
                      <a16:colId xmlns:a16="http://schemas.microsoft.com/office/drawing/2014/main" val="2024561682"/>
                    </a:ext>
                  </a:extLst>
                </a:gridCol>
                <a:gridCol w="3999452">
                  <a:extLst>
                    <a:ext uri="{9D8B030D-6E8A-4147-A177-3AD203B41FA5}">
                      <a16:colId xmlns:a16="http://schemas.microsoft.com/office/drawing/2014/main" val="2402962890"/>
                    </a:ext>
                  </a:extLst>
                </a:gridCol>
              </a:tblGrid>
              <a:tr h="269831">
                <a:tc>
                  <a:txBody>
                    <a:bodyPr/>
                    <a:lstStyle/>
                    <a:p>
                      <a:r>
                        <a:rPr lang="fr-FR" sz="1400" b="1" dirty="0">
                          <a:solidFill>
                            <a:schemeClr val="bg1"/>
                          </a:solidFill>
                          <a:latin typeface="Aptos" panose="020B0004020202020204" pitchFamily="34" charset="0"/>
                        </a:rPr>
                        <a:t>Groupe cible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Coefficient appliqué à la population totale</a:t>
                      </a:r>
                    </a:p>
                  </a:txBody>
                  <a:tcPr anchor="ctr">
                    <a:lnL>
                      <a:noFill/>
                    </a:lnL>
                    <a:lnR>
                      <a:noFill/>
                    </a:lnR>
                    <a:lnT>
                      <a:noFill/>
                    </a:lnT>
                    <a:lnB>
                      <a:noFill/>
                    </a:lnB>
                    <a:solidFill>
                      <a:srgbClr val="F37504"/>
                    </a:solidFill>
                  </a:tcPr>
                </a:tc>
                <a:extLst>
                  <a:ext uri="{0D108BD9-81ED-4DB2-BD59-A6C34878D82A}">
                    <a16:rowId xmlns:a16="http://schemas.microsoft.com/office/drawing/2014/main" val="1391131855"/>
                  </a:ext>
                </a:extLst>
              </a:tr>
              <a:tr h="269831">
                <a:tc>
                  <a:txBody>
                    <a:bodyPr/>
                    <a:lstStyle/>
                    <a:p>
                      <a:r>
                        <a:rPr lang="fr-FR" sz="1400" dirty="0">
                          <a:latin typeface="Aptos" panose="020B0004020202020204" pitchFamily="34" charset="0"/>
                        </a:rPr>
                        <a:t>Naissances attendues par an</a:t>
                      </a:r>
                    </a:p>
                  </a:txBody>
                  <a:tcPr anchor="ctr">
                    <a:lnL>
                      <a:noFill/>
                    </a:lnL>
                    <a:lnR>
                      <a:noFill/>
                    </a:lnR>
                    <a:lnT>
                      <a:noFill/>
                    </a:lnT>
                    <a:lnB>
                      <a:noFill/>
                    </a:lnB>
                  </a:tcPr>
                </a:tc>
                <a:tc>
                  <a:txBody>
                    <a:bodyPr/>
                    <a:lstStyle/>
                    <a:p>
                      <a:r>
                        <a:rPr lang="fr-FR" sz="1400" dirty="0">
                          <a:latin typeface="Aptos" panose="020B0004020202020204" pitchFamily="34" charset="0"/>
                        </a:rPr>
                        <a:t>3,8% à 4,2%</a:t>
                      </a:r>
                    </a:p>
                  </a:txBody>
                  <a:tcPr anchor="ctr">
                    <a:lnL>
                      <a:noFill/>
                    </a:lnL>
                    <a:lnR>
                      <a:noFill/>
                    </a:lnR>
                    <a:lnT>
                      <a:noFill/>
                    </a:lnT>
                    <a:lnB>
                      <a:noFill/>
                    </a:lnB>
                  </a:tcPr>
                </a:tc>
                <a:extLst>
                  <a:ext uri="{0D108BD9-81ED-4DB2-BD59-A6C34878D82A}">
                    <a16:rowId xmlns:a16="http://schemas.microsoft.com/office/drawing/2014/main" val="3744574287"/>
                  </a:ext>
                </a:extLst>
              </a:tr>
              <a:tr h="269831">
                <a:tc>
                  <a:txBody>
                    <a:bodyPr/>
                    <a:lstStyle/>
                    <a:p>
                      <a:r>
                        <a:rPr lang="fr-FR" sz="1400" dirty="0">
                          <a:latin typeface="Aptos" panose="020B0004020202020204" pitchFamily="34" charset="0"/>
                        </a:rPr>
                        <a:t>Enfants de 0 à 11 mois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3,8% à 4,0%</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505982991"/>
                  </a:ext>
                </a:extLst>
              </a:tr>
              <a:tr h="269831">
                <a:tc>
                  <a:txBody>
                    <a:bodyPr/>
                    <a:lstStyle/>
                    <a:p>
                      <a:r>
                        <a:rPr lang="fr-FR" sz="1400">
                          <a:latin typeface="Aptos" panose="020B0004020202020204" pitchFamily="34" charset="0"/>
                        </a:rPr>
                        <a:t>Enfants de 0 à 59 mois</a:t>
                      </a:r>
                    </a:p>
                  </a:txBody>
                  <a:tcPr anchor="ctr">
                    <a:lnL>
                      <a:noFill/>
                    </a:lnL>
                    <a:lnR>
                      <a:noFill/>
                    </a:lnR>
                    <a:lnT>
                      <a:noFill/>
                    </a:lnT>
                    <a:lnB>
                      <a:noFill/>
                    </a:lnB>
                  </a:tcPr>
                </a:tc>
                <a:tc>
                  <a:txBody>
                    <a:bodyPr/>
                    <a:lstStyle/>
                    <a:p>
                      <a:r>
                        <a:rPr lang="fr-FR" sz="1400" dirty="0">
                          <a:latin typeface="Aptos" panose="020B0004020202020204" pitchFamily="34" charset="0"/>
                        </a:rPr>
                        <a:t>17% à 19%</a:t>
                      </a:r>
                    </a:p>
                  </a:txBody>
                  <a:tcPr anchor="ctr">
                    <a:lnL>
                      <a:noFill/>
                    </a:lnL>
                    <a:lnR>
                      <a:noFill/>
                    </a:lnR>
                    <a:lnT>
                      <a:noFill/>
                    </a:lnT>
                    <a:lnB>
                      <a:noFill/>
                    </a:lnB>
                  </a:tcPr>
                </a:tc>
                <a:extLst>
                  <a:ext uri="{0D108BD9-81ED-4DB2-BD59-A6C34878D82A}">
                    <a16:rowId xmlns:a16="http://schemas.microsoft.com/office/drawing/2014/main" val="1459485616"/>
                  </a:ext>
                </a:extLst>
              </a:tr>
              <a:tr h="269831">
                <a:tc>
                  <a:txBody>
                    <a:bodyPr/>
                    <a:lstStyle/>
                    <a:p>
                      <a:r>
                        <a:rPr lang="fr-FR" sz="1400" dirty="0">
                          <a:latin typeface="Aptos" panose="020B0004020202020204" pitchFamily="34" charset="0"/>
                        </a:rPr>
                        <a:t>Enfants de 6 à 59 mois (supplémentation Vit A)</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15% à 16%</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010516876"/>
                  </a:ext>
                </a:extLst>
              </a:tr>
              <a:tr h="269831">
                <a:tc>
                  <a:txBody>
                    <a:bodyPr/>
                    <a:lstStyle/>
                    <a:p>
                      <a:r>
                        <a:rPr lang="fr-FR" sz="1400" dirty="0">
                          <a:latin typeface="Aptos" panose="020B0004020202020204" pitchFamily="34" charset="0"/>
                        </a:rPr>
                        <a:t>Femmes enceintes</a:t>
                      </a:r>
                    </a:p>
                  </a:txBody>
                  <a:tcPr anchor="ctr">
                    <a:lnL>
                      <a:noFill/>
                    </a:lnL>
                    <a:lnR>
                      <a:noFill/>
                    </a:lnR>
                    <a:lnT>
                      <a:noFill/>
                    </a:lnT>
                    <a:lnB>
                      <a:noFill/>
                    </a:lnB>
                  </a:tcPr>
                </a:tc>
                <a:tc>
                  <a:txBody>
                    <a:bodyPr/>
                    <a:lstStyle/>
                    <a:p>
                      <a:r>
                        <a:rPr lang="fr-FR" sz="1400" dirty="0">
                          <a:latin typeface="Aptos" panose="020B0004020202020204" pitchFamily="34" charset="0"/>
                        </a:rPr>
                        <a:t>4,5% à 5,0%</a:t>
                      </a:r>
                    </a:p>
                  </a:txBody>
                  <a:tcPr anchor="ctr">
                    <a:lnL>
                      <a:noFill/>
                    </a:lnL>
                    <a:lnR>
                      <a:noFill/>
                    </a:lnR>
                    <a:lnT>
                      <a:noFill/>
                    </a:lnT>
                    <a:lnB>
                      <a:noFill/>
                    </a:lnB>
                  </a:tcPr>
                </a:tc>
                <a:extLst>
                  <a:ext uri="{0D108BD9-81ED-4DB2-BD59-A6C34878D82A}">
                    <a16:rowId xmlns:a16="http://schemas.microsoft.com/office/drawing/2014/main" val="1237257828"/>
                  </a:ext>
                </a:extLst>
              </a:tr>
              <a:tr h="269831">
                <a:tc>
                  <a:txBody>
                    <a:bodyPr/>
                    <a:lstStyle/>
                    <a:p>
                      <a:r>
                        <a:rPr lang="fr-FR" sz="1400" dirty="0">
                          <a:latin typeface="Aptos" panose="020B0004020202020204" pitchFamily="34" charset="0"/>
                        </a:rPr>
                        <a:t>Femmes en âge de procréer (15-49 ans)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22% à 24%</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520302079"/>
                  </a:ext>
                </a:extLst>
              </a:tr>
              <a:tr h="269831">
                <a:tc>
                  <a:txBody>
                    <a:bodyPr/>
                    <a:lstStyle/>
                    <a:p>
                      <a:r>
                        <a:rPr lang="fr-FR" sz="1400">
                          <a:latin typeface="Aptos" panose="020B0004020202020204" pitchFamily="34" charset="0"/>
                        </a:rPr>
                        <a:t>Ménages (pour les moustiquaires)</a:t>
                      </a:r>
                    </a:p>
                  </a:txBody>
                  <a:tcPr anchor="ctr">
                    <a:lnL>
                      <a:noFill/>
                    </a:lnL>
                    <a:lnR>
                      <a:noFill/>
                    </a:lnR>
                    <a:lnT>
                      <a:noFill/>
                    </a:lnT>
                    <a:lnB>
                      <a:noFill/>
                    </a:lnB>
                  </a:tcPr>
                </a:tc>
                <a:tc>
                  <a:txBody>
                    <a:bodyPr/>
                    <a:lstStyle/>
                    <a:p>
                      <a:r>
                        <a:rPr lang="fr-FR" sz="1400" dirty="0">
                          <a:latin typeface="Aptos" panose="020B0004020202020204" pitchFamily="34" charset="0"/>
                        </a:rPr>
                        <a:t>Population totale ÷ 5 à 5,5</a:t>
                      </a:r>
                    </a:p>
                  </a:txBody>
                  <a:tcPr anchor="ctr">
                    <a:lnL>
                      <a:noFill/>
                    </a:lnL>
                    <a:lnR>
                      <a:noFill/>
                    </a:lnR>
                    <a:lnT>
                      <a:noFill/>
                    </a:lnT>
                    <a:lnB>
                      <a:noFill/>
                    </a:lnB>
                  </a:tcPr>
                </a:tc>
                <a:extLst>
                  <a:ext uri="{0D108BD9-81ED-4DB2-BD59-A6C34878D82A}">
                    <a16:rowId xmlns:a16="http://schemas.microsoft.com/office/drawing/2014/main" val="618574384"/>
                  </a:ext>
                </a:extLst>
              </a:tr>
            </a:tbl>
          </a:graphicData>
        </a:graphic>
      </p:graphicFrame>
      <p:sp>
        <p:nvSpPr>
          <p:cNvPr id="13" name="ZoneTexte 12">
            <a:extLst>
              <a:ext uri="{FF2B5EF4-FFF2-40B4-BE49-F238E27FC236}">
                <a16:creationId xmlns:a16="http://schemas.microsoft.com/office/drawing/2014/main" id="{24B253F3-FBDD-4427-A551-CA8C277D303A}"/>
              </a:ext>
            </a:extLst>
          </p:cNvPr>
          <p:cNvSpPr txBox="1"/>
          <p:nvPr/>
        </p:nvSpPr>
        <p:spPr>
          <a:xfrm>
            <a:off x="586355" y="5265220"/>
            <a:ext cx="3129968" cy="461665"/>
          </a:xfrm>
          <a:prstGeom prst="rect">
            <a:avLst/>
          </a:prstGeom>
          <a:noFill/>
        </p:spPr>
        <p:txBody>
          <a:bodyPr wrap="square">
            <a:spAutoFit/>
          </a:bodyPr>
          <a:lstStyle/>
          <a:p>
            <a:pPr algn="ctr"/>
            <a:r>
              <a:rPr lang="fr-FR" sz="1200" dirty="0">
                <a:latin typeface="Aptos" panose="020B0004020202020204" pitchFamily="34" charset="0"/>
              </a:rPr>
              <a:t>Coefficients démographiques standards (Bénin, contexte Afrique subsaharienne) </a:t>
            </a:r>
          </a:p>
        </p:txBody>
      </p:sp>
    </p:spTree>
    <p:extLst>
      <p:ext uri="{BB962C8B-B14F-4D97-AF65-F5344CB8AC3E}">
        <p14:creationId xmlns:p14="http://schemas.microsoft.com/office/powerpoint/2010/main" val="51744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1 — Estimation de la population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Ajustement pour la population cible réelle vs population cible théorique</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163121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population cible théorique calculée par les coefficients démographiques est la cible maximale. </a:t>
            </a:r>
          </a:p>
          <a:p>
            <a:pPr marL="342900" indent="-342900">
              <a:buFont typeface="Arial" panose="020B0604020202020204" pitchFamily="34" charset="0"/>
              <a:buChar char="•"/>
            </a:pPr>
            <a:r>
              <a:rPr lang="fr-FR" sz="2000" dirty="0">
                <a:latin typeface="Aptos" panose="020B0004020202020204" pitchFamily="34" charset="0"/>
              </a:rPr>
              <a:t>Dans la réalité, certains membres de la population cible ne sont pas joignables ou ne relèvent pas du système public. </a:t>
            </a:r>
          </a:p>
          <a:p>
            <a:pPr marL="342900" indent="-342900">
              <a:buFont typeface="Arial" panose="020B0604020202020204" pitchFamily="34" charset="0"/>
              <a:buChar char="•"/>
            </a:pPr>
            <a:r>
              <a:rPr lang="fr-FR" sz="2000" dirty="0">
                <a:latin typeface="Aptos" panose="020B0004020202020204" pitchFamily="34" charset="0"/>
              </a:rPr>
              <a:t>Un ajustement peut être nécessaire.</a:t>
            </a:r>
          </a:p>
        </p:txBody>
      </p:sp>
    </p:spTree>
    <p:extLst>
      <p:ext uri="{BB962C8B-B14F-4D97-AF65-F5344CB8AC3E}">
        <p14:creationId xmlns:p14="http://schemas.microsoft.com/office/powerpoint/2010/main" val="397789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2 — Le taux de couverture visé</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3042" y="2213428"/>
            <a:ext cx="10817343" cy="1015663"/>
          </a:xfrm>
          <a:prstGeom prst="rect">
            <a:avLst/>
          </a:prstGeom>
          <a:noFill/>
        </p:spPr>
        <p:txBody>
          <a:bodyPr wrap="square">
            <a:spAutoFit/>
          </a:bodyPr>
          <a:lstStyle/>
          <a:p>
            <a:r>
              <a:rPr lang="fr-FR" sz="2000" dirty="0">
                <a:latin typeface="Aptos" panose="020B0004020202020204" pitchFamily="34" charset="0"/>
              </a:rPr>
              <a:t>Le taux de couverture visé est l'objectif programmatique qui définit la proportion de la population cible qui doit recevoir le produit. Il est fixé par le programme national ou les objectifs de santé publique.</a:t>
            </a:r>
          </a:p>
        </p:txBody>
      </p:sp>
      <p:graphicFrame>
        <p:nvGraphicFramePr>
          <p:cNvPr id="2" name="Tableau 1">
            <a:extLst>
              <a:ext uri="{FF2B5EF4-FFF2-40B4-BE49-F238E27FC236}">
                <a16:creationId xmlns:a16="http://schemas.microsoft.com/office/drawing/2014/main" id="{0F2D2270-67E6-4535-ABDF-C491FBCFC6EA}"/>
              </a:ext>
            </a:extLst>
          </p:cNvPr>
          <p:cNvGraphicFramePr>
            <a:graphicFrameLocks noGrp="1"/>
          </p:cNvGraphicFramePr>
          <p:nvPr>
            <p:extLst>
              <p:ext uri="{D42A27DB-BD31-4B8C-83A1-F6EECF244321}">
                <p14:modId xmlns:p14="http://schemas.microsoft.com/office/powerpoint/2010/main" val="3983497214"/>
              </p:ext>
            </p:extLst>
          </p:nvPr>
        </p:nvGraphicFramePr>
        <p:xfrm>
          <a:off x="903913" y="3486721"/>
          <a:ext cx="10817342" cy="2377440"/>
        </p:xfrm>
        <a:graphic>
          <a:graphicData uri="http://schemas.openxmlformats.org/drawingml/2006/table">
            <a:tbl>
              <a:tblPr/>
              <a:tblGrid>
                <a:gridCol w="2875852">
                  <a:extLst>
                    <a:ext uri="{9D8B030D-6E8A-4147-A177-3AD203B41FA5}">
                      <a16:colId xmlns:a16="http://schemas.microsoft.com/office/drawing/2014/main" val="4199429411"/>
                    </a:ext>
                  </a:extLst>
                </a:gridCol>
                <a:gridCol w="4099113">
                  <a:extLst>
                    <a:ext uri="{9D8B030D-6E8A-4147-A177-3AD203B41FA5}">
                      <a16:colId xmlns:a16="http://schemas.microsoft.com/office/drawing/2014/main" val="3417636110"/>
                    </a:ext>
                  </a:extLst>
                </a:gridCol>
                <a:gridCol w="3842377">
                  <a:extLst>
                    <a:ext uri="{9D8B030D-6E8A-4147-A177-3AD203B41FA5}">
                      <a16:colId xmlns:a16="http://schemas.microsoft.com/office/drawing/2014/main" val="2652826924"/>
                    </a:ext>
                  </a:extLst>
                </a:gridCol>
              </a:tblGrid>
              <a:tr h="0">
                <a:tc>
                  <a:txBody>
                    <a:bodyPr/>
                    <a:lstStyle/>
                    <a:p>
                      <a:r>
                        <a:rPr lang="fr-FR" b="1" dirty="0">
                          <a:solidFill>
                            <a:schemeClr val="bg1"/>
                          </a:solidFill>
                          <a:latin typeface="Aptos" panose="020B0004020202020204" pitchFamily="34" charset="0"/>
                        </a:rPr>
                        <a:t>Type</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Exemple</a:t>
                      </a:r>
                    </a:p>
                  </a:txBody>
                  <a:tcPr anchor="ctr">
                    <a:lnL>
                      <a:noFill/>
                    </a:lnL>
                    <a:lnR>
                      <a:noFill/>
                    </a:lnR>
                    <a:lnT>
                      <a:noFill/>
                    </a:lnT>
                    <a:lnB>
                      <a:noFill/>
                    </a:lnB>
                    <a:solidFill>
                      <a:srgbClr val="F37504"/>
                    </a:solidFill>
                  </a:tcPr>
                </a:tc>
                <a:extLst>
                  <a:ext uri="{0D108BD9-81ED-4DB2-BD59-A6C34878D82A}">
                    <a16:rowId xmlns:a16="http://schemas.microsoft.com/office/drawing/2014/main" val="3108238188"/>
                  </a:ext>
                </a:extLst>
              </a:tr>
              <a:tr h="0">
                <a:tc>
                  <a:txBody>
                    <a:bodyPr/>
                    <a:lstStyle/>
                    <a:p>
                      <a:r>
                        <a:rPr lang="fr-FR">
                          <a:latin typeface="Aptos" panose="020B0004020202020204" pitchFamily="34" charset="0"/>
                        </a:rPr>
                        <a:t>Couverture universelle</a:t>
                      </a:r>
                    </a:p>
                  </a:txBody>
                  <a:tcPr anchor="ctr">
                    <a:lnL>
                      <a:noFill/>
                    </a:lnL>
                    <a:lnR>
                      <a:noFill/>
                    </a:lnR>
                    <a:lnT>
                      <a:noFill/>
                    </a:lnT>
                    <a:lnB>
                      <a:noFill/>
                    </a:lnB>
                  </a:tcPr>
                </a:tc>
                <a:tc>
                  <a:txBody>
                    <a:bodyPr/>
                    <a:lstStyle/>
                    <a:p>
                      <a:r>
                        <a:rPr lang="fr-FR">
                          <a:latin typeface="Aptos" panose="020B0004020202020204" pitchFamily="34" charset="0"/>
                        </a:rPr>
                        <a:t>100% de la cible visée</a:t>
                      </a:r>
                    </a:p>
                  </a:txBody>
                  <a:tcPr anchor="ctr">
                    <a:lnL>
                      <a:noFill/>
                    </a:lnL>
                    <a:lnR>
                      <a:noFill/>
                    </a:lnR>
                    <a:lnT>
                      <a:noFill/>
                    </a:lnT>
                    <a:lnB>
                      <a:noFill/>
                    </a:lnB>
                  </a:tcPr>
                </a:tc>
                <a:tc>
                  <a:txBody>
                    <a:bodyPr/>
                    <a:lstStyle/>
                    <a:p>
                      <a:r>
                        <a:rPr lang="fr-FR">
                          <a:latin typeface="Aptos" panose="020B0004020202020204" pitchFamily="34" charset="0"/>
                        </a:rPr>
                        <a:t>Vaccination campagne de masse contre la polio</a:t>
                      </a:r>
                    </a:p>
                  </a:txBody>
                  <a:tcPr anchor="ctr">
                    <a:lnL>
                      <a:noFill/>
                    </a:lnL>
                    <a:lnR>
                      <a:noFill/>
                    </a:lnR>
                    <a:lnT>
                      <a:noFill/>
                    </a:lnT>
                    <a:lnB>
                      <a:noFill/>
                    </a:lnB>
                  </a:tcPr>
                </a:tc>
                <a:extLst>
                  <a:ext uri="{0D108BD9-81ED-4DB2-BD59-A6C34878D82A}">
                    <a16:rowId xmlns:a16="http://schemas.microsoft.com/office/drawing/2014/main" val="364397285"/>
                  </a:ext>
                </a:extLst>
              </a:tr>
              <a:tr h="0">
                <a:tc>
                  <a:txBody>
                    <a:bodyPr/>
                    <a:lstStyle/>
                    <a:p>
                      <a:r>
                        <a:rPr lang="fr-FR" dirty="0">
                          <a:latin typeface="Aptos" panose="020B0004020202020204" pitchFamily="34" charset="0"/>
                        </a:rPr>
                        <a:t>Couverture cible nationale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Objectif fixé par le programme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90% de couverture VAR (Rougeole)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800961550"/>
                  </a:ext>
                </a:extLst>
              </a:tr>
              <a:tr h="0">
                <a:tc>
                  <a:txBody>
                    <a:bodyPr/>
                    <a:lstStyle/>
                    <a:p>
                      <a:r>
                        <a:rPr lang="fr-FR">
                          <a:latin typeface="Aptos" panose="020B0004020202020204" pitchFamily="34" charset="0"/>
                        </a:rPr>
                        <a:t>Couverture historique</a:t>
                      </a:r>
                    </a:p>
                  </a:txBody>
                  <a:tcPr anchor="ctr">
                    <a:lnL>
                      <a:noFill/>
                    </a:lnL>
                    <a:lnR>
                      <a:noFill/>
                    </a:lnR>
                    <a:lnT>
                      <a:noFill/>
                    </a:lnT>
                    <a:lnB>
                      <a:noFill/>
                    </a:lnB>
                  </a:tcPr>
                </a:tc>
                <a:tc>
                  <a:txBody>
                    <a:bodyPr/>
                    <a:lstStyle/>
                    <a:p>
                      <a:r>
                        <a:rPr lang="fr-FR" dirty="0">
                          <a:latin typeface="Aptos" panose="020B0004020202020204" pitchFamily="34" charset="0"/>
                        </a:rPr>
                        <a:t>Couverture réelle des années précédentes</a:t>
                      </a:r>
                    </a:p>
                  </a:txBody>
                  <a:tcPr anchor="ctr">
                    <a:lnL>
                      <a:noFill/>
                    </a:lnL>
                    <a:lnR>
                      <a:noFill/>
                    </a:lnR>
                    <a:lnT>
                      <a:noFill/>
                    </a:lnT>
                    <a:lnB>
                      <a:noFill/>
                    </a:lnB>
                  </a:tcPr>
                </a:tc>
                <a:tc>
                  <a:txBody>
                    <a:bodyPr/>
                    <a:lstStyle/>
                    <a:p>
                      <a:r>
                        <a:rPr lang="fr-FR">
                          <a:latin typeface="Aptos" panose="020B0004020202020204" pitchFamily="34" charset="0"/>
                        </a:rPr>
                        <a:t>82,5% VAR en 2024</a:t>
                      </a:r>
                    </a:p>
                  </a:txBody>
                  <a:tcPr anchor="ctr">
                    <a:lnL>
                      <a:noFill/>
                    </a:lnL>
                    <a:lnR>
                      <a:noFill/>
                    </a:lnR>
                    <a:lnT>
                      <a:noFill/>
                    </a:lnT>
                    <a:lnB>
                      <a:noFill/>
                    </a:lnB>
                  </a:tcPr>
                </a:tc>
                <a:extLst>
                  <a:ext uri="{0D108BD9-81ED-4DB2-BD59-A6C34878D82A}">
                    <a16:rowId xmlns:a16="http://schemas.microsoft.com/office/drawing/2014/main" val="1527334614"/>
                  </a:ext>
                </a:extLst>
              </a:tr>
              <a:tr h="0">
                <a:tc>
                  <a:txBody>
                    <a:bodyPr/>
                    <a:lstStyle/>
                    <a:p>
                      <a:r>
                        <a:rPr lang="fr-FR" dirty="0">
                          <a:latin typeface="Aptos" panose="020B0004020202020204" pitchFamily="34" charset="0"/>
                        </a:rPr>
                        <a:t>Couverture progressive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Montée en charge sur plusieurs années</a:t>
                      </a:r>
                    </a:p>
                  </a:txBody>
                  <a:tcPr anchor="ctr">
                    <a:lnL>
                      <a:noFill/>
                    </a:lnL>
                    <a:lnR>
                      <a:noFill/>
                    </a:lnR>
                    <a:lnT>
                      <a:noFill/>
                    </a:lnT>
                    <a:lnB>
                      <a:noFill/>
                    </a:lnB>
                    <a:solidFill>
                      <a:schemeClr val="bg2">
                        <a:lumMod val="90000"/>
                      </a:schemeClr>
                    </a:solidFill>
                  </a:tcPr>
                </a:tc>
                <a:tc>
                  <a:txBody>
                    <a:bodyPr/>
                    <a:lstStyle/>
                    <a:p>
                      <a:r>
                        <a:rPr lang="de-DE" dirty="0">
                          <a:latin typeface="Aptos" panose="020B0004020202020204" pitchFamily="34" charset="0"/>
                        </a:rPr>
                        <a:t>70% an 1 → 80% an 2 → 90% an 3</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43224139"/>
                  </a:ext>
                </a:extLst>
              </a:tr>
            </a:tbl>
          </a:graphicData>
        </a:graphic>
      </p:graphicFrame>
    </p:spTree>
    <p:extLst>
      <p:ext uri="{BB962C8B-B14F-4D97-AF65-F5344CB8AC3E}">
        <p14:creationId xmlns:p14="http://schemas.microsoft.com/office/powerpoint/2010/main" val="165846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Composante 3 — Quantité de produit par personne cible</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Produits à dose unique</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5" y="2741934"/>
            <a:ext cx="10817343" cy="70788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Pour les produits administrés une seule fois par cycle (par an, par campagne), la quantité par personne est directement le nombre de doses ou d'unités par personne.</a:t>
            </a:r>
          </a:p>
        </p:txBody>
      </p:sp>
      <p:sp>
        <p:nvSpPr>
          <p:cNvPr id="13" name="ZoneTexte 12">
            <a:extLst>
              <a:ext uri="{FF2B5EF4-FFF2-40B4-BE49-F238E27FC236}">
                <a16:creationId xmlns:a16="http://schemas.microsoft.com/office/drawing/2014/main" id="{96F5AF34-31FE-4C6F-9AA6-FA62DADC2B97}"/>
              </a:ext>
            </a:extLst>
          </p:cNvPr>
          <p:cNvSpPr txBox="1"/>
          <p:nvPr/>
        </p:nvSpPr>
        <p:spPr>
          <a:xfrm>
            <a:off x="751074" y="3787201"/>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Produits à doses multiples</a:t>
            </a:r>
          </a:p>
        </p:txBody>
      </p:sp>
      <p:sp>
        <p:nvSpPr>
          <p:cNvPr id="15" name="ZoneTexte 14">
            <a:extLst>
              <a:ext uri="{FF2B5EF4-FFF2-40B4-BE49-F238E27FC236}">
                <a16:creationId xmlns:a16="http://schemas.microsoft.com/office/drawing/2014/main" id="{D4583940-C965-46E4-A874-4D00751DB219}"/>
              </a:ext>
            </a:extLst>
          </p:cNvPr>
          <p:cNvSpPr txBox="1"/>
          <p:nvPr/>
        </p:nvSpPr>
        <p:spPr>
          <a:xfrm>
            <a:off x="751075" y="4336845"/>
            <a:ext cx="10817343" cy="70788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Pour les produits qui nécessitent plusieurs doses ou une prise continue, le calcul est plus complexe.</a:t>
            </a:r>
          </a:p>
        </p:txBody>
      </p:sp>
    </p:spTree>
    <p:extLst>
      <p:ext uri="{BB962C8B-B14F-4D97-AF65-F5344CB8AC3E}">
        <p14:creationId xmlns:p14="http://schemas.microsoft.com/office/powerpoint/2010/main" val="46554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Calcul complet par la méthode basée sur les cibles de population</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Formule complète</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4" y="2721114"/>
            <a:ext cx="10817343" cy="707886"/>
          </a:xfrm>
          <a:prstGeom prst="rect">
            <a:avLst/>
          </a:prstGeom>
          <a:noFill/>
        </p:spPr>
        <p:txBody>
          <a:bodyPr wrap="square">
            <a:spAutoFit/>
          </a:bodyPr>
          <a:lstStyle/>
          <a:p>
            <a:r>
              <a:rPr lang="fr-FR" sz="2000" b="1" dirty="0">
                <a:latin typeface="Aptos" panose="020B0004020202020204" pitchFamily="34" charset="0"/>
              </a:rPr>
              <a:t>Quantité à approvisionner = (Population cible × Taux de couverture × Quantité/personne × Facteur de gaspillage) + Stock de sécurité − Stock disponible − Commandes en transit</a:t>
            </a:r>
          </a:p>
        </p:txBody>
      </p:sp>
    </p:spTree>
    <p:extLst>
      <p:ext uri="{BB962C8B-B14F-4D97-AF65-F5344CB8AC3E}">
        <p14:creationId xmlns:p14="http://schemas.microsoft.com/office/powerpoint/2010/main" val="206280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gestion du taux de gaspillage dans la méthode population</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3042" y="2206722"/>
            <a:ext cx="10817343" cy="707886"/>
          </a:xfrm>
          <a:prstGeom prst="rect">
            <a:avLst/>
          </a:prstGeom>
          <a:noFill/>
        </p:spPr>
        <p:txBody>
          <a:bodyPr wrap="square">
            <a:spAutoFit/>
          </a:bodyPr>
          <a:lstStyle/>
          <a:p>
            <a:r>
              <a:rPr lang="fr-FR" sz="2000" dirty="0">
                <a:latin typeface="Aptos" panose="020B0004020202020204" pitchFamily="34" charset="0"/>
              </a:rPr>
              <a:t>Le taux de gaspillage est un paramètre critique dans la méthode basée sur les cibles de population, particulièrement pour les vaccins et les produits biologiques.</a:t>
            </a:r>
          </a:p>
        </p:txBody>
      </p:sp>
      <p:graphicFrame>
        <p:nvGraphicFramePr>
          <p:cNvPr id="2" name="Tableau 1">
            <a:extLst>
              <a:ext uri="{FF2B5EF4-FFF2-40B4-BE49-F238E27FC236}">
                <a16:creationId xmlns:a16="http://schemas.microsoft.com/office/drawing/2014/main" id="{8B19A99B-C6A9-48A5-91B0-9EA518230715}"/>
              </a:ext>
            </a:extLst>
          </p:cNvPr>
          <p:cNvGraphicFramePr>
            <a:graphicFrameLocks noGrp="1"/>
          </p:cNvGraphicFramePr>
          <p:nvPr>
            <p:extLst>
              <p:ext uri="{D42A27DB-BD31-4B8C-83A1-F6EECF244321}">
                <p14:modId xmlns:p14="http://schemas.microsoft.com/office/powerpoint/2010/main" val="2201066569"/>
              </p:ext>
            </p:extLst>
          </p:nvPr>
        </p:nvGraphicFramePr>
        <p:xfrm>
          <a:off x="1338043" y="3414672"/>
          <a:ext cx="10515600" cy="3122218"/>
        </p:xfrm>
        <a:graphic>
          <a:graphicData uri="http://schemas.openxmlformats.org/drawingml/2006/table">
            <a:tbl>
              <a:tblPr/>
              <a:tblGrid>
                <a:gridCol w="2234531">
                  <a:extLst>
                    <a:ext uri="{9D8B030D-6E8A-4147-A177-3AD203B41FA5}">
                      <a16:colId xmlns:a16="http://schemas.microsoft.com/office/drawing/2014/main" val="3902710901"/>
                    </a:ext>
                  </a:extLst>
                </a:gridCol>
                <a:gridCol w="4454554">
                  <a:extLst>
                    <a:ext uri="{9D8B030D-6E8A-4147-A177-3AD203B41FA5}">
                      <a16:colId xmlns:a16="http://schemas.microsoft.com/office/drawing/2014/main" val="2762964848"/>
                    </a:ext>
                  </a:extLst>
                </a:gridCol>
                <a:gridCol w="3826515">
                  <a:extLst>
                    <a:ext uri="{9D8B030D-6E8A-4147-A177-3AD203B41FA5}">
                      <a16:colId xmlns:a16="http://schemas.microsoft.com/office/drawing/2014/main" val="1132803487"/>
                    </a:ext>
                  </a:extLst>
                </a:gridCol>
              </a:tblGrid>
              <a:tr h="309296">
                <a:tc>
                  <a:txBody>
                    <a:bodyPr/>
                    <a:lstStyle/>
                    <a:p>
                      <a:r>
                        <a:rPr lang="fr-FR" sz="1600" b="1" dirty="0">
                          <a:solidFill>
                            <a:schemeClr val="bg1"/>
                          </a:solidFill>
                          <a:latin typeface="Aptos" panose="020B0004020202020204" pitchFamily="34" charset="0"/>
                        </a:rPr>
                        <a:t>Source</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Exemple</a:t>
                      </a:r>
                    </a:p>
                  </a:txBody>
                  <a:tcPr anchor="ctr">
                    <a:lnL>
                      <a:noFill/>
                    </a:lnL>
                    <a:lnR>
                      <a:noFill/>
                    </a:lnR>
                    <a:lnT>
                      <a:noFill/>
                    </a:lnT>
                    <a:lnB>
                      <a:noFill/>
                    </a:lnB>
                    <a:solidFill>
                      <a:srgbClr val="F37504"/>
                    </a:solidFill>
                  </a:tcPr>
                </a:tc>
                <a:extLst>
                  <a:ext uri="{0D108BD9-81ED-4DB2-BD59-A6C34878D82A}">
                    <a16:rowId xmlns:a16="http://schemas.microsoft.com/office/drawing/2014/main" val="3636409243"/>
                  </a:ext>
                </a:extLst>
              </a:tr>
              <a:tr h="759180">
                <a:tc>
                  <a:txBody>
                    <a:bodyPr/>
                    <a:lstStyle/>
                    <a:p>
                      <a:r>
                        <a:rPr lang="fr-FR" sz="1600">
                          <a:latin typeface="Aptos" panose="020B0004020202020204" pitchFamily="34" charset="0"/>
                        </a:rPr>
                        <a:t>Gaspillage technique (flacons ouverts)</a:t>
                      </a:r>
                    </a:p>
                  </a:txBody>
                  <a:tcPr anchor="ctr">
                    <a:lnL>
                      <a:noFill/>
                    </a:lnL>
                    <a:lnR>
                      <a:noFill/>
                    </a:lnR>
                    <a:lnT>
                      <a:noFill/>
                    </a:lnT>
                    <a:lnB>
                      <a:noFill/>
                    </a:lnB>
                  </a:tcPr>
                </a:tc>
                <a:tc>
                  <a:txBody>
                    <a:bodyPr/>
                    <a:lstStyle/>
                    <a:p>
                      <a:r>
                        <a:rPr lang="fr-FR" sz="1600" dirty="0">
                          <a:latin typeface="Aptos" panose="020B0004020202020204" pitchFamily="34" charset="0"/>
                        </a:rPr>
                        <a:t>Doses restantes dans un flacon multidose non utilisées</a:t>
                      </a:r>
                    </a:p>
                  </a:txBody>
                  <a:tcPr anchor="ctr">
                    <a:lnL>
                      <a:noFill/>
                    </a:lnL>
                    <a:lnR>
                      <a:noFill/>
                    </a:lnR>
                    <a:lnT>
                      <a:noFill/>
                    </a:lnT>
                    <a:lnB>
                      <a:noFill/>
                    </a:lnB>
                  </a:tcPr>
                </a:tc>
                <a:tc>
                  <a:txBody>
                    <a:bodyPr/>
                    <a:lstStyle/>
                    <a:p>
                      <a:r>
                        <a:rPr lang="fr-FR" sz="1600" dirty="0">
                          <a:latin typeface="Aptos" panose="020B0004020202020204" pitchFamily="34" charset="0"/>
                        </a:rPr>
                        <a:t>Flacon de 10 doses Pentavalent ouvert pour 3 enfants → 7 doses perdues</a:t>
                      </a:r>
                    </a:p>
                  </a:txBody>
                  <a:tcPr anchor="ctr">
                    <a:lnL>
                      <a:noFill/>
                    </a:lnL>
                    <a:lnR>
                      <a:noFill/>
                    </a:lnR>
                    <a:lnT>
                      <a:noFill/>
                    </a:lnT>
                    <a:lnB>
                      <a:noFill/>
                    </a:lnB>
                  </a:tcPr>
                </a:tc>
                <a:extLst>
                  <a:ext uri="{0D108BD9-81ED-4DB2-BD59-A6C34878D82A}">
                    <a16:rowId xmlns:a16="http://schemas.microsoft.com/office/drawing/2014/main" val="3758564810"/>
                  </a:ext>
                </a:extLst>
              </a:tr>
              <a:tr h="534238">
                <a:tc>
                  <a:txBody>
                    <a:bodyPr/>
                    <a:lstStyle/>
                    <a:p>
                      <a:r>
                        <a:rPr lang="fr-FR" sz="1600" dirty="0">
                          <a:latin typeface="Aptos" panose="020B0004020202020204" pitchFamily="34" charset="0"/>
                        </a:rPr>
                        <a:t>Rupture de la chaîne du froid</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Produits devenus inutilisables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Vaccins exposés à +12°C pendant le transport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00350257"/>
                  </a:ext>
                </a:extLst>
              </a:tr>
              <a:tr h="534238">
                <a:tc>
                  <a:txBody>
                    <a:bodyPr/>
                    <a:lstStyle/>
                    <a:p>
                      <a:r>
                        <a:rPr lang="fr-FR" sz="1600">
                          <a:latin typeface="Aptos" panose="020B0004020202020204" pitchFamily="34" charset="0"/>
                        </a:rPr>
                        <a:t>Péremption</a:t>
                      </a:r>
                    </a:p>
                  </a:txBody>
                  <a:tcPr anchor="ctr">
                    <a:lnL>
                      <a:noFill/>
                    </a:lnL>
                    <a:lnR>
                      <a:noFill/>
                    </a:lnR>
                    <a:lnT>
                      <a:noFill/>
                    </a:lnT>
                    <a:lnB>
                      <a:noFill/>
                    </a:lnB>
                  </a:tcPr>
                </a:tc>
                <a:tc>
                  <a:txBody>
                    <a:bodyPr/>
                    <a:lstStyle/>
                    <a:p>
                      <a:r>
                        <a:rPr lang="fr-FR" sz="1600">
                          <a:latin typeface="Aptos" panose="020B0004020202020204" pitchFamily="34" charset="0"/>
                        </a:rPr>
                        <a:t>Produits périmés avant utilisation</a:t>
                      </a:r>
                    </a:p>
                  </a:txBody>
                  <a:tcPr anchor="ctr">
                    <a:lnL>
                      <a:noFill/>
                    </a:lnL>
                    <a:lnR>
                      <a:noFill/>
                    </a:lnR>
                    <a:lnT>
                      <a:noFill/>
                    </a:lnT>
                    <a:lnB>
                      <a:noFill/>
                    </a:lnB>
                  </a:tcPr>
                </a:tc>
                <a:tc>
                  <a:txBody>
                    <a:bodyPr/>
                    <a:lstStyle/>
                    <a:p>
                      <a:r>
                        <a:rPr lang="fr-FR" sz="1600">
                          <a:latin typeface="Aptos" panose="020B0004020202020204" pitchFamily="34" charset="0"/>
                        </a:rPr>
                        <a:t>Stock mal géré, commandes excessives</a:t>
                      </a:r>
                    </a:p>
                  </a:txBody>
                  <a:tcPr anchor="ctr">
                    <a:lnL>
                      <a:noFill/>
                    </a:lnL>
                    <a:lnR>
                      <a:noFill/>
                    </a:lnR>
                    <a:lnT>
                      <a:noFill/>
                    </a:lnT>
                    <a:lnB>
                      <a:noFill/>
                    </a:lnB>
                  </a:tcPr>
                </a:tc>
                <a:extLst>
                  <a:ext uri="{0D108BD9-81ED-4DB2-BD59-A6C34878D82A}">
                    <a16:rowId xmlns:a16="http://schemas.microsoft.com/office/drawing/2014/main" val="4046998709"/>
                  </a:ext>
                </a:extLst>
              </a:tr>
              <a:tr h="309296">
                <a:tc>
                  <a:txBody>
                    <a:bodyPr/>
                    <a:lstStyle/>
                    <a:p>
                      <a:r>
                        <a:rPr lang="fr-FR" sz="1600" dirty="0">
                          <a:latin typeface="Aptos" panose="020B0004020202020204" pitchFamily="34" charset="0"/>
                        </a:rPr>
                        <a:t>Pertes logistiques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Casse, vol, détérioration pendant le transport</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Flacons cassés lors du déchargement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795153711"/>
                  </a:ext>
                </a:extLst>
              </a:tr>
              <a:tr h="534238">
                <a:tc>
                  <a:txBody>
                    <a:bodyPr/>
                    <a:lstStyle/>
                    <a:p>
                      <a:r>
                        <a:rPr lang="fr-FR" sz="1600">
                          <a:latin typeface="Aptos" panose="020B0004020202020204" pitchFamily="34" charset="0"/>
                        </a:rPr>
                        <a:t>Non-utilisation</a:t>
                      </a:r>
                    </a:p>
                  </a:txBody>
                  <a:tcPr anchor="ctr">
                    <a:lnL>
                      <a:noFill/>
                    </a:lnL>
                    <a:lnR>
                      <a:noFill/>
                    </a:lnR>
                    <a:lnT>
                      <a:noFill/>
                    </a:lnT>
                    <a:lnB>
                      <a:noFill/>
                    </a:lnB>
                  </a:tcPr>
                </a:tc>
                <a:tc>
                  <a:txBody>
                    <a:bodyPr/>
                    <a:lstStyle/>
                    <a:p>
                      <a:r>
                        <a:rPr lang="fr-FR" sz="1600">
                          <a:latin typeface="Aptos" panose="020B0004020202020204" pitchFamily="34" charset="0"/>
                        </a:rPr>
                        <a:t>Produits distribués mais non consommés</a:t>
                      </a:r>
                    </a:p>
                  </a:txBody>
                  <a:tcPr anchor="ctr">
                    <a:lnL>
                      <a:noFill/>
                    </a:lnL>
                    <a:lnR>
                      <a:noFill/>
                    </a:lnR>
                    <a:lnT>
                      <a:noFill/>
                    </a:lnT>
                    <a:lnB>
                      <a:noFill/>
                    </a:lnB>
                  </a:tcPr>
                </a:tc>
                <a:tc>
                  <a:txBody>
                    <a:bodyPr/>
                    <a:lstStyle/>
                    <a:p>
                      <a:r>
                        <a:rPr lang="fr-FR" sz="1600" dirty="0">
                          <a:latin typeface="Aptos" panose="020B0004020202020204" pitchFamily="34" charset="0"/>
                        </a:rPr>
                        <a:t>Moustiquaires distribuées mais non installées</a:t>
                      </a:r>
                    </a:p>
                  </a:txBody>
                  <a:tcPr anchor="ctr">
                    <a:lnL>
                      <a:noFill/>
                    </a:lnL>
                    <a:lnR>
                      <a:noFill/>
                    </a:lnR>
                    <a:lnT>
                      <a:noFill/>
                    </a:lnT>
                    <a:lnB>
                      <a:noFill/>
                    </a:lnB>
                  </a:tcPr>
                </a:tc>
                <a:extLst>
                  <a:ext uri="{0D108BD9-81ED-4DB2-BD59-A6C34878D82A}">
                    <a16:rowId xmlns:a16="http://schemas.microsoft.com/office/drawing/2014/main" val="3077933384"/>
                  </a:ext>
                </a:extLst>
              </a:tr>
            </a:tbl>
          </a:graphicData>
        </a:graphic>
      </p:graphicFrame>
      <p:sp>
        <p:nvSpPr>
          <p:cNvPr id="13" name="ZoneTexte 12">
            <a:extLst>
              <a:ext uri="{FF2B5EF4-FFF2-40B4-BE49-F238E27FC236}">
                <a16:creationId xmlns:a16="http://schemas.microsoft.com/office/drawing/2014/main" id="{F645FBEA-8431-40C6-BB49-94B31AFC25AB}"/>
              </a:ext>
            </a:extLst>
          </p:cNvPr>
          <p:cNvSpPr txBox="1"/>
          <p:nvPr/>
        </p:nvSpPr>
        <p:spPr>
          <a:xfrm>
            <a:off x="5024204" y="2957997"/>
            <a:ext cx="2601389" cy="369332"/>
          </a:xfrm>
          <a:prstGeom prst="rect">
            <a:avLst/>
          </a:prstGeom>
          <a:noFill/>
        </p:spPr>
        <p:txBody>
          <a:bodyPr wrap="square">
            <a:spAutoFit/>
          </a:bodyPr>
          <a:lstStyle/>
          <a:p>
            <a:r>
              <a:rPr lang="fr-FR" b="1" dirty="0">
                <a:latin typeface="Aptos" panose="020B0004020202020204" pitchFamily="34" charset="0"/>
              </a:rPr>
              <a:t>Sources de gaspillage</a:t>
            </a:r>
          </a:p>
        </p:txBody>
      </p:sp>
    </p:spTree>
    <p:extLst>
      <p:ext uri="{BB962C8B-B14F-4D97-AF65-F5344CB8AC3E}">
        <p14:creationId xmlns:p14="http://schemas.microsoft.com/office/powerpoint/2010/main" val="138483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et limites de la méthode basée sur les cibles de population</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Avantages </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4" y="2721114"/>
            <a:ext cx="10817343" cy="347787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méthode est indépendante des données de consommation passée, ce qui la rend applicable même pour les nouveaux programmes.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est orientée vers les objectifs de couverture, ce qui aligne la quantification avec les ambitions programmatiques.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permet de planifier les besoins pour des campagnes de distribution de masse avec des cibles précises.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facilite le plaidoyer budgétaire en liant directement les coûts aux objectifs de couverture sanitaire.</a:t>
            </a:r>
          </a:p>
        </p:txBody>
      </p:sp>
    </p:spTree>
    <p:extLst>
      <p:ext uri="{BB962C8B-B14F-4D97-AF65-F5344CB8AC3E}">
        <p14:creationId xmlns:p14="http://schemas.microsoft.com/office/powerpoint/2010/main" val="9039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Avantages et limites de la méthode basée sur les cibles de population</a:t>
            </a:r>
          </a:p>
        </p:txBody>
      </p:sp>
      <p:sp>
        <p:nvSpPr>
          <p:cNvPr id="10" name="ZoneTexte 9">
            <a:extLst>
              <a:ext uri="{FF2B5EF4-FFF2-40B4-BE49-F238E27FC236}">
                <a16:creationId xmlns:a16="http://schemas.microsoft.com/office/drawing/2014/main" id="{F6BF2FAF-82D3-49D0-8C3C-DF4687E0451B}"/>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Limites </a:t>
            </a:r>
          </a:p>
        </p:txBody>
      </p:sp>
      <p:sp>
        <p:nvSpPr>
          <p:cNvPr id="11" name="ZoneTexte 10">
            <a:extLst>
              <a:ext uri="{FF2B5EF4-FFF2-40B4-BE49-F238E27FC236}">
                <a16:creationId xmlns:a16="http://schemas.microsoft.com/office/drawing/2014/main" id="{14C9726C-F9E2-43DF-9BD5-58C4EACB61B4}"/>
              </a:ext>
            </a:extLst>
          </p:cNvPr>
          <p:cNvSpPr txBox="1"/>
          <p:nvPr/>
        </p:nvSpPr>
        <p:spPr>
          <a:xfrm>
            <a:off x="751074" y="2721114"/>
            <a:ext cx="10817343" cy="347787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qualité des projections démographiques est variable selon les pays et les districts.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Les coefficients démographiques appliqués à la population totale sont des estimations qui peuvent diverger de la réalité locale.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taux de couverture visé peut être trop ambitieux par rapport aux capacités réelles du système.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taux de gaspillage varie selon les contextes et les conditions de conservation.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méthode ne tient pas compte des inégalités d'accès au sein de la population cible.</a:t>
            </a:r>
          </a:p>
        </p:txBody>
      </p:sp>
    </p:spTree>
    <p:extLst>
      <p:ext uri="{BB962C8B-B14F-4D97-AF65-F5344CB8AC3E}">
        <p14:creationId xmlns:p14="http://schemas.microsoft.com/office/powerpoint/2010/main" val="179805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 basée sur les cibles de population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23" name="Rectangle : coins arrondis 22">
            <a:extLst>
              <a:ext uri="{FF2B5EF4-FFF2-40B4-BE49-F238E27FC236}">
                <a16:creationId xmlns:a16="http://schemas.microsoft.com/office/drawing/2014/main" id="{601912EF-DA51-43F7-B18A-EF61ABE04C05}"/>
              </a:ext>
            </a:extLst>
          </p:cNvPr>
          <p:cNvSpPr/>
          <p:nvPr/>
        </p:nvSpPr>
        <p:spPr>
          <a:xfrm>
            <a:off x="586355" y="1598827"/>
            <a:ext cx="11267288" cy="421785"/>
          </a:xfrm>
          <a:prstGeom prst="roundRect">
            <a:avLst>
              <a:gd name="adj" fmla="val 50000"/>
            </a:avLst>
          </a:prstGeom>
          <a:solidFill>
            <a:srgbClr val="0150A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Synthèse </a:t>
            </a:r>
          </a:p>
        </p:txBody>
      </p:sp>
      <p:graphicFrame>
        <p:nvGraphicFramePr>
          <p:cNvPr id="2" name="Tableau 1">
            <a:extLst>
              <a:ext uri="{FF2B5EF4-FFF2-40B4-BE49-F238E27FC236}">
                <a16:creationId xmlns:a16="http://schemas.microsoft.com/office/drawing/2014/main" id="{F92CC838-7600-49AF-A415-FB69BB79AFDF}"/>
              </a:ext>
            </a:extLst>
          </p:cNvPr>
          <p:cNvGraphicFramePr>
            <a:graphicFrameLocks noGrp="1"/>
          </p:cNvGraphicFramePr>
          <p:nvPr>
            <p:extLst>
              <p:ext uri="{D42A27DB-BD31-4B8C-83A1-F6EECF244321}">
                <p14:modId xmlns:p14="http://schemas.microsoft.com/office/powerpoint/2010/main" val="1711246380"/>
              </p:ext>
            </p:extLst>
          </p:nvPr>
        </p:nvGraphicFramePr>
        <p:xfrm>
          <a:off x="586355" y="2420774"/>
          <a:ext cx="11267289" cy="3347849"/>
        </p:xfrm>
        <a:graphic>
          <a:graphicData uri="http://schemas.openxmlformats.org/drawingml/2006/table">
            <a:tbl>
              <a:tblPr/>
              <a:tblGrid>
                <a:gridCol w="2995744">
                  <a:extLst>
                    <a:ext uri="{9D8B030D-6E8A-4147-A177-3AD203B41FA5}">
                      <a16:colId xmlns:a16="http://schemas.microsoft.com/office/drawing/2014/main" val="3587135980"/>
                    </a:ext>
                  </a:extLst>
                </a:gridCol>
                <a:gridCol w="4515782">
                  <a:extLst>
                    <a:ext uri="{9D8B030D-6E8A-4147-A177-3AD203B41FA5}">
                      <a16:colId xmlns:a16="http://schemas.microsoft.com/office/drawing/2014/main" val="3768892727"/>
                    </a:ext>
                  </a:extLst>
                </a:gridCol>
                <a:gridCol w="3755763">
                  <a:extLst>
                    <a:ext uri="{9D8B030D-6E8A-4147-A177-3AD203B41FA5}">
                      <a16:colId xmlns:a16="http://schemas.microsoft.com/office/drawing/2014/main" val="4242945602"/>
                    </a:ext>
                  </a:extLst>
                </a:gridCol>
              </a:tblGrid>
              <a:tr h="276575">
                <a:tc>
                  <a:txBody>
                    <a:bodyPr/>
                    <a:lstStyle/>
                    <a:p>
                      <a:r>
                        <a:rPr lang="fr-FR" sz="1400" b="1" dirty="0">
                          <a:solidFill>
                            <a:schemeClr val="bg1"/>
                          </a:solidFill>
                          <a:latin typeface="Aptos" panose="020B0004020202020204" pitchFamily="34" charset="0"/>
                        </a:rPr>
                        <a:t>Étape</a:t>
                      </a:r>
                    </a:p>
                  </a:txBody>
                  <a:tcPr marL="73751" marR="73751" marT="36876" marB="36876"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Action</a:t>
                      </a:r>
                    </a:p>
                  </a:txBody>
                  <a:tcPr marL="73751" marR="73751" marT="36876" marB="36876"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Source de données</a:t>
                      </a:r>
                    </a:p>
                  </a:txBody>
                  <a:tcPr marL="73751" marR="73751" marT="36876" marB="36876" anchor="ctr">
                    <a:lnL>
                      <a:noFill/>
                    </a:lnL>
                    <a:lnR>
                      <a:noFill/>
                    </a:lnR>
                    <a:lnT>
                      <a:noFill/>
                    </a:lnT>
                    <a:lnB>
                      <a:noFill/>
                    </a:lnB>
                    <a:solidFill>
                      <a:srgbClr val="F37504"/>
                    </a:solidFill>
                  </a:tcPr>
                </a:tc>
                <a:extLst>
                  <a:ext uri="{0D108BD9-81ED-4DB2-BD59-A6C34878D82A}">
                    <a16:rowId xmlns:a16="http://schemas.microsoft.com/office/drawing/2014/main" val="329691064"/>
                  </a:ext>
                </a:extLst>
              </a:tr>
              <a:tr h="276575">
                <a:tc>
                  <a:txBody>
                    <a:bodyPr/>
                    <a:lstStyle/>
                    <a:p>
                      <a:r>
                        <a:rPr lang="fr-FR" sz="1400">
                          <a:latin typeface="Aptos" panose="020B0004020202020204" pitchFamily="34" charset="0"/>
                        </a:rPr>
                        <a:t>1. Définir la population totale</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Population du territoire concerné</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Recensement + projections INSAE</a:t>
                      </a:r>
                    </a:p>
                  </a:txBody>
                  <a:tcPr marL="73751" marR="73751" marT="36876" marB="36876" anchor="ctr">
                    <a:lnL>
                      <a:noFill/>
                    </a:lnL>
                    <a:lnR>
                      <a:noFill/>
                    </a:lnR>
                    <a:lnT>
                      <a:noFill/>
                    </a:lnT>
                    <a:lnB>
                      <a:noFill/>
                    </a:lnB>
                  </a:tcPr>
                </a:tc>
                <a:extLst>
                  <a:ext uri="{0D108BD9-81ED-4DB2-BD59-A6C34878D82A}">
                    <a16:rowId xmlns:a16="http://schemas.microsoft.com/office/drawing/2014/main" val="3426869940"/>
                  </a:ext>
                </a:extLst>
              </a:tr>
              <a:tr h="353271">
                <a:tc>
                  <a:txBody>
                    <a:bodyPr/>
                    <a:lstStyle/>
                    <a:p>
                      <a:r>
                        <a:rPr lang="fr-FR" sz="1400" dirty="0">
                          <a:latin typeface="Aptos" panose="020B0004020202020204" pitchFamily="34" charset="0"/>
                        </a:rPr>
                        <a:t>2. Identifier la population cible</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Appliquer le coefficient démographique</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Coefficients standards OMS/INSAE</a:t>
                      </a:r>
                    </a:p>
                  </a:txBody>
                  <a:tcPr marL="73751" marR="73751" marT="36876" marB="36876" anchor="ctr">
                    <a:lnL>
                      <a:noFill/>
                    </a:lnL>
                    <a:lnR>
                      <a:noFill/>
                    </a:lnR>
                    <a:lnT>
                      <a:noFill/>
                    </a:lnT>
                    <a:lnB>
                      <a:noFill/>
                    </a:lnB>
                    <a:solidFill>
                      <a:schemeClr val="bg2">
                        <a:lumMod val="90000"/>
                      </a:schemeClr>
                    </a:solidFill>
                  </a:tcPr>
                </a:tc>
                <a:extLst>
                  <a:ext uri="{0D108BD9-81ED-4DB2-BD59-A6C34878D82A}">
                    <a16:rowId xmlns:a16="http://schemas.microsoft.com/office/drawing/2014/main" val="142376659"/>
                  </a:ext>
                </a:extLst>
              </a:tr>
              <a:tr h="306331">
                <a:tc>
                  <a:txBody>
                    <a:bodyPr/>
                    <a:lstStyle/>
                    <a:p>
                      <a:r>
                        <a:rPr lang="fr-FR" sz="1400">
                          <a:latin typeface="Aptos" panose="020B0004020202020204" pitchFamily="34" charset="0"/>
                        </a:rPr>
                        <a:t>3. Ajuster si nécessaire</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Exclure les sous-groupes non joignables</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Données locales</a:t>
                      </a:r>
                    </a:p>
                  </a:txBody>
                  <a:tcPr marL="73751" marR="73751" marT="36876" marB="36876" anchor="ctr">
                    <a:lnL>
                      <a:noFill/>
                    </a:lnL>
                    <a:lnR>
                      <a:noFill/>
                    </a:lnR>
                    <a:lnT>
                      <a:noFill/>
                    </a:lnT>
                    <a:lnB>
                      <a:noFill/>
                    </a:lnB>
                  </a:tcPr>
                </a:tc>
                <a:extLst>
                  <a:ext uri="{0D108BD9-81ED-4DB2-BD59-A6C34878D82A}">
                    <a16:rowId xmlns:a16="http://schemas.microsoft.com/office/drawing/2014/main" val="2821983727"/>
                  </a:ext>
                </a:extLst>
              </a:tr>
              <a:tr h="276575">
                <a:tc>
                  <a:txBody>
                    <a:bodyPr/>
                    <a:lstStyle/>
                    <a:p>
                      <a:r>
                        <a:rPr lang="fr-FR" sz="1400" dirty="0">
                          <a:latin typeface="Aptos" panose="020B0004020202020204" pitchFamily="34" charset="0"/>
                        </a:rPr>
                        <a:t>4. Fixer le taux de couverture</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Objectif programmatique national</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Plan stratégique du programme</a:t>
                      </a:r>
                    </a:p>
                  </a:txBody>
                  <a:tcPr marL="73751" marR="73751" marT="36876" marB="36876" anchor="ctr">
                    <a:lnL>
                      <a:noFill/>
                    </a:lnL>
                    <a:lnR>
                      <a:noFill/>
                    </a:lnR>
                    <a:lnT>
                      <a:noFill/>
                    </a:lnT>
                    <a:lnB>
                      <a:noFill/>
                    </a:lnB>
                    <a:solidFill>
                      <a:schemeClr val="bg2">
                        <a:lumMod val="90000"/>
                      </a:schemeClr>
                    </a:solidFill>
                  </a:tcPr>
                </a:tc>
                <a:extLst>
                  <a:ext uri="{0D108BD9-81ED-4DB2-BD59-A6C34878D82A}">
                    <a16:rowId xmlns:a16="http://schemas.microsoft.com/office/drawing/2014/main" val="1028849809"/>
                  </a:ext>
                </a:extLst>
              </a:tr>
              <a:tr h="282672">
                <a:tc>
                  <a:txBody>
                    <a:bodyPr/>
                    <a:lstStyle/>
                    <a:p>
                      <a:r>
                        <a:rPr lang="fr-FR" sz="1400">
                          <a:latin typeface="Aptos" panose="020B0004020202020204" pitchFamily="34" charset="0"/>
                        </a:rPr>
                        <a:t>5. Calculer la population à atteindre</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Population cible × Taux de couverture</a:t>
                      </a:r>
                    </a:p>
                  </a:txBody>
                  <a:tcPr marL="73751" marR="73751" marT="36876" marB="36876" anchor="ctr">
                    <a:lnL>
                      <a:noFill/>
                    </a:lnL>
                    <a:lnR>
                      <a:noFill/>
                    </a:lnR>
                    <a:lnT>
                      <a:noFill/>
                    </a:lnT>
                    <a:lnB>
                      <a:noFill/>
                    </a:lnB>
                  </a:tcPr>
                </a:tc>
                <a:tc>
                  <a:txBody>
                    <a:bodyPr/>
                    <a:lstStyle/>
                    <a:p>
                      <a:r>
                        <a:rPr lang="fr-FR" sz="1400" dirty="0">
                          <a:latin typeface="Aptos" panose="020B0004020202020204" pitchFamily="34" charset="0"/>
                        </a:rPr>
                        <a:t>Calcul</a:t>
                      </a:r>
                    </a:p>
                  </a:txBody>
                  <a:tcPr marL="73751" marR="73751" marT="36876" marB="36876" anchor="ctr">
                    <a:lnL>
                      <a:noFill/>
                    </a:lnL>
                    <a:lnR>
                      <a:noFill/>
                    </a:lnR>
                    <a:lnT>
                      <a:noFill/>
                    </a:lnT>
                    <a:lnB>
                      <a:noFill/>
                    </a:lnB>
                  </a:tcPr>
                </a:tc>
                <a:extLst>
                  <a:ext uri="{0D108BD9-81ED-4DB2-BD59-A6C34878D82A}">
                    <a16:rowId xmlns:a16="http://schemas.microsoft.com/office/drawing/2014/main" val="1446839611"/>
                  </a:ext>
                </a:extLst>
              </a:tr>
              <a:tr h="276575">
                <a:tc>
                  <a:txBody>
                    <a:bodyPr/>
                    <a:lstStyle/>
                    <a:p>
                      <a:r>
                        <a:rPr lang="fr-FR" sz="1400" dirty="0">
                          <a:latin typeface="Aptos" panose="020B0004020202020204" pitchFamily="34" charset="0"/>
                        </a:rPr>
                        <a:t>6. Définir la quantité par personne</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Doses, unités selon le calendrier</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Protocoles et calendriers nationaux</a:t>
                      </a:r>
                    </a:p>
                  </a:txBody>
                  <a:tcPr marL="73751" marR="73751" marT="36876" marB="36876" anchor="ctr">
                    <a:lnL>
                      <a:noFill/>
                    </a:lnL>
                    <a:lnR>
                      <a:noFill/>
                    </a:lnR>
                    <a:lnT>
                      <a:noFill/>
                    </a:lnT>
                    <a:lnB>
                      <a:noFill/>
                    </a:lnB>
                    <a:solidFill>
                      <a:schemeClr val="bg2">
                        <a:lumMod val="90000"/>
                      </a:schemeClr>
                    </a:solidFill>
                  </a:tcPr>
                </a:tc>
                <a:extLst>
                  <a:ext uri="{0D108BD9-81ED-4DB2-BD59-A6C34878D82A}">
                    <a16:rowId xmlns:a16="http://schemas.microsoft.com/office/drawing/2014/main" val="825155021"/>
                  </a:ext>
                </a:extLst>
              </a:tr>
              <a:tr h="276575">
                <a:tc>
                  <a:txBody>
                    <a:bodyPr/>
                    <a:lstStyle/>
                    <a:p>
                      <a:r>
                        <a:rPr lang="fr-FR" sz="1400">
                          <a:latin typeface="Aptos" panose="020B0004020202020204" pitchFamily="34" charset="0"/>
                        </a:rPr>
                        <a:t>7. Intégrer le taux de gaspillage</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Appliquer le facteur multiplicateur</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Normes OMS/UNICEF</a:t>
                      </a:r>
                    </a:p>
                  </a:txBody>
                  <a:tcPr marL="73751" marR="73751" marT="36876" marB="36876" anchor="ctr">
                    <a:lnL>
                      <a:noFill/>
                    </a:lnL>
                    <a:lnR>
                      <a:noFill/>
                    </a:lnR>
                    <a:lnT>
                      <a:noFill/>
                    </a:lnT>
                    <a:lnB>
                      <a:noFill/>
                    </a:lnB>
                  </a:tcPr>
                </a:tc>
                <a:extLst>
                  <a:ext uri="{0D108BD9-81ED-4DB2-BD59-A6C34878D82A}">
                    <a16:rowId xmlns:a16="http://schemas.microsoft.com/office/drawing/2014/main" val="1931869510"/>
                  </a:ext>
                </a:extLst>
              </a:tr>
              <a:tr h="391351">
                <a:tc>
                  <a:txBody>
                    <a:bodyPr/>
                    <a:lstStyle/>
                    <a:p>
                      <a:r>
                        <a:rPr lang="fr-FR" sz="1400" dirty="0">
                          <a:latin typeface="Aptos" panose="020B0004020202020204" pitchFamily="34" charset="0"/>
                        </a:rPr>
                        <a:t>8. Calculer le besoin brut</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Pop à atteindre × Quantité/personne × Facteur gaspillage</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Calcul</a:t>
                      </a:r>
                    </a:p>
                  </a:txBody>
                  <a:tcPr marL="73751" marR="73751" marT="36876" marB="36876" anchor="ctr">
                    <a:lnL>
                      <a:noFill/>
                    </a:lnL>
                    <a:lnR>
                      <a:noFill/>
                    </a:lnR>
                    <a:lnT>
                      <a:noFill/>
                    </a:lnT>
                    <a:lnB>
                      <a:noFill/>
                    </a:lnB>
                    <a:solidFill>
                      <a:schemeClr val="bg2">
                        <a:lumMod val="90000"/>
                      </a:schemeClr>
                    </a:solidFill>
                  </a:tcPr>
                </a:tc>
                <a:extLst>
                  <a:ext uri="{0D108BD9-81ED-4DB2-BD59-A6C34878D82A}">
                    <a16:rowId xmlns:a16="http://schemas.microsoft.com/office/drawing/2014/main" val="2683838984"/>
                  </a:ext>
                </a:extLst>
              </a:tr>
              <a:tr h="276575">
                <a:tc>
                  <a:txBody>
                    <a:bodyPr/>
                    <a:lstStyle/>
                    <a:p>
                      <a:r>
                        <a:rPr lang="fr-FR" sz="1400">
                          <a:latin typeface="Aptos" panose="020B0004020202020204" pitchFamily="34" charset="0"/>
                        </a:rPr>
                        <a:t>9. Ajouter stock de sécurité</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CMM équivalente × 2 mois</a:t>
                      </a:r>
                    </a:p>
                  </a:txBody>
                  <a:tcPr marL="73751" marR="73751" marT="36876" marB="36876" anchor="ctr">
                    <a:lnL>
                      <a:noFill/>
                    </a:lnL>
                    <a:lnR>
                      <a:noFill/>
                    </a:lnR>
                    <a:lnT>
                      <a:noFill/>
                    </a:lnT>
                    <a:lnB>
                      <a:noFill/>
                    </a:lnB>
                  </a:tcPr>
                </a:tc>
                <a:tc>
                  <a:txBody>
                    <a:bodyPr/>
                    <a:lstStyle/>
                    <a:p>
                      <a:r>
                        <a:rPr lang="fr-FR" sz="1400">
                          <a:latin typeface="Aptos" panose="020B0004020202020204" pitchFamily="34" charset="0"/>
                        </a:rPr>
                        <a:t>Politique nationale</a:t>
                      </a:r>
                    </a:p>
                  </a:txBody>
                  <a:tcPr marL="73751" marR="73751" marT="36876" marB="36876" anchor="ctr">
                    <a:lnL>
                      <a:noFill/>
                    </a:lnL>
                    <a:lnR>
                      <a:noFill/>
                    </a:lnR>
                    <a:lnT>
                      <a:noFill/>
                    </a:lnT>
                    <a:lnB>
                      <a:noFill/>
                    </a:lnB>
                  </a:tcPr>
                </a:tc>
                <a:extLst>
                  <a:ext uri="{0D108BD9-81ED-4DB2-BD59-A6C34878D82A}">
                    <a16:rowId xmlns:a16="http://schemas.microsoft.com/office/drawing/2014/main" val="738161280"/>
                  </a:ext>
                </a:extLst>
              </a:tr>
              <a:tr h="276575">
                <a:tc>
                  <a:txBody>
                    <a:bodyPr/>
                    <a:lstStyle/>
                    <a:p>
                      <a:r>
                        <a:rPr lang="fr-FR" sz="1400" dirty="0">
                          <a:latin typeface="Aptos" panose="020B0004020202020204" pitchFamily="34" charset="0"/>
                        </a:rPr>
                        <a:t>10. Déduire stock et transit</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Inventaire + commandes en cours</a:t>
                      </a:r>
                    </a:p>
                  </a:txBody>
                  <a:tcPr marL="73751" marR="73751" marT="36876" marB="36876"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Gestionnaire</a:t>
                      </a:r>
                    </a:p>
                  </a:txBody>
                  <a:tcPr marL="73751" marR="73751" marT="36876" marB="36876" anchor="ctr">
                    <a:lnL>
                      <a:noFill/>
                    </a:lnL>
                    <a:lnR>
                      <a:noFill/>
                    </a:lnR>
                    <a:lnT>
                      <a:noFill/>
                    </a:lnT>
                    <a:lnB>
                      <a:noFill/>
                    </a:lnB>
                    <a:solidFill>
                      <a:schemeClr val="bg2">
                        <a:lumMod val="90000"/>
                      </a:schemeClr>
                    </a:solidFill>
                  </a:tcPr>
                </a:tc>
                <a:extLst>
                  <a:ext uri="{0D108BD9-81ED-4DB2-BD59-A6C34878D82A}">
                    <a16:rowId xmlns:a16="http://schemas.microsoft.com/office/drawing/2014/main" val="667768743"/>
                  </a:ext>
                </a:extLst>
              </a:tr>
            </a:tbl>
          </a:graphicData>
        </a:graphic>
      </p:graphicFrame>
    </p:spTree>
    <p:extLst>
      <p:ext uri="{BB962C8B-B14F-4D97-AF65-F5344CB8AC3E}">
        <p14:creationId xmlns:p14="http://schemas.microsoft.com/office/powerpoint/2010/main" val="317199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Comparaison des quatre méthodes de quantification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graphicFrame>
        <p:nvGraphicFramePr>
          <p:cNvPr id="2" name="Tableau 1">
            <a:extLst>
              <a:ext uri="{FF2B5EF4-FFF2-40B4-BE49-F238E27FC236}">
                <a16:creationId xmlns:a16="http://schemas.microsoft.com/office/drawing/2014/main" id="{204DB6E7-1972-484A-8FE6-C1FEE14A9007}"/>
              </a:ext>
            </a:extLst>
          </p:cNvPr>
          <p:cNvGraphicFramePr>
            <a:graphicFrameLocks noGrp="1"/>
          </p:cNvGraphicFramePr>
          <p:nvPr>
            <p:extLst>
              <p:ext uri="{D42A27DB-BD31-4B8C-83A1-F6EECF244321}">
                <p14:modId xmlns:p14="http://schemas.microsoft.com/office/powerpoint/2010/main" val="587007871"/>
              </p:ext>
            </p:extLst>
          </p:nvPr>
        </p:nvGraphicFramePr>
        <p:xfrm>
          <a:off x="752168" y="1577131"/>
          <a:ext cx="11074340" cy="4140734"/>
        </p:xfrm>
        <a:graphic>
          <a:graphicData uri="http://schemas.openxmlformats.org/drawingml/2006/table">
            <a:tbl>
              <a:tblPr/>
              <a:tblGrid>
                <a:gridCol w="2225924">
                  <a:extLst>
                    <a:ext uri="{9D8B030D-6E8A-4147-A177-3AD203B41FA5}">
                      <a16:colId xmlns:a16="http://schemas.microsoft.com/office/drawing/2014/main" val="2716537487"/>
                    </a:ext>
                  </a:extLst>
                </a:gridCol>
                <a:gridCol w="2265027">
                  <a:extLst>
                    <a:ext uri="{9D8B030D-6E8A-4147-A177-3AD203B41FA5}">
                      <a16:colId xmlns:a16="http://schemas.microsoft.com/office/drawing/2014/main" val="840836315"/>
                    </a:ext>
                  </a:extLst>
                </a:gridCol>
                <a:gridCol w="2080470">
                  <a:extLst>
                    <a:ext uri="{9D8B030D-6E8A-4147-A177-3AD203B41FA5}">
                      <a16:colId xmlns:a16="http://schemas.microsoft.com/office/drawing/2014/main" val="2904226515"/>
                    </a:ext>
                  </a:extLst>
                </a:gridCol>
                <a:gridCol w="2288051">
                  <a:extLst>
                    <a:ext uri="{9D8B030D-6E8A-4147-A177-3AD203B41FA5}">
                      <a16:colId xmlns:a16="http://schemas.microsoft.com/office/drawing/2014/main" val="996329208"/>
                    </a:ext>
                  </a:extLst>
                </a:gridCol>
                <a:gridCol w="2214868">
                  <a:extLst>
                    <a:ext uri="{9D8B030D-6E8A-4147-A177-3AD203B41FA5}">
                      <a16:colId xmlns:a16="http://schemas.microsoft.com/office/drawing/2014/main" val="1671283722"/>
                    </a:ext>
                  </a:extLst>
                </a:gridCol>
              </a:tblGrid>
              <a:tr h="310919">
                <a:tc>
                  <a:txBody>
                    <a:bodyPr/>
                    <a:lstStyle/>
                    <a:p>
                      <a:r>
                        <a:rPr lang="fr-FR" sz="1300" b="1" dirty="0">
                          <a:solidFill>
                            <a:schemeClr val="bg1"/>
                          </a:solidFill>
                          <a:latin typeface="Aptos" panose="020B0004020202020204" pitchFamily="34" charset="0"/>
                        </a:rPr>
                        <a:t>Critère</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Consommation</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Morbidité</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Services</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Population</a:t>
                      </a:r>
                    </a:p>
                  </a:txBody>
                  <a:tcPr marL="64945" marR="64945" marT="32473" marB="32473" anchor="ctr">
                    <a:lnL>
                      <a:noFill/>
                    </a:lnL>
                    <a:lnR>
                      <a:noFill/>
                    </a:lnR>
                    <a:lnT>
                      <a:noFill/>
                    </a:lnT>
                    <a:lnB>
                      <a:noFill/>
                    </a:lnB>
                    <a:solidFill>
                      <a:srgbClr val="F37504"/>
                    </a:solidFill>
                  </a:tcPr>
                </a:tc>
                <a:extLst>
                  <a:ext uri="{0D108BD9-81ED-4DB2-BD59-A6C34878D82A}">
                    <a16:rowId xmlns:a16="http://schemas.microsoft.com/office/drawing/2014/main" val="1033427273"/>
                  </a:ext>
                </a:extLst>
              </a:tr>
              <a:tr h="411425">
                <a:tc>
                  <a:txBody>
                    <a:bodyPr/>
                    <a:lstStyle/>
                    <a:p>
                      <a:r>
                        <a:rPr lang="fr-FR" sz="1300">
                          <a:latin typeface="Aptos" panose="020B0004020202020204" pitchFamily="34" charset="0"/>
                        </a:rPr>
                        <a:t>Point de départ</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Données historiques de stock</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Données épidémiologiques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Données d'activités cliniques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Données démographiques</a:t>
                      </a:r>
                    </a:p>
                  </a:txBody>
                  <a:tcPr marL="64945" marR="64945" marT="32473" marB="32473" anchor="ctr">
                    <a:lnL>
                      <a:noFill/>
                    </a:lnL>
                    <a:lnR>
                      <a:noFill/>
                    </a:lnR>
                    <a:lnT>
                      <a:noFill/>
                    </a:lnT>
                    <a:lnB>
                      <a:noFill/>
                    </a:lnB>
                  </a:tcPr>
                </a:tc>
                <a:extLst>
                  <a:ext uri="{0D108BD9-81ED-4DB2-BD59-A6C34878D82A}">
                    <a16:rowId xmlns:a16="http://schemas.microsoft.com/office/drawing/2014/main" val="778570831"/>
                  </a:ext>
                </a:extLst>
              </a:tr>
              <a:tr h="432896">
                <a:tc>
                  <a:txBody>
                    <a:bodyPr/>
                    <a:lstStyle/>
                    <a:p>
                      <a:r>
                        <a:rPr lang="fr-FR" sz="1300" dirty="0">
                          <a:latin typeface="Aptos" panose="020B0004020202020204" pitchFamily="34" charset="0"/>
                        </a:rPr>
                        <a:t>Fiabilité si données de qualité</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Élevée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Moyenne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Élevée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Dépend des projections</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2197687222"/>
                  </a:ext>
                </a:extLst>
              </a:tr>
              <a:tr h="405565">
                <a:tc>
                  <a:txBody>
                    <a:bodyPr/>
                    <a:lstStyle/>
                    <a:p>
                      <a:r>
                        <a:rPr lang="fr-FR" sz="1300">
                          <a:latin typeface="Aptos" panose="020B0004020202020204" pitchFamily="34" charset="0"/>
                        </a:rPr>
                        <a:t>Programme nouveau</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Non applicable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Oui</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Si normes disponibles</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Oui</a:t>
                      </a:r>
                    </a:p>
                  </a:txBody>
                  <a:tcPr marL="64945" marR="64945" marT="32473" marB="32473" anchor="ctr">
                    <a:lnL>
                      <a:noFill/>
                    </a:lnL>
                    <a:lnR>
                      <a:noFill/>
                    </a:lnR>
                    <a:lnT>
                      <a:noFill/>
                    </a:lnT>
                    <a:lnB>
                      <a:noFill/>
                    </a:lnB>
                  </a:tcPr>
                </a:tc>
                <a:extLst>
                  <a:ext uri="{0D108BD9-81ED-4DB2-BD59-A6C34878D82A}">
                    <a16:rowId xmlns:a16="http://schemas.microsoft.com/office/drawing/2014/main" val="3243370880"/>
                  </a:ext>
                </a:extLst>
              </a:tr>
              <a:tr h="432896">
                <a:tc>
                  <a:txBody>
                    <a:bodyPr/>
                    <a:lstStyle/>
                    <a:p>
                      <a:r>
                        <a:rPr lang="fr-FR" sz="1300" dirty="0">
                          <a:latin typeface="Aptos" panose="020B0004020202020204" pitchFamily="34" charset="0"/>
                        </a:rPr>
                        <a:t>Demande non satisfaite captée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Non</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Oui</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Partiellement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Oui</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4201430069"/>
                  </a:ext>
                </a:extLst>
              </a:tr>
              <a:tr h="246929">
                <a:tc>
                  <a:txBody>
                    <a:bodyPr/>
                    <a:lstStyle/>
                    <a:p>
                      <a:r>
                        <a:rPr lang="fr-FR" sz="1300">
                          <a:latin typeface="Aptos" panose="020B0004020202020204" pitchFamily="34" charset="0"/>
                        </a:rPr>
                        <a:t>Gaspillage intégré</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Implicite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Non</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Partiellement</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Explicitement</a:t>
                      </a:r>
                    </a:p>
                  </a:txBody>
                  <a:tcPr marL="64945" marR="64945" marT="32473" marB="32473" anchor="ctr">
                    <a:lnL>
                      <a:noFill/>
                    </a:lnL>
                    <a:lnR>
                      <a:noFill/>
                    </a:lnR>
                    <a:lnT>
                      <a:noFill/>
                    </a:lnT>
                    <a:lnB>
                      <a:noFill/>
                    </a:lnB>
                  </a:tcPr>
                </a:tc>
                <a:extLst>
                  <a:ext uri="{0D108BD9-81ED-4DB2-BD59-A6C34878D82A}">
                    <a16:rowId xmlns:a16="http://schemas.microsoft.com/office/drawing/2014/main" val="791839066"/>
                  </a:ext>
                </a:extLst>
              </a:tr>
              <a:tr h="246929">
                <a:tc>
                  <a:txBody>
                    <a:bodyPr/>
                    <a:lstStyle/>
                    <a:p>
                      <a:r>
                        <a:rPr lang="fr-FR" sz="1300">
                          <a:latin typeface="Aptos" panose="020B0004020202020204" pitchFamily="34" charset="0"/>
                        </a:rPr>
                        <a:t>Facilité d'application</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Simple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Complexe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Moyenne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Moyenne</a:t>
                      </a:r>
                    </a:p>
                  </a:txBody>
                  <a:tcPr marL="64945" marR="64945" marT="32473" marB="32473" anchor="ctr">
                    <a:lnL>
                      <a:noFill/>
                    </a:lnL>
                    <a:lnR>
                      <a:noFill/>
                    </a:lnR>
                    <a:lnT>
                      <a:noFill/>
                    </a:lnT>
                    <a:lnB>
                      <a:noFill/>
                    </a:lnB>
                  </a:tcPr>
                </a:tc>
                <a:extLst>
                  <a:ext uri="{0D108BD9-81ED-4DB2-BD59-A6C34878D82A}">
                    <a16:rowId xmlns:a16="http://schemas.microsoft.com/office/drawing/2014/main" val="2120903761"/>
                  </a:ext>
                </a:extLst>
              </a:tr>
              <a:tr h="579378">
                <a:tc>
                  <a:txBody>
                    <a:bodyPr/>
                    <a:lstStyle/>
                    <a:p>
                      <a:r>
                        <a:rPr lang="fr-FR" sz="1300" dirty="0">
                          <a:latin typeface="Aptos" panose="020B0004020202020204" pitchFamily="34" charset="0"/>
                        </a:rPr>
                        <a:t>Adapté aux campagnes de masse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Non</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Partiellement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Partiellement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Oui</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538416190"/>
                  </a:ext>
                </a:extLst>
              </a:tr>
              <a:tr h="579378">
                <a:tc>
                  <a:txBody>
                    <a:bodyPr/>
                    <a:lstStyle/>
                    <a:p>
                      <a:r>
                        <a:rPr lang="fr-FR" sz="1300">
                          <a:latin typeface="Aptos" panose="020B0004020202020204" pitchFamily="34" charset="0"/>
                        </a:rPr>
                        <a:t>Produits typiquement quantifiés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Médicaments de routine</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Médicaments curatifs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Intrants liés aux actes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Vaccins, micronutriments, MILD, contraceptifs</a:t>
                      </a:r>
                    </a:p>
                  </a:txBody>
                  <a:tcPr marL="64945" marR="64945" marT="32473" marB="32473" anchor="ctr">
                    <a:lnL>
                      <a:noFill/>
                    </a:lnL>
                    <a:lnR>
                      <a:noFill/>
                    </a:lnR>
                    <a:lnT>
                      <a:noFill/>
                    </a:lnT>
                    <a:lnB>
                      <a:noFill/>
                    </a:lnB>
                  </a:tcPr>
                </a:tc>
                <a:extLst>
                  <a:ext uri="{0D108BD9-81ED-4DB2-BD59-A6C34878D82A}">
                    <a16:rowId xmlns:a16="http://schemas.microsoft.com/office/drawing/2014/main" val="1819911564"/>
                  </a:ext>
                </a:extLst>
              </a:tr>
              <a:tr h="405565">
                <a:tc>
                  <a:txBody>
                    <a:bodyPr/>
                    <a:lstStyle/>
                    <a:p>
                      <a:r>
                        <a:rPr lang="fr-FR" sz="1300" dirty="0">
                          <a:latin typeface="Aptos" panose="020B0004020202020204" pitchFamily="34" charset="0"/>
                        </a:rPr>
                        <a:t>Niveau d'application optimal</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Site, district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National, district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Site, district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National, régional</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4101990857"/>
                  </a:ext>
                </a:extLst>
              </a:tr>
            </a:tbl>
          </a:graphicData>
        </a:graphic>
      </p:graphicFrame>
    </p:spTree>
    <p:extLst>
      <p:ext uri="{BB962C8B-B14F-4D97-AF65-F5344CB8AC3E}">
        <p14:creationId xmlns:p14="http://schemas.microsoft.com/office/powerpoint/2010/main" val="42933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0" name="ZoneTexte 9">
            <a:extLst>
              <a:ext uri="{FF2B5EF4-FFF2-40B4-BE49-F238E27FC236}">
                <a16:creationId xmlns:a16="http://schemas.microsoft.com/office/drawing/2014/main" id="{1F165446-9292-40B6-A9EF-761E99F96A8E}"/>
              </a:ext>
            </a:extLst>
          </p:cNvPr>
          <p:cNvSpPr txBox="1"/>
          <p:nvPr/>
        </p:nvSpPr>
        <p:spPr>
          <a:xfrm>
            <a:off x="599513" y="1281800"/>
            <a:ext cx="11145074" cy="5016758"/>
          </a:xfrm>
          <a:prstGeom prst="rect">
            <a:avLst/>
          </a:prstGeom>
          <a:noFill/>
        </p:spPr>
        <p:txBody>
          <a:bodyPr wrap="square">
            <a:spAutoFit/>
          </a:bodyPr>
          <a:lstStyle/>
          <a:p>
            <a:pPr marL="342900"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Les quatre méthodes de quantification ne sont pas concurrentes. Elles sont complémentaires.</a:t>
            </a:r>
          </a:p>
          <a:p>
            <a:r>
              <a:rPr lang="fr-FR" sz="2000" dirty="0">
                <a:solidFill>
                  <a:schemeClr val="tx1">
                    <a:lumMod val="75000"/>
                    <a:lumOff val="25000"/>
                  </a:schemeClr>
                </a:solidFill>
                <a:latin typeface="Aptos" panose="020B0004020202020204" pitchFamily="34" charset="0"/>
              </a:rPr>
              <a:t> </a:t>
            </a:r>
          </a:p>
          <a:p>
            <a:pPr marL="342900"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Dans la pratique professionnelle de la quantification pharmaceutique, aucune méthode prise isolément ne donne une réponse parfaitement fiable. Chacune a ses forces, ses limites et ses zones d'aveuglement. </a:t>
            </a:r>
          </a:p>
          <a:p>
            <a:pPr marL="342900"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342900"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La triangulation consiste à appliquer deux ou trois méthodes au même produit, à comparer les résultats obtenus, à analyser les écarts et à converger vers une estimation consensuelle fondée sur la meilleure compréhension possible du contexte. </a:t>
            </a:r>
          </a:p>
          <a:p>
            <a:pPr marL="342900"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342900"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C'est une démarche intellectuelle rigoureuse qui transforme la quantification d'un simple calcul mécanique en un exercice d'analyse et de jugement professionnel. </a:t>
            </a:r>
          </a:p>
          <a:p>
            <a:pPr marL="342900"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342900"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Les guides internationaux de quantification (USAID DELIVER, guide QAT, guide UNFPA) recommandent systématiquement la triangulation pour toute quantification nationale ou programmatique importante.</a:t>
            </a:r>
          </a:p>
        </p:txBody>
      </p:sp>
    </p:spTree>
    <p:extLst>
      <p:ext uri="{BB962C8B-B14F-4D97-AF65-F5344CB8AC3E}">
        <p14:creationId xmlns:p14="http://schemas.microsoft.com/office/powerpoint/2010/main" val="389470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trianguler ?</a:t>
            </a:r>
          </a:p>
        </p:txBody>
      </p:sp>
      <p:sp>
        <p:nvSpPr>
          <p:cNvPr id="11" name="ZoneTexte 10">
            <a:extLst>
              <a:ext uri="{FF2B5EF4-FFF2-40B4-BE49-F238E27FC236}">
                <a16:creationId xmlns:a16="http://schemas.microsoft.com/office/drawing/2014/main" id="{35D62BAC-6F29-4633-8195-EF31DCB0F224}"/>
              </a:ext>
            </a:extLst>
          </p:cNvPr>
          <p:cNvSpPr txBox="1"/>
          <p:nvPr/>
        </p:nvSpPr>
        <p:spPr>
          <a:xfrm>
            <a:off x="696285" y="2138436"/>
            <a:ext cx="10133901" cy="3785652"/>
          </a:xfrm>
          <a:prstGeom prst="rect">
            <a:avLst/>
          </a:prstGeom>
          <a:noFill/>
        </p:spPr>
        <p:txBody>
          <a:bodyPr wrap="square">
            <a:spAutoFit/>
          </a:bodyPr>
          <a:lstStyle/>
          <a:p>
            <a:r>
              <a:rPr lang="fr-FR" sz="2000" b="1" dirty="0">
                <a:solidFill>
                  <a:schemeClr val="tx1">
                    <a:lumMod val="75000"/>
                    <a:lumOff val="25000"/>
                  </a:schemeClr>
                </a:solidFill>
                <a:latin typeface="Aptos" panose="020B0004020202020204" pitchFamily="34" charset="0"/>
              </a:rPr>
              <a:t>La triangulation permet de :</a:t>
            </a:r>
          </a:p>
          <a:p>
            <a:endParaRPr lang="fr-FR" sz="2000" dirty="0">
              <a:solidFill>
                <a:schemeClr val="tx1">
                  <a:lumMod val="75000"/>
                  <a:lumOff val="25000"/>
                </a:schemeClr>
              </a:solidFill>
              <a:latin typeface="Aptos" panose="020B0004020202020204" pitchFamily="34" charset="0"/>
            </a:endParaRPr>
          </a:p>
          <a:p>
            <a:pPr marL="800100" lvl="1"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Détecter des incohérences entre les estimations qui signalent des problèmes dans les données</a:t>
            </a:r>
          </a:p>
          <a:p>
            <a:pPr marL="800100" lvl="1"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800100" lvl="1"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Obtenir une fourchette de besoins (minimum probable, maximum probable) plutôt qu'un chiffre unique</a:t>
            </a:r>
          </a:p>
          <a:p>
            <a:pPr marL="800100" lvl="1"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800100" lvl="1"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Prendre une décision éclairée en comprenant les hypothèses et les incertitudes de chaque méthode</a:t>
            </a:r>
          </a:p>
          <a:p>
            <a:pPr marL="800100" lvl="1" indent="-342900">
              <a:buFont typeface="Arial" panose="020B0604020202020204" pitchFamily="34" charset="0"/>
              <a:buChar char="•"/>
            </a:pPr>
            <a:endParaRPr lang="fr-FR" sz="2000" dirty="0">
              <a:solidFill>
                <a:schemeClr val="tx1">
                  <a:lumMod val="75000"/>
                  <a:lumOff val="25000"/>
                </a:schemeClr>
              </a:solidFill>
              <a:latin typeface="Aptos" panose="020B0004020202020204" pitchFamily="34" charset="0"/>
            </a:endParaRPr>
          </a:p>
          <a:p>
            <a:pPr marL="800100" lvl="1" indent="-342900">
              <a:buFont typeface="Arial" panose="020B0604020202020204" pitchFamily="34" charset="0"/>
              <a:buChar char="•"/>
            </a:pPr>
            <a:r>
              <a:rPr lang="fr-FR" sz="2000" dirty="0">
                <a:solidFill>
                  <a:schemeClr val="tx1">
                    <a:lumMod val="75000"/>
                    <a:lumOff val="25000"/>
                  </a:schemeClr>
                </a:solidFill>
                <a:latin typeface="Aptos" panose="020B0004020202020204" pitchFamily="34" charset="0"/>
              </a:rPr>
              <a:t>Justifier les choix de quantification devant les décideurs et les bailleurs de fonds</a:t>
            </a:r>
          </a:p>
        </p:txBody>
      </p:sp>
    </p:spTree>
    <p:extLst>
      <p:ext uri="{BB962C8B-B14F-4D97-AF65-F5344CB8AC3E}">
        <p14:creationId xmlns:p14="http://schemas.microsoft.com/office/powerpoint/2010/main" val="49794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trianguler ?</a:t>
            </a:r>
          </a:p>
        </p:txBody>
      </p:sp>
      <p:sp>
        <p:nvSpPr>
          <p:cNvPr id="11" name="ZoneTexte 10">
            <a:extLst>
              <a:ext uri="{FF2B5EF4-FFF2-40B4-BE49-F238E27FC236}">
                <a16:creationId xmlns:a16="http://schemas.microsoft.com/office/drawing/2014/main" id="{35D62BAC-6F29-4633-8195-EF31DCB0F224}"/>
              </a:ext>
            </a:extLst>
          </p:cNvPr>
          <p:cNvSpPr txBox="1"/>
          <p:nvPr/>
        </p:nvSpPr>
        <p:spPr>
          <a:xfrm>
            <a:off x="696286" y="2138436"/>
            <a:ext cx="9781564" cy="400110"/>
          </a:xfrm>
          <a:prstGeom prst="rect">
            <a:avLst/>
          </a:prstGeom>
          <a:noFill/>
        </p:spPr>
        <p:txBody>
          <a:bodyPr wrap="square">
            <a:spAutoFit/>
          </a:bodyPr>
          <a:lstStyle/>
          <a:p>
            <a:r>
              <a:rPr lang="fr-FR" sz="2000" dirty="0">
                <a:latin typeface="Aptos" panose="020B0004020202020204" pitchFamily="34" charset="0"/>
              </a:rPr>
              <a:t>Chaque méthode produit une estimation biaisée dans une direction particulière.</a:t>
            </a:r>
          </a:p>
        </p:txBody>
      </p:sp>
      <p:graphicFrame>
        <p:nvGraphicFramePr>
          <p:cNvPr id="2" name="Tableau 1">
            <a:extLst>
              <a:ext uri="{FF2B5EF4-FFF2-40B4-BE49-F238E27FC236}">
                <a16:creationId xmlns:a16="http://schemas.microsoft.com/office/drawing/2014/main" id="{B11EC0A6-4486-4FFE-8C74-D92476C045AC}"/>
              </a:ext>
            </a:extLst>
          </p:cNvPr>
          <p:cNvGraphicFramePr>
            <a:graphicFrameLocks noGrp="1"/>
          </p:cNvGraphicFramePr>
          <p:nvPr>
            <p:extLst>
              <p:ext uri="{D42A27DB-BD31-4B8C-83A1-F6EECF244321}">
                <p14:modId xmlns:p14="http://schemas.microsoft.com/office/powerpoint/2010/main" val="2602748197"/>
              </p:ext>
            </p:extLst>
          </p:nvPr>
        </p:nvGraphicFramePr>
        <p:xfrm>
          <a:off x="838200" y="2675414"/>
          <a:ext cx="10515600" cy="2103120"/>
        </p:xfrm>
        <a:graphic>
          <a:graphicData uri="http://schemas.openxmlformats.org/drawingml/2006/table">
            <a:tbl>
              <a:tblPr/>
              <a:tblGrid>
                <a:gridCol w="2525785">
                  <a:extLst>
                    <a:ext uri="{9D8B030D-6E8A-4147-A177-3AD203B41FA5}">
                      <a16:colId xmlns:a16="http://schemas.microsoft.com/office/drawing/2014/main" val="419426802"/>
                    </a:ext>
                  </a:extLst>
                </a:gridCol>
                <a:gridCol w="4484615">
                  <a:extLst>
                    <a:ext uri="{9D8B030D-6E8A-4147-A177-3AD203B41FA5}">
                      <a16:colId xmlns:a16="http://schemas.microsoft.com/office/drawing/2014/main" val="2948894413"/>
                    </a:ext>
                  </a:extLst>
                </a:gridCol>
                <a:gridCol w="3505200">
                  <a:extLst>
                    <a:ext uri="{9D8B030D-6E8A-4147-A177-3AD203B41FA5}">
                      <a16:colId xmlns:a16="http://schemas.microsoft.com/office/drawing/2014/main" val="1948226073"/>
                    </a:ext>
                  </a:extLst>
                </a:gridCol>
              </a:tblGrid>
              <a:tr h="0">
                <a:tc>
                  <a:txBody>
                    <a:bodyPr/>
                    <a:lstStyle/>
                    <a:p>
                      <a:r>
                        <a:rPr lang="fr-FR" b="1" dirty="0">
                          <a:solidFill>
                            <a:schemeClr val="bg1"/>
                          </a:solidFill>
                          <a:latin typeface="Aptos" panose="020B0004020202020204" pitchFamily="34" charset="0"/>
                        </a:rPr>
                        <a:t>Méthode</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Biais typique</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Direction du biais</a:t>
                      </a:r>
                    </a:p>
                  </a:txBody>
                  <a:tcPr anchor="ctr">
                    <a:lnL>
                      <a:noFill/>
                    </a:lnL>
                    <a:lnR>
                      <a:noFill/>
                    </a:lnR>
                    <a:lnT>
                      <a:noFill/>
                    </a:lnT>
                    <a:lnB>
                      <a:noFill/>
                    </a:lnB>
                    <a:solidFill>
                      <a:srgbClr val="F37504"/>
                    </a:solidFill>
                  </a:tcPr>
                </a:tc>
                <a:extLst>
                  <a:ext uri="{0D108BD9-81ED-4DB2-BD59-A6C34878D82A}">
                    <a16:rowId xmlns:a16="http://schemas.microsoft.com/office/drawing/2014/main" val="1106670666"/>
                  </a:ext>
                </a:extLst>
              </a:tr>
              <a:tr h="0">
                <a:tc>
                  <a:txBody>
                    <a:bodyPr/>
                    <a:lstStyle/>
                    <a:p>
                      <a:r>
                        <a:rPr lang="fr-FR">
                          <a:latin typeface="Aptos" panose="020B0004020202020204" pitchFamily="34" charset="0"/>
                        </a:rPr>
                        <a:t>Consommation</a:t>
                      </a:r>
                    </a:p>
                  </a:txBody>
                  <a:tcPr anchor="ctr">
                    <a:lnL>
                      <a:noFill/>
                    </a:lnL>
                    <a:lnR>
                      <a:noFill/>
                    </a:lnR>
                    <a:lnT>
                      <a:noFill/>
                    </a:lnT>
                    <a:lnB>
                      <a:noFill/>
                    </a:lnB>
                  </a:tcPr>
                </a:tc>
                <a:tc>
                  <a:txBody>
                    <a:bodyPr/>
                    <a:lstStyle/>
                    <a:p>
                      <a:r>
                        <a:rPr lang="fr-FR">
                          <a:latin typeface="Aptos" panose="020B0004020202020204" pitchFamily="34" charset="0"/>
                        </a:rPr>
                        <a:t>Sous-estime si ruptures fréquentes</a:t>
                      </a:r>
                    </a:p>
                  </a:txBody>
                  <a:tcPr anchor="ctr">
                    <a:lnL>
                      <a:noFill/>
                    </a:lnL>
                    <a:lnR>
                      <a:noFill/>
                    </a:lnR>
                    <a:lnT>
                      <a:noFill/>
                    </a:lnT>
                    <a:lnB>
                      <a:noFill/>
                    </a:lnB>
                  </a:tcPr>
                </a:tc>
                <a:tc>
                  <a:txBody>
                    <a:bodyPr/>
                    <a:lstStyle/>
                    <a:p>
                      <a:r>
                        <a:rPr lang="fr-FR">
                          <a:latin typeface="Aptos" panose="020B0004020202020204" pitchFamily="34" charset="0"/>
                        </a:rPr>
                        <a:t>↓ Sous-estimation</a:t>
                      </a:r>
                    </a:p>
                  </a:txBody>
                  <a:tcPr anchor="ctr">
                    <a:lnL>
                      <a:noFill/>
                    </a:lnL>
                    <a:lnR>
                      <a:noFill/>
                    </a:lnR>
                    <a:lnT>
                      <a:noFill/>
                    </a:lnT>
                    <a:lnB>
                      <a:noFill/>
                    </a:lnB>
                  </a:tcPr>
                </a:tc>
                <a:extLst>
                  <a:ext uri="{0D108BD9-81ED-4DB2-BD59-A6C34878D82A}">
                    <a16:rowId xmlns:a16="http://schemas.microsoft.com/office/drawing/2014/main" val="731586166"/>
                  </a:ext>
                </a:extLst>
              </a:tr>
              <a:tr h="0">
                <a:tc>
                  <a:txBody>
                    <a:bodyPr/>
                    <a:lstStyle/>
                    <a:p>
                      <a:r>
                        <a:rPr lang="fr-FR" dirty="0">
                          <a:latin typeface="Aptos" panose="020B0004020202020204" pitchFamily="34" charset="0"/>
                        </a:rPr>
                        <a:t>Morbidité</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Surestime si taux de traitement mal estimé</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 Surestimation</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243712660"/>
                  </a:ext>
                </a:extLst>
              </a:tr>
              <a:tr h="0">
                <a:tc>
                  <a:txBody>
                    <a:bodyPr/>
                    <a:lstStyle/>
                    <a:p>
                      <a:r>
                        <a:rPr lang="fr-FR">
                          <a:latin typeface="Aptos" panose="020B0004020202020204" pitchFamily="34" charset="0"/>
                        </a:rPr>
                        <a:t>Services</a:t>
                      </a:r>
                    </a:p>
                  </a:txBody>
                  <a:tcPr anchor="ctr">
                    <a:lnL>
                      <a:noFill/>
                    </a:lnL>
                    <a:lnR>
                      <a:noFill/>
                    </a:lnR>
                    <a:lnT>
                      <a:noFill/>
                    </a:lnT>
                    <a:lnB>
                      <a:noFill/>
                    </a:lnB>
                  </a:tcPr>
                </a:tc>
                <a:tc>
                  <a:txBody>
                    <a:bodyPr/>
                    <a:lstStyle/>
                    <a:p>
                      <a:r>
                        <a:rPr lang="fr-FR">
                          <a:latin typeface="Aptos" panose="020B0004020202020204" pitchFamily="34" charset="0"/>
                        </a:rPr>
                        <a:t>Sous-estime si enregistrement incomplet</a:t>
                      </a:r>
                    </a:p>
                  </a:txBody>
                  <a:tcPr anchor="ctr">
                    <a:lnL>
                      <a:noFill/>
                    </a:lnL>
                    <a:lnR>
                      <a:noFill/>
                    </a:lnR>
                    <a:lnT>
                      <a:noFill/>
                    </a:lnT>
                    <a:lnB>
                      <a:noFill/>
                    </a:lnB>
                  </a:tcPr>
                </a:tc>
                <a:tc>
                  <a:txBody>
                    <a:bodyPr/>
                    <a:lstStyle/>
                    <a:p>
                      <a:r>
                        <a:rPr lang="fr-FR">
                          <a:latin typeface="Aptos" panose="020B0004020202020204" pitchFamily="34" charset="0"/>
                        </a:rPr>
                        <a:t>↓ Sous-estimation</a:t>
                      </a:r>
                    </a:p>
                  </a:txBody>
                  <a:tcPr anchor="ctr">
                    <a:lnL>
                      <a:noFill/>
                    </a:lnL>
                    <a:lnR>
                      <a:noFill/>
                    </a:lnR>
                    <a:lnT>
                      <a:noFill/>
                    </a:lnT>
                    <a:lnB>
                      <a:noFill/>
                    </a:lnB>
                  </a:tcPr>
                </a:tc>
                <a:extLst>
                  <a:ext uri="{0D108BD9-81ED-4DB2-BD59-A6C34878D82A}">
                    <a16:rowId xmlns:a16="http://schemas.microsoft.com/office/drawing/2014/main" val="568192118"/>
                  </a:ext>
                </a:extLst>
              </a:tr>
              <a:tr h="0">
                <a:tc>
                  <a:txBody>
                    <a:bodyPr/>
                    <a:lstStyle/>
                    <a:p>
                      <a:r>
                        <a:rPr lang="fr-FR" dirty="0">
                          <a:latin typeface="Aptos" panose="020B0004020202020204" pitchFamily="34" charset="0"/>
                        </a:rPr>
                        <a:t>Population</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Surestime si couverture visée trop ambitieuse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 Surestimation</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680234995"/>
                  </a:ext>
                </a:extLst>
              </a:tr>
            </a:tbl>
          </a:graphicData>
        </a:graphic>
      </p:graphicFrame>
    </p:spTree>
    <p:extLst>
      <p:ext uri="{BB962C8B-B14F-4D97-AF65-F5344CB8AC3E}">
        <p14:creationId xmlns:p14="http://schemas.microsoft.com/office/powerpoint/2010/main" val="56658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processus de triangulation</a:t>
            </a:r>
          </a:p>
        </p:txBody>
      </p:sp>
      <p:sp>
        <p:nvSpPr>
          <p:cNvPr id="11" name="ZoneTexte 10">
            <a:extLst>
              <a:ext uri="{FF2B5EF4-FFF2-40B4-BE49-F238E27FC236}">
                <a16:creationId xmlns:a16="http://schemas.microsoft.com/office/drawing/2014/main" id="{35D62BAC-6F29-4633-8195-EF31DCB0F224}"/>
              </a:ext>
            </a:extLst>
          </p:cNvPr>
          <p:cNvSpPr txBox="1"/>
          <p:nvPr/>
        </p:nvSpPr>
        <p:spPr>
          <a:xfrm>
            <a:off x="696286" y="2138436"/>
            <a:ext cx="9781564" cy="400110"/>
          </a:xfrm>
          <a:prstGeom prst="rect">
            <a:avLst/>
          </a:prstGeom>
          <a:noFill/>
        </p:spPr>
        <p:txBody>
          <a:bodyPr wrap="square">
            <a:spAutoFit/>
          </a:bodyPr>
          <a:lstStyle/>
          <a:p>
            <a:r>
              <a:rPr lang="fr-FR" sz="2000" dirty="0">
                <a:latin typeface="Aptos" panose="020B0004020202020204" pitchFamily="34" charset="0"/>
              </a:rPr>
              <a:t>La triangulation suit un processus structuré en six étapes.</a:t>
            </a:r>
          </a:p>
        </p:txBody>
      </p:sp>
      <p:sp>
        <p:nvSpPr>
          <p:cNvPr id="15" name="ZoneTexte 14">
            <a:extLst>
              <a:ext uri="{FF2B5EF4-FFF2-40B4-BE49-F238E27FC236}">
                <a16:creationId xmlns:a16="http://schemas.microsoft.com/office/drawing/2014/main" id="{7E27BB3E-62DA-49D3-A55A-F004B5CB8A88}"/>
              </a:ext>
            </a:extLst>
          </p:cNvPr>
          <p:cNvSpPr txBox="1"/>
          <p:nvPr/>
        </p:nvSpPr>
        <p:spPr>
          <a:xfrm>
            <a:off x="753042" y="2656370"/>
            <a:ext cx="11016712" cy="1323439"/>
          </a:xfrm>
          <a:prstGeom prst="rect">
            <a:avLst/>
          </a:prstGeom>
          <a:noFill/>
        </p:spPr>
        <p:txBody>
          <a:bodyPr wrap="square">
            <a:spAutoFit/>
          </a:bodyPr>
          <a:lstStyle/>
          <a:p>
            <a:r>
              <a:rPr lang="fr-FR" sz="2000" b="1" dirty="0">
                <a:latin typeface="Aptos" panose="020B0004020202020204" pitchFamily="34" charset="0"/>
              </a:rPr>
              <a:t>Étape 1 — Appliquer chaque méthode applicable indépendamment</a:t>
            </a:r>
          </a:p>
          <a:p>
            <a:pPr marL="342900" indent="-342900">
              <a:buFont typeface="Arial" panose="020B0604020202020204" pitchFamily="34" charset="0"/>
              <a:buChar char="•"/>
            </a:pPr>
            <a:r>
              <a:rPr lang="fr-FR" sz="2000" dirty="0">
                <a:latin typeface="Aptos" panose="020B0004020202020204" pitchFamily="34" charset="0"/>
              </a:rPr>
              <a:t>Chaque méthode est appliquée de façon autonome, sans que le résultat d'une méthode influence le calcul des autres. </a:t>
            </a:r>
          </a:p>
          <a:p>
            <a:pPr marL="342900" indent="-342900">
              <a:buFont typeface="Arial" panose="020B0604020202020204" pitchFamily="34" charset="0"/>
              <a:buChar char="•"/>
            </a:pPr>
            <a:r>
              <a:rPr lang="fr-FR" sz="2000" dirty="0">
                <a:latin typeface="Aptos" panose="020B0004020202020204" pitchFamily="34" charset="0"/>
              </a:rPr>
              <a:t>Les équipes chargées de chaque méthode travaillent idéalement en parallèle.</a:t>
            </a:r>
          </a:p>
        </p:txBody>
      </p:sp>
    </p:spTree>
    <p:extLst>
      <p:ext uri="{BB962C8B-B14F-4D97-AF65-F5344CB8AC3E}">
        <p14:creationId xmlns:p14="http://schemas.microsoft.com/office/powerpoint/2010/main" val="336538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processus de triangulation</a:t>
            </a:r>
          </a:p>
        </p:txBody>
      </p:sp>
      <p:sp>
        <p:nvSpPr>
          <p:cNvPr id="11" name="ZoneTexte 10">
            <a:extLst>
              <a:ext uri="{FF2B5EF4-FFF2-40B4-BE49-F238E27FC236}">
                <a16:creationId xmlns:a16="http://schemas.microsoft.com/office/drawing/2014/main" id="{35D62BAC-6F29-4633-8195-EF31DCB0F224}"/>
              </a:ext>
            </a:extLst>
          </p:cNvPr>
          <p:cNvSpPr txBox="1"/>
          <p:nvPr/>
        </p:nvSpPr>
        <p:spPr>
          <a:xfrm>
            <a:off x="696286" y="2138436"/>
            <a:ext cx="9781564" cy="400110"/>
          </a:xfrm>
          <a:prstGeom prst="rect">
            <a:avLst/>
          </a:prstGeom>
          <a:noFill/>
        </p:spPr>
        <p:txBody>
          <a:bodyPr wrap="square">
            <a:spAutoFit/>
          </a:bodyPr>
          <a:lstStyle/>
          <a:p>
            <a:r>
              <a:rPr lang="fr-FR" sz="2000" dirty="0">
                <a:latin typeface="Aptos" panose="020B0004020202020204" pitchFamily="34" charset="0"/>
              </a:rPr>
              <a:t>La triangulation suit un processus structuré en six étapes.</a:t>
            </a:r>
          </a:p>
        </p:txBody>
      </p:sp>
      <p:sp>
        <p:nvSpPr>
          <p:cNvPr id="15" name="ZoneTexte 14">
            <a:extLst>
              <a:ext uri="{FF2B5EF4-FFF2-40B4-BE49-F238E27FC236}">
                <a16:creationId xmlns:a16="http://schemas.microsoft.com/office/drawing/2014/main" id="{7E27BB3E-62DA-49D3-A55A-F004B5CB8A88}"/>
              </a:ext>
            </a:extLst>
          </p:cNvPr>
          <p:cNvSpPr txBox="1"/>
          <p:nvPr/>
        </p:nvSpPr>
        <p:spPr>
          <a:xfrm>
            <a:off x="753042" y="2656370"/>
            <a:ext cx="11016712" cy="1015663"/>
          </a:xfrm>
          <a:prstGeom prst="rect">
            <a:avLst/>
          </a:prstGeom>
          <a:noFill/>
        </p:spPr>
        <p:txBody>
          <a:bodyPr wrap="square">
            <a:spAutoFit/>
          </a:bodyPr>
          <a:lstStyle/>
          <a:p>
            <a:r>
              <a:rPr lang="fr-FR" sz="2000" b="1" dirty="0">
                <a:latin typeface="Aptos" panose="020B0004020202020204" pitchFamily="34" charset="0"/>
              </a:rPr>
              <a:t>Étape 2 — Comparer les résultats</a:t>
            </a:r>
          </a:p>
          <a:p>
            <a:pPr marL="342900" indent="-342900">
              <a:buFont typeface="Arial" panose="020B0604020202020204" pitchFamily="34" charset="0"/>
              <a:buChar char="•"/>
            </a:pPr>
            <a:r>
              <a:rPr lang="fr-FR" sz="2000" dirty="0">
                <a:latin typeface="Aptos" panose="020B0004020202020204" pitchFamily="34" charset="0"/>
              </a:rPr>
              <a:t>Les résultats de chaque méthode sont présentés dans un tableau comparatif. </a:t>
            </a:r>
          </a:p>
          <a:p>
            <a:pPr marL="342900" indent="-342900">
              <a:buFont typeface="Arial" panose="020B0604020202020204" pitchFamily="34" charset="0"/>
              <a:buChar char="•"/>
            </a:pPr>
            <a:r>
              <a:rPr lang="fr-FR" sz="2000" dirty="0">
                <a:latin typeface="Aptos" panose="020B0004020202020204" pitchFamily="34" charset="0"/>
              </a:rPr>
              <a:t>L'écart entre les estimations est calculé.</a:t>
            </a:r>
          </a:p>
        </p:txBody>
      </p:sp>
      <p:sp>
        <p:nvSpPr>
          <p:cNvPr id="13" name="ZoneTexte 12">
            <a:extLst>
              <a:ext uri="{FF2B5EF4-FFF2-40B4-BE49-F238E27FC236}">
                <a16:creationId xmlns:a16="http://schemas.microsoft.com/office/drawing/2014/main" id="{31E244F0-5AF4-464D-8189-005562634444}"/>
              </a:ext>
            </a:extLst>
          </p:cNvPr>
          <p:cNvSpPr txBox="1"/>
          <p:nvPr/>
        </p:nvSpPr>
        <p:spPr>
          <a:xfrm>
            <a:off x="4290382" y="3703964"/>
            <a:ext cx="3859234" cy="369332"/>
          </a:xfrm>
          <a:prstGeom prst="rect">
            <a:avLst/>
          </a:prstGeom>
          <a:noFill/>
        </p:spPr>
        <p:txBody>
          <a:bodyPr wrap="square">
            <a:spAutoFit/>
          </a:bodyPr>
          <a:lstStyle/>
          <a:p>
            <a:r>
              <a:rPr lang="fr-FR" b="1" dirty="0">
                <a:latin typeface="Aptos" panose="020B0004020202020204" pitchFamily="34" charset="0"/>
              </a:rPr>
              <a:t>Critères d'interprétation des écarts </a:t>
            </a:r>
          </a:p>
        </p:txBody>
      </p:sp>
      <p:graphicFrame>
        <p:nvGraphicFramePr>
          <p:cNvPr id="5" name="Tableau 4">
            <a:extLst>
              <a:ext uri="{FF2B5EF4-FFF2-40B4-BE49-F238E27FC236}">
                <a16:creationId xmlns:a16="http://schemas.microsoft.com/office/drawing/2014/main" id="{67FD0538-C523-4D64-8F7F-A35DF01AB67F}"/>
              </a:ext>
            </a:extLst>
          </p:cNvPr>
          <p:cNvGraphicFramePr>
            <a:graphicFrameLocks noGrp="1"/>
          </p:cNvGraphicFramePr>
          <p:nvPr>
            <p:extLst>
              <p:ext uri="{D42A27DB-BD31-4B8C-83A1-F6EECF244321}">
                <p14:modId xmlns:p14="http://schemas.microsoft.com/office/powerpoint/2010/main" val="2024724429"/>
              </p:ext>
            </p:extLst>
          </p:nvPr>
        </p:nvGraphicFramePr>
        <p:xfrm>
          <a:off x="765197" y="4105228"/>
          <a:ext cx="11004557" cy="2407920"/>
        </p:xfrm>
        <a:graphic>
          <a:graphicData uri="http://schemas.openxmlformats.org/drawingml/2006/table">
            <a:tbl>
              <a:tblPr/>
              <a:tblGrid>
                <a:gridCol w="2212895">
                  <a:extLst>
                    <a:ext uri="{9D8B030D-6E8A-4147-A177-3AD203B41FA5}">
                      <a16:colId xmlns:a16="http://schemas.microsoft.com/office/drawing/2014/main" val="2684593315"/>
                    </a:ext>
                  </a:extLst>
                </a:gridCol>
                <a:gridCol w="4681057">
                  <a:extLst>
                    <a:ext uri="{9D8B030D-6E8A-4147-A177-3AD203B41FA5}">
                      <a16:colId xmlns:a16="http://schemas.microsoft.com/office/drawing/2014/main" val="1378051314"/>
                    </a:ext>
                  </a:extLst>
                </a:gridCol>
                <a:gridCol w="4110605">
                  <a:extLst>
                    <a:ext uri="{9D8B030D-6E8A-4147-A177-3AD203B41FA5}">
                      <a16:colId xmlns:a16="http://schemas.microsoft.com/office/drawing/2014/main" val="3071719317"/>
                    </a:ext>
                  </a:extLst>
                </a:gridCol>
              </a:tblGrid>
              <a:tr h="0">
                <a:tc>
                  <a:txBody>
                    <a:bodyPr/>
                    <a:lstStyle/>
                    <a:p>
                      <a:r>
                        <a:rPr lang="fr-FR" sz="1600" b="1" dirty="0">
                          <a:solidFill>
                            <a:schemeClr val="bg1"/>
                          </a:solidFill>
                          <a:latin typeface="Aptos" panose="020B0004020202020204" pitchFamily="34" charset="0"/>
                        </a:rPr>
                        <a:t>Écart entre méthodes</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Interprétation</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Action</a:t>
                      </a:r>
                    </a:p>
                  </a:txBody>
                  <a:tcPr anchor="ctr">
                    <a:lnL>
                      <a:noFill/>
                    </a:lnL>
                    <a:lnR>
                      <a:noFill/>
                    </a:lnR>
                    <a:lnT>
                      <a:noFill/>
                    </a:lnT>
                    <a:lnB>
                      <a:noFill/>
                    </a:lnB>
                    <a:solidFill>
                      <a:srgbClr val="F37504"/>
                    </a:solidFill>
                  </a:tcPr>
                </a:tc>
                <a:extLst>
                  <a:ext uri="{0D108BD9-81ED-4DB2-BD59-A6C34878D82A}">
                    <a16:rowId xmlns:a16="http://schemas.microsoft.com/office/drawing/2014/main" val="3189491366"/>
                  </a:ext>
                </a:extLst>
              </a:tr>
              <a:tr h="0">
                <a:tc>
                  <a:txBody>
                    <a:bodyPr/>
                    <a:lstStyle/>
                    <a:p>
                      <a:r>
                        <a:rPr lang="fr-FR" sz="1600">
                          <a:latin typeface="Aptos" panose="020B0004020202020204" pitchFamily="34" charset="0"/>
                        </a:rPr>
                        <a:t>&lt; 10%</a:t>
                      </a:r>
                    </a:p>
                  </a:txBody>
                  <a:tcPr anchor="ctr">
                    <a:lnL>
                      <a:noFill/>
                    </a:lnL>
                    <a:lnR>
                      <a:noFill/>
                    </a:lnR>
                    <a:lnT>
                      <a:noFill/>
                    </a:lnT>
                    <a:lnB>
                      <a:noFill/>
                    </a:lnB>
                  </a:tcPr>
                </a:tc>
                <a:tc>
                  <a:txBody>
                    <a:bodyPr/>
                    <a:lstStyle/>
                    <a:p>
                      <a:r>
                        <a:rPr lang="fr-FR" sz="1600">
                          <a:latin typeface="Aptos" panose="020B0004020202020204" pitchFamily="34" charset="0"/>
                        </a:rPr>
                        <a:t>Convergence forte → grande fiabilité</a:t>
                      </a:r>
                    </a:p>
                  </a:txBody>
                  <a:tcPr anchor="ctr">
                    <a:lnL>
                      <a:noFill/>
                    </a:lnL>
                    <a:lnR>
                      <a:noFill/>
                    </a:lnR>
                    <a:lnT>
                      <a:noFill/>
                    </a:lnT>
                    <a:lnB>
                      <a:noFill/>
                    </a:lnB>
                  </a:tcPr>
                </a:tc>
                <a:tc>
                  <a:txBody>
                    <a:bodyPr/>
                    <a:lstStyle/>
                    <a:p>
                      <a:r>
                        <a:rPr lang="fr-FR" sz="1600">
                          <a:latin typeface="Aptos" panose="020B0004020202020204" pitchFamily="34" charset="0"/>
                        </a:rPr>
                        <a:t>Utiliser la moyenne pondérée</a:t>
                      </a:r>
                    </a:p>
                  </a:txBody>
                  <a:tcPr anchor="ctr">
                    <a:lnL>
                      <a:noFill/>
                    </a:lnL>
                    <a:lnR>
                      <a:noFill/>
                    </a:lnR>
                    <a:lnT>
                      <a:noFill/>
                    </a:lnT>
                    <a:lnB>
                      <a:noFill/>
                    </a:lnB>
                  </a:tcPr>
                </a:tc>
                <a:extLst>
                  <a:ext uri="{0D108BD9-81ED-4DB2-BD59-A6C34878D82A}">
                    <a16:rowId xmlns:a16="http://schemas.microsoft.com/office/drawing/2014/main" val="1834049706"/>
                  </a:ext>
                </a:extLst>
              </a:tr>
              <a:tr h="0">
                <a:tc>
                  <a:txBody>
                    <a:bodyPr/>
                    <a:lstStyle/>
                    <a:p>
                      <a:r>
                        <a:rPr lang="fr-FR" sz="1600" dirty="0">
                          <a:latin typeface="Aptos" panose="020B0004020202020204" pitchFamily="34" charset="0"/>
                        </a:rPr>
                        <a:t>10% à 25%</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Convergence acceptable → vérifications nécessaires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Investiguer la source de divergence, justifier le choix</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165671565"/>
                  </a:ext>
                </a:extLst>
              </a:tr>
              <a:tr h="0">
                <a:tc>
                  <a:txBody>
                    <a:bodyPr/>
                    <a:lstStyle/>
                    <a:p>
                      <a:r>
                        <a:rPr lang="fr-FR" sz="1600">
                          <a:latin typeface="Aptos" panose="020B0004020202020204" pitchFamily="34" charset="0"/>
                        </a:rPr>
                        <a:t>25% à 50%</a:t>
                      </a:r>
                    </a:p>
                  </a:txBody>
                  <a:tcPr anchor="ctr">
                    <a:lnL>
                      <a:noFill/>
                    </a:lnL>
                    <a:lnR>
                      <a:noFill/>
                    </a:lnR>
                    <a:lnT>
                      <a:noFill/>
                    </a:lnT>
                    <a:lnB>
                      <a:noFill/>
                    </a:lnB>
                  </a:tcPr>
                </a:tc>
                <a:tc>
                  <a:txBody>
                    <a:bodyPr/>
                    <a:lstStyle/>
                    <a:p>
                      <a:r>
                        <a:rPr lang="fr-FR" sz="1600">
                          <a:latin typeface="Aptos" panose="020B0004020202020204" pitchFamily="34" charset="0"/>
                        </a:rPr>
                        <a:t>Divergence significative → données à revoir</a:t>
                      </a:r>
                    </a:p>
                  </a:txBody>
                  <a:tcPr anchor="ctr">
                    <a:lnL>
                      <a:noFill/>
                    </a:lnL>
                    <a:lnR>
                      <a:noFill/>
                    </a:lnR>
                    <a:lnT>
                      <a:noFill/>
                    </a:lnT>
                    <a:lnB>
                      <a:noFill/>
                    </a:lnB>
                  </a:tcPr>
                </a:tc>
                <a:tc>
                  <a:txBody>
                    <a:bodyPr/>
                    <a:lstStyle/>
                    <a:p>
                      <a:r>
                        <a:rPr lang="fr-FR" sz="1600">
                          <a:latin typeface="Aptos" panose="020B0004020202020204" pitchFamily="34" charset="0"/>
                        </a:rPr>
                        <a:t>Revoir les hypothèses et données d'une ou plusieurs méthodes</a:t>
                      </a:r>
                    </a:p>
                  </a:txBody>
                  <a:tcPr anchor="ctr">
                    <a:lnL>
                      <a:noFill/>
                    </a:lnL>
                    <a:lnR>
                      <a:noFill/>
                    </a:lnR>
                    <a:lnT>
                      <a:noFill/>
                    </a:lnT>
                    <a:lnB>
                      <a:noFill/>
                    </a:lnB>
                  </a:tcPr>
                </a:tc>
                <a:extLst>
                  <a:ext uri="{0D108BD9-81ED-4DB2-BD59-A6C34878D82A}">
                    <a16:rowId xmlns:a16="http://schemas.microsoft.com/office/drawing/2014/main" val="3640907561"/>
                  </a:ext>
                </a:extLst>
              </a:tr>
              <a:tr h="0">
                <a:tc>
                  <a:txBody>
                    <a:bodyPr/>
                    <a:lstStyle/>
                    <a:p>
                      <a:r>
                        <a:rPr lang="fr-FR" sz="1600" dirty="0">
                          <a:latin typeface="Aptos" panose="020B0004020202020204" pitchFamily="34" charset="0"/>
                        </a:rPr>
                        <a:t>&gt; 50%</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Divergence majeure → problème de données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Reprendre la collecte de données, ne pas quantifier sur ces bases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969478582"/>
                  </a:ext>
                </a:extLst>
              </a:tr>
            </a:tbl>
          </a:graphicData>
        </a:graphic>
      </p:graphicFrame>
    </p:spTree>
    <p:extLst>
      <p:ext uri="{BB962C8B-B14F-4D97-AF65-F5344CB8AC3E}">
        <p14:creationId xmlns:p14="http://schemas.microsoft.com/office/powerpoint/2010/main" val="301998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processus de triangulation</a:t>
            </a:r>
          </a:p>
        </p:txBody>
      </p:sp>
      <p:sp>
        <p:nvSpPr>
          <p:cNvPr id="15" name="ZoneTexte 14">
            <a:extLst>
              <a:ext uri="{FF2B5EF4-FFF2-40B4-BE49-F238E27FC236}">
                <a16:creationId xmlns:a16="http://schemas.microsoft.com/office/drawing/2014/main" id="{7E27BB3E-62DA-49D3-A55A-F004B5CB8A88}"/>
              </a:ext>
            </a:extLst>
          </p:cNvPr>
          <p:cNvSpPr txBox="1"/>
          <p:nvPr/>
        </p:nvSpPr>
        <p:spPr>
          <a:xfrm>
            <a:off x="753042" y="2211754"/>
            <a:ext cx="11016712" cy="1631216"/>
          </a:xfrm>
          <a:prstGeom prst="rect">
            <a:avLst/>
          </a:prstGeom>
          <a:noFill/>
        </p:spPr>
        <p:txBody>
          <a:bodyPr wrap="square">
            <a:spAutoFit/>
          </a:bodyPr>
          <a:lstStyle/>
          <a:p>
            <a:r>
              <a:rPr lang="fr-FR" sz="2000" b="1" dirty="0">
                <a:latin typeface="Aptos" panose="020B0004020202020204" pitchFamily="34" charset="0"/>
              </a:rPr>
              <a:t>Étape 4 — Ajuster les hypothèses si nécessaire</a:t>
            </a:r>
          </a:p>
          <a:p>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Si l'analyse révèle qu'une hypothèse d'une méthode est clairement erronée, la corriger et recalculer. </a:t>
            </a:r>
          </a:p>
          <a:p>
            <a:pPr marL="342900" indent="-342900">
              <a:buFont typeface="Arial" panose="020B0604020202020204" pitchFamily="34" charset="0"/>
              <a:buChar char="•"/>
            </a:pPr>
            <a:r>
              <a:rPr lang="fr-FR" sz="2000" dirty="0">
                <a:latin typeface="Aptos" panose="020B0004020202020204" pitchFamily="34" charset="0"/>
              </a:rPr>
              <a:t>Documenter tous les ajustements effectués.</a:t>
            </a:r>
          </a:p>
        </p:txBody>
      </p:sp>
    </p:spTree>
    <p:extLst>
      <p:ext uri="{BB962C8B-B14F-4D97-AF65-F5344CB8AC3E}">
        <p14:creationId xmlns:p14="http://schemas.microsoft.com/office/powerpoint/2010/main" val="47839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processus de triangulation</a:t>
            </a:r>
          </a:p>
        </p:txBody>
      </p:sp>
      <p:sp>
        <p:nvSpPr>
          <p:cNvPr id="15" name="ZoneTexte 14">
            <a:extLst>
              <a:ext uri="{FF2B5EF4-FFF2-40B4-BE49-F238E27FC236}">
                <a16:creationId xmlns:a16="http://schemas.microsoft.com/office/drawing/2014/main" id="{7E27BB3E-62DA-49D3-A55A-F004B5CB8A88}"/>
              </a:ext>
            </a:extLst>
          </p:cNvPr>
          <p:cNvSpPr txBox="1"/>
          <p:nvPr/>
        </p:nvSpPr>
        <p:spPr>
          <a:xfrm>
            <a:off x="654341" y="2110339"/>
            <a:ext cx="11115413" cy="4031873"/>
          </a:xfrm>
          <a:prstGeom prst="rect">
            <a:avLst/>
          </a:prstGeom>
          <a:noFill/>
        </p:spPr>
        <p:txBody>
          <a:bodyPr wrap="square">
            <a:spAutoFit/>
          </a:bodyPr>
          <a:lstStyle/>
          <a:p>
            <a:r>
              <a:rPr lang="fr-FR" sz="2000" b="1" dirty="0">
                <a:latin typeface="Aptos" panose="020B0004020202020204" pitchFamily="34" charset="0"/>
              </a:rPr>
              <a:t>Étape 5 — Converger vers une estimation consensuelle</a:t>
            </a:r>
          </a:p>
          <a:p>
            <a:endParaRPr lang="fr-FR" sz="2000" b="1" dirty="0">
              <a:latin typeface="Aptos" panose="020B0004020202020204" pitchFamily="34" charset="0"/>
            </a:endParaRPr>
          </a:p>
          <a:p>
            <a:r>
              <a:rPr lang="fr-FR" dirty="0">
                <a:latin typeface="Aptos" panose="020B0004020202020204" pitchFamily="34" charset="0"/>
              </a:rPr>
              <a:t>Plusieurs approches sont possibles :</a:t>
            </a:r>
          </a:p>
          <a:p>
            <a:endParaRPr lang="fr-FR" dirty="0">
              <a:latin typeface="Aptos" panose="020B0004020202020204" pitchFamily="34" charset="0"/>
            </a:endParaRPr>
          </a:p>
          <a:p>
            <a:pPr marL="342900" indent="-342900">
              <a:buFont typeface="Arial" panose="020B0604020202020204" pitchFamily="34" charset="0"/>
              <a:buChar char="•"/>
            </a:pPr>
            <a:r>
              <a:rPr lang="fr-FR" b="1" dirty="0">
                <a:latin typeface="Aptos" panose="020B0004020202020204" pitchFamily="34" charset="0"/>
              </a:rPr>
              <a:t>Approche 1 — Sélection de la méthode la plus fiable </a:t>
            </a:r>
            <a:r>
              <a:rPr lang="fr-FR" dirty="0">
                <a:latin typeface="Aptos" panose="020B0004020202020204" pitchFamily="34" charset="0"/>
              </a:rPr>
              <a:t>: Choisir la méthode dont les données sont les plus complètes et les hypothèses les plus solides, et utiliser son résultat comme estimation principale.</a:t>
            </a:r>
          </a:p>
          <a:p>
            <a:endParaRPr lang="fr-FR" dirty="0">
              <a:latin typeface="Aptos" panose="020B0004020202020204" pitchFamily="34" charset="0"/>
            </a:endParaRPr>
          </a:p>
          <a:p>
            <a:pPr marL="342900" indent="-342900">
              <a:buFont typeface="Arial" panose="020B0604020202020204" pitchFamily="34" charset="0"/>
              <a:buChar char="•"/>
            </a:pPr>
            <a:r>
              <a:rPr lang="fr-FR" b="1" dirty="0">
                <a:latin typeface="Aptos" panose="020B0004020202020204" pitchFamily="34" charset="0"/>
              </a:rPr>
              <a:t>Approche 2 — Moyenne pondérée </a:t>
            </a:r>
            <a:r>
              <a:rPr lang="fr-FR" dirty="0">
                <a:latin typeface="Aptos" panose="020B0004020202020204" pitchFamily="34" charset="0"/>
              </a:rPr>
              <a:t>:</a:t>
            </a:r>
            <a:r>
              <a:rPr lang="fr-FR" b="1" dirty="0">
                <a:latin typeface="Aptos" panose="020B0004020202020204" pitchFamily="34" charset="0"/>
              </a:rPr>
              <a:t> </a:t>
            </a:r>
            <a:r>
              <a:rPr lang="fr-FR" dirty="0">
                <a:latin typeface="Aptos" panose="020B0004020202020204" pitchFamily="34" charset="0"/>
              </a:rPr>
              <a:t>Attribuer un poids à chaque méthode selon la fiabilité de ses données et calculer une moyenne pondérée.</a:t>
            </a:r>
          </a:p>
          <a:p>
            <a:r>
              <a:rPr lang="fr-FR" b="1" dirty="0">
                <a:latin typeface="Aptos" panose="020B0004020202020204" pitchFamily="34" charset="0"/>
              </a:rPr>
              <a:t>		Estimation consensuelle = Σ (Résultat méthode × Poids méthode) ÷ Σ Poids</a:t>
            </a:r>
          </a:p>
          <a:p>
            <a:endParaRPr lang="fr-FR" dirty="0">
              <a:latin typeface="Aptos" panose="020B0004020202020204" pitchFamily="34" charset="0"/>
            </a:endParaRPr>
          </a:p>
          <a:p>
            <a:pPr marL="342900" indent="-342900">
              <a:buFont typeface="Arial" panose="020B0604020202020204" pitchFamily="34" charset="0"/>
              <a:buChar char="•"/>
            </a:pPr>
            <a:r>
              <a:rPr lang="fr-FR" b="1" dirty="0">
                <a:latin typeface="Aptos" panose="020B0004020202020204" pitchFamily="34" charset="0"/>
              </a:rPr>
              <a:t>Approche 3 — Fourchette min-max </a:t>
            </a:r>
            <a:r>
              <a:rPr lang="fr-FR" dirty="0">
                <a:latin typeface="Aptos" panose="020B0004020202020204" pitchFamily="34" charset="0"/>
              </a:rPr>
              <a:t>: Utiliser le résultat le plus bas comme estimation minimale et le plus élevé comme estimation maximale, puis choisir une valeur dans cette fourchette selon le niveau de risque acceptable.</a:t>
            </a:r>
          </a:p>
        </p:txBody>
      </p:sp>
    </p:spTree>
    <p:extLst>
      <p:ext uri="{BB962C8B-B14F-4D97-AF65-F5344CB8AC3E}">
        <p14:creationId xmlns:p14="http://schemas.microsoft.com/office/powerpoint/2010/main" val="138566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Matrice de décision pour le choix des méthodes à trianguler</a:t>
            </a:r>
          </a:p>
        </p:txBody>
      </p:sp>
      <p:graphicFrame>
        <p:nvGraphicFramePr>
          <p:cNvPr id="2" name="Tableau 1">
            <a:extLst>
              <a:ext uri="{FF2B5EF4-FFF2-40B4-BE49-F238E27FC236}">
                <a16:creationId xmlns:a16="http://schemas.microsoft.com/office/drawing/2014/main" id="{440B3B10-492F-4244-B085-F02E0BA6C899}"/>
              </a:ext>
            </a:extLst>
          </p:cNvPr>
          <p:cNvGraphicFramePr>
            <a:graphicFrameLocks noGrp="1"/>
          </p:cNvGraphicFramePr>
          <p:nvPr>
            <p:extLst>
              <p:ext uri="{D42A27DB-BD31-4B8C-83A1-F6EECF244321}">
                <p14:modId xmlns:p14="http://schemas.microsoft.com/office/powerpoint/2010/main" val="337526893"/>
              </p:ext>
            </p:extLst>
          </p:nvPr>
        </p:nvGraphicFramePr>
        <p:xfrm>
          <a:off x="753042" y="2290613"/>
          <a:ext cx="11073468" cy="3329380"/>
        </p:xfrm>
        <a:graphic>
          <a:graphicData uri="http://schemas.openxmlformats.org/drawingml/2006/table">
            <a:tbl>
              <a:tblPr/>
              <a:tblGrid>
                <a:gridCol w="4664280">
                  <a:extLst>
                    <a:ext uri="{9D8B030D-6E8A-4147-A177-3AD203B41FA5}">
                      <a16:colId xmlns:a16="http://schemas.microsoft.com/office/drawing/2014/main" val="4164926983"/>
                    </a:ext>
                  </a:extLst>
                </a:gridCol>
                <a:gridCol w="4001549">
                  <a:extLst>
                    <a:ext uri="{9D8B030D-6E8A-4147-A177-3AD203B41FA5}">
                      <a16:colId xmlns:a16="http://schemas.microsoft.com/office/drawing/2014/main" val="3813004178"/>
                    </a:ext>
                  </a:extLst>
                </a:gridCol>
                <a:gridCol w="2407639">
                  <a:extLst>
                    <a:ext uri="{9D8B030D-6E8A-4147-A177-3AD203B41FA5}">
                      <a16:colId xmlns:a16="http://schemas.microsoft.com/office/drawing/2014/main" val="1243466536"/>
                    </a:ext>
                  </a:extLst>
                </a:gridCol>
              </a:tblGrid>
              <a:tr h="284539">
                <a:tc>
                  <a:txBody>
                    <a:bodyPr/>
                    <a:lstStyle/>
                    <a:p>
                      <a:r>
                        <a:rPr lang="fr-FR" sz="1500" b="1" dirty="0">
                          <a:solidFill>
                            <a:schemeClr val="bg1"/>
                          </a:solidFill>
                          <a:latin typeface="Aptos" panose="020B0004020202020204" pitchFamily="34" charset="0"/>
                        </a:rPr>
                        <a:t>Situation</a:t>
                      </a:r>
                    </a:p>
                  </a:txBody>
                  <a:tcPr marL="76339" marR="76339" marT="38170" marB="38170" anchor="ctr">
                    <a:lnL>
                      <a:noFill/>
                    </a:lnL>
                    <a:lnR>
                      <a:noFill/>
                    </a:lnR>
                    <a:lnT>
                      <a:noFill/>
                    </a:lnT>
                    <a:lnB>
                      <a:noFill/>
                    </a:lnB>
                    <a:solidFill>
                      <a:srgbClr val="F37504"/>
                    </a:solidFill>
                  </a:tcPr>
                </a:tc>
                <a:tc>
                  <a:txBody>
                    <a:bodyPr/>
                    <a:lstStyle/>
                    <a:p>
                      <a:r>
                        <a:rPr lang="fr-FR" sz="1500" b="1" dirty="0">
                          <a:solidFill>
                            <a:schemeClr val="bg1"/>
                          </a:solidFill>
                          <a:latin typeface="Aptos" panose="020B0004020202020204" pitchFamily="34" charset="0"/>
                        </a:rPr>
                        <a:t>Méthodes recommandées</a:t>
                      </a:r>
                    </a:p>
                  </a:txBody>
                  <a:tcPr marL="76339" marR="76339" marT="38170" marB="38170" anchor="ctr">
                    <a:lnL>
                      <a:noFill/>
                    </a:lnL>
                    <a:lnR>
                      <a:noFill/>
                    </a:lnR>
                    <a:lnT>
                      <a:noFill/>
                    </a:lnT>
                    <a:lnB>
                      <a:noFill/>
                    </a:lnB>
                    <a:solidFill>
                      <a:srgbClr val="F37504"/>
                    </a:solidFill>
                  </a:tcPr>
                </a:tc>
                <a:tc>
                  <a:txBody>
                    <a:bodyPr/>
                    <a:lstStyle/>
                    <a:p>
                      <a:r>
                        <a:rPr lang="fr-FR" sz="1500" b="1" dirty="0">
                          <a:solidFill>
                            <a:schemeClr val="bg1"/>
                          </a:solidFill>
                          <a:latin typeface="Aptos" panose="020B0004020202020204" pitchFamily="34" charset="0"/>
                        </a:rPr>
                        <a:t>Méthode principale</a:t>
                      </a:r>
                    </a:p>
                  </a:txBody>
                  <a:tcPr marL="76339" marR="76339" marT="38170" marB="38170" anchor="ctr">
                    <a:lnL>
                      <a:noFill/>
                    </a:lnL>
                    <a:lnR>
                      <a:noFill/>
                    </a:lnR>
                    <a:lnT>
                      <a:noFill/>
                    </a:lnT>
                    <a:lnB>
                      <a:noFill/>
                    </a:lnB>
                    <a:solidFill>
                      <a:srgbClr val="F37504"/>
                    </a:solidFill>
                  </a:tcPr>
                </a:tc>
                <a:extLst>
                  <a:ext uri="{0D108BD9-81ED-4DB2-BD59-A6C34878D82A}">
                    <a16:rowId xmlns:a16="http://schemas.microsoft.com/office/drawing/2014/main" val="1274253702"/>
                  </a:ext>
                </a:extLst>
              </a:tr>
              <a:tr h="388500">
                <a:tc>
                  <a:txBody>
                    <a:bodyPr/>
                    <a:lstStyle/>
                    <a:p>
                      <a:r>
                        <a:rPr lang="fr-FR" sz="1500">
                          <a:latin typeface="Aptos" panose="020B0004020202020204" pitchFamily="34" charset="0"/>
                        </a:rPr>
                        <a:t>Programme mature avec bonnes données de stock</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Consommation + Morbidité</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Consommation</a:t>
                      </a:r>
                    </a:p>
                  </a:txBody>
                  <a:tcPr marL="76339" marR="76339" marT="38170" marB="38170" anchor="ctr">
                    <a:lnL>
                      <a:noFill/>
                    </a:lnL>
                    <a:lnR>
                      <a:noFill/>
                    </a:lnR>
                    <a:lnT>
                      <a:noFill/>
                    </a:lnT>
                    <a:lnB>
                      <a:noFill/>
                    </a:lnB>
                  </a:tcPr>
                </a:tc>
                <a:extLst>
                  <a:ext uri="{0D108BD9-81ED-4DB2-BD59-A6C34878D82A}">
                    <a16:rowId xmlns:a16="http://schemas.microsoft.com/office/drawing/2014/main" val="2289697924"/>
                  </a:ext>
                </a:extLst>
              </a:tr>
              <a:tr h="388500">
                <a:tc>
                  <a:txBody>
                    <a:bodyPr/>
                    <a:lstStyle/>
                    <a:p>
                      <a:r>
                        <a:rPr lang="fr-FR" sz="1500" dirty="0">
                          <a:latin typeface="Aptos" panose="020B0004020202020204" pitchFamily="34" charset="0"/>
                        </a:rPr>
                        <a:t>Programme nouveau, pas de données historiques</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Morbidité + Population</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Morbidité</a:t>
                      </a:r>
                    </a:p>
                  </a:txBody>
                  <a:tcPr marL="76339" marR="76339" marT="38170" marB="38170" anchor="ctr">
                    <a:lnL>
                      <a:noFill/>
                    </a:lnL>
                    <a:lnR>
                      <a:noFill/>
                    </a:lnR>
                    <a:lnT>
                      <a:noFill/>
                    </a:lnT>
                    <a:lnB>
                      <a:noFill/>
                    </a:lnB>
                    <a:solidFill>
                      <a:schemeClr val="bg2">
                        <a:lumMod val="90000"/>
                      </a:schemeClr>
                    </a:solidFill>
                  </a:tcPr>
                </a:tc>
                <a:extLst>
                  <a:ext uri="{0D108BD9-81ED-4DB2-BD59-A6C34878D82A}">
                    <a16:rowId xmlns:a16="http://schemas.microsoft.com/office/drawing/2014/main" val="2173325276"/>
                  </a:ext>
                </a:extLst>
              </a:tr>
              <a:tr h="388500">
                <a:tc>
                  <a:txBody>
                    <a:bodyPr/>
                    <a:lstStyle/>
                    <a:p>
                      <a:r>
                        <a:rPr lang="fr-FR" sz="1500">
                          <a:latin typeface="Aptos" panose="020B0004020202020204" pitchFamily="34" charset="0"/>
                        </a:rPr>
                        <a:t>Intrants liés à des actes cliniques mesurables</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Services + Consommation</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Services</a:t>
                      </a:r>
                    </a:p>
                  </a:txBody>
                  <a:tcPr marL="76339" marR="76339" marT="38170" marB="38170" anchor="ctr">
                    <a:lnL>
                      <a:noFill/>
                    </a:lnL>
                    <a:lnR>
                      <a:noFill/>
                    </a:lnR>
                    <a:lnT>
                      <a:noFill/>
                    </a:lnT>
                    <a:lnB>
                      <a:noFill/>
                    </a:lnB>
                  </a:tcPr>
                </a:tc>
                <a:extLst>
                  <a:ext uri="{0D108BD9-81ED-4DB2-BD59-A6C34878D82A}">
                    <a16:rowId xmlns:a16="http://schemas.microsoft.com/office/drawing/2014/main" val="1324085428"/>
                  </a:ext>
                </a:extLst>
              </a:tr>
              <a:tr h="388500">
                <a:tc>
                  <a:txBody>
                    <a:bodyPr/>
                    <a:lstStyle/>
                    <a:p>
                      <a:r>
                        <a:rPr lang="fr-FR" sz="1500" dirty="0">
                          <a:latin typeface="Aptos" panose="020B0004020202020204" pitchFamily="34" charset="0"/>
                        </a:rPr>
                        <a:t>Campagne de distribution de masse</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Population + Consommation historique</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Population</a:t>
                      </a:r>
                    </a:p>
                  </a:txBody>
                  <a:tcPr marL="76339" marR="76339" marT="38170" marB="38170" anchor="ctr">
                    <a:lnL>
                      <a:noFill/>
                    </a:lnL>
                    <a:lnR>
                      <a:noFill/>
                    </a:lnR>
                    <a:lnT>
                      <a:noFill/>
                    </a:lnT>
                    <a:lnB>
                      <a:noFill/>
                    </a:lnB>
                    <a:solidFill>
                      <a:schemeClr val="bg2">
                        <a:lumMod val="90000"/>
                      </a:schemeClr>
                    </a:solidFill>
                  </a:tcPr>
                </a:tc>
                <a:extLst>
                  <a:ext uri="{0D108BD9-81ED-4DB2-BD59-A6C34878D82A}">
                    <a16:rowId xmlns:a16="http://schemas.microsoft.com/office/drawing/2014/main" val="1060496613"/>
                  </a:ext>
                </a:extLst>
              </a:tr>
              <a:tr h="388500">
                <a:tc>
                  <a:txBody>
                    <a:bodyPr/>
                    <a:lstStyle/>
                    <a:p>
                      <a:r>
                        <a:rPr lang="fr-FR" sz="1500">
                          <a:latin typeface="Aptos" panose="020B0004020202020204" pitchFamily="34" charset="0"/>
                        </a:rPr>
                        <a:t>Données de consommation biaisées (ruptures &gt;20%)</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Morbidité + Population + Services</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Morbidité</a:t>
                      </a:r>
                    </a:p>
                  </a:txBody>
                  <a:tcPr marL="76339" marR="76339" marT="38170" marB="38170" anchor="ctr">
                    <a:lnL>
                      <a:noFill/>
                    </a:lnL>
                    <a:lnR>
                      <a:noFill/>
                    </a:lnR>
                    <a:lnT>
                      <a:noFill/>
                    </a:lnT>
                    <a:lnB>
                      <a:noFill/>
                    </a:lnB>
                  </a:tcPr>
                </a:tc>
                <a:extLst>
                  <a:ext uri="{0D108BD9-81ED-4DB2-BD59-A6C34878D82A}">
                    <a16:rowId xmlns:a16="http://schemas.microsoft.com/office/drawing/2014/main" val="3434898178"/>
                  </a:ext>
                </a:extLst>
              </a:tr>
              <a:tr h="284539">
                <a:tc>
                  <a:txBody>
                    <a:bodyPr/>
                    <a:lstStyle/>
                    <a:p>
                      <a:r>
                        <a:rPr lang="fr-FR" sz="1500" dirty="0">
                          <a:latin typeface="Aptos" panose="020B0004020202020204" pitchFamily="34" charset="0"/>
                        </a:rPr>
                        <a:t>Produit vaccinal PEV</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Population + Services</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Population</a:t>
                      </a:r>
                    </a:p>
                  </a:txBody>
                  <a:tcPr marL="76339" marR="76339" marT="38170" marB="38170" anchor="ctr">
                    <a:lnL>
                      <a:noFill/>
                    </a:lnL>
                    <a:lnR>
                      <a:noFill/>
                    </a:lnR>
                    <a:lnT>
                      <a:noFill/>
                    </a:lnT>
                    <a:lnB>
                      <a:noFill/>
                    </a:lnB>
                    <a:solidFill>
                      <a:schemeClr val="bg2">
                        <a:lumMod val="90000"/>
                      </a:schemeClr>
                    </a:solidFill>
                  </a:tcPr>
                </a:tc>
                <a:extLst>
                  <a:ext uri="{0D108BD9-81ED-4DB2-BD59-A6C34878D82A}">
                    <a16:rowId xmlns:a16="http://schemas.microsoft.com/office/drawing/2014/main" val="1878513471"/>
                  </a:ext>
                </a:extLst>
              </a:tr>
              <a:tr h="388500">
                <a:tc>
                  <a:txBody>
                    <a:bodyPr/>
                    <a:lstStyle/>
                    <a:p>
                      <a:r>
                        <a:rPr lang="fr-FR" sz="1500">
                          <a:latin typeface="Aptos" panose="020B0004020202020204" pitchFamily="34" charset="0"/>
                        </a:rPr>
                        <a:t>Médicament de programme vertical (ARV, TB)</a:t>
                      </a:r>
                    </a:p>
                  </a:txBody>
                  <a:tcPr marL="76339" marR="76339" marT="38170" marB="38170" anchor="ctr">
                    <a:lnL>
                      <a:noFill/>
                    </a:lnL>
                    <a:lnR>
                      <a:noFill/>
                    </a:lnR>
                    <a:lnT>
                      <a:noFill/>
                    </a:lnT>
                    <a:lnB>
                      <a:noFill/>
                    </a:lnB>
                  </a:tcPr>
                </a:tc>
                <a:tc>
                  <a:txBody>
                    <a:bodyPr/>
                    <a:lstStyle/>
                    <a:p>
                      <a:r>
                        <a:rPr lang="fr-FR" sz="1500" dirty="0">
                          <a:latin typeface="Aptos" panose="020B0004020202020204" pitchFamily="34" charset="0"/>
                        </a:rPr>
                        <a:t>Consommation + Morbidité (file active)</a:t>
                      </a:r>
                    </a:p>
                  </a:txBody>
                  <a:tcPr marL="76339" marR="76339" marT="38170" marB="38170" anchor="ctr">
                    <a:lnL>
                      <a:noFill/>
                    </a:lnL>
                    <a:lnR>
                      <a:noFill/>
                    </a:lnR>
                    <a:lnT>
                      <a:noFill/>
                    </a:lnT>
                    <a:lnB>
                      <a:noFill/>
                    </a:lnB>
                  </a:tcPr>
                </a:tc>
                <a:tc>
                  <a:txBody>
                    <a:bodyPr/>
                    <a:lstStyle/>
                    <a:p>
                      <a:r>
                        <a:rPr lang="fr-FR" sz="1500">
                          <a:latin typeface="Aptos" panose="020B0004020202020204" pitchFamily="34" charset="0"/>
                        </a:rPr>
                        <a:t>Consommation</a:t>
                      </a:r>
                    </a:p>
                  </a:txBody>
                  <a:tcPr marL="76339" marR="76339" marT="38170" marB="38170" anchor="ctr">
                    <a:lnL>
                      <a:noFill/>
                    </a:lnL>
                    <a:lnR>
                      <a:noFill/>
                    </a:lnR>
                    <a:lnT>
                      <a:noFill/>
                    </a:lnT>
                    <a:lnB>
                      <a:noFill/>
                    </a:lnB>
                  </a:tcPr>
                </a:tc>
                <a:extLst>
                  <a:ext uri="{0D108BD9-81ED-4DB2-BD59-A6C34878D82A}">
                    <a16:rowId xmlns:a16="http://schemas.microsoft.com/office/drawing/2014/main" val="3489247529"/>
                  </a:ext>
                </a:extLst>
              </a:tr>
              <a:tr h="388500">
                <a:tc>
                  <a:txBody>
                    <a:bodyPr/>
                    <a:lstStyle/>
                    <a:p>
                      <a:r>
                        <a:rPr lang="fr-FR" sz="1500" dirty="0">
                          <a:latin typeface="Aptos" panose="020B0004020202020204" pitchFamily="34" charset="0"/>
                        </a:rPr>
                        <a:t>Quantification nationale</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Toutes les méthodes si données disponibles</a:t>
                      </a:r>
                    </a:p>
                  </a:txBody>
                  <a:tcPr marL="76339" marR="76339" marT="38170" marB="38170" anchor="ctr">
                    <a:lnL>
                      <a:noFill/>
                    </a:lnL>
                    <a:lnR>
                      <a:noFill/>
                    </a:lnR>
                    <a:lnT>
                      <a:noFill/>
                    </a:lnT>
                    <a:lnB>
                      <a:noFill/>
                    </a:lnB>
                    <a:solidFill>
                      <a:schemeClr val="bg2">
                        <a:lumMod val="90000"/>
                      </a:schemeClr>
                    </a:solidFill>
                  </a:tcPr>
                </a:tc>
                <a:tc>
                  <a:txBody>
                    <a:bodyPr/>
                    <a:lstStyle/>
                    <a:p>
                      <a:r>
                        <a:rPr lang="fr-FR" sz="1500" dirty="0">
                          <a:latin typeface="Aptos" panose="020B0004020202020204" pitchFamily="34" charset="0"/>
                        </a:rPr>
                        <a:t>Moyenne pondérée</a:t>
                      </a:r>
                    </a:p>
                  </a:txBody>
                  <a:tcPr marL="76339" marR="76339" marT="38170" marB="38170" anchor="ctr">
                    <a:lnL>
                      <a:noFill/>
                    </a:lnL>
                    <a:lnR>
                      <a:noFill/>
                    </a:lnR>
                    <a:lnT>
                      <a:noFill/>
                    </a:lnT>
                    <a:lnB>
                      <a:noFill/>
                    </a:lnB>
                    <a:solidFill>
                      <a:schemeClr val="bg2">
                        <a:lumMod val="90000"/>
                      </a:schemeClr>
                    </a:solidFill>
                  </a:tcPr>
                </a:tc>
                <a:extLst>
                  <a:ext uri="{0D108BD9-81ED-4DB2-BD59-A6C34878D82A}">
                    <a16:rowId xmlns:a16="http://schemas.microsoft.com/office/drawing/2014/main" val="737101838"/>
                  </a:ext>
                </a:extLst>
              </a:tr>
            </a:tbl>
          </a:graphicData>
        </a:graphic>
      </p:graphicFrame>
    </p:spTree>
    <p:extLst>
      <p:ext uri="{BB962C8B-B14F-4D97-AF65-F5344CB8AC3E}">
        <p14:creationId xmlns:p14="http://schemas.microsoft.com/office/powerpoint/2010/main" val="289139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rapport de triangulation</a:t>
            </a:r>
          </a:p>
        </p:txBody>
      </p:sp>
      <p:sp>
        <p:nvSpPr>
          <p:cNvPr id="10" name="ZoneTexte 9">
            <a:extLst>
              <a:ext uri="{FF2B5EF4-FFF2-40B4-BE49-F238E27FC236}">
                <a16:creationId xmlns:a16="http://schemas.microsoft.com/office/drawing/2014/main" id="{416B08A5-EF65-46A2-A59F-26B869591DFF}"/>
              </a:ext>
            </a:extLst>
          </p:cNvPr>
          <p:cNvSpPr txBox="1"/>
          <p:nvPr/>
        </p:nvSpPr>
        <p:spPr>
          <a:xfrm>
            <a:off x="753041" y="2284473"/>
            <a:ext cx="10043589" cy="707886"/>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Toute quantification triangulée doit être documentée dans un rapport formel. </a:t>
            </a:r>
          </a:p>
          <a:p>
            <a:pPr marL="285750" indent="-285750">
              <a:buFont typeface="Arial" panose="020B0604020202020204" pitchFamily="34" charset="0"/>
              <a:buChar char="•"/>
            </a:pPr>
            <a:r>
              <a:rPr lang="fr-FR" sz="2000" dirty="0">
                <a:latin typeface="Aptos" panose="020B0004020202020204" pitchFamily="34" charset="0"/>
              </a:rPr>
              <a:t>Ce rapport est la preuve de la rigueur du processus et la base des révisions futures.</a:t>
            </a:r>
          </a:p>
        </p:txBody>
      </p:sp>
    </p:spTree>
    <p:extLst>
      <p:ext uri="{BB962C8B-B14F-4D97-AF65-F5344CB8AC3E}">
        <p14:creationId xmlns:p14="http://schemas.microsoft.com/office/powerpoint/2010/main" val="201529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erreurs à éviter dans la triangulation</a:t>
            </a:r>
          </a:p>
        </p:txBody>
      </p:sp>
      <p:graphicFrame>
        <p:nvGraphicFramePr>
          <p:cNvPr id="2" name="Tableau 1">
            <a:extLst>
              <a:ext uri="{FF2B5EF4-FFF2-40B4-BE49-F238E27FC236}">
                <a16:creationId xmlns:a16="http://schemas.microsoft.com/office/drawing/2014/main" id="{A913A88B-E28D-4347-B456-8604FDAA1820}"/>
              </a:ext>
            </a:extLst>
          </p:cNvPr>
          <p:cNvGraphicFramePr>
            <a:graphicFrameLocks noGrp="1"/>
          </p:cNvGraphicFramePr>
          <p:nvPr>
            <p:extLst>
              <p:ext uri="{D42A27DB-BD31-4B8C-83A1-F6EECF244321}">
                <p14:modId xmlns:p14="http://schemas.microsoft.com/office/powerpoint/2010/main" val="1892527009"/>
              </p:ext>
            </p:extLst>
          </p:nvPr>
        </p:nvGraphicFramePr>
        <p:xfrm>
          <a:off x="687897" y="2208157"/>
          <a:ext cx="11098636" cy="3307212"/>
        </p:xfrm>
        <a:graphic>
          <a:graphicData uri="http://schemas.openxmlformats.org/drawingml/2006/table">
            <a:tbl>
              <a:tblPr/>
              <a:tblGrid>
                <a:gridCol w="2774659">
                  <a:extLst>
                    <a:ext uri="{9D8B030D-6E8A-4147-A177-3AD203B41FA5}">
                      <a16:colId xmlns:a16="http://schemas.microsoft.com/office/drawing/2014/main" val="1973638768"/>
                    </a:ext>
                  </a:extLst>
                </a:gridCol>
                <a:gridCol w="3024584">
                  <a:extLst>
                    <a:ext uri="{9D8B030D-6E8A-4147-A177-3AD203B41FA5}">
                      <a16:colId xmlns:a16="http://schemas.microsoft.com/office/drawing/2014/main" val="2556162315"/>
                    </a:ext>
                  </a:extLst>
                </a:gridCol>
                <a:gridCol w="2497469">
                  <a:extLst>
                    <a:ext uri="{9D8B030D-6E8A-4147-A177-3AD203B41FA5}">
                      <a16:colId xmlns:a16="http://schemas.microsoft.com/office/drawing/2014/main" val="2816538293"/>
                    </a:ext>
                  </a:extLst>
                </a:gridCol>
                <a:gridCol w="2801924">
                  <a:extLst>
                    <a:ext uri="{9D8B030D-6E8A-4147-A177-3AD203B41FA5}">
                      <a16:colId xmlns:a16="http://schemas.microsoft.com/office/drawing/2014/main" val="4251731875"/>
                    </a:ext>
                  </a:extLst>
                </a:gridCol>
              </a:tblGrid>
              <a:tr h="225726">
                <a:tc>
                  <a:txBody>
                    <a:bodyPr/>
                    <a:lstStyle/>
                    <a:p>
                      <a:r>
                        <a:rPr lang="fr-FR" sz="1200" b="1" dirty="0">
                          <a:solidFill>
                            <a:schemeClr val="bg1"/>
                          </a:solidFill>
                          <a:latin typeface="Aptos" panose="020B0004020202020204" pitchFamily="34" charset="0"/>
                        </a:rPr>
                        <a:t>Erreur</a:t>
                      </a:r>
                    </a:p>
                  </a:txBody>
                  <a:tcPr marL="62162" marR="62162" marT="31081" marB="31081"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Description</a:t>
                      </a:r>
                    </a:p>
                  </a:txBody>
                  <a:tcPr marL="62162" marR="62162" marT="31081" marB="31081"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Conséquence</a:t>
                      </a:r>
                    </a:p>
                  </a:txBody>
                  <a:tcPr marL="62162" marR="62162" marT="31081" marB="31081"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Comment l'éviter</a:t>
                      </a:r>
                    </a:p>
                  </a:txBody>
                  <a:tcPr marL="62162" marR="62162" marT="31081" marB="31081" anchor="ctr">
                    <a:lnL>
                      <a:noFill/>
                    </a:lnL>
                    <a:lnR>
                      <a:noFill/>
                    </a:lnR>
                    <a:lnT>
                      <a:noFill/>
                    </a:lnT>
                    <a:lnB>
                      <a:noFill/>
                    </a:lnB>
                    <a:solidFill>
                      <a:srgbClr val="F37504"/>
                    </a:solidFill>
                  </a:tcPr>
                </a:tc>
                <a:extLst>
                  <a:ext uri="{0D108BD9-81ED-4DB2-BD59-A6C34878D82A}">
                    <a16:rowId xmlns:a16="http://schemas.microsoft.com/office/drawing/2014/main" val="3650277331"/>
                  </a:ext>
                </a:extLst>
              </a:tr>
              <a:tr h="603155">
                <a:tc>
                  <a:txBody>
                    <a:bodyPr/>
                    <a:lstStyle/>
                    <a:p>
                      <a:r>
                        <a:rPr lang="fr-FR" sz="1200">
                          <a:latin typeface="Aptos" panose="020B0004020202020204" pitchFamily="34" charset="0"/>
                        </a:rPr>
                        <a:t>Choisir la méthode qui donne le résultat souhaité</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Sélectionner a posteriori la méthode dont le résultat correspond au budget disponible</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Biais de confirmation, quantification sous ou sur-estimée</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Appliquer les méthodes avant de connaître les contraintes budgétaires</a:t>
                      </a:r>
                    </a:p>
                  </a:txBody>
                  <a:tcPr marL="62162" marR="62162" marT="31081" marB="31081" anchor="ctr">
                    <a:lnL>
                      <a:noFill/>
                    </a:lnL>
                    <a:lnR>
                      <a:noFill/>
                    </a:lnR>
                    <a:lnT>
                      <a:noFill/>
                    </a:lnT>
                    <a:lnB>
                      <a:noFill/>
                    </a:lnB>
                  </a:tcPr>
                </a:tc>
                <a:extLst>
                  <a:ext uri="{0D108BD9-81ED-4DB2-BD59-A6C34878D82A}">
                    <a16:rowId xmlns:a16="http://schemas.microsoft.com/office/drawing/2014/main" val="1141273144"/>
                  </a:ext>
                </a:extLst>
              </a:tr>
              <a:tr h="463965">
                <a:tc>
                  <a:txBody>
                    <a:bodyPr/>
                    <a:lstStyle/>
                    <a:p>
                      <a:r>
                        <a:rPr lang="fr-FR" sz="1200" dirty="0">
                          <a:latin typeface="Aptos" panose="020B0004020202020204" pitchFamily="34" charset="0"/>
                        </a:rPr>
                        <a:t>Ne pas corriger les données avant de comparer</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Comparer des résultats calculés sur des données de qualité différente</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Fausse impression de divergence</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Corriger les données de chaque méthode avant comparaison</a:t>
                      </a:r>
                    </a:p>
                  </a:txBody>
                  <a:tcPr marL="62162" marR="62162" marT="31081" marB="31081" anchor="ctr">
                    <a:lnL>
                      <a:noFill/>
                    </a:lnL>
                    <a:lnR>
                      <a:noFill/>
                    </a:lnR>
                    <a:lnT>
                      <a:noFill/>
                    </a:lnT>
                    <a:lnB>
                      <a:noFill/>
                    </a:lnB>
                    <a:solidFill>
                      <a:schemeClr val="bg2">
                        <a:lumMod val="90000"/>
                      </a:schemeClr>
                    </a:solidFill>
                  </a:tcPr>
                </a:tc>
                <a:extLst>
                  <a:ext uri="{0D108BD9-81ED-4DB2-BD59-A6C34878D82A}">
                    <a16:rowId xmlns:a16="http://schemas.microsoft.com/office/drawing/2014/main" val="3470957775"/>
                  </a:ext>
                </a:extLst>
              </a:tr>
              <a:tr h="603155">
                <a:tc>
                  <a:txBody>
                    <a:bodyPr/>
                    <a:lstStyle/>
                    <a:p>
                      <a:r>
                        <a:rPr lang="fr-FR" sz="1200" dirty="0">
                          <a:latin typeface="Aptos" panose="020B0004020202020204" pitchFamily="34" charset="0"/>
                        </a:rPr>
                        <a:t>Faire une simple moyenne arithmétique sans pondération</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Donner le même poids à une méthode avec 95% de complétude et une avec 60%</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Résultat biaisé vers les données de moins bonne qualité</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Pondérer selon la qualité des données</a:t>
                      </a:r>
                    </a:p>
                  </a:txBody>
                  <a:tcPr marL="62162" marR="62162" marT="31081" marB="31081" anchor="ctr">
                    <a:lnL>
                      <a:noFill/>
                    </a:lnL>
                    <a:lnR>
                      <a:noFill/>
                    </a:lnR>
                    <a:lnT>
                      <a:noFill/>
                    </a:lnT>
                    <a:lnB>
                      <a:noFill/>
                    </a:lnB>
                  </a:tcPr>
                </a:tc>
                <a:extLst>
                  <a:ext uri="{0D108BD9-81ED-4DB2-BD59-A6C34878D82A}">
                    <a16:rowId xmlns:a16="http://schemas.microsoft.com/office/drawing/2014/main" val="4072035216"/>
                  </a:ext>
                </a:extLst>
              </a:tr>
              <a:tr h="463965">
                <a:tc>
                  <a:txBody>
                    <a:bodyPr/>
                    <a:lstStyle/>
                    <a:p>
                      <a:r>
                        <a:rPr lang="fr-FR" sz="1200" dirty="0">
                          <a:latin typeface="Aptos" panose="020B0004020202020204" pitchFamily="34" charset="0"/>
                        </a:rPr>
                        <a:t>Ne pas documenter les choix</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Prendre des décisions sans les justifier</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Impossible de reproduire ou réviser la quantification</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Rapport de triangulation systématique</a:t>
                      </a:r>
                    </a:p>
                  </a:txBody>
                  <a:tcPr marL="62162" marR="62162" marT="31081" marB="31081" anchor="ctr">
                    <a:lnL>
                      <a:noFill/>
                    </a:lnL>
                    <a:lnR>
                      <a:noFill/>
                    </a:lnR>
                    <a:lnT>
                      <a:noFill/>
                    </a:lnT>
                    <a:lnB>
                      <a:noFill/>
                    </a:lnB>
                    <a:solidFill>
                      <a:schemeClr val="bg2">
                        <a:lumMod val="90000"/>
                      </a:schemeClr>
                    </a:solidFill>
                  </a:tcPr>
                </a:tc>
                <a:extLst>
                  <a:ext uri="{0D108BD9-81ED-4DB2-BD59-A6C34878D82A}">
                    <a16:rowId xmlns:a16="http://schemas.microsoft.com/office/drawing/2014/main" val="2856596109"/>
                  </a:ext>
                </a:extLst>
              </a:tr>
              <a:tr h="463965">
                <a:tc>
                  <a:txBody>
                    <a:bodyPr/>
                    <a:lstStyle/>
                    <a:p>
                      <a:r>
                        <a:rPr lang="fr-FR" sz="1200">
                          <a:latin typeface="Aptos" panose="020B0004020202020204" pitchFamily="34" charset="0"/>
                        </a:rPr>
                        <a:t>Trianguler avec des données de périmètres différents</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Une méthode couvre le secteur public, l'autre le secteur public et privé</a:t>
                      </a:r>
                    </a:p>
                  </a:txBody>
                  <a:tcPr marL="62162" marR="62162" marT="31081" marB="31081" anchor="ctr">
                    <a:lnL>
                      <a:noFill/>
                    </a:lnL>
                    <a:lnR>
                      <a:noFill/>
                    </a:lnR>
                    <a:lnT>
                      <a:noFill/>
                    </a:lnT>
                    <a:lnB>
                      <a:noFill/>
                    </a:lnB>
                  </a:tcPr>
                </a:tc>
                <a:tc>
                  <a:txBody>
                    <a:bodyPr/>
                    <a:lstStyle/>
                    <a:p>
                      <a:r>
                        <a:rPr lang="fr-FR" sz="1200">
                          <a:latin typeface="Aptos" panose="020B0004020202020204" pitchFamily="34" charset="0"/>
                        </a:rPr>
                        <a:t>Fausse divergence</a:t>
                      </a:r>
                    </a:p>
                  </a:txBody>
                  <a:tcPr marL="62162" marR="62162" marT="31081" marB="31081" anchor="ctr">
                    <a:lnL>
                      <a:noFill/>
                    </a:lnL>
                    <a:lnR>
                      <a:noFill/>
                    </a:lnR>
                    <a:lnT>
                      <a:noFill/>
                    </a:lnT>
                    <a:lnB>
                      <a:noFill/>
                    </a:lnB>
                  </a:tcPr>
                </a:tc>
                <a:tc>
                  <a:txBody>
                    <a:bodyPr/>
                    <a:lstStyle/>
                    <a:p>
                      <a:r>
                        <a:rPr lang="fr-FR" sz="1200" dirty="0">
                          <a:latin typeface="Aptos" panose="020B0004020202020204" pitchFamily="34" charset="0"/>
                        </a:rPr>
                        <a:t>Harmoniser les périmètres avant de comparer</a:t>
                      </a:r>
                    </a:p>
                  </a:txBody>
                  <a:tcPr marL="62162" marR="62162" marT="31081" marB="31081" anchor="ctr">
                    <a:lnL>
                      <a:noFill/>
                    </a:lnL>
                    <a:lnR>
                      <a:noFill/>
                    </a:lnR>
                    <a:lnT>
                      <a:noFill/>
                    </a:lnT>
                    <a:lnB>
                      <a:noFill/>
                    </a:lnB>
                  </a:tcPr>
                </a:tc>
                <a:extLst>
                  <a:ext uri="{0D108BD9-81ED-4DB2-BD59-A6C34878D82A}">
                    <a16:rowId xmlns:a16="http://schemas.microsoft.com/office/drawing/2014/main" val="3997846979"/>
                  </a:ext>
                </a:extLst>
              </a:tr>
              <a:tr h="463965">
                <a:tc>
                  <a:txBody>
                    <a:bodyPr/>
                    <a:lstStyle/>
                    <a:p>
                      <a:r>
                        <a:rPr lang="fr-FR" sz="1200" dirty="0">
                          <a:latin typeface="Aptos" panose="020B0004020202020204" pitchFamily="34" charset="0"/>
                        </a:rPr>
                        <a:t>Considérer la triangulation comme terminée</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Ne pas réviser la quantification au fil du temps</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Quantification obsolète dès que le contexte change</a:t>
                      </a:r>
                    </a:p>
                  </a:txBody>
                  <a:tcPr marL="62162" marR="62162" marT="31081" marB="31081"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Révisions trimestrielles systématiques</a:t>
                      </a:r>
                    </a:p>
                  </a:txBody>
                  <a:tcPr marL="62162" marR="62162" marT="31081" marB="31081" anchor="ctr">
                    <a:lnL>
                      <a:noFill/>
                    </a:lnL>
                    <a:lnR>
                      <a:noFill/>
                    </a:lnR>
                    <a:lnT>
                      <a:noFill/>
                    </a:lnT>
                    <a:lnB>
                      <a:noFill/>
                    </a:lnB>
                    <a:solidFill>
                      <a:schemeClr val="bg2">
                        <a:lumMod val="90000"/>
                      </a:schemeClr>
                    </a:solidFill>
                  </a:tcPr>
                </a:tc>
                <a:extLst>
                  <a:ext uri="{0D108BD9-81ED-4DB2-BD59-A6C34878D82A}">
                    <a16:rowId xmlns:a16="http://schemas.microsoft.com/office/drawing/2014/main" val="4125859321"/>
                  </a:ext>
                </a:extLst>
              </a:tr>
            </a:tbl>
          </a:graphicData>
        </a:graphic>
      </p:graphicFrame>
    </p:spTree>
    <p:extLst>
      <p:ext uri="{BB962C8B-B14F-4D97-AF65-F5344CB8AC3E}">
        <p14:creationId xmlns:p14="http://schemas.microsoft.com/office/powerpoint/2010/main" val="115478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T</a:t>
            </a:r>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riangulation des méthodes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CF185319-63AE-4F84-AEBB-885440231D60}"/>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Synthèse — Comparaison et triangulation des méthodes</a:t>
            </a:r>
          </a:p>
        </p:txBody>
      </p:sp>
      <p:graphicFrame>
        <p:nvGraphicFramePr>
          <p:cNvPr id="3" name="Tableau 2">
            <a:extLst>
              <a:ext uri="{FF2B5EF4-FFF2-40B4-BE49-F238E27FC236}">
                <a16:creationId xmlns:a16="http://schemas.microsoft.com/office/drawing/2014/main" id="{E0DE8408-6226-43B3-BFED-3D34ACD88B38}"/>
              </a:ext>
            </a:extLst>
          </p:cNvPr>
          <p:cNvGraphicFramePr>
            <a:graphicFrameLocks noGrp="1"/>
          </p:cNvGraphicFramePr>
          <p:nvPr>
            <p:extLst>
              <p:ext uri="{D42A27DB-BD31-4B8C-83A1-F6EECF244321}">
                <p14:modId xmlns:p14="http://schemas.microsoft.com/office/powerpoint/2010/main" val="2476475241"/>
              </p:ext>
            </p:extLst>
          </p:nvPr>
        </p:nvGraphicFramePr>
        <p:xfrm>
          <a:off x="753042" y="2173673"/>
          <a:ext cx="10964412" cy="3740566"/>
        </p:xfrm>
        <a:graphic>
          <a:graphicData uri="http://schemas.openxmlformats.org/drawingml/2006/table">
            <a:tbl>
              <a:tblPr/>
              <a:tblGrid>
                <a:gridCol w="2768367">
                  <a:extLst>
                    <a:ext uri="{9D8B030D-6E8A-4147-A177-3AD203B41FA5}">
                      <a16:colId xmlns:a16="http://schemas.microsoft.com/office/drawing/2014/main" val="1755965251"/>
                    </a:ext>
                  </a:extLst>
                </a:gridCol>
                <a:gridCol w="4999839">
                  <a:extLst>
                    <a:ext uri="{9D8B030D-6E8A-4147-A177-3AD203B41FA5}">
                      <a16:colId xmlns:a16="http://schemas.microsoft.com/office/drawing/2014/main" val="3931176826"/>
                    </a:ext>
                  </a:extLst>
                </a:gridCol>
                <a:gridCol w="3196206">
                  <a:extLst>
                    <a:ext uri="{9D8B030D-6E8A-4147-A177-3AD203B41FA5}">
                      <a16:colId xmlns:a16="http://schemas.microsoft.com/office/drawing/2014/main" val="3091285503"/>
                    </a:ext>
                  </a:extLst>
                </a:gridCol>
              </a:tblGrid>
              <a:tr h="321111">
                <a:tc>
                  <a:txBody>
                    <a:bodyPr/>
                    <a:lstStyle/>
                    <a:p>
                      <a:r>
                        <a:rPr lang="fr-FR" sz="1200" b="1">
                          <a:solidFill>
                            <a:schemeClr val="bg1"/>
                          </a:solidFill>
                          <a:latin typeface="Aptos" panose="020B0004020202020204" pitchFamily="34" charset="0"/>
                        </a:rPr>
                        <a:t>Étape</a:t>
                      </a:r>
                      <a:endParaRPr lang="fr-FR" sz="1200" b="1" dirty="0">
                        <a:solidFill>
                          <a:schemeClr val="bg1"/>
                        </a:solidFill>
                        <a:latin typeface="Aptos" panose="020B0004020202020204" pitchFamily="34" charset="0"/>
                      </a:endParaRPr>
                    </a:p>
                  </a:txBody>
                  <a:tcPr marL="61286" marR="61286" marT="30643" marB="30643"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Action</a:t>
                      </a:r>
                    </a:p>
                  </a:txBody>
                  <a:tcPr marL="61286" marR="61286" marT="30643" marB="30643" anchor="ctr">
                    <a:lnL>
                      <a:noFill/>
                    </a:lnL>
                    <a:lnR>
                      <a:noFill/>
                    </a:lnR>
                    <a:lnT>
                      <a:noFill/>
                    </a:lnT>
                    <a:lnB>
                      <a:noFill/>
                    </a:lnB>
                    <a:solidFill>
                      <a:srgbClr val="F37504"/>
                    </a:solidFill>
                  </a:tcPr>
                </a:tc>
                <a:tc>
                  <a:txBody>
                    <a:bodyPr/>
                    <a:lstStyle/>
                    <a:p>
                      <a:r>
                        <a:rPr lang="fr-FR" sz="1200" b="1">
                          <a:solidFill>
                            <a:schemeClr val="bg1"/>
                          </a:solidFill>
                          <a:latin typeface="Aptos" panose="020B0004020202020204" pitchFamily="34" charset="0"/>
                        </a:rPr>
                        <a:t>Outil</a:t>
                      </a:r>
                      <a:endParaRPr lang="fr-FR" sz="1200" b="1" dirty="0">
                        <a:solidFill>
                          <a:schemeClr val="bg1"/>
                        </a:solidFill>
                        <a:latin typeface="Aptos" panose="020B0004020202020204" pitchFamily="34" charset="0"/>
                      </a:endParaRPr>
                    </a:p>
                  </a:txBody>
                  <a:tcPr marL="61286" marR="61286" marT="30643" marB="30643" anchor="ctr">
                    <a:lnL>
                      <a:noFill/>
                    </a:lnL>
                    <a:lnR>
                      <a:noFill/>
                    </a:lnR>
                    <a:lnT>
                      <a:noFill/>
                    </a:lnT>
                    <a:lnB>
                      <a:noFill/>
                    </a:lnB>
                    <a:solidFill>
                      <a:srgbClr val="F37504"/>
                    </a:solidFill>
                  </a:tcPr>
                </a:tc>
                <a:extLst>
                  <a:ext uri="{0D108BD9-81ED-4DB2-BD59-A6C34878D82A}">
                    <a16:rowId xmlns:a16="http://schemas.microsoft.com/office/drawing/2014/main" val="841859938"/>
                  </a:ext>
                </a:extLst>
              </a:tr>
              <a:tr h="342665">
                <a:tc>
                  <a:txBody>
                    <a:bodyPr/>
                    <a:lstStyle/>
                    <a:p>
                      <a:r>
                        <a:rPr lang="fr-FR" sz="1200">
                          <a:latin typeface="Aptos" panose="020B0004020202020204" pitchFamily="34" charset="0"/>
                        </a:rPr>
                        <a:t>1. Sélectionner les méthodes</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Choisir 2 à 3 méthodes selon le contexte et les données disponibles</a:t>
                      </a:r>
                    </a:p>
                  </a:txBody>
                  <a:tcPr marL="61286" marR="61286" marT="30643" marB="30643" anchor="ctr">
                    <a:lnL>
                      <a:noFill/>
                    </a:lnL>
                    <a:lnR>
                      <a:noFill/>
                    </a:lnR>
                    <a:lnT>
                      <a:noFill/>
                    </a:lnT>
                    <a:lnB>
                      <a:noFill/>
                    </a:lnB>
                  </a:tcPr>
                </a:tc>
                <a:tc>
                  <a:txBody>
                    <a:bodyPr/>
                    <a:lstStyle/>
                    <a:p>
                      <a:r>
                        <a:rPr lang="fr-FR" sz="1200">
                          <a:latin typeface="Aptos" panose="020B0004020202020204" pitchFamily="34" charset="0"/>
                        </a:rPr>
                        <a:t>Matrice de sélection</a:t>
                      </a:r>
                    </a:p>
                  </a:txBody>
                  <a:tcPr marL="61286" marR="61286" marT="30643" marB="30643" anchor="ctr">
                    <a:lnL>
                      <a:noFill/>
                    </a:lnL>
                    <a:lnR>
                      <a:noFill/>
                    </a:lnR>
                    <a:lnT>
                      <a:noFill/>
                    </a:lnT>
                    <a:lnB>
                      <a:noFill/>
                    </a:lnB>
                  </a:tcPr>
                </a:tc>
                <a:extLst>
                  <a:ext uri="{0D108BD9-81ED-4DB2-BD59-A6C34878D82A}">
                    <a16:rowId xmlns:a16="http://schemas.microsoft.com/office/drawing/2014/main" val="789655493"/>
                  </a:ext>
                </a:extLst>
              </a:tr>
              <a:tr h="321111">
                <a:tc>
                  <a:txBody>
                    <a:bodyPr/>
                    <a:lstStyle/>
                    <a:p>
                      <a:r>
                        <a:rPr lang="fr-FR" sz="1200" dirty="0">
                          <a:latin typeface="Aptos" panose="020B0004020202020204" pitchFamily="34" charset="0"/>
                        </a:rPr>
                        <a:t>2. Appliquer indépendamment</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Calculer chaque méthode séparément sans influence mutuelle</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Feuilles de calcul distinctes</a:t>
                      </a:r>
                    </a:p>
                  </a:txBody>
                  <a:tcPr marL="61286" marR="61286" marT="30643" marB="30643" anchor="ctr">
                    <a:lnL>
                      <a:noFill/>
                    </a:lnL>
                    <a:lnR>
                      <a:noFill/>
                    </a:lnR>
                    <a:lnT>
                      <a:noFill/>
                    </a:lnT>
                    <a:lnB>
                      <a:noFill/>
                    </a:lnB>
                    <a:solidFill>
                      <a:schemeClr val="bg2">
                        <a:lumMod val="90000"/>
                      </a:schemeClr>
                    </a:solidFill>
                  </a:tcPr>
                </a:tc>
                <a:extLst>
                  <a:ext uri="{0D108BD9-81ED-4DB2-BD59-A6C34878D82A}">
                    <a16:rowId xmlns:a16="http://schemas.microsoft.com/office/drawing/2014/main" val="874546915"/>
                  </a:ext>
                </a:extLst>
              </a:tr>
              <a:tr h="321111">
                <a:tc>
                  <a:txBody>
                    <a:bodyPr/>
                    <a:lstStyle/>
                    <a:p>
                      <a:r>
                        <a:rPr lang="fr-FR" sz="1200">
                          <a:latin typeface="Aptos" panose="020B0004020202020204" pitchFamily="34" charset="0"/>
                        </a:rPr>
                        <a:t>3. Comparer les résultats</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Présenter dans un tableau comparatif, calculer les écarts</a:t>
                      </a:r>
                    </a:p>
                  </a:txBody>
                  <a:tcPr marL="61286" marR="61286" marT="30643" marB="30643" anchor="ctr">
                    <a:lnL>
                      <a:noFill/>
                    </a:lnL>
                    <a:lnR>
                      <a:noFill/>
                    </a:lnR>
                    <a:lnT>
                      <a:noFill/>
                    </a:lnT>
                    <a:lnB>
                      <a:noFill/>
                    </a:lnB>
                  </a:tcPr>
                </a:tc>
                <a:tc>
                  <a:txBody>
                    <a:bodyPr/>
                    <a:lstStyle/>
                    <a:p>
                      <a:r>
                        <a:rPr lang="fr-FR" sz="1200">
                          <a:latin typeface="Aptos" panose="020B0004020202020204" pitchFamily="34" charset="0"/>
                        </a:rPr>
                        <a:t>Tableau de triangulation</a:t>
                      </a:r>
                    </a:p>
                  </a:txBody>
                  <a:tcPr marL="61286" marR="61286" marT="30643" marB="30643" anchor="ctr">
                    <a:lnL>
                      <a:noFill/>
                    </a:lnL>
                    <a:lnR>
                      <a:noFill/>
                    </a:lnR>
                    <a:lnT>
                      <a:noFill/>
                    </a:lnT>
                    <a:lnB>
                      <a:noFill/>
                    </a:lnB>
                  </a:tcPr>
                </a:tc>
                <a:extLst>
                  <a:ext uri="{0D108BD9-81ED-4DB2-BD59-A6C34878D82A}">
                    <a16:rowId xmlns:a16="http://schemas.microsoft.com/office/drawing/2014/main" val="2740892928"/>
                  </a:ext>
                </a:extLst>
              </a:tr>
              <a:tr h="358742">
                <a:tc>
                  <a:txBody>
                    <a:bodyPr/>
                    <a:lstStyle/>
                    <a:p>
                      <a:r>
                        <a:rPr lang="fr-FR" sz="1200" dirty="0">
                          <a:latin typeface="Aptos" panose="020B0004020202020204" pitchFamily="34" charset="0"/>
                        </a:rPr>
                        <a:t>4. Analyser les divergences</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Identifier les sources de différence entre méthodes</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Discussion d'équipe, vérification des données</a:t>
                      </a:r>
                    </a:p>
                  </a:txBody>
                  <a:tcPr marL="61286" marR="61286" marT="30643" marB="30643" anchor="ctr">
                    <a:lnL>
                      <a:noFill/>
                    </a:lnL>
                    <a:lnR>
                      <a:noFill/>
                    </a:lnR>
                    <a:lnT>
                      <a:noFill/>
                    </a:lnT>
                    <a:lnB>
                      <a:noFill/>
                    </a:lnB>
                    <a:solidFill>
                      <a:schemeClr val="bg2">
                        <a:lumMod val="90000"/>
                      </a:schemeClr>
                    </a:solidFill>
                  </a:tcPr>
                </a:tc>
                <a:extLst>
                  <a:ext uri="{0D108BD9-81ED-4DB2-BD59-A6C34878D82A}">
                    <a16:rowId xmlns:a16="http://schemas.microsoft.com/office/drawing/2014/main" val="2665460620"/>
                  </a:ext>
                </a:extLst>
              </a:tr>
              <a:tr h="358079">
                <a:tc>
                  <a:txBody>
                    <a:bodyPr/>
                    <a:lstStyle/>
                    <a:p>
                      <a:r>
                        <a:rPr lang="fr-FR" sz="1200">
                          <a:latin typeface="Aptos" panose="020B0004020202020204" pitchFamily="34" charset="0"/>
                        </a:rPr>
                        <a:t>5. Corriger les hypothèses</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Ajuster les paramètres erronés ou incohérents</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Nouvelle collecte de données si nécessaire</a:t>
                      </a:r>
                    </a:p>
                  </a:txBody>
                  <a:tcPr marL="61286" marR="61286" marT="30643" marB="30643" anchor="ctr">
                    <a:lnL>
                      <a:noFill/>
                    </a:lnL>
                    <a:lnR>
                      <a:noFill/>
                    </a:lnR>
                    <a:lnT>
                      <a:noFill/>
                    </a:lnT>
                    <a:lnB>
                      <a:noFill/>
                    </a:lnB>
                  </a:tcPr>
                </a:tc>
                <a:extLst>
                  <a:ext uri="{0D108BD9-81ED-4DB2-BD59-A6C34878D82A}">
                    <a16:rowId xmlns:a16="http://schemas.microsoft.com/office/drawing/2014/main" val="2343374057"/>
                  </a:ext>
                </a:extLst>
              </a:tr>
              <a:tr h="374190">
                <a:tc>
                  <a:txBody>
                    <a:bodyPr/>
                    <a:lstStyle/>
                    <a:p>
                      <a:r>
                        <a:rPr lang="fr-FR" sz="1200" dirty="0">
                          <a:latin typeface="Aptos" panose="020B0004020202020204" pitchFamily="34" charset="0"/>
                        </a:rPr>
                        <a:t>6. Pondérer selon la qualité</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Attribuer un poids à chaque méthode selon la fiabilité de ses données</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Grille de pondération</a:t>
                      </a:r>
                    </a:p>
                  </a:txBody>
                  <a:tcPr marL="61286" marR="61286" marT="30643" marB="30643" anchor="ctr">
                    <a:lnL>
                      <a:noFill/>
                    </a:lnL>
                    <a:lnR>
                      <a:noFill/>
                    </a:lnR>
                    <a:lnT>
                      <a:noFill/>
                    </a:lnT>
                    <a:lnB>
                      <a:noFill/>
                    </a:lnB>
                    <a:solidFill>
                      <a:schemeClr val="bg2">
                        <a:lumMod val="90000"/>
                      </a:schemeClr>
                    </a:solidFill>
                  </a:tcPr>
                </a:tc>
                <a:extLst>
                  <a:ext uri="{0D108BD9-81ED-4DB2-BD59-A6C34878D82A}">
                    <a16:rowId xmlns:a16="http://schemas.microsoft.com/office/drawing/2014/main" val="1292423316"/>
                  </a:ext>
                </a:extLst>
              </a:tr>
              <a:tr h="341706">
                <a:tc>
                  <a:txBody>
                    <a:bodyPr/>
                    <a:lstStyle/>
                    <a:p>
                      <a:r>
                        <a:rPr lang="fr-FR" sz="1200">
                          <a:latin typeface="Aptos" panose="020B0004020202020204" pitchFamily="34" charset="0"/>
                        </a:rPr>
                        <a:t>7. Calculer l'estimation consensuelle</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Moyenne pondérée ou sélection motivée</a:t>
                      </a:r>
                    </a:p>
                  </a:txBody>
                  <a:tcPr marL="61286" marR="61286" marT="30643" marB="30643" anchor="ctr">
                    <a:lnL>
                      <a:noFill/>
                    </a:lnL>
                    <a:lnR>
                      <a:noFill/>
                    </a:lnR>
                    <a:lnT>
                      <a:noFill/>
                    </a:lnT>
                    <a:lnB>
                      <a:noFill/>
                    </a:lnB>
                  </a:tcPr>
                </a:tc>
                <a:tc>
                  <a:txBody>
                    <a:bodyPr/>
                    <a:lstStyle/>
                    <a:p>
                      <a:r>
                        <a:rPr lang="fr-FR" sz="1200">
                          <a:latin typeface="Aptos" panose="020B0004020202020204" pitchFamily="34" charset="0"/>
                        </a:rPr>
                        <a:t>Calcul</a:t>
                      </a:r>
                    </a:p>
                  </a:txBody>
                  <a:tcPr marL="61286" marR="61286" marT="30643" marB="30643" anchor="ctr">
                    <a:lnL>
                      <a:noFill/>
                    </a:lnL>
                    <a:lnR>
                      <a:noFill/>
                    </a:lnR>
                    <a:lnT>
                      <a:noFill/>
                    </a:lnT>
                    <a:lnB>
                      <a:noFill/>
                    </a:lnB>
                  </a:tcPr>
                </a:tc>
                <a:extLst>
                  <a:ext uri="{0D108BD9-81ED-4DB2-BD59-A6C34878D82A}">
                    <a16:rowId xmlns:a16="http://schemas.microsoft.com/office/drawing/2014/main" val="2828594524"/>
                  </a:ext>
                </a:extLst>
              </a:tr>
              <a:tr h="321111">
                <a:tc>
                  <a:txBody>
                    <a:bodyPr/>
                    <a:lstStyle/>
                    <a:p>
                      <a:r>
                        <a:rPr lang="fr-FR" sz="1200" dirty="0">
                          <a:latin typeface="Aptos" panose="020B0004020202020204" pitchFamily="34" charset="0"/>
                        </a:rPr>
                        <a:t>8. Définir la fourchette</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Minimum, consensuel, maximum</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Tableau de décision</a:t>
                      </a:r>
                    </a:p>
                  </a:txBody>
                  <a:tcPr marL="61286" marR="61286" marT="30643" marB="30643" anchor="ctr">
                    <a:lnL>
                      <a:noFill/>
                    </a:lnL>
                    <a:lnR>
                      <a:noFill/>
                    </a:lnR>
                    <a:lnT>
                      <a:noFill/>
                    </a:lnT>
                    <a:lnB>
                      <a:noFill/>
                    </a:lnB>
                    <a:solidFill>
                      <a:schemeClr val="bg2">
                        <a:lumMod val="90000"/>
                      </a:schemeClr>
                    </a:solidFill>
                  </a:tcPr>
                </a:tc>
                <a:extLst>
                  <a:ext uri="{0D108BD9-81ED-4DB2-BD59-A6C34878D82A}">
                    <a16:rowId xmlns:a16="http://schemas.microsoft.com/office/drawing/2014/main" val="2514895704"/>
                  </a:ext>
                </a:extLst>
              </a:tr>
              <a:tr h="321111">
                <a:tc>
                  <a:txBody>
                    <a:bodyPr/>
                    <a:lstStyle/>
                    <a:p>
                      <a:r>
                        <a:rPr lang="fr-FR" sz="1200">
                          <a:latin typeface="Aptos" panose="020B0004020202020204" pitchFamily="34" charset="0"/>
                        </a:rPr>
                        <a:t>9. Documenter</a:t>
                      </a:r>
                    </a:p>
                  </a:txBody>
                  <a:tcPr marL="61286" marR="61286" marT="30643" marB="30643" anchor="ctr">
                    <a:lnL>
                      <a:noFill/>
                    </a:lnL>
                    <a:lnR>
                      <a:noFill/>
                    </a:lnR>
                    <a:lnT>
                      <a:noFill/>
                    </a:lnT>
                    <a:lnB>
                      <a:noFill/>
                    </a:lnB>
                  </a:tcPr>
                </a:tc>
                <a:tc>
                  <a:txBody>
                    <a:bodyPr/>
                    <a:lstStyle/>
                    <a:p>
                      <a:r>
                        <a:rPr lang="fr-FR" sz="1200" dirty="0">
                          <a:latin typeface="Aptos" panose="020B0004020202020204" pitchFamily="34" charset="0"/>
                        </a:rPr>
                        <a:t>Rédiger le rapport de triangulation</a:t>
                      </a:r>
                    </a:p>
                  </a:txBody>
                  <a:tcPr marL="61286" marR="61286" marT="30643" marB="30643" anchor="ctr">
                    <a:lnL>
                      <a:noFill/>
                    </a:lnL>
                    <a:lnR>
                      <a:noFill/>
                    </a:lnR>
                    <a:lnT>
                      <a:noFill/>
                    </a:lnT>
                    <a:lnB>
                      <a:noFill/>
                    </a:lnB>
                  </a:tcPr>
                </a:tc>
                <a:tc>
                  <a:txBody>
                    <a:bodyPr/>
                    <a:lstStyle/>
                    <a:p>
                      <a:r>
                        <a:rPr lang="fr-FR" sz="1200">
                          <a:latin typeface="Aptos" panose="020B0004020202020204" pitchFamily="34" charset="0"/>
                        </a:rPr>
                        <a:t>Rapport standardisé</a:t>
                      </a:r>
                    </a:p>
                  </a:txBody>
                  <a:tcPr marL="61286" marR="61286" marT="30643" marB="30643" anchor="ctr">
                    <a:lnL>
                      <a:noFill/>
                    </a:lnL>
                    <a:lnR>
                      <a:noFill/>
                    </a:lnR>
                    <a:lnT>
                      <a:noFill/>
                    </a:lnT>
                    <a:lnB>
                      <a:noFill/>
                    </a:lnB>
                  </a:tcPr>
                </a:tc>
                <a:extLst>
                  <a:ext uri="{0D108BD9-81ED-4DB2-BD59-A6C34878D82A}">
                    <a16:rowId xmlns:a16="http://schemas.microsoft.com/office/drawing/2014/main" val="3314447932"/>
                  </a:ext>
                </a:extLst>
              </a:tr>
              <a:tr h="359629">
                <a:tc>
                  <a:txBody>
                    <a:bodyPr/>
                    <a:lstStyle/>
                    <a:p>
                      <a:r>
                        <a:rPr lang="fr-FR" sz="1200" dirty="0">
                          <a:latin typeface="Aptos" panose="020B0004020202020204" pitchFamily="34" charset="0"/>
                        </a:rPr>
                        <a:t>10. Planifier la révision</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Prévoir les révisions trimestrielles</a:t>
                      </a:r>
                    </a:p>
                  </a:txBody>
                  <a:tcPr marL="61286" marR="61286" marT="30643" marB="30643"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Calendrier de suivi</a:t>
                      </a:r>
                    </a:p>
                  </a:txBody>
                  <a:tcPr marL="61286" marR="61286" marT="30643" marB="30643" anchor="ctr">
                    <a:lnL>
                      <a:noFill/>
                    </a:lnL>
                    <a:lnR>
                      <a:noFill/>
                    </a:lnR>
                    <a:lnT>
                      <a:noFill/>
                    </a:lnT>
                    <a:lnB>
                      <a:noFill/>
                    </a:lnB>
                    <a:solidFill>
                      <a:schemeClr val="bg2">
                        <a:lumMod val="90000"/>
                      </a:schemeClr>
                    </a:solidFill>
                  </a:tcPr>
                </a:tc>
                <a:extLst>
                  <a:ext uri="{0D108BD9-81ED-4DB2-BD59-A6C34878D82A}">
                    <a16:rowId xmlns:a16="http://schemas.microsoft.com/office/drawing/2014/main" val="197275074"/>
                  </a:ext>
                </a:extLst>
              </a:tr>
            </a:tbl>
          </a:graphicData>
        </a:graphic>
      </p:graphicFrame>
    </p:spTree>
    <p:extLst>
      <p:ext uri="{BB962C8B-B14F-4D97-AF65-F5344CB8AC3E}">
        <p14:creationId xmlns:p14="http://schemas.microsoft.com/office/powerpoint/2010/main" val="100121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1479"/>
            <a:ext cx="10335106"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Outils de prévision et modélisation de la demande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DES BESOINS</a:t>
            </a:r>
            <a:endParaRPr lang="en-US" sz="1400" dirty="0">
              <a:solidFill>
                <a:schemeClr val="bg1"/>
              </a:solidFill>
              <a:latin typeface="Aptos" panose="020B0004020202020204" pitchFamily="34" charset="0"/>
            </a:endParaRP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21CBAE0C-1D70-4786-8621-386CA74D98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268072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Principes de la prévision de la demande en santé</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Utilisation de Quantimed, PipeLine, ForLAB, QAT</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Ajustements saisonniers et facteurs contextuels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FFF74EF8-8988-42DD-90A5-462872904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138716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1" name="ZoneTexte 10">
            <a:extLst>
              <a:ext uri="{FF2B5EF4-FFF2-40B4-BE49-F238E27FC236}">
                <a16:creationId xmlns:a16="http://schemas.microsoft.com/office/drawing/2014/main" id="{BAB5898F-4D93-4DBB-A044-36AAACCC9EA3}"/>
              </a:ext>
            </a:extLst>
          </p:cNvPr>
          <p:cNvSpPr txBox="1"/>
          <p:nvPr/>
        </p:nvSpPr>
        <p:spPr>
          <a:xfrm>
            <a:off x="753042" y="1474019"/>
            <a:ext cx="8256734" cy="4708981"/>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quantification répond à la question : de combien de produits avons-nous besoin ?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prévision de la demande répond à une question plus fine : comment cette demande va-t-elle évoluer dans le temps, et pourquoi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 Une bonne prévision ne cherche pas à prédire l'avenir avec certitude — ce qui est impossible — mais à réduire l'incertitude à un niveau gérable, en identifiant les tendances fiables et en quantifiant les zones d'incertitude.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mauvaise prévision, qu'elle soit trop optimiste ou trop pessimiste, conduit soit à des ruptures de stock soit à des surstocks coûteux. Dans les systèmes de santé publique où les ressources sont limitées, l'enjeu est considérable.</a:t>
            </a:r>
          </a:p>
        </p:txBody>
      </p:sp>
      <p:pic>
        <p:nvPicPr>
          <p:cNvPr id="5" name="Image 4">
            <a:extLst>
              <a:ext uri="{FF2B5EF4-FFF2-40B4-BE49-F238E27FC236}">
                <a16:creationId xmlns:a16="http://schemas.microsoft.com/office/drawing/2014/main" id="{AD632866-CEB7-465B-96EE-4890CBFEB3ED}"/>
              </a:ext>
            </a:extLst>
          </p:cNvPr>
          <p:cNvPicPr>
            <a:picLocks noChangeAspect="1"/>
          </p:cNvPicPr>
          <p:nvPr/>
        </p:nvPicPr>
        <p:blipFill rotWithShape="1">
          <a:blip r:embed="rId4">
            <a:extLst>
              <a:ext uri="{28A0092B-C50C-407E-A947-70E740481C1C}">
                <a14:useLocalDpi xmlns:a14="http://schemas.microsoft.com/office/drawing/2010/main" val="0"/>
              </a:ext>
            </a:extLst>
          </a:blip>
          <a:srcRect l="7400" r="7349"/>
          <a:stretch/>
        </p:blipFill>
        <p:spPr>
          <a:xfrm>
            <a:off x="9009776" y="2512601"/>
            <a:ext cx="3062018" cy="2626933"/>
          </a:xfrm>
          <a:prstGeom prst="rect">
            <a:avLst/>
          </a:prstGeom>
        </p:spPr>
      </p:pic>
    </p:spTree>
    <p:extLst>
      <p:ext uri="{BB962C8B-B14F-4D97-AF65-F5344CB8AC3E}">
        <p14:creationId xmlns:p14="http://schemas.microsoft.com/office/powerpoint/2010/main" val="280770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La distinction entre quantification et prévision </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Synthèse — Comparaison et triangulation des méthodes</a:t>
            </a:r>
          </a:p>
        </p:txBody>
      </p:sp>
      <p:graphicFrame>
        <p:nvGraphicFramePr>
          <p:cNvPr id="2" name="Tableau 1">
            <a:extLst>
              <a:ext uri="{FF2B5EF4-FFF2-40B4-BE49-F238E27FC236}">
                <a16:creationId xmlns:a16="http://schemas.microsoft.com/office/drawing/2014/main" id="{4DE6A59D-B922-4B2E-BAA9-FB1A19D6C1B0}"/>
              </a:ext>
            </a:extLst>
          </p:cNvPr>
          <p:cNvGraphicFramePr>
            <a:graphicFrameLocks noGrp="1"/>
          </p:cNvGraphicFramePr>
          <p:nvPr>
            <p:extLst>
              <p:ext uri="{D42A27DB-BD31-4B8C-83A1-F6EECF244321}">
                <p14:modId xmlns:p14="http://schemas.microsoft.com/office/powerpoint/2010/main" val="4192410992"/>
              </p:ext>
            </p:extLst>
          </p:nvPr>
        </p:nvGraphicFramePr>
        <p:xfrm>
          <a:off x="1082384" y="2702155"/>
          <a:ext cx="10515600" cy="2438400"/>
        </p:xfrm>
        <a:graphic>
          <a:graphicData uri="http://schemas.openxmlformats.org/drawingml/2006/table">
            <a:tbl>
              <a:tblPr/>
              <a:tblGrid>
                <a:gridCol w="2567730">
                  <a:extLst>
                    <a:ext uri="{9D8B030D-6E8A-4147-A177-3AD203B41FA5}">
                      <a16:colId xmlns:a16="http://schemas.microsoft.com/office/drawing/2014/main" val="2631600912"/>
                    </a:ext>
                  </a:extLst>
                </a:gridCol>
                <a:gridCol w="3924952">
                  <a:extLst>
                    <a:ext uri="{9D8B030D-6E8A-4147-A177-3AD203B41FA5}">
                      <a16:colId xmlns:a16="http://schemas.microsoft.com/office/drawing/2014/main" val="1400541518"/>
                    </a:ext>
                  </a:extLst>
                </a:gridCol>
                <a:gridCol w="4022918">
                  <a:extLst>
                    <a:ext uri="{9D8B030D-6E8A-4147-A177-3AD203B41FA5}">
                      <a16:colId xmlns:a16="http://schemas.microsoft.com/office/drawing/2014/main" val="349975365"/>
                    </a:ext>
                  </a:extLst>
                </a:gridCol>
              </a:tblGrid>
              <a:tr h="0">
                <a:tc>
                  <a:txBody>
                    <a:bodyPr/>
                    <a:lstStyle/>
                    <a:p>
                      <a:r>
                        <a:rPr lang="fr-FR" sz="1400" b="1" dirty="0">
                          <a:solidFill>
                            <a:schemeClr val="bg1"/>
                          </a:solidFill>
                          <a:latin typeface="Aptos" panose="020B0004020202020204" pitchFamily="34" charset="0"/>
                        </a:rPr>
                        <a:t>Dimension</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Quantification</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Prévision de la demande</a:t>
                      </a:r>
                    </a:p>
                  </a:txBody>
                  <a:tcPr anchor="ctr">
                    <a:lnL>
                      <a:noFill/>
                    </a:lnL>
                    <a:lnR>
                      <a:noFill/>
                    </a:lnR>
                    <a:lnT>
                      <a:noFill/>
                    </a:lnT>
                    <a:lnB>
                      <a:noFill/>
                    </a:lnB>
                    <a:solidFill>
                      <a:srgbClr val="F37504"/>
                    </a:solidFill>
                  </a:tcPr>
                </a:tc>
                <a:extLst>
                  <a:ext uri="{0D108BD9-81ED-4DB2-BD59-A6C34878D82A}">
                    <a16:rowId xmlns:a16="http://schemas.microsoft.com/office/drawing/2014/main" val="4288971733"/>
                  </a:ext>
                </a:extLst>
              </a:tr>
              <a:tr h="0">
                <a:tc>
                  <a:txBody>
                    <a:bodyPr/>
                    <a:lstStyle/>
                    <a:p>
                      <a:r>
                        <a:rPr lang="fr-FR" sz="1400">
                          <a:latin typeface="Aptos" panose="020B0004020202020204" pitchFamily="34" charset="0"/>
                        </a:rPr>
                        <a:t>Question centrale</a:t>
                      </a:r>
                    </a:p>
                  </a:txBody>
                  <a:tcPr anchor="ctr">
                    <a:lnL>
                      <a:noFill/>
                    </a:lnL>
                    <a:lnR>
                      <a:noFill/>
                    </a:lnR>
                    <a:lnT>
                      <a:noFill/>
                    </a:lnT>
                    <a:lnB>
                      <a:noFill/>
                    </a:lnB>
                  </a:tcPr>
                </a:tc>
                <a:tc>
                  <a:txBody>
                    <a:bodyPr/>
                    <a:lstStyle/>
                    <a:p>
                      <a:r>
                        <a:rPr lang="fr-FR" sz="1400" dirty="0">
                          <a:latin typeface="Aptos" panose="020B0004020202020204" pitchFamily="34" charset="0"/>
                        </a:rPr>
                        <a:t>Combien faut-il commander ?</a:t>
                      </a:r>
                    </a:p>
                  </a:txBody>
                  <a:tcPr anchor="ctr">
                    <a:lnL>
                      <a:noFill/>
                    </a:lnL>
                    <a:lnR>
                      <a:noFill/>
                    </a:lnR>
                    <a:lnT>
                      <a:noFill/>
                    </a:lnT>
                    <a:lnB>
                      <a:noFill/>
                    </a:lnB>
                  </a:tcPr>
                </a:tc>
                <a:tc>
                  <a:txBody>
                    <a:bodyPr/>
                    <a:lstStyle/>
                    <a:p>
                      <a:r>
                        <a:rPr lang="fr-FR" sz="1400">
                          <a:latin typeface="Aptos" panose="020B0004020202020204" pitchFamily="34" charset="0"/>
                        </a:rPr>
                        <a:t>Comment la demande va-t-elle évoluer ?</a:t>
                      </a:r>
                    </a:p>
                  </a:txBody>
                  <a:tcPr anchor="ctr">
                    <a:lnL>
                      <a:noFill/>
                    </a:lnL>
                    <a:lnR>
                      <a:noFill/>
                    </a:lnR>
                    <a:lnT>
                      <a:noFill/>
                    </a:lnT>
                    <a:lnB>
                      <a:noFill/>
                    </a:lnB>
                  </a:tcPr>
                </a:tc>
                <a:extLst>
                  <a:ext uri="{0D108BD9-81ED-4DB2-BD59-A6C34878D82A}">
                    <a16:rowId xmlns:a16="http://schemas.microsoft.com/office/drawing/2014/main" val="1026576972"/>
                  </a:ext>
                </a:extLst>
              </a:tr>
              <a:tr h="0">
                <a:tc>
                  <a:txBody>
                    <a:bodyPr/>
                    <a:lstStyle/>
                    <a:p>
                      <a:r>
                        <a:rPr lang="fr-FR" sz="1400" dirty="0">
                          <a:latin typeface="Aptos" panose="020B0004020202020204" pitchFamily="34" charset="0"/>
                        </a:rPr>
                        <a:t>Horizon temporel</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Court terme (6 à 24 mois)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Moyen à long terme (1 à 5 ans)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687662383"/>
                  </a:ext>
                </a:extLst>
              </a:tr>
              <a:tr h="0">
                <a:tc>
                  <a:txBody>
                    <a:bodyPr/>
                    <a:lstStyle/>
                    <a:p>
                      <a:r>
                        <a:rPr lang="fr-FR" sz="1400">
                          <a:latin typeface="Aptos" panose="020B0004020202020204" pitchFamily="34" charset="0"/>
                        </a:rPr>
                        <a:t>Objectif</a:t>
                      </a:r>
                    </a:p>
                  </a:txBody>
                  <a:tcPr anchor="ctr">
                    <a:lnL>
                      <a:noFill/>
                    </a:lnL>
                    <a:lnR>
                      <a:noFill/>
                    </a:lnR>
                    <a:lnT>
                      <a:noFill/>
                    </a:lnT>
                    <a:lnB>
                      <a:noFill/>
                    </a:lnB>
                  </a:tcPr>
                </a:tc>
                <a:tc>
                  <a:txBody>
                    <a:bodyPr/>
                    <a:lstStyle/>
                    <a:p>
                      <a:r>
                        <a:rPr lang="fr-FR" sz="1400" dirty="0">
                          <a:latin typeface="Aptos" panose="020B0004020202020204" pitchFamily="34" charset="0"/>
                        </a:rPr>
                        <a:t>Décision d'achat opérationnelle</a:t>
                      </a:r>
                    </a:p>
                  </a:txBody>
                  <a:tcPr anchor="ctr">
                    <a:lnL>
                      <a:noFill/>
                    </a:lnL>
                    <a:lnR>
                      <a:noFill/>
                    </a:lnR>
                    <a:lnT>
                      <a:noFill/>
                    </a:lnT>
                    <a:lnB>
                      <a:noFill/>
                    </a:lnB>
                  </a:tcPr>
                </a:tc>
                <a:tc>
                  <a:txBody>
                    <a:bodyPr/>
                    <a:lstStyle/>
                    <a:p>
                      <a:r>
                        <a:rPr lang="fr-FR" sz="1400" dirty="0">
                          <a:latin typeface="Aptos" panose="020B0004020202020204" pitchFamily="34" charset="0"/>
                        </a:rPr>
                        <a:t>Planification stratégique</a:t>
                      </a:r>
                    </a:p>
                  </a:txBody>
                  <a:tcPr anchor="ctr">
                    <a:lnL>
                      <a:noFill/>
                    </a:lnL>
                    <a:lnR>
                      <a:noFill/>
                    </a:lnR>
                    <a:lnT>
                      <a:noFill/>
                    </a:lnT>
                    <a:lnB>
                      <a:noFill/>
                    </a:lnB>
                  </a:tcPr>
                </a:tc>
                <a:extLst>
                  <a:ext uri="{0D108BD9-81ED-4DB2-BD59-A6C34878D82A}">
                    <a16:rowId xmlns:a16="http://schemas.microsoft.com/office/drawing/2014/main" val="3601806983"/>
                  </a:ext>
                </a:extLst>
              </a:tr>
              <a:tr h="0">
                <a:tc>
                  <a:txBody>
                    <a:bodyPr/>
                    <a:lstStyle/>
                    <a:p>
                      <a:r>
                        <a:rPr lang="fr-FR" sz="1400" dirty="0">
                          <a:latin typeface="Aptos" panose="020B0004020202020204" pitchFamily="34" charset="0"/>
                        </a:rPr>
                        <a:t>Résultat</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Quantité à approvisionner</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Courbe ou modèle d'évolution de la demande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150583020"/>
                  </a:ext>
                </a:extLst>
              </a:tr>
              <a:tr h="0">
                <a:tc>
                  <a:txBody>
                    <a:bodyPr/>
                    <a:lstStyle/>
                    <a:p>
                      <a:r>
                        <a:rPr lang="fr-FR" sz="1400">
                          <a:latin typeface="Aptos" panose="020B0004020202020204" pitchFamily="34" charset="0"/>
                        </a:rPr>
                        <a:t>Niveau d'application</a:t>
                      </a:r>
                    </a:p>
                  </a:txBody>
                  <a:tcPr anchor="ctr">
                    <a:lnL>
                      <a:noFill/>
                    </a:lnL>
                    <a:lnR>
                      <a:noFill/>
                    </a:lnR>
                    <a:lnT>
                      <a:noFill/>
                    </a:lnT>
                    <a:lnB>
                      <a:noFill/>
                    </a:lnB>
                  </a:tcPr>
                </a:tc>
                <a:tc>
                  <a:txBody>
                    <a:bodyPr/>
                    <a:lstStyle/>
                    <a:p>
                      <a:r>
                        <a:rPr lang="fr-FR" sz="1400">
                          <a:latin typeface="Aptos" panose="020B0004020202020204" pitchFamily="34" charset="0"/>
                        </a:rPr>
                        <a:t>Site, district, national</a:t>
                      </a:r>
                    </a:p>
                  </a:txBody>
                  <a:tcPr anchor="ctr">
                    <a:lnL>
                      <a:noFill/>
                    </a:lnL>
                    <a:lnR>
                      <a:noFill/>
                    </a:lnR>
                    <a:lnT>
                      <a:noFill/>
                    </a:lnT>
                    <a:lnB>
                      <a:noFill/>
                    </a:lnB>
                  </a:tcPr>
                </a:tc>
                <a:tc>
                  <a:txBody>
                    <a:bodyPr/>
                    <a:lstStyle/>
                    <a:p>
                      <a:r>
                        <a:rPr lang="fr-FR" sz="1400">
                          <a:latin typeface="Aptos" panose="020B0004020202020204" pitchFamily="34" charset="0"/>
                        </a:rPr>
                        <a:t>National, programme, région</a:t>
                      </a:r>
                    </a:p>
                  </a:txBody>
                  <a:tcPr anchor="ctr">
                    <a:lnL>
                      <a:noFill/>
                    </a:lnL>
                    <a:lnR>
                      <a:noFill/>
                    </a:lnR>
                    <a:lnT>
                      <a:noFill/>
                    </a:lnT>
                    <a:lnB>
                      <a:noFill/>
                    </a:lnB>
                  </a:tcPr>
                </a:tc>
                <a:extLst>
                  <a:ext uri="{0D108BD9-81ED-4DB2-BD59-A6C34878D82A}">
                    <a16:rowId xmlns:a16="http://schemas.microsoft.com/office/drawing/2014/main" val="2360812611"/>
                  </a:ext>
                </a:extLst>
              </a:tr>
              <a:tr h="0">
                <a:tc>
                  <a:txBody>
                    <a:bodyPr/>
                    <a:lstStyle/>
                    <a:p>
                      <a:r>
                        <a:rPr lang="fr-FR" sz="1400" dirty="0">
                          <a:latin typeface="Aptos" panose="020B0004020202020204" pitchFamily="34" charset="0"/>
                        </a:rPr>
                        <a:t>Fréquence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Trimestrielle ou semestrielle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Annuelle ou pluriannuelle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4163974165"/>
                  </a:ext>
                </a:extLst>
              </a:tr>
              <a:tr h="0">
                <a:tc>
                  <a:txBody>
                    <a:bodyPr/>
                    <a:lstStyle/>
                    <a:p>
                      <a:r>
                        <a:rPr lang="fr-FR" sz="1400">
                          <a:latin typeface="Aptos" panose="020B0004020202020204" pitchFamily="34" charset="0"/>
                        </a:rPr>
                        <a:t>Utilisateurs</a:t>
                      </a:r>
                    </a:p>
                  </a:txBody>
                  <a:tcPr anchor="ctr">
                    <a:lnL>
                      <a:noFill/>
                    </a:lnL>
                    <a:lnR>
                      <a:noFill/>
                    </a:lnR>
                    <a:lnT>
                      <a:noFill/>
                    </a:lnT>
                    <a:lnB>
                      <a:noFill/>
                    </a:lnB>
                  </a:tcPr>
                </a:tc>
                <a:tc>
                  <a:txBody>
                    <a:bodyPr/>
                    <a:lstStyle/>
                    <a:p>
                      <a:r>
                        <a:rPr lang="fr-FR" sz="1400" dirty="0">
                          <a:latin typeface="Aptos" panose="020B0004020202020204" pitchFamily="34" charset="0"/>
                        </a:rPr>
                        <a:t>Gestionnaires de stocks, pharmaciens</a:t>
                      </a:r>
                    </a:p>
                  </a:txBody>
                  <a:tcPr anchor="ctr">
                    <a:lnL>
                      <a:noFill/>
                    </a:lnL>
                    <a:lnR>
                      <a:noFill/>
                    </a:lnR>
                    <a:lnT>
                      <a:noFill/>
                    </a:lnT>
                    <a:lnB>
                      <a:noFill/>
                    </a:lnB>
                  </a:tcPr>
                </a:tc>
                <a:tc>
                  <a:txBody>
                    <a:bodyPr/>
                    <a:lstStyle/>
                    <a:p>
                      <a:r>
                        <a:rPr lang="fr-FR" sz="1400" dirty="0">
                          <a:latin typeface="Aptos" panose="020B0004020202020204" pitchFamily="34" charset="0"/>
                        </a:rPr>
                        <a:t>Planificateurs, décideurs, bailleurs</a:t>
                      </a:r>
                    </a:p>
                  </a:txBody>
                  <a:tcPr anchor="ctr">
                    <a:lnL>
                      <a:noFill/>
                    </a:lnL>
                    <a:lnR>
                      <a:noFill/>
                    </a:lnR>
                    <a:lnT>
                      <a:noFill/>
                    </a:lnT>
                    <a:lnB>
                      <a:noFill/>
                    </a:lnB>
                  </a:tcPr>
                </a:tc>
                <a:extLst>
                  <a:ext uri="{0D108BD9-81ED-4DB2-BD59-A6C34878D82A}">
                    <a16:rowId xmlns:a16="http://schemas.microsoft.com/office/drawing/2014/main" val="706763452"/>
                  </a:ext>
                </a:extLst>
              </a:tr>
            </a:tbl>
          </a:graphicData>
        </a:graphic>
      </p:graphicFrame>
      <p:sp>
        <p:nvSpPr>
          <p:cNvPr id="20" name="ZoneTexte 19">
            <a:extLst>
              <a:ext uri="{FF2B5EF4-FFF2-40B4-BE49-F238E27FC236}">
                <a16:creationId xmlns:a16="http://schemas.microsoft.com/office/drawing/2014/main" id="{5E1598FD-E6DA-4A1F-82C4-8C7C7EAF43DD}"/>
              </a:ext>
            </a:extLst>
          </p:cNvPr>
          <p:cNvSpPr txBox="1"/>
          <p:nvPr/>
        </p:nvSpPr>
        <p:spPr>
          <a:xfrm>
            <a:off x="751074" y="5259173"/>
            <a:ext cx="11018680" cy="1200329"/>
          </a:xfrm>
          <a:prstGeom prst="rect">
            <a:avLst/>
          </a:prstGeom>
          <a:noFill/>
        </p:spPr>
        <p:txBody>
          <a:bodyPr wrap="square">
            <a:spAutoFit/>
          </a:bodyPr>
          <a:lstStyle/>
          <a:p>
            <a:r>
              <a:rPr lang="fr-FR" b="1" dirty="0">
                <a:latin typeface="Aptos" panose="020B0004020202020204" pitchFamily="34" charset="0"/>
              </a:rPr>
              <a:t>Relation entre les deux :</a:t>
            </a:r>
            <a:r>
              <a:rPr lang="fr-FR" dirty="0">
                <a:latin typeface="Aptos" panose="020B0004020202020204" pitchFamily="34" charset="0"/>
              </a:rPr>
              <a:t> La prévision de la demande alimente la quantification. Une fois qu'on a modélisé comment la demande va évoluer sur les 3 prochaines années, on peut quantifier avec beaucoup plus de précision pour chaque période de planification. La quantification sans prévision est une décision aveugle au-delà du prochain cycle d'approvisionnement.</a:t>
            </a:r>
          </a:p>
        </p:txBody>
      </p:sp>
    </p:spTree>
    <p:extLst>
      <p:ext uri="{BB962C8B-B14F-4D97-AF65-F5344CB8AC3E}">
        <p14:creationId xmlns:p14="http://schemas.microsoft.com/office/powerpoint/2010/main" val="190322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Catégorie 1 — Facteurs démographiques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déterminants de la demande pharmaceutique en santé</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60" y="2658075"/>
            <a:ext cx="8139726"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demande pharmaceutique est directement proportionnelle à la taille et à la structure de la population. Toute évolution démographique se traduit mécaniquement par une évolution de la demande.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Facteurs démographiques clés :</a:t>
            </a:r>
          </a:p>
          <a:p>
            <a:pPr marL="800100" lvl="1" indent="-342900">
              <a:buFont typeface="Courier New" panose="02070309020205020404" pitchFamily="49" charset="0"/>
              <a:buChar char="o"/>
            </a:pPr>
            <a:r>
              <a:rPr lang="fr-FR" sz="2000" dirty="0">
                <a:latin typeface="Aptos" panose="020B0004020202020204" pitchFamily="34" charset="0"/>
              </a:rPr>
              <a:t>Croissance de la population totale</a:t>
            </a:r>
          </a:p>
          <a:p>
            <a:pPr marL="800100" lvl="1" indent="-342900">
              <a:buFont typeface="Courier New" panose="02070309020205020404" pitchFamily="49" charset="0"/>
              <a:buChar char="o"/>
            </a:pPr>
            <a:r>
              <a:rPr lang="fr-FR" sz="2000" dirty="0">
                <a:latin typeface="Aptos" panose="020B0004020202020204" pitchFamily="34" charset="0"/>
              </a:rPr>
              <a:t>Évolution de la structure par âge (vieillissement de la population → augmentation des maladies chroniques)</a:t>
            </a:r>
          </a:p>
          <a:p>
            <a:pPr marL="800100" lvl="1" indent="-342900">
              <a:buFont typeface="Courier New" panose="02070309020205020404" pitchFamily="49" charset="0"/>
              <a:buChar char="o"/>
            </a:pPr>
            <a:r>
              <a:rPr lang="fr-FR" sz="2000" dirty="0">
                <a:latin typeface="Aptos" panose="020B0004020202020204" pitchFamily="34" charset="0"/>
              </a:rPr>
              <a:t>Mouvements migratoires (afflux de réfugiés, urbanisation)</a:t>
            </a:r>
          </a:p>
          <a:p>
            <a:pPr marL="800100" lvl="1" indent="-342900">
              <a:buFont typeface="Courier New" panose="02070309020205020404" pitchFamily="49" charset="0"/>
              <a:buChar char="o"/>
            </a:pPr>
            <a:r>
              <a:rPr lang="fr-FR" sz="2000" dirty="0">
                <a:latin typeface="Aptos" panose="020B0004020202020204" pitchFamily="34" charset="0"/>
              </a:rPr>
              <a:t>Évolution du taux de fécondité (impact sur la demande en soins </a:t>
            </a:r>
            <a:r>
              <a:rPr lang="fr-FR" sz="2000" dirty="0" err="1">
                <a:latin typeface="Aptos" panose="020B0004020202020204" pitchFamily="34" charset="0"/>
              </a:rPr>
              <a:t>materno</a:t>
            </a:r>
            <a:r>
              <a:rPr lang="fr-FR" sz="2000" dirty="0">
                <a:latin typeface="Aptos" panose="020B0004020202020204" pitchFamily="34" charset="0"/>
              </a:rPr>
              <a:t>-infantiles)</a:t>
            </a:r>
          </a:p>
        </p:txBody>
      </p:sp>
    </p:spTree>
    <p:extLst>
      <p:ext uri="{BB962C8B-B14F-4D97-AF65-F5344CB8AC3E}">
        <p14:creationId xmlns:p14="http://schemas.microsoft.com/office/powerpoint/2010/main" val="276482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Catégorie 2 — Facteurs épidémiologiques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déterminants de la demande pharmaceutique en santé</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60" y="2658075"/>
            <a:ext cx="8139726"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L'évolution de la charge de morbidité (incidence, prévalence des maladies) détermine directement la demande en médicaments curatifs et préventifs.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Facteurs épidémiologiques clés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Tendance séculaire des maladies infectieuses (paludisme, tuberculose, VIH)</a:t>
            </a:r>
          </a:p>
          <a:p>
            <a:pPr marL="800100" lvl="1" indent="-342900">
              <a:buFont typeface="Courier New" panose="02070309020205020404" pitchFamily="49" charset="0"/>
              <a:buChar char="o"/>
            </a:pPr>
            <a:r>
              <a:rPr lang="fr-FR" sz="2000" dirty="0">
                <a:latin typeface="Aptos" panose="020B0004020202020204" pitchFamily="34" charset="0"/>
              </a:rPr>
              <a:t>Transition épidémiologique (montée des maladies non transmissibles)</a:t>
            </a:r>
          </a:p>
          <a:p>
            <a:pPr marL="800100" lvl="1" indent="-342900">
              <a:buFont typeface="Courier New" panose="02070309020205020404" pitchFamily="49" charset="0"/>
              <a:buChar char="o"/>
            </a:pPr>
            <a:r>
              <a:rPr lang="fr-FR" sz="2000" dirty="0">
                <a:latin typeface="Aptos" panose="020B0004020202020204" pitchFamily="34" charset="0"/>
              </a:rPr>
              <a:t>Émergence de nouvelles pathologies (épidémies, pandémies)</a:t>
            </a:r>
          </a:p>
          <a:p>
            <a:pPr marL="800100" lvl="1" indent="-342900">
              <a:buFont typeface="Courier New" panose="02070309020205020404" pitchFamily="49" charset="0"/>
              <a:buChar char="o"/>
            </a:pPr>
            <a:r>
              <a:rPr lang="fr-FR" sz="2000" dirty="0">
                <a:latin typeface="Aptos" panose="020B0004020202020204" pitchFamily="34" charset="0"/>
              </a:rPr>
              <a:t>Impact des interventions préventives (vaccination, MILD, eau potable)</a:t>
            </a:r>
          </a:p>
        </p:txBody>
      </p:sp>
    </p:spTree>
    <p:extLst>
      <p:ext uri="{BB962C8B-B14F-4D97-AF65-F5344CB8AC3E}">
        <p14:creationId xmlns:p14="http://schemas.microsoft.com/office/powerpoint/2010/main" val="260164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Catégorie 3 — Facteurs programmatiques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déterminants de la demande pharmaceutique en santé</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60" y="2658075"/>
            <a:ext cx="8139726"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Les décisions prises par les programmes de santé ont un impact direct et souvent majeur sur la demande pharmaceutique.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Facteurs programmatiques clés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Extension de la couverture géographique (ouverture de nouveaux sites)</a:t>
            </a:r>
          </a:p>
          <a:p>
            <a:pPr marL="800100" lvl="1" indent="-342900">
              <a:buFont typeface="Courier New" panose="02070309020205020404" pitchFamily="49" charset="0"/>
              <a:buChar char="o"/>
            </a:pPr>
            <a:r>
              <a:rPr lang="fr-FR" sz="2000" dirty="0">
                <a:latin typeface="Aptos" panose="020B0004020202020204" pitchFamily="34" charset="0"/>
              </a:rPr>
              <a:t>Changement de protocole de traitement (nouveau médicament, nouvelle dose)</a:t>
            </a:r>
          </a:p>
          <a:p>
            <a:pPr marL="800100" lvl="1" indent="-342900">
              <a:buFont typeface="Courier New" panose="02070309020205020404" pitchFamily="49" charset="0"/>
              <a:buChar char="o"/>
            </a:pPr>
            <a:r>
              <a:rPr lang="fr-FR" sz="2000" dirty="0">
                <a:latin typeface="Aptos" panose="020B0004020202020204" pitchFamily="34" charset="0"/>
              </a:rPr>
              <a:t>Objectifs d'élimination ou d'éradication d'une maladie</a:t>
            </a:r>
          </a:p>
          <a:p>
            <a:pPr marL="800100" lvl="1" indent="-342900">
              <a:buFont typeface="Courier New" panose="02070309020205020404" pitchFamily="49" charset="0"/>
              <a:buChar char="o"/>
            </a:pPr>
            <a:r>
              <a:rPr lang="fr-FR" sz="2000" dirty="0">
                <a:latin typeface="Aptos" panose="020B0004020202020204" pitchFamily="34" charset="0"/>
              </a:rPr>
              <a:t>Intégration de nouveaux produits dans la liste des médicaments essentiels</a:t>
            </a:r>
          </a:p>
          <a:p>
            <a:pPr marL="800100" lvl="1" indent="-342900">
              <a:buFont typeface="Courier New" panose="02070309020205020404" pitchFamily="49" charset="0"/>
              <a:buChar char="o"/>
            </a:pPr>
            <a:r>
              <a:rPr lang="fr-FR" sz="2000" dirty="0">
                <a:latin typeface="Aptos" panose="020B0004020202020204" pitchFamily="34" charset="0"/>
              </a:rPr>
              <a:t>Campagnes de dépistage ou de traitement de masse</a:t>
            </a:r>
          </a:p>
        </p:txBody>
      </p:sp>
    </p:spTree>
    <p:extLst>
      <p:ext uri="{BB962C8B-B14F-4D97-AF65-F5344CB8AC3E}">
        <p14:creationId xmlns:p14="http://schemas.microsoft.com/office/powerpoint/2010/main" val="169633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Catégorie 4 — Facteurs liés à l'accès aux soins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déterminants de la demande pharmaceutique en santé</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60" y="2658075"/>
            <a:ext cx="8122948"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L'amélioration de l'accès aux soins augmente mécaniquement la demande pharmaceutique, même si l'incidence des maladies reste stable.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Facteurs d'accès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Augmentation du taux d'utilisation des services de santé</a:t>
            </a:r>
          </a:p>
          <a:p>
            <a:pPr marL="800100" lvl="1" indent="-342900">
              <a:buFont typeface="Courier New" panose="02070309020205020404" pitchFamily="49" charset="0"/>
              <a:buChar char="o"/>
            </a:pPr>
            <a:r>
              <a:rPr lang="fr-FR" sz="2000" dirty="0">
                <a:latin typeface="Aptos" panose="020B0004020202020204" pitchFamily="34" charset="0"/>
              </a:rPr>
              <a:t>Réduction des barrières financières (gratuité des soins, assurance maladie)</a:t>
            </a:r>
          </a:p>
          <a:p>
            <a:pPr marL="800100" lvl="1" indent="-342900">
              <a:buFont typeface="Courier New" panose="02070309020205020404" pitchFamily="49" charset="0"/>
              <a:buChar char="o"/>
            </a:pPr>
            <a:r>
              <a:rPr lang="fr-FR" sz="2000" dirty="0">
                <a:latin typeface="Aptos" panose="020B0004020202020204" pitchFamily="34" charset="0"/>
              </a:rPr>
              <a:t>Extension géographique du réseau sanitaire (nouvelles formations sanitaires)</a:t>
            </a:r>
          </a:p>
          <a:p>
            <a:pPr marL="800100" lvl="1" indent="-342900">
              <a:buFont typeface="Courier New" panose="02070309020205020404" pitchFamily="49" charset="0"/>
              <a:buChar char="o"/>
            </a:pPr>
            <a:r>
              <a:rPr lang="fr-FR" sz="2000" dirty="0">
                <a:latin typeface="Aptos" panose="020B0004020202020204" pitchFamily="34" charset="0"/>
              </a:rPr>
              <a:t>Amélioration de la route ou du transport</a:t>
            </a:r>
          </a:p>
          <a:p>
            <a:pPr marL="800100" lvl="1" indent="-342900">
              <a:buFont typeface="Courier New" panose="02070309020205020404" pitchFamily="49" charset="0"/>
              <a:buChar char="o"/>
            </a:pPr>
            <a:r>
              <a:rPr lang="fr-FR" sz="2000" dirty="0">
                <a:latin typeface="Aptos" panose="020B0004020202020204" pitchFamily="34" charset="0"/>
              </a:rPr>
              <a:t>Renforcement des ressources humaines</a:t>
            </a:r>
          </a:p>
        </p:txBody>
      </p:sp>
    </p:spTree>
    <p:extLst>
      <p:ext uri="{BB962C8B-B14F-4D97-AF65-F5344CB8AC3E}">
        <p14:creationId xmlns:p14="http://schemas.microsoft.com/office/powerpoint/2010/main" val="26728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Catégorie 5 — Facteurs conjoncturels et environnementaux</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déterminants de la demande pharmaceutique en santé</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60" y="2658075"/>
            <a:ext cx="8122948" cy="347787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Ces facteurs sont les plus difficiles à anticiper mais peuvent avoir des impacts majeurs sur la demande.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Facteurs conjoncturels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Épidémies et pandémies (choléra, Ebola, COVID-19, méningite)</a:t>
            </a:r>
          </a:p>
          <a:p>
            <a:pPr marL="800100" lvl="1" indent="-342900">
              <a:buFont typeface="Courier New" panose="02070309020205020404" pitchFamily="49" charset="0"/>
              <a:buChar char="o"/>
            </a:pPr>
            <a:r>
              <a:rPr lang="fr-FR" sz="2000" dirty="0">
                <a:latin typeface="Aptos" panose="020B0004020202020204" pitchFamily="34" charset="0"/>
              </a:rPr>
              <a:t>Catastrophes naturelles et déplacements de populations</a:t>
            </a:r>
          </a:p>
          <a:p>
            <a:pPr marL="800100" lvl="1" indent="-342900">
              <a:buFont typeface="Courier New" panose="02070309020205020404" pitchFamily="49" charset="0"/>
              <a:buChar char="o"/>
            </a:pPr>
            <a:r>
              <a:rPr lang="fr-FR" sz="2000" dirty="0">
                <a:latin typeface="Aptos" panose="020B0004020202020204" pitchFamily="34" charset="0"/>
              </a:rPr>
              <a:t>Conflits armés et crises humanitaires</a:t>
            </a:r>
          </a:p>
          <a:p>
            <a:pPr marL="800100" lvl="1" indent="-342900">
              <a:buFont typeface="Courier New" panose="02070309020205020404" pitchFamily="49" charset="0"/>
              <a:buChar char="o"/>
            </a:pPr>
            <a:r>
              <a:rPr lang="fr-FR" sz="2000" dirty="0">
                <a:latin typeface="Aptos" panose="020B0004020202020204" pitchFamily="34" charset="0"/>
              </a:rPr>
              <a:t>Saisonnalité (paludisme en saison des pluies, infections respiratoires en saison sèche)</a:t>
            </a:r>
          </a:p>
          <a:p>
            <a:pPr marL="800100" lvl="1" indent="-342900">
              <a:buFont typeface="Courier New" panose="02070309020205020404" pitchFamily="49" charset="0"/>
              <a:buChar char="o"/>
            </a:pPr>
            <a:r>
              <a:rPr lang="fr-FR" sz="2000" dirty="0">
                <a:latin typeface="Aptos" panose="020B0004020202020204" pitchFamily="34" charset="0"/>
              </a:rPr>
              <a:t>Variations climatiques (inondations, sécheresses affectant la transmission des maladies)</a:t>
            </a:r>
          </a:p>
        </p:txBody>
      </p:sp>
    </p:spTree>
    <p:extLst>
      <p:ext uri="{BB962C8B-B14F-4D97-AF65-F5344CB8AC3E}">
        <p14:creationId xmlns:p14="http://schemas.microsoft.com/office/powerpoint/2010/main" val="378509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Techniques de prévision qualitatives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techniques de prévision</a:t>
            </a:r>
          </a:p>
        </p:txBody>
      </p:sp>
      <p:sp>
        <p:nvSpPr>
          <p:cNvPr id="20" name="ZoneTexte 19">
            <a:extLst>
              <a:ext uri="{FF2B5EF4-FFF2-40B4-BE49-F238E27FC236}">
                <a16:creationId xmlns:a16="http://schemas.microsoft.com/office/drawing/2014/main" id="{5E1598FD-E6DA-4A1F-82C4-8C7C7EAF43DD}"/>
              </a:ext>
            </a:extLst>
          </p:cNvPr>
          <p:cNvSpPr txBox="1"/>
          <p:nvPr/>
        </p:nvSpPr>
        <p:spPr>
          <a:xfrm>
            <a:off x="710659" y="2658075"/>
            <a:ext cx="11142983"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Ces techniques ne reposent pas sur des calculs statistiques mais sur le jugement d'experts. Elles sont utilisées quand les données historiques sont insuffisantes ou quand des changements majeurs rendent le passé peu prédictif du futur.</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Technique 1 — Méthode Delphi </a:t>
            </a:r>
            <a:r>
              <a:rPr lang="fr-FR" sz="2000" dirty="0">
                <a:latin typeface="Aptos" panose="020B0004020202020204" pitchFamily="34" charset="0"/>
              </a:rPr>
              <a:t>: Un groupe d'experts répond de façon anonyme à une série de questionnaires sur l'évolution de la demande. Les réponses sont consolidées et renvoyées aux experts pour révision jusqu'à convergence d'opinions.</a:t>
            </a:r>
          </a:p>
          <a:p>
            <a:pPr marL="342900" indent="-342900">
              <a:buFont typeface="Arial" panose="020B0604020202020204" pitchFamily="34" charset="0"/>
              <a:buChar char="•"/>
            </a:pPr>
            <a:r>
              <a:rPr lang="fr-FR" sz="2000" b="1" dirty="0">
                <a:latin typeface="Aptos" panose="020B0004020202020204" pitchFamily="34" charset="0"/>
              </a:rPr>
              <a:t>Technique 2 — Panel d'experts </a:t>
            </a:r>
            <a:r>
              <a:rPr lang="fr-FR" sz="2000" dirty="0">
                <a:latin typeface="Aptos" panose="020B0004020202020204" pitchFamily="34" charset="0"/>
              </a:rPr>
              <a:t>: Un groupe de cliniciens, épidémiologistes, gestionnaires et pharmaciens se réunit pour estimer l'évolution de la demande sur la base de leur expérience et des informations disponibles.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Utilisation optimale </a:t>
            </a:r>
            <a:r>
              <a:rPr lang="fr-FR" sz="2000" dirty="0">
                <a:latin typeface="Aptos" panose="020B0004020202020204" pitchFamily="34" charset="0"/>
              </a:rPr>
              <a:t>: nouveaux programmes, changements de protocoles, contextes de crise.</a:t>
            </a:r>
          </a:p>
        </p:txBody>
      </p:sp>
    </p:spTree>
    <p:extLst>
      <p:ext uri="{BB962C8B-B14F-4D97-AF65-F5344CB8AC3E}">
        <p14:creationId xmlns:p14="http://schemas.microsoft.com/office/powerpoint/2010/main" val="212115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7" name="ZoneTexte 16">
            <a:extLst>
              <a:ext uri="{FF2B5EF4-FFF2-40B4-BE49-F238E27FC236}">
                <a16:creationId xmlns:a16="http://schemas.microsoft.com/office/drawing/2014/main" id="{BD773BAE-8950-46AC-B1D6-D195A4A1F131}"/>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Techniques de prévision quantitatives</a:t>
            </a:r>
          </a:p>
        </p:txBody>
      </p:sp>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techniques de prévision</a:t>
            </a:r>
          </a:p>
        </p:txBody>
      </p:sp>
      <p:sp>
        <p:nvSpPr>
          <p:cNvPr id="11" name="ZoneTexte 10">
            <a:extLst>
              <a:ext uri="{FF2B5EF4-FFF2-40B4-BE49-F238E27FC236}">
                <a16:creationId xmlns:a16="http://schemas.microsoft.com/office/drawing/2014/main" id="{679080DE-E58E-42D1-B833-18EDA51810A4}"/>
              </a:ext>
            </a:extLst>
          </p:cNvPr>
          <p:cNvSpPr txBox="1"/>
          <p:nvPr/>
        </p:nvSpPr>
        <p:spPr>
          <a:xfrm>
            <a:off x="751074" y="2829753"/>
            <a:ext cx="9928112" cy="1938992"/>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 Moyenne Mobile (Moving </a:t>
            </a:r>
            <a:r>
              <a:rPr lang="fr-FR" sz="2000" dirty="0" err="1">
                <a:latin typeface="Aptos" panose="020B0004020202020204" pitchFamily="34" charset="0"/>
              </a:rPr>
              <a:t>average</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 Semi-Moyennes (Semi-</a:t>
            </a:r>
            <a:r>
              <a:rPr lang="fr-FR" sz="2000" dirty="0" err="1">
                <a:latin typeface="Aptos" panose="020B0004020202020204" pitchFamily="34" charset="0"/>
              </a:rPr>
              <a:t>averages</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 Régression </a:t>
            </a:r>
            <a:r>
              <a:rPr lang="fr-FR" sz="2000" dirty="0" err="1">
                <a:latin typeface="Aptos" panose="020B0004020202020204" pitchFamily="34" charset="0"/>
              </a:rPr>
              <a:t>lineaire</a:t>
            </a:r>
            <a:r>
              <a:rPr lang="fr-FR" sz="2000" dirty="0">
                <a:latin typeface="Aptos" panose="020B0004020202020204" pitchFamily="34" charset="0"/>
              </a:rPr>
              <a:t> (</a:t>
            </a:r>
            <a:r>
              <a:rPr lang="fr-FR" sz="2000" dirty="0" err="1">
                <a:latin typeface="Aptos" panose="020B0004020202020204" pitchFamily="34" charset="0"/>
              </a:rPr>
              <a:t>Linear</a:t>
            </a:r>
            <a:r>
              <a:rPr lang="fr-FR" sz="2000" dirty="0">
                <a:latin typeface="Aptos" panose="020B0004020202020204" pitchFamily="34" charset="0"/>
              </a:rPr>
              <a:t> </a:t>
            </a:r>
            <a:r>
              <a:rPr lang="fr-FR" sz="2000" dirty="0" err="1">
                <a:latin typeface="Aptos" panose="020B0004020202020204" pitchFamily="34" charset="0"/>
              </a:rPr>
              <a:t>regression</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 Lissage Exponentiel Triple [Triple </a:t>
            </a:r>
            <a:r>
              <a:rPr lang="fr-FR" sz="2000" dirty="0" err="1">
                <a:latin typeface="Aptos" panose="020B0004020202020204" pitchFamily="34" charset="0"/>
              </a:rPr>
              <a:t>exponential</a:t>
            </a:r>
            <a:r>
              <a:rPr lang="fr-FR" sz="2000" dirty="0">
                <a:latin typeface="Aptos" panose="020B0004020202020204" pitchFamily="34" charset="0"/>
              </a:rPr>
              <a:t> </a:t>
            </a:r>
            <a:r>
              <a:rPr lang="fr-FR" sz="2000" dirty="0" err="1">
                <a:latin typeface="Aptos" panose="020B0004020202020204" pitchFamily="34" charset="0"/>
              </a:rPr>
              <a:t>smoothing</a:t>
            </a:r>
            <a:r>
              <a:rPr lang="fr-FR" sz="2000" dirty="0">
                <a:latin typeface="Aptos" panose="020B0004020202020204" pitchFamily="34" charset="0"/>
              </a:rPr>
              <a:t> (TES, Holt-Winter)]</a:t>
            </a:r>
          </a:p>
          <a:p>
            <a:pPr marL="800100" lvl="1" indent="-342900">
              <a:buFont typeface="Arial" panose="020B0604020202020204" pitchFamily="34" charset="0"/>
              <a:buChar char="•"/>
            </a:pPr>
            <a:r>
              <a:rPr lang="fr-FR" sz="2000" dirty="0">
                <a:latin typeface="Aptos" panose="020B0004020202020204" pitchFamily="34" charset="0"/>
              </a:rPr>
              <a:t> Moyenne Mobile intégrée </a:t>
            </a:r>
            <a:r>
              <a:rPr lang="fr-FR" sz="2000" dirty="0" err="1">
                <a:latin typeface="Aptos" panose="020B0004020202020204" pitchFamily="34" charset="0"/>
              </a:rPr>
              <a:t>autoregressive</a:t>
            </a:r>
            <a:r>
              <a:rPr lang="fr-FR" sz="2000" dirty="0">
                <a:latin typeface="Aptos" panose="020B0004020202020204" pitchFamily="34" charset="0"/>
              </a:rPr>
              <a:t> [Auto-</a:t>
            </a:r>
            <a:r>
              <a:rPr lang="fr-FR" sz="2000" dirty="0" err="1">
                <a:latin typeface="Aptos" panose="020B0004020202020204" pitchFamily="34" charset="0"/>
              </a:rPr>
              <a:t>Regressive</a:t>
            </a:r>
            <a:r>
              <a:rPr lang="fr-FR" sz="2000" dirty="0">
                <a:latin typeface="Aptos" panose="020B0004020202020204" pitchFamily="34" charset="0"/>
              </a:rPr>
              <a:t> Integrated Moving </a:t>
            </a:r>
            <a:r>
              <a:rPr lang="fr-FR" sz="2000" dirty="0" err="1">
                <a:latin typeface="Aptos" panose="020B0004020202020204" pitchFamily="34" charset="0"/>
              </a:rPr>
              <a:t>Average</a:t>
            </a:r>
            <a:r>
              <a:rPr lang="fr-FR" sz="2000" dirty="0">
                <a:latin typeface="Aptos" panose="020B0004020202020204" pitchFamily="34" charset="0"/>
              </a:rPr>
              <a:t> (ARIMA)]</a:t>
            </a:r>
          </a:p>
        </p:txBody>
      </p:sp>
    </p:spTree>
    <p:extLst>
      <p:ext uri="{BB962C8B-B14F-4D97-AF65-F5344CB8AC3E}">
        <p14:creationId xmlns:p14="http://schemas.microsoft.com/office/powerpoint/2010/main" val="346558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Mesure de la précision des prévisions</a:t>
            </a:r>
          </a:p>
        </p:txBody>
      </p:sp>
      <p:sp>
        <p:nvSpPr>
          <p:cNvPr id="11" name="ZoneTexte 10">
            <a:extLst>
              <a:ext uri="{FF2B5EF4-FFF2-40B4-BE49-F238E27FC236}">
                <a16:creationId xmlns:a16="http://schemas.microsoft.com/office/drawing/2014/main" id="{679080DE-E58E-42D1-B833-18EDA51810A4}"/>
              </a:ext>
            </a:extLst>
          </p:cNvPr>
          <p:cNvSpPr txBox="1"/>
          <p:nvPr/>
        </p:nvSpPr>
        <p:spPr>
          <a:xfrm>
            <a:off x="753042" y="2290612"/>
            <a:ext cx="9928112" cy="1631216"/>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L'Erreur Absolue Moyenne (EAM)</a:t>
            </a:r>
          </a:p>
          <a:p>
            <a:pPr marL="1257300" lvl="2" indent="-342900">
              <a:buFont typeface="Courier New" panose="02070309020205020404" pitchFamily="49" charset="0"/>
              <a:buChar char="o"/>
            </a:pPr>
            <a:r>
              <a:rPr lang="fr-FR" sz="2000" dirty="0">
                <a:latin typeface="Aptos" panose="020B0004020202020204" pitchFamily="34" charset="0"/>
              </a:rPr>
              <a:t>EAM = Σ |Réel − Prévu| ÷ N</a:t>
            </a:r>
          </a:p>
          <a:p>
            <a:pPr marL="1257300" lvl="2" indent="-342900">
              <a:buFont typeface="Courier New" panose="02070309020205020404" pitchFamily="49" charset="0"/>
              <a:buChar char="o"/>
            </a:pPr>
            <a:endParaRPr lang="fr-FR" sz="2000" dirty="0">
              <a:latin typeface="Aptos" panose="020B0004020202020204" pitchFamily="34" charset="0"/>
            </a:endParaRPr>
          </a:p>
          <a:p>
            <a:pPr marL="800100" lvl="1" indent="-342900">
              <a:buFont typeface="Arial" panose="020B0604020202020204" pitchFamily="34" charset="0"/>
              <a:buChar char="•"/>
            </a:pPr>
            <a:r>
              <a:rPr lang="fr-FR" sz="2000" b="1" dirty="0">
                <a:latin typeface="Aptos" panose="020B0004020202020204" pitchFamily="34" charset="0"/>
              </a:rPr>
              <a:t>Le Taux d'Erreur Absolue Moyen (MAPE)</a:t>
            </a:r>
          </a:p>
          <a:p>
            <a:pPr marL="1257300" lvl="2" indent="-342900">
              <a:buFont typeface="Courier New" panose="02070309020205020404" pitchFamily="49" charset="0"/>
              <a:buChar char="o"/>
            </a:pPr>
            <a:r>
              <a:rPr lang="fr-FR" sz="2000" dirty="0">
                <a:latin typeface="Aptos" panose="020B0004020202020204" pitchFamily="34" charset="0"/>
              </a:rPr>
              <a:t>MAPE = Σ (|Réel − Prévu| ÷ Réel) × 100 ÷ N</a:t>
            </a:r>
          </a:p>
        </p:txBody>
      </p:sp>
    </p:spTree>
    <p:extLst>
      <p:ext uri="{BB962C8B-B14F-4D97-AF65-F5344CB8AC3E}">
        <p14:creationId xmlns:p14="http://schemas.microsoft.com/office/powerpoint/2010/main" val="138536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gestion de l'incertitude dans les prévisions</a:t>
            </a:r>
          </a:p>
        </p:txBody>
      </p:sp>
      <p:sp>
        <p:nvSpPr>
          <p:cNvPr id="10" name="ZoneTexte 9">
            <a:extLst>
              <a:ext uri="{FF2B5EF4-FFF2-40B4-BE49-F238E27FC236}">
                <a16:creationId xmlns:a16="http://schemas.microsoft.com/office/drawing/2014/main" id="{BA0B0929-065A-448D-9EEF-5EE1112E4D49}"/>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Scénarios de prévision</a:t>
            </a:r>
          </a:p>
        </p:txBody>
      </p:sp>
      <p:sp>
        <p:nvSpPr>
          <p:cNvPr id="13" name="ZoneTexte 12">
            <a:extLst>
              <a:ext uri="{FF2B5EF4-FFF2-40B4-BE49-F238E27FC236}">
                <a16:creationId xmlns:a16="http://schemas.microsoft.com/office/drawing/2014/main" id="{5F1DFE7B-3ED6-439B-95C6-C779B051120A}"/>
              </a:ext>
            </a:extLst>
          </p:cNvPr>
          <p:cNvSpPr txBox="1"/>
          <p:nvPr/>
        </p:nvSpPr>
        <p:spPr>
          <a:xfrm>
            <a:off x="751074" y="2710867"/>
            <a:ext cx="9928112" cy="1323439"/>
          </a:xfrm>
          <a:prstGeom prst="rect">
            <a:avLst/>
          </a:prstGeom>
          <a:noFill/>
        </p:spPr>
        <p:txBody>
          <a:bodyPr wrap="square">
            <a:spAutoFit/>
          </a:bodyPr>
          <a:lstStyle/>
          <a:p>
            <a:pPr lvl="1"/>
            <a:r>
              <a:rPr lang="fr-FR" sz="2000" dirty="0">
                <a:latin typeface="Aptos" panose="020B0004020202020204" pitchFamily="34" charset="0"/>
              </a:rPr>
              <a:t>La méthode des scénarios consiste à construire plusieurs projections correspondant à des hypothèses différentes sur l'évolution des facteurs clés.</a:t>
            </a:r>
          </a:p>
          <a:p>
            <a:pPr marL="800100" lvl="1" indent="-342900">
              <a:buFont typeface="Arial" panose="020B0604020202020204" pitchFamily="34" charset="0"/>
              <a:buChar char="•"/>
            </a:pPr>
            <a:endParaRPr lang="fr-FR" sz="2000" dirty="0">
              <a:latin typeface="Aptos" panose="020B0004020202020204" pitchFamily="34" charset="0"/>
            </a:endParaRPr>
          </a:p>
          <a:p>
            <a:pPr lvl="1"/>
            <a:r>
              <a:rPr lang="fr-FR" sz="2000" b="1" dirty="0">
                <a:latin typeface="Aptos" panose="020B0004020202020204" pitchFamily="34" charset="0"/>
              </a:rPr>
              <a:t>Exemple chiffré — Trois scénarios pour la demande en ACT en 2025 :</a:t>
            </a:r>
          </a:p>
        </p:txBody>
      </p:sp>
      <p:graphicFrame>
        <p:nvGraphicFramePr>
          <p:cNvPr id="2" name="Tableau 1">
            <a:extLst>
              <a:ext uri="{FF2B5EF4-FFF2-40B4-BE49-F238E27FC236}">
                <a16:creationId xmlns:a16="http://schemas.microsoft.com/office/drawing/2014/main" id="{2D332F28-6C7E-4069-8CC8-C3594DFD7BC4}"/>
              </a:ext>
            </a:extLst>
          </p:cNvPr>
          <p:cNvGraphicFramePr>
            <a:graphicFrameLocks noGrp="1"/>
          </p:cNvGraphicFramePr>
          <p:nvPr>
            <p:extLst>
              <p:ext uri="{D42A27DB-BD31-4B8C-83A1-F6EECF244321}">
                <p14:modId xmlns:p14="http://schemas.microsoft.com/office/powerpoint/2010/main" val="1885482003"/>
              </p:ext>
            </p:extLst>
          </p:nvPr>
        </p:nvGraphicFramePr>
        <p:xfrm>
          <a:off x="1203276" y="4087098"/>
          <a:ext cx="7512886" cy="2133600"/>
        </p:xfrm>
        <a:graphic>
          <a:graphicData uri="http://schemas.openxmlformats.org/drawingml/2006/table">
            <a:tbl>
              <a:tblPr/>
              <a:tblGrid>
                <a:gridCol w="2252988">
                  <a:extLst>
                    <a:ext uri="{9D8B030D-6E8A-4147-A177-3AD203B41FA5}">
                      <a16:colId xmlns:a16="http://schemas.microsoft.com/office/drawing/2014/main" val="2718709189"/>
                    </a:ext>
                  </a:extLst>
                </a:gridCol>
                <a:gridCol w="1912690">
                  <a:extLst>
                    <a:ext uri="{9D8B030D-6E8A-4147-A177-3AD203B41FA5}">
                      <a16:colId xmlns:a16="http://schemas.microsoft.com/office/drawing/2014/main" val="1416201639"/>
                    </a:ext>
                  </a:extLst>
                </a:gridCol>
                <a:gridCol w="1610686">
                  <a:extLst>
                    <a:ext uri="{9D8B030D-6E8A-4147-A177-3AD203B41FA5}">
                      <a16:colId xmlns:a16="http://schemas.microsoft.com/office/drawing/2014/main" val="151438494"/>
                    </a:ext>
                  </a:extLst>
                </a:gridCol>
                <a:gridCol w="1736522">
                  <a:extLst>
                    <a:ext uri="{9D8B030D-6E8A-4147-A177-3AD203B41FA5}">
                      <a16:colId xmlns:a16="http://schemas.microsoft.com/office/drawing/2014/main" val="2438875426"/>
                    </a:ext>
                  </a:extLst>
                </a:gridCol>
              </a:tblGrid>
              <a:tr h="0">
                <a:tc>
                  <a:txBody>
                    <a:bodyPr/>
                    <a:lstStyle/>
                    <a:p>
                      <a:r>
                        <a:rPr lang="fr-FR" sz="1400" b="1" dirty="0">
                          <a:solidFill>
                            <a:schemeClr val="bg1"/>
                          </a:solidFill>
                          <a:latin typeface="Aptos" panose="020B0004020202020204" pitchFamily="34" charset="0"/>
                        </a:rPr>
                        <a:t>Hypothèse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Scénario pessimiste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Scénario central</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Scénario optimiste</a:t>
                      </a:r>
                    </a:p>
                  </a:txBody>
                  <a:tcPr anchor="ctr">
                    <a:lnL>
                      <a:noFill/>
                    </a:lnL>
                    <a:lnR>
                      <a:noFill/>
                    </a:lnR>
                    <a:lnT>
                      <a:noFill/>
                    </a:lnT>
                    <a:lnB>
                      <a:noFill/>
                    </a:lnB>
                    <a:solidFill>
                      <a:srgbClr val="F37504"/>
                    </a:solidFill>
                  </a:tcPr>
                </a:tc>
                <a:extLst>
                  <a:ext uri="{0D108BD9-81ED-4DB2-BD59-A6C34878D82A}">
                    <a16:rowId xmlns:a16="http://schemas.microsoft.com/office/drawing/2014/main" val="2159511521"/>
                  </a:ext>
                </a:extLst>
              </a:tr>
              <a:tr h="0">
                <a:tc>
                  <a:txBody>
                    <a:bodyPr/>
                    <a:lstStyle/>
                    <a:p>
                      <a:r>
                        <a:rPr lang="fr-FR" sz="1400" dirty="0">
                          <a:latin typeface="Aptos" panose="020B0004020202020204" pitchFamily="34" charset="0"/>
                        </a:rPr>
                        <a:t>Croissance population</a:t>
                      </a:r>
                    </a:p>
                  </a:txBody>
                  <a:tcPr anchor="ctr">
                    <a:lnL>
                      <a:noFill/>
                    </a:lnL>
                    <a:lnR>
                      <a:noFill/>
                    </a:lnR>
                    <a:lnT>
                      <a:noFill/>
                    </a:lnT>
                    <a:lnB>
                      <a:noFill/>
                    </a:lnB>
                  </a:tcPr>
                </a:tc>
                <a:tc>
                  <a:txBody>
                    <a:bodyPr/>
                    <a:lstStyle/>
                    <a:p>
                      <a:r>
                        <a:rPr lang="fr-FR" sz="1400">
                          <a:latin typeface="Aptos" panose="020B0004020202020204" pitchFamily="34" charset="0"/>
                        </a:rPr>
                        <a:t>2,8%</a:t>
                      </a:r>
                    </a:p>
                  </a:txBody>
                  <a:tcPr anchor="ctr">
                    <a:lnL>
                      <a:noFill/>
                    </a:lnL>
                    <a:lnR>
                      <a:noFill/>
                    </a:lnR>
                    <a:lnT>
                      <a:noFill/>
                    </a:lnT>
                    <a:lnB>
                      <a:noFill/>
                    </a:lnB>
                  </a:tcPr>
                </a:tc>
                <a:tc>
                  <a:txBody>
                    <a:bodyPr/>
                    <a:lstStyle/>
                    <a:p>
                      <a:r>
                        <a:rPr lang="fr-FR" sz="1400">
                          <a:latin typeface="Aptos" panose="020B0004020202020204" pitchFamily="34" charset="0"/>
                        </a:rPr>
                        <a:t>2,8%</a:t>
                      </a:r>
                    </a:p>
                  </a:txBody>
                  <a:tcPr anchor="ctr">
                    <a:lnL>
                      <a:noFill/>
                    </a:lnL>
                    <a:lnR>
                      <a:noFill/>
                    </a:lnR>
                    <a:lnT>
                      <a:noFill/>
                    </a:lnT>
                    <a:lnB>
                      <a:noFill/>
                    </a:lnB>
                  </a:tcPr>
                </a:tc>
                <a:tc>
                  <a:txBody>
                    <a:bodyPr/>
                    <a:lstStyle/>
                    <a:p>
                      <a:r>
                        <a:rPr lang="fr-FR" sz="1400">
                          <a:latin typeface="Aptos" panose="020B0004020202020204" pitchFamily="34" charset="0"/>
                        </a:rPr>
                        <a:t>2,8%</a:t>
                      </a:r>
                    </a:p>
                  </a:txBody>
                  <a:tcPr anchor="ctr">
                    <a:lnL>
                      <a:noFill/>
                    </a:lnL>
                    <a:lnR>
                      <a:noFill/>
                    </a:lnR>
                    <a:lnT>
                      <a:noFill/>
                    </a:lnT>
                    <a:lnB>
                      <a:noFill/>
                    </a:lnB>
                  </a:tcPr>
                </a:tc>
                <a:extLst>
                  <a:ext uri="{0D108BD9-81ED-4DB2-BD59-A6C34878D82A}">
                    <a16:rowId xmlns:a16="http://schemas.microsoft.com/office/drawing/2014/main" val="1560237849"/>
                  </a:ext>
                </a:extLst>
              </a:tr>
              <a:tr h="0">
                <a:tc>
                  <a:txBody>
                    <a:bodyPr/>
                    <a:lstStyle/>
                    <a:p>
                      <a:r>
                        <a:rPr lang="fr-FR" sz="1400" dirty="0">
                          <a:latin typeface="Aptos" panose="020B0004020202020204" pitchFamily="34" charset="0"/>
                        </a:rPr>
                        <a:t>Couverture MILD</a:t>
                      </a:r>
                    </a:p>
                  </a:txBody>
                  <a:tcPr anchor="ctr">
                    <a:lnL>
                      <a:noFill/>
                    </a:lnL>
                    <a:lnR>
                      <a:noFill/>
                    </a:lnR>
                    <a:lnT>
                      <a:noFill/>
                    </a:lnT>
                    <a:lnB>
                      <a:noFill/>
                    </a:lnB>
                    <a:solidFill>
                      <a:schemeClr val="bg2">
                        <a:lumMod val="90000"/>
                      </a:schemeClr>
                    </a:solidFill>
                  </a:tcPr>
                </a:tc>
                <a:tc>
                  <a:txBody>
                    <a:bodyPr/>
                    <a:lstStyle/>
                    <a:p>
                      <a:r>
                        <a:rPr lang="fr-FR" sz="1400">
                          <a:latin typeface="Aptos" panose="020B0004020202020204" pitchFamily="34" charset="0"/>
                        </a:rPr>
                        <a:t>74% (stable)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82%</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90%</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87580927"/>
                  </a:ext>
                </a:extLst>
              </a:tr>
              <a:tr h="0">
                <a:tc>
                  <a:txBody>
                    <a:bodyPr/>
                    <a:lstStyle/>
                    <a:p>
                      <a:r>
                        <a:rPr lang="fr-FR" sz="1400" dirty="0">
                          <a:latin typeface="Aptos" panose="020B0004020202020204" pitchFamily="34" charset="0"/>
                        </a:rPr>
                        <a:t>Effet MILD sur incidence</a:t>
                      </a:r>
                    </a:p>
                  </a:txBody>
                  <a:tcPr anchor="ctr">
                    <a:lnL>
                      <a:noFill/>
                    </a:lnL>
                    <a:lnR>
                      <a:noFill/>
                    </a:lnR>
                    <a:lnT>
                      <a:noFill/>
                    </a:lnT>
                    <a:lnB>
                      <a:noFill/>
                    </a:lnB>
                  </a:tcPr>
                </a:tc>
                <a:tc>
                  <a:txBody>
                    <a:bodyPr/>
                    <a:lstStyle/>
                    <a:p>
                      <a:r>
                        <a:rPr lang="fr-FR" sz="1400" dirty="0">
                          <a:latin typeface="Aptos" panose="020B0004020202020204" pitchFamily="34" charset="0"/>
                        </a:rPr>
                        <a:t>−6%/10 points</a:t>
                      </a:r>
                    </a:p>
                  </a:txBody>
                  <a:tcPr anchor="ctr">
                    <a:lnL>
                      <a:noFill/>
                    </a:lnL>
                    <a:lnR>
                      <a:noFill/>
                    </a:lnR>
                    <a:lnT>
                      <a:noFill/>
                    </a:lnT>
                    <a:lnB>
                      <a:noFill/>
                    </a:lnB>
                  </a:tcPr>
                </a:tc>
                <a:tc>
                  <a:txBody>
                    <a:bodyPr/>
                    <a:lstStyle/>
                    <a:p>
                      <a:r>
                        <a:rPr lang="fr-FR" sz="1400" dirty="0">
                          <a:latin typeface="Aptos" panose="020B0004020202020204" pitchFamily="34" charset="0"/>
                        </a:rPr>
                        <a:t>−7,5%/10 points</a:t>
                      </a:r>
                    </a:p>
                  </a:txBody>
                  <a:tcPr anchor="ctr">
                    <a:lnL>
                      <a:noFill/>
                    </a:lnL>
                    <a:lnR>
                      <a:noFill/>
                    </a:lnR>
                    <a:lnT>
                      <a:noFill/>
                    </a:lnT>
                    <a:lnB>
                      <a:noFill/>
                    </a:lnB>
                  </a:tcPr>
                </a:tc>
                <a:tc>
                  <a:txBody>
                    <a:bodyPr/>
                    <a:lstStyle/>
                    <a:p>
                      <a:r>
                        <a:rPr lang="fr-FR" sz="1400">
                          <a:latin typeface="Aptos" panose="020B0004020202020204" pitchFamily="34" charset="0"/>
                        </a:rPr>
                        <a:t>−9%/10 points</a:t>
                      </a:r>
                    </a:p>
                  </a:txBody>
                  <a:tcPr anchor="ctr">
                    <a:lnL>
                      <a:noFill/>
                    </a:lnL>
                    <a:lnR>
                      <a:noFill/>
                    </a:lnR>
                    <a:lnT>
                      <a:noFill/>
                    </a:lnT>
                    <a:lnB>
                      <a:noFill/>
                    </a:lnB>
                  </a:tcPr>
                </a:tc>
                <a:extLst>
                  <a:ext uri="{0D108BD9-81ED-4DB2-BD59-A6C34878D82A}">
                    <a16:rowId xmlns:a16="http://schemas.microsoft.com/office/drawing/2014/main" val="510577747"/>
                  </a:ext>
                </a:extLst>
              </a:tr>
              <a:tr h="0">
                <a:tc>
                  <a:txBody>
                    <a:bodyPr/>
                    <a:lstStyle/>
                    <a:p>
                      <a:r>
                        <a:rPr lang="fr-FR" sz="1400" dirty="0">
                          <a:latin typeface="Aptos" panose="020B0004020202020204" pitchFamily="34" charset="0"/>
                        </a:rPr>
                        <a:t>Taux d'utilisation services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58%</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62%</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68%</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568058009"/>
                  </a:ext>
                </a:extLst>
              </a:tr>
              <a:tr h="0">
                <a:tc>
                  <a:txBody>
                    <a:bodyPr/>
                    <a:lstStyle/>
                    <a:p>
                      <a:r>
                        <a:rPr lang="fr-FR" sz="1400">
                          <a:latin typeface="Aptos" panose="020B0004020202020204" pitchFamily="34" charset="0"/>
                        </a:rPr>
                        <a:t>Taux de traitement ACT</a:t>
                      </a:r>
                    </a:p>
                  </a:txBody>
                  <a:tcPr anchor="ctr">
                    <a:lnL>
                      <a:noFill/>
                    </a:lnL>
                    <a:lnR>
                      <a:noFill/>
                    </a:lnR>
                    <a:lnT>
                      <a:noFill/>
                    </a:lnT>
                    <a:lnB>
                      <a:noFill/>
                    </a:lnB>
                  </a:tcPr>
                </a:tc>
                <a:tc>
                  <a:txBody>
                    <a:bodyPr/>
                    <a:lstStyle/>
                    <a:p>
                      <a:r>
                        <a:rPr lang="fr-FR" sz="1400">
                          <a:latin typeface="Aptos" panose="020B0004020202020204" pitchFamily="34" charset="0"/>
                        </a:rPr>
                        <a:t>75%</a:t>
                      </a:r>
                    </a:p>
                  </a:txBody>
                  <a:tcPr anchor="ctr">
                    <a:lnL>
                      <a:noFill/>
                    </a:lnL>
                    <a:lnR>
                      <a:noFill/>
                    </a:lnR>
                    <a:lnT>
                      <a:noFill/>
                    </a:lnT>
                    <a:lnB>
                      <a:noFill/>
                    </a:lnB>
                  </a:tcPr>
                </a:tc>
                <a:tc>
                  <a:txBody>
                    <a:bodyPr/>
                    <a:lstStyle/>
                    <a:p>
                      <a:r>
                        <a:rPr lang="fr-FR" sz="1400">
                          <a:latin typeface="Aptos" panose="020B0004020202020204" pitchFamily="34" charset="0"/>
                        </a:rPr>
                        <a:t>82%</a:t>
                      </a:r>
                    </a:p>
                  </a:txBody>
                  <a:tcPr anchor="ctr">
                    <a:lnL>
                      <a:noFill/>
                    </a:lnL>
                    <a:lnR>
                      <a:noFill/>
                    </a:lnR>
                    <a:lnT>
                      <a:noFill/>
                    </a:lnT>
                    <a:lnB>
                      <a:noFill/>
                    </a:lnB>
                  </a:tcPr>
                </a:tc>
                <a:tc>
                  <a:txBody>
                    <a:bodyPr/>
                    <a:lstStyle/>
                    <a:p>
                      <a:r>
                        <a:rPr lang="fr-FR" sz="1400">
                          <a:latin typeface="Aptos" panose="020B0004020202020204" pitchFamily="34" charset="0"/>
                        </a:rPr>
                        <a:t>88%</a:t>
                      </a:r>
                    </a:p>
                  </a:txBody>
                  <a:tcPr anchor="ctr">
                    <a:lnL>
                      <a:noFill/>
                    </a:lnL>
                    <a:lnR>
                      <a:noFill/>
                    </a:lnR>
                    <a:lnT>
                      <a:noFill/>
                    </a:lnT>
                    <a:lnB>
                      <a:noFill/>
                    </a:lnB>
                  </a:tcPr>
                </a:tc>
                <a:extLst>
                  <a:ext uri="{0D108BD9-81ED-4DB2-BD59-A6C34878D82A}">
                    <a16:rowId xmlns:a16="http://schemas.microsoft.com/office/drawing/2014/main" val="2485200072"/>
                  </a:ext>
                </a:extLst>
              </a:tr>
              <a:tr h="0">
                <a:tc>
                  <a:txBody>
                    <a:bodyPr/>
                    <a:lstStyle/>
                    <a:p>
                      <a:r>
                        <a:rPr lang="fr-FR" sz="1400" b="1" dirty="0">
                          <a:solidFill>
                            <a:schemeClr val="bg1"/>
                          </a:solidFill>
                          <a:latin typeface="Aptos" panose="020B0004020202020204" pitchFamily="34" charset="0"/>
                        </a:rPr>
                        <a:t>Demande projetée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18 200 boîtes</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14 000 boîtes</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10 800 boîtes</a:t>
                      </a:r>
                    </a:p>
                  </a:txBody>
                  <a:tcPr anchor="ctr">
                    <a:lnL>
                      <a:noFill/>
                    </a:lnL>
                    <a:lnR>
                      <a:noFill/>
                    </a:lnR>
                    <a:lnT>
                      <a:noFill/>
                    </a:lnT>
                    <a:lnB>
                      <a:noFill/>
                    </a:lnB>
                    <a:solidFill>
                      <a:srgbClr val="F37504"/>
                    </a:solidFill>
                  </a:tcPr>
                </a:tc>
                <a:extLst>
                  <a:ext uri="{0D108BD9-81ED-4DB2-BD59-A6C34878D82A}">
                    <a16:rowId xmlns:a16="http://schemas.microsoft.com/office/drawing/2014/main" val="1469011945"/>
                  </a:ext>
                </a:extLst>
              </a:tr>
            </a:tbl>
          </a:graphicData>
        </a:graphic>
      </p:graphicFrame>
      <p:sp>
        <p:nvSpPr>
          <p:cNvPr id="15" name="ZoneTexte 14">
            <a:extLst>
              <a:ext uri="{FF2B5EF4-FFF2-40B4-BE49-F238E27FC236}">
                <a16:creationId xmlns:a16="http://schemas.microsoft.com/office/drawing/2014/main" id="{B5317BF2-5D9A-4B94-B860-A3F918D6F033}"/>
              </a:ext>
            </a:extLst>
          </p:cNvPr>
          <p:cNvSpPr txBox="1"/>
          <p:nvPr/>
        </p:nvSpPr>
        <p:spPr>
          <a:xfrm>
            <a:off x="8841996" y="4243510"/>
            <a:ext cx="3229762" cy="2031325"/>
          </a:xfrm>
          <a:prstGeom prst="rect">
            <a:avLst/>
          </a:prstGeom>
          <a:noFill/>
        </p:spPr>
        <p:txBody>
          <a:bodyPr wrap="square">
            <a:spAutoFit/>
          </a:bodyPr>
          <a:lstStyle/>
          <a:p>
            <a:pPr marL="285750" indent="-285750">
              <a:buFont typeface="Arial" panose="020B0604020202020204" pitchFamily="34" charset="0"/>
              <a:buChar char="•"/>
            </a:pPr>
            <a:r>
              <a:rPr lang="fr-FR" sz="1400" dirty="0">
                <a:latin typeface="Aptos" panose="020B0004020202020204" pitchFamily="34" charset="0"/>
              </a:rPr>
              <a:t>Cette information est beaucoup plus utile aux décideurs qu'un simple chiffre de 14 000</a:t>
            </a:r>
          </a:p>
          <a:p>
            <a:pPr marL="285750" indent="-285750">
              <a:buFont typeface="Arial" panose="020B0604020202020204" pitchFamily="34" charset="0"/>
              <a:buChar char="•"/>
            </a:pPr>
            <a:endParaRPr lang="fr-FR" sz="1400" dirty="0">
              <a:latin typeface="Aptos" panose="020B0004020202020204" pitchFamily="34" charset="0"/>
            </a:endParaRPr>
          </a:p>
          <a:p>
            <a:pPr marL="285750" indent="-285750">
              <a:buFont typeface="Arial" panose="020B0604020202020204" pitchFamily="34" charset="0"/>
              <a:buChar char="•"/>
            </a:pPr>
            <a:r>
              <a:rPr lang="fr-FR" sz="1400" dirty="0">
                <a:latin typeface="Aptos" panose="020B0004020202020204" pitchFamily="34" charset="0"/>
              </a:rPr>
              <a:t>Elle leur permet d'évaluer le risque de rupture (si le scénario pessimiste se réalise) et le risque de surstock (si le scénario optimiste se réalise)</a:t>
            </a:r>
          </a:p>
        </p:txBody>
      </p:sp>
    </p:spTree>
    <p:extLst>
      <p:ext uri="{BB962C8B-B14F-4D97-AF65-F5344CB8AC3E}">
        <p14:creationId xmlns:p14="http://schemas.microsoft.com/office/powerpoint/2010/main" val="258268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gestion de l'incertitude dans les prévisions</a:t>
            </a:r>
          </a:p>
        </p:txBody>
      </p:sp>
      <p:sp>
        <p:nvSpPr>
          <p:cNvPr id="10" name="ZoneTexte 9">
            <a:extLst>
              <a:ext uri="{FF2B5EF4-FFF2-40B4-BE49-F238E27FC236}">
                <a16:creationId xmlns:a16="http://schemas.microsoft.com/office/drawing/2014/main" id="{BA0B0929-065A-448D-9EEF-5EE1112E4D49}"/>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 Intervalles de confiance</a:t>
            </a:r>
          </a:p>
        </p:txBody>
      </p:sp>
      <p:sp>
        <p:nvSpPr>
          <p:cNvPr id="13" name="ZoneTexte 12">
            <a:extLst>
              <a:ext uri="{FF2B5EF4-FFF2-40B4-BE49-F238E27FC236}">
                <a16:creationId xmlns:a16="http://schemas.microsoft.com/office/drawing/2014/main" id="{5F1DFE7B-3ED6-439B-95C6-C779B051120A}"/>
              </a:ext>
            </a:extLst>
          </p:cNvPr>
          <p:cNvSpPr txBox="1"/>
          <p:nvPr/>
        </p:nvSpPr>
        <p:spPr>
          <a:xfrm>
            <a:off x="751074" y="2710867"/>
            <a:ext cx="11102569" cy="3785652"/>
          </a:xfrm>
          <a:prstGeom prst="rect">
            <a:avLst/>
          </a:prstGeom>
          <a:noFill/>
        </p:spPr>
        <p:txBody>
          <a:bodyPr wrap="square">
            <a:spAutoFit/>
          </a:bodyPr>
          <a:lstStyle/>
          <a:p>
            <a:pPr lvl="1"/>
            <a:r>
              <a:rPr lang="fr-FR" sz="2000" dirty="0">
                <a:latin typeface="Aptos" panose="020B0004020202020204" pitchFamily="34" charset="0"/>
              </a:rPr>
              <a:t>Pour les prévisions basées sur des techniques statistiques (régression, lissage exponentiel), un intervalle de confiance peut être calculé pour quantifier l'incertitude.</a:t>
            </a:r>
          </a:p>
          <a:p>
            <a:pPr lvl="1"/>
            <a:endParaRPr lang="fr-FR" sz="2000" dirty="0">
              <a:latin typeface="Aptos" panose="020B0004020202020204" pitchFamily="34" charset="0"/>
            </a:endParaRPr>
          </a:p>
          <a:p>
            <a:pPr lvl="1"/>
            <a:r>
              <a:rPr lang="fr-FR" b="1" dirty="0">
                <a:latin typeface="Aptos" panose="020B0004020202020204" pitchFamily="34" charset="0"/>
              </a:rPr>
              <a:t>Exemple chiffré :</a:t>
            </a:r>
          </a:p>
          <a:p>
            <a:pPr lvl="1"/>
            <a:r>
              <a:rPr lang="fr-FR" dirty="0">
                <a:latin typeface="Aptos" panose="020B0004020202020204" pitchFamily="34" charset="0"/>
              </a:rPr>
              <a:t>La régression linéaire prédit 22 250 boîtes pour 2025. L'écart-type des résidus de la régression est de 520 boîtes. Intervalle de confiance à 95% :</a:t>
            </a:r>
          </a:p>
          <a:p>
            <a:pPr lvl="1"/>
            <a:endParaRPr lang="fr-FR" dirty="0">
              <a:latin typeface="Aptos" panose="020B0004020202020204" pitchFamily="34" charset="0"/>
            </a:endParaRPr>
          </a:p>
          <a:p>
            <a:pPr lvl="1"/>
            <a:r>
              <a:rPr lang="fr-FR" b="1" dirty="0">
                <a:latin typeface="Aptos" panose="020B0004020202020204" pitchFamily="34" charset="0"/>
              </a:rPr>
              <a:t>Borne inférieure</a:t>
            </a:r>
            <a:r>
              <a:rPr lang="fr-FR" dirty="0">
                <a:latin typeface="Aptos" panose="020B0004020202020204" pitchFamily="34" charset="0"/>
              </a:rPr>
              <a:t> = 22 250 − 1,96 × 520 = 21 230 boîtes</a:t>
            </a:r>
          </a:p>
          <a:p>
            <a:pPr lvl="1"/>
            <a:r>
              <a:rPr lang="fr-FR" b="1" dirty="0">
                <a:latin typeface="Aptos" panose="020B0004020202020204" pitchFamily="34" charset="0"/>
              </a:rPr>
              <a:t>Borne supérieure </a:t>
            </a:r>
            <a:r>
              <a:rPr lang="fr-FR" dirty="0">
                <a:latin typeface="Aptos" panose="020B0004020202020204" pitchFamily="34" charset="0"/>
              </a:rPr>
              <a:t>= 22 250 + 1,96 × 520 = 23 270 boîtes </a:t>
            </a:r>
          </a:p>
          <a:p>
            <a:pPr lvl="1"/>
            <a:endParaRPr lang="fr-FR" dirty="0">
              <a:latin typeface="Aptos" panose="020B0004020202020204" pitchFamily="34" charset="0"/>
            </a:endParaRPr>
          </a:p>
          <a:p>
            <a:pPr lvl="1"/>
            <a:r>
              <a:rPr lang="fr-FR" dirty="0">
                <a:latin typeface="Aptos" panose="020B0004020202020204" pitchFamily="34" charset="0"/>
              </a:rPr>
              <a:t>La prévision centrale est de 22 250 boîtes, avec 95% de probabilité que la demande réelle se situe entre 21 230 et 23 270 boîtes. Cette fourchette permet de calculer le stock de sécurité nécessaire pour couvrir l'incertitude de prévision.</a:t>
            </a:r>
            <a:endParaRPr lang="fr-FR" b="1" dirty="0">
              <a:latin typeface="Aptos" panose="020B0004020202020204" pitchFamily="34" charset="0"/>
            </a:endParaRPr>
          </a:p>
        </p:txBody>
      </p:sp>
    </p:spTree>
    <p:extLst>
      <p:ext uri="{BB962C8B-B14F-4D97-AF65-F5344CB8AC3E}">
        <p14:creationId xmlns:p14="http://schemas.microsoft.com/office/powerpoint/2010/main" val="2697319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Principes de la prévision de la demande en santé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9" name="Rectangle : coins arrondis 18">
            <a:extLst>
              <a:ext uri="{FF2B5EF4-FFF2-40B4-BE49-F238E27FC236}">
                <a16:creationId xmlns:a16="http://schemas.microsoft.com/office/drawing/2014/main" id="{2D299206-1B3C-46FC-953E-D2AB19F0AD0D}"/>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cycle de prévision — De l'analyse à la décision</a:t>
            </a:r>
          </a:p>
        </p:txBody>
      </p:sp>
      <p:sp>
        <p:nvSpPr>
          <p:cNvPr id="11" name="ZoneTexte 10">
            <a:extLst>
              <a:ext uri="{FF2B5EF4-FFF2-40B4-BE49-F238E27FC236}">
                <a16:creationId xmlns:a16="http://schemas.microsoft.com/office/drawing/2014/main" id="{024E1683-F61D-49CE-94B5-611DC366653D}"/>
              </a:ext>
            </a:extLst>
          </p:cNvPr>
          <p:cNvSpPr txBox="1"/>
          <p:nvPr/>
        </p:nvSpPr>
        <p:spPr>
          <a:xfrm>
            <a:off x="2522727" y="2020612"/>
            <a:ext cx="9082918" cy="4478149"/>
          </a:xfrm>
          <a:prstGeom prst="rect">
            <a:avLst/>
          </a:prstGeom>
          <a:noFill/>
        </p:spPr>
        <p:txBody>
          <a:bodyPr wrap="square">
            <a:spAutoFit/>
          </a:bodyPr>
          <a:lstStyle/>
          <a:p>
            <a:r>
              <a:rPr lang="fr-FR" sz="1900" dirty="0">
                <a:latin typeface="Aptos" panose="020B0004020202020204" pitchFamily="34" charset="0"/>
              </a:rPr>
              <a:t>Collecte des données (mensuelle)</a:t>
            </a:r>
          </a:p>
          <a:p>
            <a:r>
              <a:rPr lang="fr-FR" sz="1900" dirty="0">
                <a:latin typeface="Aptos" panose="020B0004020202020204" pitchFamily="34" charset="0"/>
              </a:rPr>
              <a:t>       </a:t>
            </a:r>
            <a:r>
              <a:rPr lang="fr-FR" sz="1900" b="1" dirty="0">
                <a:latin typeface="Aptos" panose="020B0004020202020204" pitchFamily="34" charset="0"/>
              </a:rPr>
              <a:t> ↓</a:t>
            </a:r>
          </a:p>
          <a:p>
            <a:r>
              <a:rPr lang="fr-FR" sz="1900" dirty="0">
                <a:latin typeface="Aptos" panose="020B0004020202020204" pitchFamily="34" charset="0"/>
              </a:rPr>
              <a:t>Analyse des écarts entre prévisions et réel (mensuelle)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Mise à jour du modèle de prévision (trimestrielle)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Révision des prévisions à 12 mois (trimestrielle)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Révision des prévisions à 3-5 ans (annuelle)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Validation par les programmes et les décideurs (annuelle)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Utilisation dans la quantification et la planification budgétaire (annuelle)</a:t>
            </a:r>
          </a:p>
          <a:p>
            <a:r>
              <a:rPr lang="fr-FR" sz="1900" dirty="0">
                <a:latin typeface="Aptos" panose="020B0004020202020204" pitchFamily="34" charset="0"/>
              </a:rPr>
              <a:t>        </a:t>
            </a:r>
            <a:r>
              <a:rPr lang="fr-FR" sz="1900" b="1" dirty="0">
                <a:latin typeface="Aptos" panose="020B0004020202020204" pitchFamily="34" charset="0"/>
              </a:rPr>
              <a:t>↓</a:t>
            </a:r>
          </a:p>
          <a:p>
            <a:r>
              <a:rPr lang="fr-FR" sz="1900" dirty="0">
                <a:latin typeface="Aptos" panose="020B0004020202020204" pitchFamily="34" charset="0"/>
              </a:rPr>
              <a:t>Collecte des données (mensuelle) → recommencer</a:t>
            </a:r>
          </a:p>
        </p:txBody>
      </p:sp>
    </p:spTree>
    <p:extLst>
      <p:ext uri="{BB962C8B-B14F-4D97-AF65-F5344CB8AC3E}">
        <p14:creationId xmlns:p14="http://schemas.microsoft.com/office/powerpoint/2010/main" val="336150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ZoneTexte 12">
            <a:extLst>
              <a:ext uri="{FF2B5EF4-FFF2-40B4-BE49-F238E27FC236}">
                <a16:creationId xmlns:a16="http://schemas.microsoft.com/office/drawing/2014/main" id="{9CA5A7EA-DAC1-4097-AAD4-DCE30C70FAE4}"/>
              </a:ext>
            </a:extLst>
          </p:cNvPr>
          <p:cNvSpPr txBox="1"/>
          <p:nvPr/>
        </p:nvSpPr>
        <p:spPr>
          <a:xfrm>
            <a:off x="753042" y="1536174"/>
            <a:ext cx="6436323" cy="440120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Les outils logiciels spécialisés en quantification pharmaceutique ont été développés pour répondre aux limites des tableurs Excel dans les exercices de quantification complexes : </a:t>
            </a:r>
          </a:p>
          <a:p>
            <a:pPr marL="1257300" lvl="2" indent="-342900">
              <a:buFont typeface="Courier New" panose="02070309020205020404" pitchFamily="49" charset="0"/>
              <a:buChar char="o"/>
            </a:pPr>
            <a:r>
              <a:rPr lang="fr-FR" sz="2000" dirty="0">
                <a:latin typeface="Aptos" panose="020B0004020202020204" pitchFamily="34" charset="0"/>
              </a:rPr>
              <a:t>volumes importants de données, </a:t>
            </a:r>
          </a:p>
          <a:p>
            <a:pPr marL="1257300" lvl="2" indent="-342900">
              <a:buFont typeface="Courier New" panose="02070309020205020404" pitchFamily="49" charset="0"/>
              <a:buChar char="o"/>
            </a:pPr>
            <a:r>
              <a:rPr lang="fr-FR" sz="2000" dirty="0">
                <a:latin typeface="Aptos" panose="020B0004020202020204" pitchFamily="34" charset="0"/>
              </a:rPr>
              <a:t>multiples méthodes à appliquer simultanément, </a:t>
            </a:r>
          </a:p>
          <a:p>
            <a:pPr marL="1257300" lvl="2" indent="-342900">
              <a:buFont typeface="Courier New" panose="02070309020205020404" pitchFamily="49" charset="0"/>
              <a:buChar char="o"/>
            </a:pPr>
            <a:r>
              <a:rPr lang="fr-FR" sz="2000" dirty="0">
                <a:latin typeface="Aptos" panose="020B0004020202020204" pitchFamily="34" charset="0"/>
              </a:rPr>
              <a:t>gestion de plusieurs niveaux géographiques, </a:t>
            </a:r>
          </a:p>
          <a:p>
            <a:pPr marL="1257300" lvl="2" indent="-342900">
              <a:buFont typeface="Courier New" panose="02070309020205020404" pitchFamily="49" charset="0"/>
              <a:buChar char="o"/>
            </a:pPr>
            <a:r>
              <a:rPr lang="fr-FR" sz="2000" dirty="0">
                <a:latin typeface="Aptos" panose="020B0004020202020204" pitchFamily="34" charset="0"/>
              </a:rPr>
              <a:t>intégration automatique des paramètres programmatiques, </a:t>
            </a:r>
          </a:p>
          <a:p>
            <a:pPr marL="1257300" lvl="2" indent="-342900">
              <a:buFont typeface="Courier New" panose="02070309020205020404" pitchFamily="49" charset="0"/>
              <a:buChar char="o"/>
            </a:pPr>
            <a:r>
              <a:rPr lang="fr-FR" sz="2000" dirty="0">
                <a:latin typeface="Aptos" panose="020B0004020202020204" pitchFamily="34" charset="0"/>
              </a:rPr>
              <a:t>génération de rapports standardisés. </a:t>
            </a:r>
          </a:p>
          <a:p>
            <a:pPr marL="1257300" lvl="2"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Chacun de ces outils a été conçu pour un contexte ou un type de produit spécifique. </a:t>
            </a:r>
          </a:p>
        </p:txBody>
      </p:sp>
    </p:spTree>
    <p:extLst>
      <p:ext uri="{BB962C8B-B14F-4D97-AF65-F5344CB8AC3E}">
        <p14:creationId xmlns:p14="http://schemas.microsoft.com/office/powerpoint/2010/main" val="344438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ZoneTexte 12">
            <a:extLst>
              <a:ext uri="{FF2B5EF4-FFF2-40B4-BE49-F238E27FC236}">
                <a16:creationId xmlns:a16="http://schemas.microsoft.com/office/drawing/2014/main" id="{9CA5A7EA-DAC1-4097-AAD4-DCE30C70FAE4}"/>
              </a:ext>
            </a:extLst>
          </p:cNvPr>
          <p:cNvSpPr txBox="1"/>
          <p:nvPr/>
        </p:nvSpPr>
        <p:spPr>
          <a:xfrm>
            <a:off x="753042" y="1536174"/>
            <a:ext cx="6209820" cy="440120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Les comprendre, savoir lequel utiliser dans quel contexte et maîtriser leur logique de fonctionnement est une compétence professionnelle essentielle pour tout planificateur en approvisionnement pharmaceutique travaillant dans les programmes de santé publique.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 cours ne vise pas à former des utilisateurs experts de chaque logiciel — cela nécessiterait plusieurs jours de pratique — mais à donner une compréhension claire de la logique, des forces et des limites de chaque outil, de façon à pouvoir choisir le bon outil et en interpréter correctement les résultats.</a:t>
            </a:r>
          </a:p>
        </p:txBody>
      </p:sp>
    </p:spTree>
    <p:extLst>
      <p:ext uri="{BB962C8B-B14F-4D97-AF65-F5344CB8AC3E}">
        <p14:creationId xmlns:p14="http://schemas.microsoft.com/office/powerpoint/2010/main" val="68721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 Vue d'ensemble comparative des quatre outils</a:t>
            </a:r>
          </a:p>
        </p:txBody>
      </p:sp>
      <p:graphicFrame>
        <p:nvGraphicFramePr>
          <p:cNvPr id="3" name="Tableau 2">
            <a:extLst>
              <a:ext uri="{FF2B5EF4-FFF2-40B4-BE49-F238E27FC236}">
                <a16:creationId xmlns:a16="http://schemas.microsoft.com/office/drawing/2014/main" id="{D63583DB-CF41-4FCB-AB50-DF8E4B1E8CA6}"/>
              </a:ext>
            </a:extLst>
          </p:cNvPr>
          <p:cNvGraphicFramePr>
            <a:graphicFrameLocks noGrp="1"/>
          </p:cNvGraphicFramePr>
          <p:nvPr>
            <p:extLst>
              <p:ext uri="{D42A27DB-BD31-4B8C-83A1-F6EECF244321}">
                <p14:modId xmlns:p14="http://schemas.microsoft.com/office/powerpoint/2010/main" val="559208376"/>
              </p:ext>
            </p:extLst>
          </p:nvPr>
        </p:nvGraphicFramePr>
        <p:xfrm>
          <a:off x="753042" y="2101664"/>
          <a:ext cx="11031525" cy="4275782"/>
        </p:xfrm>
        <a:graphic>
          <a:graphicData uri="http://schemas.openxmlformats.org/drawingml/2006/table">
            <a:tbl>
              <a:tblPr/>
              <a:tblGrid>
                <a:gridCol w="1788822">
                  <a:extLst>
                    <a:ext uri="{9D8B030D-6E8A-4147-A177-3AD203B41FA5}">
                      <a16:colId xmlns:a16="http://schemas.microsoft.com/office/drawing/2014/main" val="2855612350"/>
                    </a:ext>
                  </a:extLst>
                </a:gridCol>
                <a:gridCol w="2623788">
                  <a:extLst>
                    <a:ext uri="{9D8B030D-6E8A-4147-A177-3AD203B41FA5}">
                      <a16:colId xmlns:a16="http://schemas.microsoft.com/office/drawing/2014/main" val="3731100712"/>
                    </a:ext>
                  </a:extLst>
                </a:gridCol>
                <a:gridCol w="2206305">
                  <a:extLst>
                    <a:ext uri="{9D8B030D-6E8A-4147-A177-3AD203B41FA5}">
                      <a16:colId xmlns:a16="http://schemas.microsoft.com/office/drawing/2014/main" val="2581208163"/>
                    </a:ext>
                  </a:extLst>
                </a:gridCol>
                <a:gridCol w="2015324">
                  <a:extLst>
                    <a:ext uri="{9D8B030D-6E8A-4147-A177-3AD203B41FA5}">
                      <a16:colId xmlns:a16="http://schemas.microsoft.com/office/drawing/2014/main" val="3846507103"/>
                    </a:ext>
                  </a:extLst>
                </a:gridCol>
                <a:gridCol w="2397286">
                  <a:extLst>
                    <a:ext uri="{9D8B030D-6E8A-4147-A177-3AD203B41FA5}">
                      <a16:colId xmlns:a16="http://schemas.microsoft.com/office/drawing/2014/main" val="3233995709"/>
                    </a:ext>
                  </a:extLst>
                </a:gridCol>
              </a:tblGrid>
              <a:tr h="236545">
                <a:tc>
                  <a:txBody>
                    <a:bodyPr/>
                    <a:lstStyle/>
                    <a:p>
                      <a:r>
                        <a:rPr lang="fr-FR" sz="1200" b="1" dirty="0">
                          <a:solidFill>
                            <a:schemeClr val="bg1"/>
                          </a:solidFill>
                          <a:latin typeface="Aptos" panose="020B0004020202020204" pitchFamily="34" charset="0"/>
                        </a:rPr>
                        <a:t>Critère</a:t>
                      </a:r>
                    </a:p>
                  </a:txBody>
                  <a:tcPr marL="58018" marR="58018" marT="29009" marB="29009"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Quantimed</a:t>
                      </a:r>
                    </a:p>
                  </a:txBody>
                  <a:tcPr marL="58018" marR="58018" marT="29009" marB="29009"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PipeLine</a:t>
                      </a:r>
                    </a:p>
                  </a:txBody>
                  <a:tcPr marL="58018" marR="58018" marT="29009" marB="29009"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ForLAB</a:t>
                      </a:r>
                    </a:p>
                  </a:txBody>
                  <a:tcPr marL="58018" marR="58018" marT="29009" marB="29009"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QAT</a:t>
                      </a:r>
                    </a:p>
                  </a:txBody>
                  <a:tcPr marL="58018" marR="58018" marT="29009" marB="29009" anchor="ctr">
                    <a:lnL>
                      <a:noFill/>
                    </a:lnL>
                    <a:lnR>
                      <a:noFill/>
                    </a:lnR>
                    <a:lnT>
                      <a:noFill/>
                    </a:lnT>
                    <a:lnB>
                      <a:noFill/>
                    </a:lnB>
                    <a:solidFill>
                      <a:srgbClr val="F37504"/>
                    </a:solidFill>
                  </a:tcPr>
                </a:tc>
                <a:extLst>
                  <a:ext uri="{0D108BD9-81ED-4DB2-BD59-A6C34878D82A}">
                    <a16:rowId xmlns:a16="http://schemas.microsoft.com/office/drawing/2014/main" val="3908797068"/>
                  </a:ext>
                </a:extLst>
              </a:tr>
              <a:tr h="236545">
                <a:tc>
                  <a:txBody>
                    <a:bodyPr/>
                    <a:lstStyle/>
                    <a:p>
                      <a:r>
                        <a:rPr lang="fr-FR" sz="1200">
                          <a:latin typeface="Aptos" panose="020B0004020202020204" pitchFamily="34" charset="0"/>
                        </a:rPr>
                        <a:t>Développeur</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USAID/MSH</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USAID/JSI</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CDC/WHO</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USAID/Chemonics</a:t>
                      </a:r>
                    </a:p>
                  </a:txBody>
                  <a:tcPr marL="58018" marR="58018" marT="29009" marB="29009" anchor="ctr">
                    <a:lnL>
                      <a:noFill/>
                    </a:lnL>
                    <a:lnR>
                      <a:noFill/>
                    </a:lnR>
                    <a:lnT>
                      <a:noFill/>
                    </a:lnT>
                    <a:lnB>
                      <a:noFill/>
                    </a:lnB>
                  </a:tcPr>
                </a:tc>
                <a:extLst>
                  <a:ext uri="{0D108BD9-81ED-4DB2-BD59-A6C34878D82A}">
                    <a16:rowId xmlns:a16="http://schemas.microsoft.com/office/drawing/2014/main" val="2989982522"/>
                  </a:ext>
                </a:extLst>
              </a:tr>
              <a:tr h="386096">
                <a:tc>
                  <a:txBody>
                    <a:bodyPr/>
                    <a:lstStyle/>
                    <a:p>
                      <a:r>
                        <a:rPr lang="fr-FR" sz="1200" dirty="0">
                          <a:latin typeface="Aptos" panose="020B0004020202020204" pitchFamily="34" charset="0"/>
                        </a:rPr>
                        <a:t>Année de développement</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Années 1990, actualisé</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Années 2000, actualisé</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Années 2000, actualisé</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2018, outil le plus récent</a:t>
                      </a:r>
                    </a:p>
                  </a:txBody>
                  <a:tcPr marL="58018" marR="58018" marT="29009" marB="29009" anchor="ctr">
                    <a:lnL>
                      <a:noFill/>
                    </a:lnL>
                    <a:lnR>
                      <a:noFill/>
                    </a:lnR>
                    <a:lnT>
                      <a:noFill/>
                    </a:lnT>
                    <a:lnB>
                      <a:noFill/>
                    </a:lnB>
                    <a:solidFill>
                      <a:schemeClr val="bg2">
                        <a:lumMod val="90000"/>
                      </a:schemeClr>
                    </a:solidFill>
                  </a:tcPr>
                </a:tc>
                <a:extLst>
                  <a:ext uri="{0D108BD9-81ED-4DB2-BD59-A6C34878D82A}">
                    <a16:rowId xmlns:a16="http://schemas.microsoft.com/office/drawing/2014/main" val="2627664493"/>
                  </a:ext>
                </a:extLst>
              </a:tr>
              <a:tr h="551565">
                <a:tc>
                  <a:txBody>
                    <a:bodyPr/>
                    <a:lstStyle/>
                    <a:p>
                      <a:r>
                        <a:rPr lang="fr-FR" sz="1200">
                          <a:latin typeface="Aptos" panose="020B0004020202020204" pitchFamily="34" charset="0"/>
                        </a:rPr>
                        <a:t>Produits cibles</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Médicaments essentiels, contraceptifs</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ARV, médicaments VIH</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Réactifs de laboratoire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Tous produits de santé</a:t>
                      </a:r>
                    </a:p>
                  </a:txBody>
                  <a:tcPr marL="58018" marR="58018" marT="29009" marB="29009" anchor="ctr">
                    <a:lnL>
                      <a:noFill/>
                    </a:lnL>
                    <a:lnR>
                      <a:noFill/>
                    </a:lnR>
                    <a:lnT>
                      <a:noFill/>
                    </a:lnT>
                    <a:lnB>
                      <a:noFill/>
                    </a:lnB>
                  </a:tcPr>
                </a:tc>
                <a:extLst>
                  <a:ext uri="{0D108BD9-81ED-4DB2-BD59-A6C34878D82A}">
                    <a16:rowId xmlns:a16="http://schemas.microsoft.com/office/drawing/2014/main" val="2338244194"/>
                  </a:ext>
                </a:extLst>
              </a:tr>
              <a:tr h="551565">
                <a:tc>
                  <a:txBody>
                    <a:bodyPr/>
                    <a:lstStyle/>
                    <a:p>
                      <a:r>
                        <a:rPr lang="fr-FR" sz="1200" dirty="0">
                          <a:latin typeface="Aptos" panose="020B0004020202020204" pitchFamily="34" charset="0"/>
                        </a:rPr>
                        <a:t>Méthodes intégrées</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Consommation, morbidité, population</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Consommation (file active)</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Consommation, tests</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Consommation, morbidité, services</a:t>
                      </a:r>
                    </a:p>
                  </a:txBody>
                  <a:tcPr marL="58018" marR="58018" marT="29009" marB="29009" anchor="ctr">
                    <a:lnL>
                      <a:noFill/>
                    </a:lnL>
                    <a:lnR>
                      <a:noFill/>
                    </a:lnR>
                    <a:lnT>
                      <a:noFill/>
                    </a:lnT>
                    <a:lnB>
                      <a:noFill/>
                    </a:lnB>
                    <a:solidFill>
                      <a:schemeClr val="bg2">
                        <a:lumMod val="90000"/>
                      </a:schemeClr>
                    </a:solidFill>
                  </a:tcPr>
                </a:tc>
                <a:extLst>
                  <a:ext uri="{0D108BD9-81ED-4DB2-BD59-A6C34878D82A}">
                    <a16:rowId xmlns:a16="http://schemas.microsoft.com/office/drawing/2014/main" val="3307936385"/>
                  </a:ext>
                </a:extLst>
              </a:tr>
              <a:tr h="386096">
                <a:tc>
                  <a:txBody>
                    <a:bodyPr/>
                    <a:lstStyle/>
                    <a:p>
                      <a:r>
                        <a:rPr lang="fr-FR" sz="1200">
                          <a:latin typeface="Aptos" panose="020B0004020202020204" pitchFamily="34" charset="0"/>
                        </a:rPr>
                        <a:t>Niveau d'application</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National, district</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National</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National, laboratoire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National, infranational</a:t>
                      </a:r>
                    </a:p>
                  </a:txBody>
                  <a:tcPr marL="58018" marR="58018" marT="29009" marB="29009" anchor="ctr">
                    <a:lnL>
                      <a:noFill/>
                    </a:lnL>
                    <a:lnR>
                      <a:noFill/>
                    </a:lnR>
                    <a:lnT>
                      <a:noFill/>
                    </a:lnT>
                    <a:lnB>
                      <a:noFill/>
                    </a:lnB>
                  </a:tcPr>
                </a:tc>
                <a:extLst>
                  <a:ext uri="{0D108BD9-81ED-4DB2-BD59-A6C34878D82A}">
                    <a16:rowId xmlns:a16="http://schemas.microsoft.com/office/drawing/2014/main" val="3085156440"/>
                  </a:ext>
                </a:extLst>
              </a:tr>
              <a:tr h="236545">
                <a:tc>
                  <a:txBody>
                    <a:bodyPr/>
                    <a:lstStyle/>
                    <a:p>
                      <a:r>
                        <a:rPr lang="fr-FR" sz="1200" dirty="0">
                          <a:latin typeface="Aptos" panose="020B0004020202020204" pitchFamily="34" charset="0"/>
                        </a:rPr>
                        <a:t>Interface</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Desktop (Windows)</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Desktop (Windows)</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Desktop/Web</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Web (navigateur)</a:t>
                      </a:r>
                    </a:p>
                  </a:txBody>
                  <a:tcPr marL="58018" marR="58018" marT="29009" marB="29009" anchor="ctr">
                    <a:lnL>
                      <a:noFill/>
                    </a:lnL>
                    <a:lnR>
                      <a:noFill/>
                    </a:lnR>
                    <a:lnT>
                      <a:noFill/>
                    </a:lnT>
                    <a:lnB>
                      <a:noFill/>
                    </a:lnB>
                    <a:solidFill>
                      <a:schemeClr val="bg2">
                        <a:lumMod val="90000"/>
                      </a:schemeClr>
                    </a:solidFill>
                  </a:tcPr>
                </a:tc>
                <a:extLst>
                  <a:ext uri="{0D108BD9-81ED-4DB2-BD59-A6C34878D82A}">
                    <a16:rowId xmlns:a16="http://schemas.microsoft.com/office/drawing/2014/main" val="3954177002"/>
                  </a:ext>
                </a:extLst>
              </a:tr>
              <a:tr h="386096">
                <a:tc>
                  <a:txBody>
                    <a:bodyPr/>
                    <a:lstStyle/>
                    <a:p>
                      <a:r>
                        <a:rPr lang="fr-FR" sz="1200">
                          <a:latin typeface="Aptos" panose="020B0004020202020204" pitchFamily="34" charset="0"/>
                        </a:rPr>
                        <a:t>Courbe d'apprentissage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Modérée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Modérée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Modérée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Élevée (plus complet)</a:t>
                      </a:r>
                    </a:p>
                  </a:txBody>
                  <a:tcPr marL="58018" marR="58018" marT="29009" marB="29009" anchor="ctr">
                    <a:lnL>
                      <a:noFill/>
                    </a:lnL>
                    <a:lnR>
                      <a:noFill/>
                    </a:lnR>
                    <a:lnT>
                      <a:noFill/>
                    </a:lnT>
                    <a:lnB>
                      <a:noFill/>
                    </a:lnB>
                  </a:tcPr>
                </a:tc>
                <a:extLst>
                  <a:ext uri="{0D108BD9-81ED-4DB2-BD59-A6C34878D82A}">
                    <a16:rowId xmlns:a16="http://schemas.microsoft.com/office/drawing/2014/main" val="3750300666"/>
                  </a:ext>
                </a:extLst>
              </a:tr>
              <a:tr h="236545">
                <a:tc>
                  <a:txBody>
                    <a:bodyPr/>
                    <a:lstStyle/>
                    <a:p>
                      <a:r>
                        <a:rPr lang="fr-FR" sz="1200" dirty="0">
                          <a:latin typeface="Aptos" panose="020B0004020202020204" pitchFamily="34" charset="0"/>
                        </a:rPr>
                        <a:t>Gratuité</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Gratuit</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Gratuit</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Gratuit</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Gratuit</a:t>
                      </a:r>
                    </a:p>
                  </a:txBody>
                  <a:tcPr marL="58018" marR="58018" marT="29009" marB="29009" anchor="ctr">
                    <a:lnL>
                      <a:noFill/>
                    </a:lnL>
                    <a:lnR>
                      <a:noFill/>
                    </a:lnR>
                    <a:lnT>
                      <a:noFill/>
                    </a:lnT>
                    <a:lnB>
                      <a:noFill/>
                    </a:lnB>
                    <a:solidFill>
                      <a:schemeClr val="bg2">
                        <a:lumMod val="90000"/>
                      </a:schemeClr>
                    </a:solidFill>
                  </a:tcPr>
                </a:tc>
                <a:extLst>
                  <a:ext uri="{0D108BD9-81ED-4DB2-BD59-A6C34878D82A}">
                    <a16:rowId xmlns:a16="http://schemas.microsoft.com/office/drawing/2014/main" val="1544424718"/>
                  </a:ext>
                </a:extLst>
              </a:tr>
              <a:tr h="236545">
                <a:tc>
                  <a:txBody>
                    <a:bodyPr/>
                    <a:lstStyle/>
                    <a:p>
                      <a:r>
                        <a:rPr lang="fr-FR" sz="1200">
                          <a:latin typeface="Aptos" panose="020B0004020202020204" pitchFamily="34" charset="0"/>
                        </a:rPr>
                        <a:t>Support technique</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Limité (outil ancien)</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Limité</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Actif (CDC/OMS)</a:t>
                      </a:r>
                    </a:p>
                  </a:txBody>
                  <a:tcPr marL="58018" marR="58018" marT="29009" marB="29009" anchor="ctr">
                    <a:lnL>
                      <a:noFill/>
                    </a:lnL>
                    <a:lnR>
                      <a:noFill/>
                    </a:lnR>
                    <a:lnT>
                      <a:noFill/>
                    </a:lnT>
                    <a:lnB>
                      <a:noFill/>
                    </a:lnB>
                  </a:tcPr>
                </a:tc>
                <a:tc>
                  <a:txBody>
                    <a:bodyPr/>
                    <a:lstStyle/>
                    <a:p>
                      <a:r>
                        <a:rPr lang="fr-FR" sz="1200">
                          <a:latin typeface="Aptos" panose="020B0004020202020204" pitchFamily="34" charset="0"/>
                        </a:rPr>
                        <a:t>Actif (USAID)</a:t>
                      </a:r>
                    </a:p>
                  </a:txBody>
                  <a:tcPr marL="58018" marR="58018" marT="29009" marB="29009" anchor="ctr">
                    <a:lnL>
                      <a:noFill/>
                    </a:lnL>
                    <a:lnR>
                      <a:noFill/>
                    </a:lnR>
                    <a:lnT>
                      <a:noFill/>
                    </a:lnT>
                    <a:lnB>
                      <a:noFill/>
                    </a:lnB>
                  </a:tcPr>
                </a:tc>
                <a:extLst>
                  <a:ext uri="{0D108BD9-81ED-4DB2-BD59-A6C34878D82A}">
                    <a16:rowId xmlns:a16="http://schemas.microsoft.com/office/drawing/2014/main" val="3244457295"/>
                  </a:ext>
                </a:extLst>
              </a:tr>
              <a:tr h="386096">
                <a:tc>
                  <a:txBody>
                    <a:bodyPr/>
                    <a:lstStyle/>
                    <a:p>
                      <a:r>
                        <a:rPr lang="fr-FR" sz="1200" dirty="0">
                          <a:latin typeface="Aptos" panose="020B0004020202020204" pitchFamily="34" charset="0"/>
                        </a:rPr>
                        <a:t>Intégration avec DHIS2</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Partielle</a:t>
                      </a:r>
                    </a:p>
                  </a:txBody>
                  <a:tcPr marL="58018" marR="58018" marT="29009" marB="29009" anchor="ctr">
                    <a:lnL>
                      <a:noFill/>
                    </a:lnL>
                    <a:lnR>
                      <a:noFill/>
                    </a:lnR>
                    <a:lnT>
                      <a:noFill/>
                    </a:lnT>
                    <a:lnB>
                      <a:noFill/>
                    </a:lnB>
                    <a:solidFill>
                      <a:schemeClr val="bg2">
                        <a:lumMod val="90000"/>
                      </a:schemeClr>
                    </a:solidFill>
                  </a:tcPr>
                </a:tc>
                <a:extLst>
                  <a:ext uri="{0D108BD9-81ED-4DB2-BD59-A6C34878D82A}">
                    <a16:rowId xmlns:a16="http://schemas.microsoft.com/office/drawing/2014/main" val="942194168"/>
                  </a:ext>
                </a:extLst>
              </a:tr>
              <a:tr h="386096">
                <a:tc>
                  <a:txBody>
                    <a:bodyPr/>
                    <a:lstStyle/>
                    <a:p>
                      <a:r>
                        <a:rPr lang="fr-FR" sz="1200">
                          <a:latin typeface="Aptos" panose="020B0004020202020204" pitchFamily="34" charset="0"/>
                        </a:rPr>
                        <a:t>Triangulation intégrée</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Non</a:t>
                      </a:r>
                    </a:p>
                  </a:txBody>
                  <a:tcPr marL="58018" marR="58018" marT="29009" marB="29009" anchor="ctr">
                    <a:lnL>
                      <a:noFill/>
                    </a:lnL>
                    <a:lnR>
                      <a:noFill/>
                    </a:lnR>
                    <a:lnT>
                      <a:noFill/>
                    </a:lnT>
                    <a:lnB>
                      <a:noFill/>
                    </a:lnB>
                  </a:tcPr>
                </a:tc>
                <a:tc>
                  <a:txBody>
                    <a:bodyPr/>
                    <a:lstStyle/>
                    <a:p>
                      <a:r>
                        <a:rPr lang="fr-FR" sz="1200" dirty="0">
                          <a:latin typeface="Aptos" panose="020B0004020202020204" pitchFamily="34" charset="0"/>
                        </a:rPr>
                        <a:t>Oui</a:t>
                      </a:r>
                    </a:p>
                  </a:txBody>
                  <a:tcPr marL="58018" marR="58018" marT="29009" marB="29009" anchor="ctr">
                    <a:lnL>
                      <a:noFill/>
                    </a:lnL>
                    <a:lnR>
                      <a:noFill/>
                    </a:lnR>
                    <a:lnT>
                      <a:noFill/>
                    </a:lnT>
                    <a:lnB>
                      <a:noFill/>
                    </a:lnB>
                  </a:tcPr>
                </a:tc>
                <a:extLst>
                  <a:ext uri="{0D108BD9-81ED-4DB2-BD59-A6C34878D82A}">
                    <a16:rowId xmlns:a16="http://schemas.microsoft.com/office/drawing/2014/main" val="494057975"/>
                  </a:ext>
                </a:extLst>
              </a:tr>
            </a:tbl>
          </a:graphicData>
        </a:graphic>
      </p:graphicFrame>
    </p:spTree>
    <p:extLst>
      <p:ext uri="{BB962C8B-B14F-4D97-AF65-F5344CB8AC3E}">
        <p14:creationId xmlns:p14="http://schemas.microsoft.com/office/powerpoint/2010/main" val="383667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Présentation générale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3170099"/>
          </a:xfrm>
          <a:prstGeom prst="rect">
            <a:avLst/>
          </a:prstGeom>
          <a:noFill/>
        </p:spPr>
        <p:txBody>
          <a:bodyPr wrap="square">
            <a:spAutoFit/>
          </a:bodyPr>
          <a:lstStyle/>
          <a:p>
            <a:r>
              <a:rPr lang="fr-FR" sz="2000" dirty="0">
                <a:latin typeface="Aptos" panose="020B0004020202020204" pitchFamily="34" charset="0"/>
              </a:rPr>
              <a:t>Quantimed (Quantification of </a:t>
            </a:r>
            <a:r>
              <a:rPr lang="fr-FR" sz="2000" dirty="0" err="1">
                <a:latin typeface="Aptos" panose="020B0004020202020204" pitchFamily="34" charset="0"/>
              </a:rPr>
              <a:t>Health</a:t>
            </a:r>
            <a:r>
              <a:rPr lang="fr-FR" sz="2000" dirty="0">
                <a:latin typeface="Aptos" panose="020B0004020202020204" pitchFamily="34" charset="0"/>
              </a:rPr>
              <a:t> </a:t>
            </a:r>
            <a:r>
              <a:rPr lang="fr-FR" sz="2000" dirty="0" err="1">
                <a:latin typeface="Aptos" panose="020B0004020202020204" pitchFamily="34" charset="0"/>
              </a:rPr>
              <a:t>Commodities</a:t>
            </a:r>
            <a:r>
              <a:rPr lang="fr-FR" sz="2000" dirty="0">
                <a:latin typeface="Aptos" panose="020B0004020202020204" pitchFamily="34" charset="0"/>
              </a:rPr>
              <a:t>) est l'un des premiers outils informatisés de quantification pharmaceutique développés pour les pays à ressources limitées. Développé par Management Sciences for </a:t>
            </a:r>
            <a:r>
              <a:rPr lang="fr-FR" sz="2000" dirty="0" err="1">
                <a:latin typeface="Aptos" panose="020B0004020202020204" pitchFamily="34" charset="0"/>
              </a:rPr>
              <a:t>Health</a:t>
            </a:r>
            <a:r>
              <a:rPr lang="fr-FR" sz="2000" dirty="0">
                <a:latin typeface="Aptos" panose="020B0004020202020204" pitchFamily="34" charset="0"/>
              </a:rPr>
              <a:t> (MSH) avec le soutien de l'USAID, il a été largement utilisé pendant les années 2000 et 2010 dans les programmes de santé reproductive, de santé maternelle et de médicaments essentiels en Afrique subsaharienne et en Asie.</a:t>
            </a:r>
          </a:p>
          <a:p>
            <a:endParaRPr lang="fr-FR" sz="2000" dirty="0">
              <a:latin typeface="Aptos" panose="020B0004020202020204" pitchFamily="34" charset="0"/>
            </a:endParaRPr>
          </a:p>
          <a:p>
            <a:r>
              <a:rPr lang="fr-FR" sz="2000" b="1" dirty="0">
                <a:latin typeface="Aptos" panose="020B0004020202020204" pitchFamily="34" charset="0"/>
              </a:rPr>
              <a:t>Philosophie de l'outil :</a:t>
            </a:r>
            <a:r>
              <a:rPr lang="fr-FR" sz="2000" dirty="0">
                <a:latin typeface="Aptos" panose="020B0004020202020204" pitchFamily="34" charset="0"/>
              </a:rPr>
              <a:t> Quantimed est construit autour du principe que la meilleure quantification intègre plusieurs méthodes et confronte leurs résultats. Il guide l'utilisateur à travers un processus structuré qui va de la définition des produits à quantifier jusqu'à la génération des rapports finaux.</a:t>
            </a:r>
          </a:p>
        </p:txBody>
      </p:sp>
    </p:spTree>
    <p:extLst>
      <p:ext uri="{BB962C8B-B14F-4D97-AF65-F5344CB8AC3E}">
        <p14:creationId xmlns:p14="http://schemas.microsoft.com/office/powerpoint/2010/main" val="401323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2246769"/>
          </a:xfrm>
          <a:prstGeom prst="rect">
            <a:avLst/>
          </a:prstGeom>
          <a:noFill/>
        </p:spPr>
        <p:txBody>
          <a:bodyPr wrap="square">
            <a:spAutoFit/>
          </a:bodyPr>
          <a:lstStyle/>
          <a:p>
            <a:r>
              <a:rPr lang="fr-FR" sz="2000" dirty="0">
                <a:latin typeface="Aptos" panose="020B0004020202020204" pitchFamily="34" charset="0"/>
              </a:rPr>
              <a:t>Quantimed est organisé en modules successifs qui correspondent aux étapes du processus de quantification.</a:t>
            </a:r>
          </a:p>
          <a:p>
            <a:endParaRPr lang="fr-FR" sz="2000" dirty="0">
              <a:latin typeface="Aptos" panose="020B0004020202020204" pitchFamily="34" charset="0"/>
            </a:endParaRPr>
          </a:p>
          <a:p>
            <a:r>
              <a:rPr lang="fr-FR" sz="2000" b="1" dirty="0">
                <a:latin typeface="Aptos" panose="020B0004020202020204" pitchFamily="34" charset="0"/>
              </a:rPr>
              <a:t>Module 1 — Configuration du programme </a:t>
            </a:r>
            <a:r>
              <a:rPr lang="fr-FR" sz="2000" dirty="0">
                <a:latin typeface="Aptos" panose="020B0004020202020204" pitchFamily="34" charset="0"/>
              </a:rPr>
              <a:t>: </a:t>
            </a:r>
          </a:p>
          <a:p>
            <a:r>
              <a:rPr lang="fr-FR" sz="2000" dirty="0">
                <a:latin typeface="Aptos" panose="020B0004020202020204" pitchFamily="34" charset="0"/>
              </a:rPr>
              <a:t>L'utilisateur définit le cadre de la quantification : pays, région ou district concerné, période de planification, liste des produits à quantifier, liste des sites de prestation de soins.</a:t>
            </a:r>
          </a:p>
          <a:p>
            <a:endParaRPr lang="fr-FR" sz="2000" dirty="0">
              <a:latin typeface="Aptos" panose="020B0004020202020204" pitchFamily="34" charset="0"/>
            </a:endParaRPr>
          </a:p>
        </p:txBody>
      </p:sp>
    </p:spTree>
    <p:extLst>
      <p:ext uri="{BB962C8B-B14F-4D97-AF65-F5344CB8AC3E}">
        <p14:creationId xmlns:p14="http://schemas.microsoft.com/office/powerpoint/2010/main" val="73155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707886"/>
          </a:xfrm>
          <a:prstGeom prst="rect">
            <a:avLst/>
          </a:prstGeom>
          <a:noFill/>
        </p:spPr>
        <p:txBody>
          <a:bodyPr wrap="square">
            <a:spAutoFit/>
          </a:bodyPr>
          <a:lstStyle/>
          <a:p>
            <a:r>
              <a:rPr lang="fr-FR" sz="2000" b="1" dirty="0">
                <a:latin typeface="Aptos" panose="020B0004020202020204" pitchFamily="34" charset="0"/>
              </a:rPr>
              <a:t>Module 2 — Données de consommation </a:t>
            </a:r>
            <a:r>
              <a:rPr lang="fr-FR" sz="2000" dirty="0">
                <a:latin typeface="Aptos" panose="020B0004020202020204" pitchFamily="34" charset="0"/>
              </a:rPr>
              <a:t>: </a:t>
            </a:r>
          </a:p>
          <a:p>
            <a:r>
              <a:rPr lang="fr-FR" sz="2000" dirty="0">
                <a:latin typeface="Aptos" panose="020B0004020202020204" pitchFamily="34" charset="0"/>
              </a:rPr>
              <a:t>Ce module permet la saisie et l'analyse des données de consommation historiques.</a:t>
            </a:r>
          </a:p>
        </p:txBody>
      </p:sp>
      <p:graphicFrame>
        <p:nvGraphicFramePr>
          <p:cNvPr id="2" name="Tableau 1">
            <a:extLst>
              <a:ext uri="{FF2B5EF4-FFF2-40B4-BE49-F238E27FC236}">
                <a16:creationId xmlns:a16="http://schemas.microsoft.com/office/drawing/2014/main" id="{60D34CF6-7E95-4DA5-95B6-E8874150871F}"/>
              </a:ext>
            </a:extLst>
          </p:cNvPr>
          <p:cNvGraphicFramePr>
            <a:graphicFrameLocks noGrp="1"/>
          </p:cNvGraphicFramePr>
          <p:nvPr>
            <p:extLst>
              <p:ext uri="{D42A27DB-BD31-4B8C-83A1-F6EECF244321}">
                <p14:modId xmlns:p14="http://schemas.microsoft.com/office/powerpoint/2010/main" val="3234138145"/>
              </p:ext>
            </p:extLst>
          </p:nvPr>
        </p:nvGraphicFramePr>
        <p:xfrm>
          <a:off x="990000" y="3427762"/>
          <a:ext cx="3827781" cy="3048000"/>
        </p:xfrm>
        <a:graphic>
          <a:graphicData uri="http://schemas.openxmlformats.org/drawingml/2006/table">
            <a:tbl>
              <a:tblPr/>
              <a:tblGrid>
                <a:gridCol w="1409040">
                  <a:extLst>
                    <a:ext uri="{9D8B030D-6E8A-4147-A177-3AD203B41FA5}">
                      <a16:colId xmlns:a16="http://schemas.microsoft.com/office/drawing/2014/main" val="490786509"/>
                    </a:ext>
                  </a:extLst>
                </a:gridCol>
                <a:gridCol w="2418741">
                  <a:extLst>
                    <a:ext uri="{9D8B030D-6E8A-4147-A177-3AD203B41FA5}">
                      <a16:colId xmlns:a16="http://schemas.microsoft.com/office/drawing/2014/main" val="2093323862"/>
                    </a:ext>
                  </a:extLst>
                </a:gridCol>
              </a:tblGrid>
              <a:tr h="0">
                <a:tc>
                  <a:txBody>
                    <a:bodyPr/>
                    <a:lstStyle/>
                    <a:p>
                      <a:r>
                        <a:rPr lang="fr-FR" sz="1400" b="1" dirty="0">
                          <a:solidFill>
                            <a:schemeClr val="bg1"/>
                          </a:solidFill>
                          <a:latin typeface="Aptos" panose="020B0004020202020204" pitchFamily="34" charset="0"/>
                        </a:rPr>
                        <a:t>Champ</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extLst>
                  <a:ext uri="{0D108BD9-81ED-4DB2-BD59-A6C34878D82A}">
                    <a16:rowId xmlns:a16="http://schemas.microsoft.com/office/drawing/2014/main" val="4253768256"/>
                  </a:ext>
                </a:extLst>
              </a:tr>
              <a:tr h="0">
                <a:tc>
                  <a:txBody>
                    <a:bodyPr/>
                    <a:lstStyle/>
                    <a:p>
                      <a:r>
                        <a:rPr lang="fr-FR" sz="1400">
                          <a:latin typeface="Aptos" panose="020B0004020202020204" pitchFamily="34" charset="0"/>
                        </a:rPr>
                        <a:t>Site</a:t>
                      </a:r>
                    </a:p>
                  </a:txBody>
                  <a:tcPr anchor="ctr">
                    <a:lnL>
                      <a:noFill/>
                    </a:lnL>
                    <a:lnR>
                      <a:noFill/>
                    </a:lnR>
                    <a:lnT>
                      <a:noFill/>
                    </a:lnT>
                    <a:lnB>
                      <a:noFill/>
                    </a:lnB>
                  </a:tcPr>
                </a:tc>
                <a:tc>
                  <a:txBody>
                    <a:bodyPr/>
                    <a:lstStyle/>
                    <a:p>
                      <a:r>
                        <a:rPr lang="fr-FR" sz="1400">
                          <a:latin typeface="Aptos" panose="020B0004020202020204" pitchFamily="34" charset="0"/>
                        </a:rPr>
                        <a:t>Formation sanitaire</a:t>
                      </a:r>
                    </a:p>
                  </a:txBody>
                  <a:tcPr anchor="ctr">
                    <a:lnL>
                      <a:noFill/>
                    </a:lnL>
                    <a:lnR>
                      <a:noFill/>
                    </a:lnR>
                    <a:lnT>
                      <a:noFill/>
                    </a:lnT>
                    <a:lnB>
                      <a:noFill/>
                    </a:lnB>
                  </a:tcPr>
                </a:tc>
                <a:extLst>
                  <a:ext uri="{0D108BD9-81ED-4DB2-BD59-A6C34878D82A}">
                    <a16:rowId xmlns:a16="http://schemas.microsoft.com/office/drawing/2014/main" val="2360725648"/>
                  </a:ext>
                </a:extLst>
              </a:tr>
              <a:tr h="0">
                <a:tc>
                  <a:txBody>
                    <a:bodyPr/>
                    <a:lstStyle/>
                    <a:p>
                      <a:r>
                        <a:rPr lang="fr-FR" sz="1400" dirty="0">
                          <a:latin typeface="Aptos" panose="020B0004020202020204" pitchFamily="34" charset="0"/>
                        </a:rPr>
                        <a:t>Produit</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Médicament ou intrant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437409045"/>
                  </a:ext>
                </a:extLst>
              </a:tr>
              <a:tr h="0">
                <a:tc>
                  <a:txBody>
                    <a:bodyPr/>
                    <a:lstStyle/>
                    <a:p>
                      <a:r>
                        <a:rPr lang="fr-FR" sz="1400">
                          <a:latin typeface="Aptos" panose="020B0004020202020204" pitchFamily="34" charset="0"/>
                        </a:rPr>
                        <a:t>Période</a:t>
                      </a:r>
                    </a:p>
                  </a:txBody>
                  <a:tcPr anchor="ctr">
                    <a:lnL>
                      <a:noFill/>
                    </a:lnL>
                    <a:lnR>
                      <a:noFill/>
                    </a:lnR>
                    <a:lnT>
                      <a:noFill/>
                    </a:lnT>
                    <a:lnB>
                      <a:noFill/>
                    </a:lnB>
                  </a:tcPr>
                </a:tc>
                <a:tc>
                  <a:txBody>
                    <a:bodyPr/>
                    <a:lstStyle/>
                    <a:p>
                      <a:r>
                        <a:rPr lang="fr-FR" sz="1400">
                          <a:latin typeface="Aptos" panose="020B0004020202020204" pitchFamily="34" charset="0"/>
                        </a:rPr>
                        <a:t>Mois de référence</a:t>
                      </a:r>
                    </a:p>
                  </a:txBody>
                  <a:tcPr anchor="ctr">
                    <a:lnL>
                      <a:noFill/>
                    </a:lnL>
                    <a:lnR>
                      <a:noFill/>
                    </a:lnR>
                    <a:lnT>
                      <a:noFill/>
                    </a:lnT>
                    <a:lnB>
                      <a:noFill/>
                    </a:lnB>
                  </a:tcPr>
                </a:tc>
                <a:extLst>
                  <a:ext uri="{0D108BD9-81ED-4DB2-BD59-A6C34878D82A}">
                    <a16:rowId xmlns:a16="http://schemas.microsoft.com/office/drawing/2014/main" val="4001268557"/>
                  </a:ext>
                </a:extLst>
              </a:tr>
              <a:tr h="0">
                <a:tc>
                  <a:txBody>
                    <a:bodyPr/>
                    <a:lstStyle/>
                    <a:p>
                      <a:r>
                        <a:rPr lang="fr-FR" sz="1400" dirty="0">
                          <a:latin typeface="Aptos" panose="020B0004020202020204" pitchFamily="34" charset="0"/>
                        </a:rPr>
                        <a:t>Ouverture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Stock début de mois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399568664"/>
                  </a:ext>
                </a:extLst>
              </a:tr>
              <a:tr h="0">
                <a:tc>
                  <a:txBody>
                    <a:bodyPr/>
                    <a:lstStyle/>
                    <a:p>
                      <a:r>
                        <a:rPr lang="fr-FR" sz="1400">
                          <a:latin typeface="Aptos" panose="020B0004020202020204" pitchFamily="34" charset="0"/>
                        </a:rPr>
                        <a:t>Reçu</a:t>
                      </a:r>
                    </a:p>
                  </a:txBody>
                  <a:tcPr anchor="ctr">
                    <a:lnL>
                      <a:noFill/>
                    </a:lnL>
                    <a:lnR>
                      <a:noFill/>
                    </a:lnR>
                    <a:lnT>
                      <a:noFill/>
                    </a:lnT>
                    <a:lnB>
                      <a:noFill/>
                    </a:lnB>
                  </a:tcPr>
                </a:tc>
                <a:tc>
                  <a:txBody>
                    <a:bodyPr/>
                    <a:lstStyle/>
                    <a:p>
                      <a:r>
                        <a:rPr lang="fr-FR" sz="1400">
                          <a:latin typeface="Aptos" panose="020B0004020202020204" pitchFamily="34" charset="0"/>
                        </a:rPr>
                        <a:t>Réceptions du mois</a:t>
                      </a:r>
                    </a:p>
                  </a:txBody>
                  <a:tcPr anchor="ctr">
                    <a:lnL>
                      <a:noFill/>
                    </a:lnL>
                    <a:lnR>
                      <a:noFill/>
                    </a:lnR>
                    <a:lnT>
                      <a:noFill/>
                    </a:lnT>
                    <a:lnB>
                      <a:noFill/>
                    </a:lnB>
                  </a:tcPr>
                </a:tc>
                <a:extLst>
                  <a:ext uri="{0D108BD9-81ED-4DB2-BD59-A6C34878D82A}">
                    <a16:rowId xmlns:a16="http://schemas.microsoft.com/office/drawing/2014/main" val="1642191914"/>
                  </a:ext>
                </a:extLst>
              </a:tr>
              <a:tr h="0">
                <a:tc>
                  <a:txBody>
                    <a:bodyPr/>
                    <a:lstStyle/>
                    <a:p>
                      <a:r>
                        <a:rPr lang="fr-FR" sz="1400" dirty="0">
                          <a:latin typeface="Aptos" panose="020B0004020202020204" pitchFamily="34" charset="0"/>
                        </a:rPr>
                        <a:t>Distribué</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Sorties du mois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4026671770"/>
                  </a:ext>
                </a:extLst>
              </a:tr>
              <a:tr h="0">
                <a:tc>
                  <a:txBody>
                    <a:bodyPr/>
                    <a:lstStyle/>
                    <a:p>
                      <a:r>
                        <a:rPr lang="fr-FR" sz="1400">
                          <a:latin typeface="Aptos" panose="020B0004020202020204" pitchFamily="34" charset="0"/>
                        </a:rPr>
                        <a:t>Pertes</a:t>
                      </a:r>
                    </a:p>
                  </a:txBody>
                  <a:tcPr anchor="ctr">
                    <a:lnL>
                      <a:noFill/>
                    </a:lnL>
                    <a:lnR>
                      <a:noFill/>
                    </a:lnR>
                    <a:lnT>
                      <a:noFill/>
                    </a:lnT>
                    <a:lnB>
                      <a:noFill/>
                    </a:lnB>
                  </a:tcPr>
                </a:tc>
                <a:tc>
                  <a:txBody>
                    <a:bodyPr/>
                    <a:lstStyle/>
                    <a:p>
                      <a:r>
                        <a:rPr lang="fr-FR" sz="1400">
                          <a:latin typeface="Aptos" panose="020B0004020202020204" pitchFamily="34" charset="0"/>
                        </a:rPr>
                        <a:t>Périmés, casses</a:t>
                      </a:r>
                    </a:p>
                  </a:txBody>
                  <a:tcPr anchor="ctr">
                    <a:lnL>
                      <a:noFill/>
                    </a:lnL>
                    <a:lnR>
                      <a:noFill/>
                    </a:lnR>
                    <a:lnT>
                      <a:noFill/>
                    </a:lnT>
                    <a:lnB>
                      <a:noFill/>
                    </a:lnB>
                  </a:tcPr>
                </a:tc>
                <a:extLst>
                  <a:ext uri="{0D108BD9-81ED-4DB2-BD59-A6C34878D82A}">
                    <a16:rowId xmlns:a16="http://schemas.microsoft.com/office/drawing/2014/main" val="322430489"/>
                  </a:ext>
                </a:extLst>
              </a:tr>
              <a:tr h="0">
                <a:tc>
                  <a:txBody>
                    <a:bodyPr/>
                    <a:lstStyle/>
                    <a:p>
                      <a:r>
                        <a:rPr lang="fr-FR" sz="1400" dirty="0">
                          <a:latin typeface="Aptos" panose="020B0004020202020204" pitchFamily="34" charset="0"/>
                        </a:rPr>
                        <a:t>Fermeture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Stock fin de mois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876850753"/>
                  </a:ext>
                </a:extLst>
              </a:tr>
              <a:tr h="0">
                <a:tc>
                  <a:txBody>
                    <a:bodyPr/>
                    <a:lstStyle/>
                    <a:p>
                      <a:r>
                        <a:rPr lang="fr-FR" sz="1400">
                          <a:latin typeface="Aptos" panose="020B0004020202020204" pitchFamily="34" charset="0"/>
                        </a:rPr>
                        <a:t>Jours rupture</a:t>
                      </a:r>
                    </a:p>
                  </a:txBody>
                  <a:tcPr anchor="ctr">
                    <a:lnL>
                      <a:noFill/>
                    </a:lnL>
                    <a:lnR>
                      <a:noFill/>
                    </a:lnR>
                    <a:lnT>
                      <a:noFill/>
                    </a:lnT>
                    <a:lnB>
                      <a:noFill/>
                    </a:lnB>
                  </a:tcPr>
                </a:tc>
                <a:tc>
                  <a:txBody>
                    <a:bodyPr/>
                    <a:lstStyle/>
                    <a:p>
                      <a:r>
                        <a:rPr lang="fr-FR" sz="1400" dirty="0">
                          <a:latin typeface="Aptos" panose="020B0004020202020204" pitchFamily="34" charset="0"/>
                        </a:rPr>
                        <a:t>Nombre de jours sans stock</a:t>
                      </a:r>
                    </a:p>
                  </a:txBody>
                  <a:tcPr anchor="ctr">
                    <a:lnL>
                      <a:noFill/>
                    </a:lnL>
                    <a:lnR>
                      <a:noFill/>
                    </a:lnR>
                    <a:lnT>
                      <a:noFill/>
                    </a:lnT>
                    <a:lnB>
                      <a:noFill/>
                    </a:lnB>
                  </a:tcPr>
                </a:tc>
                <a:extLst>
                  <a:ext uri="{0D108BD9-81ED-4DB2-BD59-A6C34878D82A}">
                    <a16:rowId xmlns:a16="http://schemas.microsoft.com/office/drawing/2014/main" val="3433271623"/>
                  </a:ext>
                </a:extLst>
              </a:tr>
            </a:tbl>
          </a:graphicData>
        </a:graphic>
      </p:graphicFrame>
      <p:sp>
        <p:nvSpPr>
          <p:cNvPr id="13" name="ZoneTexte 12">
            <a:extLst>
              <a:ext uri="{FF2B5EF4-FFF2-40B4-BE49-F238E27FC236}">
                <a16:creationId xmlns:a16="http://schemas.microsoft.com/office/drawing/2014/main" id="{D4A24675-0F83-4F35-903C-687634379CFF}"/>
              </a:ext>
            </a:extLst>
          </p:cNvPr>
          <p:cNvSpPr txBox="1"/>
          <p:nvPr/>
        </p:nvSpPr>
        <p:spPr>
          <a:xfrm>
            <a:off x="5235267" y="3939599"/>
            <a:ext cx="6107184" cy="1754326"/>
          </a:xfrm>
          <a:prstGeom prst="rect">
            <a:avLst/>
          </a:prstGeom>
          <a:noFill/>
        </p:spPr>
        <p:txBody>
          <a:bodyPr wrap="square">
            <a:spAutoFit/>
          </a:bodyPr>
          <a:lstStyle/>
          <a:p>
            <a:r>
              <a:rPr lang="fr-FR" b="1" dirty="0">
                <a:latin typeface="Aptos" panose="020B0004020202020204" pitchFamily="34" charset="0"/>
              </a:rPr>
              <a:t>Quantimed calcule automatiquement </a:t>
            </a:r>
            <a:r>
              <a:rPr lang="fr-FR" dirty="0">
                <a:latin typeface="Aptos" panose="020B0004020202020204" pitchFamily="34" charset="0"/>
              </a:rPr>
              <a:t>:</a:t>
            </a:r>
          </a:p>
          <a:p>
            <a:pPr marL="742950" lvl="1" indent="-285750">
              <a:buFont typeface="Arial" panose="020B0604020202020204" pitchFamily="34" charset="0"/>
              <a:buChar char="•"/>
            </a:pPr>
            <a:r>
              <a:rPr lang="fr-FR" b="1" dirty="0">
                <a:latin typeface="Aptos" panose="020B0004020202020204" pitchFamily="34" charset="0"/>
              </a:rPr>
              <a:t>La CMM brute </a:t>
            </a:r>
            <a:r>
              <a:rPr lang="fr-FR" dirty="0">
                <a:latin typeface="Aptos" panose="020B0004020202020204" pitchFamily="34" charset="0"/>
              </a:rPr>
              <a:t>= Total distribué ÷ Nombre de mois</a:t>
            </a:r>
          </a:p>
          <a:p>
            <a:pPr marL="742950" lvl="1" indent="-285750">
              <a:buFont typeface="Arial" panose="020B0604020202020204" pitchFamily="34" charset="0"/>
              <a:buChar char="•"/>
            </a:pPr>
            <a:r>
              <a:rPr lang="fr-FR" b="1" dirty="0">
                <a:latin typeface="Aptos" panose="020B0004020202020204" pitchFamily="34" charset="0"/>
              </a:rPr>
              <a:t>La CMM ajustée </a:t>
            </a:r>
            <a:r>
              <a:rPr lang="fr-FR" dirty="0">
                <a:latin typeface="Aptos" panose="020B0004020202020204" pitchFamily="34" charset="0"/>
              </a:rPr>
              <a:t>= Total distribué ajusté ÷ Mois valides (hors ruptures totales)</a:t>
            </a:r>
          </a:p>
          <a:p>
            <a:pPr marL="742950" lvl="1" indent="-285750">
              <a:buFont typeface="Arial" panose="020B0604020202020204" pitchFamily="34" charset="0"/>
              <a:buChar char="•"/>
            </a:pPr>
            <a:r>
              <a:rPr lang="fr-FR" dirty="0">
                <a:latin typeface="Aptos" panose="020B0004020202020204" pitchFamily="34" charset="0"/>
              </a:rPr>
              <a:t>La CMM ajustée par</a:t>
            </a:r>
            <a:r>
              <a:rPr lang="fr-FR" b="1" dirty="0">
                <a:latin typeface="Aptos" panose="020B0004020202020204" pitchFamily="34" charset="0"/>
              </a:rPr>
              <a:t> interpolation </a:t>
            </a:r>
            <a:r>
              <a:rPr lang="fr-FR" dirty="0">
                <a:latin typeface="Aptos" panose="020B0004020202020204" pitchFamily="34" charset="0"/>
              </a:rPr>
              <a:t>des mois de rupture partielle</a:t>
            </a:r>
          </a:p>
        </p:txBody>
      </p:sp>
    </p:spTree>
    <p:extLst>
      <p:ext uri="{BB962C8B-B14F-4D97-AF65-F5344CB8AC3E}">
        <p14:creationId xmlns:p14="http://schemas.microsoft.com/office/powerpoint/2010/main" val="373759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015663"/>
          </a:xfrm>
          <a:prstGeom prst="rect">
            <a:avLst/>
          </a:prstGeom>
          <a:noFill/>
        </p:spPr>
        <p:txBody>
          <a:bodyPr wrap="square">
            <a:spAutoFit/>
          </a:bodyPr>
          <a:lstStyle/>
          <a:p>
            <a:r>
              <a:rPr lang="fr-FR" sz="2000" b="1" dirty="0">
                <a:latin typeface="Aptos" panose="020B0004020202020204" pitchFamily="34" charset="0"/>
              </a:rPr>
              <a:t>Module 3 — Méthode morbidité dans Quantimed</a:t>
            </a:r>
          </a:p>
          <a:p>
            <a:r>
              <a:rPr lang="fr-FR" sz="2000" dirty="0">
                <a:latin typeface="Aptos" panose="020B0004020202020204" pitchFamily="34" charset="0"/>
              </a:rPr>
              <a:t>Quantimed intègre la méthode morbidité pour les programmes de santé reproductive et maternelle.</a:t>
            </a:r>
          </a:p>
        </p:txBody>
      </p:sp>
      <p:sp>
        <p:nvSpPr>
          <p:cNvPr id="13" name="ZoneTexte 12">
            <a:extLst>
              <a:ext uri="{FF2B5EF4-FFF2-40B4-BE49-F238E27FC236}">
                <a16:creationId xmlns:a16="http://schemas.microsoft.com/office/drawing/2014/main" id="{D4A24675-0F83-4F35-903C-687634379CFF}"/>
              </a:ext>
            </a:extLst>
          </p:cNvPr>
          <p:cNvSpPr txBox="1"/>
          <p:nvPr/>
        </p:nvSpPr>
        <p:spPr>
          <a:xfrm>
            <a:off x="989901" y="3782211"/>
            <a:ext cx="10352550" cy="1938992"/>
          </a:xfrm>
          <a:prstGeom prst="rect">
            <a:avLst/>
          </a:prstGeom>
          <a:noFill/>
        </p:spPr>
        <p:txBody>
          <a:bodyPr wrap="square">
            <a:spAutoFit/>
          </a:bodyPr>
          <a:lstStyle/>
          <a:p>
            <a:r>
              <a:rPr lang="fr-FR" sz="2000" b="1" dirty="0">
                <a:latin typeface="Aptos" panose="020B0004020202020204" pitchFamily="34" charset="0"/>
              </a:rPr>
              <a:t>L'utilisateur saisit </a:t>
            </a:r>
            <a:r>
              <a:rPr lang="fr-FR" sz="2000" dirty="0">
                <a:latin typeface="Aptos" panose="020B0004020202020204" pitchFamily="34" charset="0"/>
              </a:rPr>
              <a:t>:</a:t>
            </a:r>
          </a:p>
          <a:p>
            <a:pPr marL="742950" lvl="1" indent="-285750">
              <a:buFont typeface="Arial" panose="020B0604020202020204" pitchFamily="34" charset="0"/>
              <a:buChar char="•"/>
            </a:pPr>
            <a:r>
              <a:rPr lang="fr-FR" sz="2000" dirty="0">
                <a:latin typeface="Aptos" panose="020B0004020202020204" pitchFamily="34" charset="0"/>
              </a:rPr>
              <a:t>Les données épidémiologiques (incidence par pathologie)</a:t>
            </a:r>
          </a:p>
          <a:p>
            <a:pPr marL="742950" lvl="1" indent="-285750">
              <a:buFont typeface="Arial" panose="020B0604020202020204" pitchFamily="34" charset="0"/>
              <a:buChar char="•"/>
            </a:pPr>
            <a:r>
              <a:rPr lang="fr-FR" sz="2000" dirty="0">
                <a:latin typeface="Aptos" panose="020B0004020202020204" pitchFamily="34" charset="0"/>
              </a:rPr>
              <a:t>Les protocoles de traitement (dose, durée, fréquence)</a:t>
            </a:r>
          </a:p>
          <a:p>
            <a:pPr marL="742950" lvl="1" indent="-285750">
              <a:buFont typeface="Arial" panose="020B0604020202020204" pitchFamily="34" charset="0"/>
              <a:buChar char="•"/>
            </a:pPr>
            <a:r>
              <a:rPr lang="fr-FR" sz="2000" dirty="0">
                <a:latin typeface="Aptos" panose="020B0004020202020204" pitchFamily="34" charset="0"/>
              </a:rPr>
              <a:t>Les taux de traitement et de couverture</a:t>
            </a:r>
          </a:p>
          <a:p>
            <a:pPr marL="742950" lvl="1" indent="-28575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Quantimed calcule automatiquement les besoins par produit et par mois.</a:t>
            </a:r>
          </a:p>
        </p:txBody>
      </p:sp>
    </p:spTree>
    <p:extLst>
      <p:ext uri="{BB962C8B-B14F-4D97-AF65-F5344CB8AC3E}">
        <p14:creationId xmlns:p14="http://schemas.microsoft.com/office/powerpoint/2010/main" val="342209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015663"/>
          </a:xfrm>
          <a:prstGeom prst="rect">
            <a:avLst/>
          </a:prstGeom>
          <a:noFill/>
        </p:spPr>
        <p:txBody>
          <a:bodyPr wrap="square">
            <a:spAutoFit/>
          </a:bodyPr>
          <a:lstStyle/>
          <a:p>
            <a:r>
              <a:rPr lang="fr-FR" sz="2000" b="1" dirty="0">
                <a:latin typeface="Aptos" panose="020B0004020202020204" pitchFamily="34" charset="0"/>
              </a:rPr>
              <a:t>Module 4 — Méthode population dans Quantimed</a:t>
            </a:r>
          </a:p>
          <a:p>
            <a:r>
              <a:rPr lang="fr-FR" sz="2000" dirty="0">
                <a:latin typeface="Aptos" panose="020B0004020202020204" pitchFamily="34" charset="0"/>
              </a:rPr>
              <a:t>Pour les produits de planification familiale, Quantimed intègre la méthode population avec les données démographiques et les objectifs de couverture contraceptive.</a:t>
            </a:r>
          </a:p>
        </p:txBody>
      </p:sp>
      <p:sp>
        <p:nvSpPr>
          <p:cNvPr id="13" name="ZoneTexte 12">
            <a:extLst>
              <a:ext uri="{FF2B5EF4-FFF2-40B4-BE49-F238E27FC236}">
                <a16:creationId xmlns:a16="http://schemas.microsoft.com/office/drawing/2014/main" id="{D4A24675-0F83-4F35-903C-687634379CFF}"/>
              </a:ext>
            </a:extLst>
          </p:cNvPr>
          <p:cNvSpPr txBox="1"/>
          <p:nvPr/>
        </p:nvSpPr>
        <p:spPr>
          <a:xfrm>
            <a:off x="989901" y="3623302"/>
            <a:ext cx="10352550" cy="2862322"/>
          </a:xfrm>
          <a:prstGeom prst="rect">
            <a:avLst/>
          </a:prstGeom>
          <a:noFill/>
        </p:spPr>
        <p:txBody>
          <a:bodyPr wrap="square">
            <a:spAutoFit/>
          </a:bodyPr>
          <a:lstStyle/>
          <a:p>
            <a:r>
              <a:rPr lang="fr-FR" sz="2000" b="1" dirty="0">
                <a:latin typeface="Aptos" panose="020B0004020202020204" pitchFamily="34" charset="0"/>
              </a:rPr>
              <a:t>Paramètres saisis </a:t>
            </a:r>
            <a:r>
              <a:rPr lang="fr-FR" sz="2000" dirty="0">
                <a:latin typeface="Aptos" panose="020B0004020202020204" pitchFamily="34" charset="0"/>
              </a:rPr>
              <a:t>:</a:t>
            </a:r>
          </a:p>
          <a:p>
            <a:pPr marL="742950" lvl="1" indent="-285750">
              <a:buFont typeface="Arial" panose="020B0604020202020204" pitchFamily="34" charset="0"/>
              <a:buChar char="•"/>
            </a:pPr>
            <a:r>
              <a:rPr lang="fr-FR" sz="2000" dirty="0">
                <a:latin typeface="Aptos" panose="020B0004020202020204" pitchFamily="34" charset="0"/>
              </a:rPr>
              <a:t>Population totale et femmes en âge de procréer</a:t>
            </a:r>
          </a:p>
          <a:p>
            <a:pPr marL="742950" lvl="1" indent="-285750">
              <a:buFont typeface="Arial" panose="020B0604020202020204" pitchFamily="34" charset="0"/>
              <a:buChar char="•"/>
            </a:pPr>
            <a:r>
              <a:rPr lang="fr-FR" sz="2000" dirty="0">
                <a:latin typeface="Aptos" panose="020B0004020202020204" pitchFamily="34" charset="0"/>
              </a:rPr>
              <a:t>Taux de prévalence contraceptive actuel et objectif</a:t>
            </a:r>
          </a:p>
          <a:p>
            <a:pPr marL="742950" lvl="1" indent="-285750">
              <a:buFont typeface="Arial" panose="020B0604020202020204" pitchFamily="34" charset="0"/>
              <a:buChar char="•"/>
            </a:pPr>
            <a:r>
              <a:rPr lang="fr-FR" sz="2000" dirty="0">
                <a:latin typeface="Aptos" panose="020B0004020202020204" pitchFamily="34" charset="0"/>
              </a:rPr>
              <a:t>Mix méthodes (répartition des femmes entre les différentes méthodes)</a:t>
            </a:r>
          </a:p>
          <a:p>
            <a:pPr marL="742950" lvl="1" indent="-285750">
              <a:buFont typeface="Arial" panose="020B0604020202020204" pitchFamily="34" charset="0"/>
              <a:buChar char="•"/>
            </a:pPr>
            <a:r>
              <a:rPr lang="fr-FR" sz="2000" dirty="0">
                <a:latin typeface="Aptos" panose="020B0004020202020204" pitchFamily="34" charset="0"/>
              </a:rPr>
              <a:t>Couverture de chaque méthode</a:t>
            </a:r>
          </a:p>
          <a:p>
            <a:pPr marL="742950" lvl="1" indent="-28575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Calcul automatique : </a:t>
            </a:r>
          </a:p>
          <a:p>
            <a:r>
              <a:rPr lang="fr-FR" sz="2000" dirty="0">
                <a:latin typeface="Aptos" panose="020B0004020202020204" pitchFamily="34" charset="0"/>
              </a:rPr>
              <a:t>Utilisatrices COC = FAP × Taux prévalence × Part COC dans le mix</a:t>
            </a:r>
          </a:p>
          <a:p>
            <a:r>
              <a:rPr lang="fr-FR" sz="2000" dirty="0">
                <a:latin typeface="Aptos" panose="020B0004020202020204" pitchFamily="34" charset="0"/>
              </a:rPr>
              <a:t>Unités COC = Utilisatrices × 13 plaquettes/an</a:t>
            </a:r>
          </a:p>
        </p:txBody>
      </p:sp>
    </p:spTree>
    <p:extLst>
      <p:ext uri="{BB962C8B-B14F-4D97-AF65-F5344CB8AC3E}">
        <p14:creationId xmlns:p14="http://schemas.microsoft.com/office/powerpoint/2010/main" val="228888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015663"/>
          </a:xfrm>
          <a:prstGeom prst="rect">
            <a:avLst/>
          </a:prstGeom>
          <a:noFill/>
        </p:spPr>
        <p:txBody>
          <a:bodyPr wrap="square">
            <a:spAutoFit/>
          </a:bodyPr>
          <a:lstStyle/>
          <a:p>
            <a:r>
              <a:rPr lang="fr-FR" sz="2000" b="1" dirty="0">
                <a:latin typeface="Aptos" panose="020B0004020202020204" pitchFamily="34" charset="0"/>
              </a:rPr>
              <a:t>Module 5 — Triangulation dans Quantimed</a:t>
            </a:r>
          </a:p>
          <a:p>
            <a:r>
              <a:rPr lang="fr-FR" sz="2000" dirty="0">
                <a:latin typeface="Aptos" panose="020B0004020202020204" pitchFamily="34" charset="0"/>
              </a:rPr>
              <a:t>Quantimed affiche les résultats des différentes méthodes dans un tableau comparatif et calcule automatiquement les écarts en pourcentage.</a:t>
            </a:r>
          </a:p>
        </p:txBody>
      </p:sp>
      <p:sp>
        <p:nvSpPr>
          <p:cNvPr id="15" name="ZoneTexte 14">
            <a:extLst>
              <a:ext uri="{FF2B5EF4-FFF2-40B4-BE49-F238E27FC236}">
                <a16:creationId xmlns:a16="http://schemas.microsoft.com/office/drawing/2014/main" id="{40141AF6-3363-40FA-B63F-2333F9D47123}"/>
              </a:ext>
            </a:extLst>
          </p:cNvPr>
          <p:cNvSpPr txBox="1"/>
          <p:nvPr/>
        </p:nvSpPr>
        <p:spPr>
          <a:xfrm>
            <a:off x="2340528" y="3741653"/>
            <a:ext cx="6870584" cy="369332"/>
          </a:xfrm>
          <a:prstGeom prst="rect">
            <a:avLst/>
          </a:prstGeom>
          <a:noFill/>
        </p:spPr>
        <p:txBody>
          <a:bodyPr wrap="square">
            <a:spAutoFit/>
          </a:bodyPr>
          <a:lstStyle/>
          <a:p>
            <a:r>
              <a:rPr lang="fr-FR" b="1" dirty="0">
                <a:latin typeface="Aptos" panose="020B0004020202020204" pitchFamily="34" charset="0"/>
              </a:rPr>
              <a:t>Exemple de sortie Quantimed — Tableau de triangulation ACT :</a:t>
            </a:r>
          </a:p>
        </p:txBody>
      </p:sp>
      <p:graphicFrame>
        <p:nvGraphicFramePr>
          <p:cNvPr id="3" name="Tableau 2">
            <a:extLst>
              <a:ext uri="{FF2B5EF4-FFF2-40B4-BE49-F238E27FC236}">
                <a16:creationId xmlns:a16="http://schemas.microsoft.com/office/drawing/2014/main" id="{D0F5E4DE-D7F0-4FC8-970B-80F90F442C6C}"/>
              </a:ext>
            </a:extLst>
          </p:cNvPr>
          <p:cNvGraphicFramePr>
            <a:graphicFrameLocks noGrp="1"/>
          </p:cNvGraphicFramePr>
          <p:nvPr>
            <p:extLst>
              <p:ext uri="{D42A27DB-BD31-4B8C-83A1-F6EECF244321}">
                <p14:modId xmlns:p14="http://schemas.microsoft.com/office/powerpoint/2010/main" val="4076818072"/>
              </p:ext>
            </p:extLst>
          </p:nvPr>
        </p:nvGraphicFramePr>
        <p:xfrm>
          <a:off x="919730" y="4191249"/>
          <a:ext cx="10515600" cy="1341120"/>
        </p:xfrm>
        <a:graphic>
          <a:graphicData uri="http://schemas.openxmlformats.org/drawingml/2006/table">
            <a:tbl>
              <a:tblPr/>
              <a:tblGrid>
                <a:gridCol w="4650560">
                  <a:extLst>
                    <a:ext uri="{9D8B030D-6E8A-4147-A177-3AD203B41FA5}">
                      <a16:colId xmlns:a16="http://schemas.microsoft.com/office/drawing/2014/main" val="735380346"/>
                    </a:ext>
                  </a:extLst>
                </a:gridCol>
                <a:gridCol w="2359840">
                  <a:extLst>
                    <a:ext uri="{9D8B030D-6E8A-4147-A177-3AD203B41FA5}">
                      <a16:colId xmlns:a16="http://schemas.microsoft.com/office/drawing/2014/main" val="1750364802"/>
                    </a:ext>
                  </a:extLst>
                </a:gridCol>
                <a:gridCol w="3505200">
                  <a:extLst>
                    <a:ext uri="{9D8B030D-6E8A-4147-A177-3AD203B41FA5}">
                      <a16:colId xmlns:a16="http://schemas.microsoft.com/office/drawing/2014/main" val="2930768757"/>
                    </a:ext>
                  </a:extLst>
                </a:gridCol>
              </a:tblGrid>
              <a:tr h="0">
                <a:tc>
                  <a:txBody>
                    <a:bodyPr/>
                    <a:lstStyle/>
                    <a:p>
                      <a:r>
                        <a:rPr lang="fr-FR" sz="1600" b="1" dirty="0">
                          <a:solidFill>
                            <a:schemeClr val="bg1"/>
                          </a:solidFill>
                          <a:latin typeface="Aptos" panose="020B0004020202020204" pitchFamily="34" charset="0"/>
                        </a:rPr>
                        <a:t>Méthode</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Besoin annuel calculé</a:t>
                      </a:r>
                    </a:p>
                  </a:txBody>
                  <a:tcPr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Écart vs méthode consommation</a:t>
                      </a:r>
                    </a:p>
                  </a:txBody>
                  <a:tcPr anchor="ctr">
                    <a:lnL>
                      <a:noFill/>
                    </a:lnL>
                    <a:lnR>
                      <a:noFill/>
                    </a:lnR>
                    <a:lnT>
                      <a:noFill/>
                    </a:lnT>
                    <a:lnB>
                      <a:noFill/>
                    </a:lnB>
                    <a:solidFill>
                      <a:srgbClr val="F37504"/>
                    </a:solidFill>
                  </a:tcPr>
                </a:tc>
                <a:extLst>
                  <a:ext uri="{0D108BD9-81ED-4DB2-BD59-A6C34878D82A}">
                    <a16:rowId xmlns:a16="http://schemas.microsoft.com/office/drawing/2014/main" val="3669111122"/>
                  </a:ext>
                </a:extLst>
              </a:tr>
              <a:tr h="0">
                <a:tc>
                  <a:txBody>
                    <a:bodyPr/>
                    <a:lstStyle/>
                    <a:p>
                      <a:r>
                        <a:rPr lang="fr-FR" sz="1600" dirty="0">
                          <a:latin typeface="Aptos" panose="020B0004020202020204" pitchFamily="34" charset="0"/>
                        </a:rPr>
                        <a:t>Consommation</a:t>
                      </a:r>
                    </a:p>
                  </a:txBody>
                  <a:tcPr anchor="ctr">
                    <a:lnL>
                      <a:noFill/>
                    </a:lnL>
                    <a:lnR>
                      <a:noFill/>
                    </a:lnR>
                    <a:lnT>
                      <a:noFill/>
                    </a:lnT>
                    <a:lnB>
                      <a:noFill/>
                    </a:lnB>
                  </a:tcPr>
                </a:tc>
                <a:tc>
                  <a:txBody>
                    <a:bodyPr/>
                    <a:lstStyle/>
                    <a:p>
                      <a:r>
                        <a:rPr lang="fr-FR" sz="1600" dirty="0">
                          <a:latin typeface="Aptos" panose="020B0004020202020204" pitchFamily="34" charset="0"/>
                        </a:rPr>
                        <a:t>14 844 boîtes</a:t>
                      </a:r>
                    </a:p>
                  </a:txBody>
                  <a:tcPr anchor="ctr">
                    <a:lnL>
                      <a:noFill/>
                    </a:lnL>
                    <a:lnR>
                      <a:noFill/>
                    </a:lnR>
                    <a:lnT>
                      <a:noFill/>
                    </a:lnT>
                    <a:lnB>
                      <a:noFill/>
                    </a:lnB>
                  </a:tcPr>
                </a:tc>
                <a:tc>
                  <a:txBody>
                    <a:bodyPr/>
                    <a:lstStyle/>
                    <a:p>
                      <a:r>
                        <a:rPr lang="fr-FR" sz="1600">
                          <a:latin typeface="Aptos" panose="020B0004020202020204" pitchFamily="34" charset="0"/>
                        </a:rPr>
                        <a:t>Référence</a:t>
                      </a:r>
                    </a:p>
                  </a:txBody>
                  <a:tcPr anchor="ctr">
                    <a:lnL>
                      <a:noFill/>
                    </a:lnL>
                    <a:lnR>
                      <a:noFill/>
                    </a:lnR>
                    <a:lnT>
                      <a:noFill/>
                    </a:lnT>
                    <a:lnB>
                      <a:noFill/>
                    </a:lnB>
                  </a:tcPr>
                </a:tc>
                <a:extLst>
                  <a:ext uri="{0D108BD9-81ED-4DB2-BD59-A6C34878D82A}">
                    <a16:rowId xmlns:a16="http://schemas.microsoft.com/office/drawing/2014/main" val="4193303383"/>
                  </a:ext>
                </a:extLst>
              </a:tr>
              <a:tr h="0">
                <a:tc>
                  <a:txBody>
                    <a:bodyPr/>
                    <a:lstStyle/>
                    <a:p>
                      <a:r>
                        <a:rPr lang="fr-FR" sz="1600" dirty="0">
                          <a:latin typeface="Aptos" panose="020B0004020202020204" pitchFamily="34" charset="0"/>
                        </a:rPr>
                        <a:t>Morbidité</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11 743 boîtes</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−20,9%</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74124041"/>
                  </a:ext>
                </a:extLst>
              </a:tr>
              <a:tr h="0">
                <a:tc>
                  <a:txBody>
                    <a:bodyPr/>
                    <a:lstStyle/>
                    <a:p>
                      <a:r>
                        <a:rPr lang="fr-FR" sz="1600" b="1">
                          <a:latin typeface="Aptos" panose="020B0004020202020204" pitchFamily="34" charset="0"/>
                        </a:rPr>
                        <a:t>Résultat Quantimed (moyenne pondérée)</a:t>
                      </a:r>
                      <a:endParaRPr lang="fr-FR" sz="1600">
                        <a:latin typeface="Aptos" panose="020B0004020202020204" pitchFamily="34" charset="0"/>
                      </a:endParaRPr>
                    </a:p>
                  </a:txBody>
                  <a:tcPr anchor="ctr">
                    <a:lnL>
                      <a:noFill/>
                    </a:lnL>
                    <a:lnR>
                      <a:noFill/>
                    </a:lnR>
                    <a:lnT>
                      <a:noFill/>
                    </a:lnT>
                    <a:lnB>
                      <a:noFill/>
                    </a:lnB>
                  </a:tcPr>
                </a:tc>
                <a:tc>
                  <a:txBody>
                    <a:bodyPr/>
                    <a:lstStyle/>
                    <a:p>
                      <a:r>
                        <a:rPr lang="fr-FR" sz="1600" b="1">
                          <a:latin typeface="Aptos" panose="020B0004020202020204" pitchFamily="34" charset="0"/>
                        </a:rPr>
                        <a:t>13 200 boîtes</a:t>
                      </a:r>
                      <a:endParaRPr lang="fr-FR" sz="1600">
                        <a:latin typeface="Aptos" panose="020B0004020202020204" pitchFamily="34" charset="0"/>
                      </a:endParaRPr>
                    </a:p>
                  </a:txBody>
                  <a:tcPr anchor="ctr">
                    <a:lnL>
                      <a:noFill/>
                    </a:lnL>
                    <a:lnR>
                      <a:noFill/>
                    </a:lnR>
                    <a:lnT>
                      <a:noFill/>
                    </a:lnT>
                    <a:lnB>
                      <a:noFill/>
                    </a:lnB>
                  </a:tcPr>
                </a:tc>
                <a:tc>
                  <a:txBody>
                    <a:bodyPr/>
                    <a:lstStyle/>
                    <a:p>
                      <a:r>
                        <a:rPr lang="fr-FR" sz="1600" b="1" dirty="0">
                          <a:latin typeface="Aptos" panose="020B0004020202020204" pitchFamily="34" charset="0"/>
                        </a:rPr>
                        <a:t>−11,1%</a:t>
                      </a:r>
                      <a:endParaRPr lang="fr-FR" sz="1600" dirty="0">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3770774378"/>
                  </a:ext>
                </a:extLst>
              </a:tr>
            </a:tbl>
          </a:graphicData>
        </a:graphic>
      </p:graphicFrame>
    </p:spTree>
    <p:extLst>
      <p:ext uri="{BB962C8B-B14F-4D97-AF65-F5344CB8AC3E}">
        <p14:creationId xmlns:p14="http://schemas.microsoft.com/office/powerpoint/2010/main" val="375938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modules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6605195" cy="3477875"/>
          </a:xfrm>
          <a:prstGeom prst="rect">
            <a:avLst/>
          </a:prstGeom>
          <a:noFill/>
        </p:spPr>
        <p:txBody>
          <a:bodyPr wrap="square">
            <a:spAutoFit/>
          </a:bodyPr>
          <a:lstStyle/>
          <a:p>
            <a:r>
              <a:rPr lang="fr-FR" sz="2000" b="1" dirty="0">
                <a:latin typeface="Aptos" panose="020B0004020202020204" pitchFamily="34" charset="0"/>
              </a:rPr>
              <a:t>Module 6 — Rapport final Quantimed</a:t>
            </a:r>
          </a:p>
          <a:p>
            <a:endParaRPr lang="fr-FR" sz="2000" b="1" dirty="0">
              <a:latin typeface="Aptos" panose="020B0004020202020204" pitchFamily="34" charset="0"/>
            </a:endParaRPr>
          </a:p>
          <a:p>
            <a:r>
              <a:rPr lang="fr-FR" sz="2000" dirty="0">
                <a:latin typeface="Aptos" panose="020B0004020202020204" pitchFamily="34" charset="0"/>
              </a:rPr>
              <a:t>Quantimed génère automatiquement plusieurs rapports :</a:t>
            </a:r>
          </a:p>
          <a:p>
            <a:pPr marL="800100" lvl="1" indent="-342900">
              <a:buFont typeface="Arial" panose="020B0604020202020204" pitchFamily="34" charset="0"/>
              <a:buChar char="•"/>
            </a:pPr>
            <a:r>
              <a:rPr lang="fr-FR" sz="2000" b="1" dirty="0">
                <a:latin typeface="Aptos" panose="020B0004020202020204" pitchFamily="34" charset="0"/>
              </a:rPr>
              <a:t>Rapport de quantification par produit </a:t>
            </a:r>
            <a:r>
              <a:rPr lang="fr-FR" sz="2000" dirty="0">
                <a:latin typeface="Aptos" panose="020B0004020202020204" pitchFamily="34" charset="0"/>
              </a:rPr>
              <a:t>(besoins, stock actuel, quantité à commander)</a:t>
            </a:r>
          </a:p>
          <a:p>
            <a:pPr marL="800100" lvl="1" indent="-342900">
              <a:buFont typeface="Arial" panose="020B0604020202020204" pitchFamily="34" charset="0"/>
              <a:buChar char="•"/>
            </a:pPr>
            <a:r>
              <a:rPr lang="fr-FR" sz="2000" b="1" dirty="0">
                <a:latin typeface="Aptos" panose="020B0004020202020204" pitchFamily="34" charset="0"/>
              </a:rPr>
              <a:t>Rapport de triangulation </a:t>
            </a:r>
            <a:r>
              <a:rPr lang="fr-FR" sz="2000" dirty="0">
                <a:latin typeface="Aptos" panose="020B0004020202020204" pitchFamily="34" charset="0"/>
              </a:rPr>
              <a:t>(comparaison des méthodes)</a:t>
            </a:r>
          </a:p>
          <a:p>
            <a:pPr marL="800100" lvl="1" indent="-342900">
              <a:buFont typeface="Arial" panose="020B0604020202020204" pitchFamily="34" charset="0"/>
              <a:buChar char="•"/>
            </a:pPr>
            <a:r>
              <a:rPr lang="fr-FR" sz="2000" b="1" dirty="0">
                <a:latin typeface="Aptos" panose="020B0004020202020204" pitchFamily="34" charset="0"/>
              </a:rPr>
              <a:t>Rapport budgétaire </a:t>
            </a:r>
            <a:r>
              <a:rPr lang="fr-FR" sz="2000" dirty="0">
                <a:latin typeface="Aptos" panose="020B0004020202020204" pitchFamily="34" charset="0"/>
              </a:rPr>
              <a:t>(coût total de la quantification)</a:t>
            </a:r>
          </a:p>
          <a:p>
            <a:pPr marL="800100" lvl="1" indent="-342900">
              <a:buFont typeface="Arial" panose="020B0604020202020204" pitchFamily="34" charset="0"/>
              <a:buChar char="•"/>
            </a:pPr>
            <a:r>
              <a:rPr lang="fr-FR" sz="2000" b="1" dirty="0">
                <a:latin typeface="Aptos" panose="020B0004020202020204" pitchFamily="34" charset="0"/>
              </a:rPr>
              <a:t>Rapport de suivi </a:t>
            </a:r>
            <a:r>
              <a:rPr lang="fr-FR" sz="2000" dirty="0">
                <a:latin typeface="Aptos" panose="020B0004020202020204" pitchFamily="34" charset="0"/>
              </a:rPr>
              <a:t>(comparaison avec les quantifications précédentes)</a:t>
            </a:r>
          </a:p>
        </p:txBody>
      </p:sp>
    </p:spTree>
    <p:extLst>
      <p:ext uri="{BB962C8B-B14F-4D97-AF65-F5344CB8AC3E}">
        <p14:creationId xmlns:p14="http://schemas.microsoft.com/office/powerpoint/2010/main" val="1358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Quantimed</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Forces et limites de Quantimed</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4633781" cy="3477875"/>
          </a:xfrm>
          <a:prstGeom prst="rect">
            <a:avLst/>
          </a:prstGeom>
          <a:noFill/>
        </p:spPr>
        <p:txBody>
          <a:bodyPr wrap="square">
            <a:spAutoFit/>
          </a:bodyPr>
          <a:lstStyle/>
          <a:p>
            <a:r>
              <a:rPr lang="fr-FR" sz="2000" b="1" dirty="0">
                <a:latin typeface="Aptos" panose="020B0004020202020204" pitchFamily="34" charset="0"/>
              </a:rPr>
              <a:t>Forces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Interface relativement simple et guidée étape par étape</a:t>
            </a:r>
          </a:p>
          <a:p>
            <a:pPr marL="342900" indent="-342900">
              <a:buFont typeface="Arial" panose="020B0604020202020204" pitchFamily="34" charset="0"/>
              <a:buChar char="•"/>
            </a:pPr>
            <a:r>
              <a:rPr lang="fr-FR" sz="2000" dirty="0">
                <a:latin typeface="Aptos" panose="020B0004020202020204" pitchFamily="34" charset="0"/>
              </a:rPr>
              <a:t>Bonne intégration des trois méthodes principales</a:t>
            </a:r>
          </a:p>
          <a:p>
            <a:pPr marL="342900" indent="-342900">
              <a:buFont typeface="Arial" panose="020B0604020202020204" pitchFamily="34" charset="0"/>
              <a:buChar char="•"/>
            </a:pPr>
            <a:r>
              <a:rPr lang="fr-FR" sz="2000" dirty="0">
                <a:latin typeface="Aptos" panose="020B0004020202020204" pitchFamily="34" charset="0"/>
              </a:rPr>
              <a:t>Génération automatique de rapports standardisés</a:t>
            </a:r>
          </a:p>
          <a:p>
            <a:pPr marL="342900" indent="-342900">
              <a:buFont typeface="Arial" panose="020B0604020202020204" pitchFamily="34" charset="0"/>
              <a:buChar char="•"/>
            </a:pPr>
            <a:r>
              <a:rPr lang="fr-FR" sz="2000" dirty="0">
                <a:latin typeface="Aptos" panose="020B0004020202020204" pitchFamily="34" charset="0"/>
              </a:rPr>
              <a:t>Adapté aux programmes de santé reproductive et aux médicaments essentiels</a:t>
            </a:r>
          </a:p>
          <a:p>
            <a:pPr marL="342900" indent="-342900">
              <a:buFont typeface="Arial" panose="020B0604020202020204" pitchFamily="34" charset="0"/>
              <a:buChar char="•"/>
            </a:pPr>
            <a:r>
              <a:rPr lang="fr-FR" sz="2000" dirty="0">
                <a:latin typeface="Aptos" panose="020B0004020202020204" pitchFamily="34" charset="0"/>
              </a:rPr>
              <a:t>Gratuit et accessible</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6906937" y="2658075"/>
            <a:ext cx="4946706" cy="3477875"/>
          </a:xfrm>
          <a:prstGeom prst="rect">
            <a:avLst/>
          </a:prstGeom>
          <a:noFill/>
        </p:spPr>
        <p:txBody>
          <a:bodyPr wrap="square">
            <a:spAutoFit/>
          </a:bodyPr>
          <a:lstStyle/>
          <a:p>
            <a:r>
              <a:rPr lang="fr-FR" sz="2000" b="1" dirty="0">
                <a:latin typeface="Aptos" panose="020B0004020202020204" pitchFamily="34" charset="0"/>
              </a:rPr>
              <a:t>Limites</a:t>
            </a:r>
            <a:r>
              <a:rPr lang="fr-FR" sz="2000" dirty="0">
                <a:latin typeface="Aptos" panose="020B0004020202020204" pitchFamily="34" charset="0"/>
              </a:rPr>
              <a:t> :</a:t>
            </a:r>
          </a:p>
          <a:p>
            <a:pPr marL="285750" indent="-285750">
              <a:buFont typeface="Arial" panose="020B0604020202020204" pitchFamily="34" charset="0"/>
              <a:buChar char="•"/>
            </a:pPr>
            <a:r>
              <a:rPr lang="fr-FR" sz="2000" dirty="0">
                <a:latin typeface="Aptos" panose="020B0004020202020204" pitchFamily="34" charset="0"/>
              </a:rPr>
              <a:t>Outil relativement ancien, mises à jour limitées</a:t>
            </a:r>
          </a:p>
          <a:p>
            <a:pPr marL="285750" indent="-285750">
              <a:buFont typeface="Arial" panose="020B0604020202020204" pitchFamily="34" charset="0"/>
              <a:buChar char="•"/>
            </a:pPr>
            <a:r>
              <a:rPr lang="fr-FR" sz="2000" dirty="0">
                <a:latin typeface="Aptos" panose="020B0004020202020204" pitchFamily="34" charset="0"/>
              </a:rPr>
              <a:t>Pas de module de prévision à long terme</a:t>
            </a:r>
          </a:p>
          <a:p>
            <a:pPr marL="285750" indent="-285750">
              <a:buFont typeface="Arial" panose="020B0604020202020204" pitchFamily="34" charset="0"/>
              <a:buChar char="•"/>
            </a:pPr>
            <a:r>
              <a:rPr lang="fr-FR" sz="2000" dirty="0">
                <a:latin typeface="Aptos" panose="020B0004020202020204" pitchFamily="34" charset="0"/>
              </a:rPr>
              <a:t>Pas d'intégration avec les systèmes d'information nationaux (DHIS2)</a:t>
            </a:r>
          </a:p>
          <a:p>
            <a:pPr marL="285750" indent="-285750">
              <a:buFont typeface="Arial" panose="020B0604020202020204" pitchFamily="34" charset="0"/>
              <a:buChar char="•"/>
            </a:pPr>
            <a:r>
              <a:rPr lang="fr-FR" sz="2000" dirty="0">
                <a:latin typeface="Aptos" panose="020B0004020202020204" pitchFamily="34" charset="0"/>
              </a:rPr>
              <a:t>Gestion limitée des ajustements saisonniers</a:t>
            </a:r>
          </a:p>
          <a:p>
            <a:pPr marL="285750" indent="-285750">
              <a:buFont typeface="Arial" panose="020B0604020202020204" pitchFamily="34" charset="0"/>
              <a:buChar char="•"/>
            </a:pPr>
            <a:r>
              <a:rPr lang="fr-FR" sz="2000" dirty="0">
                <a:latin typeface="Aptos" panose="020B0004020202020204" pitchFamily="34" charset="0"/>
              </a:rPr>
              <a:t>Support technique peu actif</a:t>
            </a:r>
          </a:p>
          <a:p>
            <a:pPr marL="285750" indent="-285750">
              <a:buFont typeface="Arial" panose="020B0604020202020204" pitchFamily="34" charset="0"/>
              <a:buChar char="•"/>
            </a:pPr>
            <a:r>
              <a:rPr lang="fr-FR" sz="2000" dirty="0">
                <a:latin typeface="Aptos" panose="020B0004020202020204" pitchFamily="34" charset="0"/>
              </a:rPr>
              <a:t>Interface Windows uniquement, pas de version web</a:t>
            </a:r>
          </a:p>
        </p:txBody>
      </p:sp>
    </p:spTree>
    <p:extLst>
      <p:ext uri="{BB962C8B-B14F-4D97-AF65-F5344CB8AC3E}">
        <p14:creationId xmlns:p14="http://schemas.microsoft.com/office/powerpoint/2010/main" val="43503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Présentation générale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3170099"/>
          </a:xfrm>
          <a:prstGeom prst="rect">
            <a:avLst/>
          </a:prstGeom>
          <a:noFill/>
        </p:spPr>
        <p:txBody>
          <a:bodyPr wrap="square">
            <a:spAutoFit/>
          </a:bodyPr>
          <a:lstStyle/>
          <a:p>
            <a:r>
              <a:rPr lang="fr-FR" sz="2000" dirty="0">
                <a:latin typeface="Aptos" panose="020B0004020202020204" pitchFamily="34" charset="0"/>
              </a:rPr>
              <a:t>PipeLine a été développé par John Snow Inc. (JSI) pour l'USAID, spécifiquement pour la quantification et le suivi des médicaments ARV (antirétroviraux) dans les programmes VIH/SIDA. Son nom fait référence au "pipeline" d'approvisionnement en ARV, concept central dans la gestion des programmes VIH : il faut maintenir un flux continu de médicaments dans toute la chaîne d'approvisionnement pour éviter les interruptions de traitement.</a:t>
            </a:r>
          </a:p>
          <a:p>
            <a:endParaRPr lang="fr-FR" sz="2000" dirty="0">
              <a:latin typeface="Aptos" panose="020B0004020202020204" pitchFamily="34" charset="0"/>
            </a:endParaRPr>
          </a:p>
          <a:p>
            <a:r>
              <a:rPr lang="fr-FR" sz="2000" b="1" dirty="0">
                <a:latin typeface="Aptos" panose="020B0004020202020204" pitchFamily="34" charset="0"/>
              </a:rPr>
              <a:t>Philosophie de l'outil :</a:t>
            </a:r>
            <a:r>
              <a:rPr lang="fr-FR" sz="2000" dirty="0">
                <a:latin typeface="Aptos" panose="020B0004020202020204" pitchFamily="34" charset="0"/>
              </a:rPr>
              <a:t> PipeLine est construit autour de la notion de file active — le nombre de patients sous traitement ARV à un moment donné. C'est la variable centrale qui détermine tous les besoins en ARV. L'outil modélise l'évolution de la file active (nouveaux patients, abandons, décès, changements de schéma) et calcule les besoins en ARV résultants.</a:t>
            </a:r>
          </a:p>
        </p:txBody>
      </p:sp>
    </p:spTree>
    <p:extLst>
      <p:ext uri="{BB962C8B-B14F-4D97-AF65-F5344CB8AC3E}">
        <p14:creationId xmlns:p14="http://schemas.microsoft.com/office/powerpoint/2010/main" val="318375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Concepts clés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631216"/>
          </a:xfrm>
          <a:prstGeom prst="rect">
            <a:avLst/>
          </a:prstGeom>
          <a:noFill/>
        </p:spPr>
        <p:txBody>
          <a:bodyPr wrap="square">
            <a:spAutoFit/>
          </a:bodyPr>
          <a:lstStyle/>
          <a:p>
            <a:r>
              <a:rPr lang="fr-FR" sz="2000" b="1" dirty="0">
                <a:latin typeface="Aptos" panose="020B0004020202020204" pitchFamily="34" charset="0"/>
              </a:rPr>
              <a:t>Concept 1 — La file active</a:t>
            </a:r>
          </a:p>
          <a:p>
            <a:pPr marL="800100" lvl="1" indent="-342900">
              <a:buFont typeface="Arial" panose="020B0604020202020204" pitchFamily="34" charset="0"/>
              <a:buChar char="•"/>
            </a:pPr>
            <a:r>
              <a:rPr lang="fr-FR" sz="2000" dirty="0">
                <a:latin typeface="Aptos" panose="020B0004020202020204" pitchFamily="34" charset="0"/>
              </a:rPr>
              <a:t>La file active est le nombre de patients actuellement sous traitement ARV. </a:t>
            </a:r>
          </a:p>
          <a:p>
            <a:pPr marL="800100" lvl="1" indent="-342900">
              <a:buFont typeface="Arial" panose="020B0604020202020204" pitchFamily="34" charset="0"/>
              <a:buChar char="•"/>
            </a:pPr>
            <a:r>
              <a:rPr lang="fr-FR" sz="2000" dirty="0">
                <a:latin typeface="Aptos" panose="020B0004020202020204" pitchFamily="34" charset="0"/>
              </a:rPr>
              <a:t>Elle évolue chaque mois selon la formule :</a:t>
            </a:r>
          </a:p>
          <a:p>
            <a:pPr marL="1257300" lvl="2" indent="-342900">
              <a:buFont typeface="Courier New" panose="02070309020205020404" pitchFamily="49" charset="0"/>
              <a:buChar char="o"/>
            </a:pPr>
            <a:r>
              <a:rPr lang="fr-FR" sz="2000" b="1" dirty="0">
                <a:latin typeface="Aptos" panose="020B0004020202020204" pitchFamily="34" charset="0"/>
              </a:rPr>
              <a:t>File active M+1 = File active M + Nouveaux enrôlements M − Décès M − Perdus de vue M − Transferts sortants M + Transferts entrants M</a:t>
            </a:r>
          </a:p>
        </p:txBody>
      </p:sp>
    </p:spTree>
    <p:extLst>
      <p:ext uri="{BB962C8B-B14F-4D97-AF65-F5344CB8AC3E}">
        <p14:creationId xmlns:p14="http://schemas.microsoft.com/office/powerpoint/2010/main" val="2575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Concepts clés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631216"/>
          </a:xfrm>
          <a:prstGeom prst="rect">
            <a:avLst/>
          </a:prstGeom>
          <a:noFill/>
        </p:spPr>
        <p:txBody>
          <a:bodyPr wrap="square">
            <a:spAutoFit/>
          </a:bodyPr>
          <a:lstStyle/>
          <a:p>
            <a:r>
              <a:rPr lang="fr-FR" sz="2000" b="1" dirty="0">
                <a:latin typeface="Aptos" panose="020B0004020202020204" pitchFamily="34" charset="0"/>
              </a:rPr>
              <a:t>Concept 2 — Le schéma thérapeutique et la dispensation</a:t>
            </a:r>
          </a:p>
          <a:p>
            <a:pPr marL="800100" lvl="1" indent="-342900">
              <a:buFont typeface="Arial" panose="020B0604020202020204" pitchFamily="34" charset="0"/>
              <a:buChar char="•"/>
            </a:pPr>
            <a:r>
              <a:rPr lang="fr-FR" sz="2000" dirty="0">
                <a:latin typeface="Aptos" panose="020B0004020202020204" pitchFamily="34" charset="0"/>
              </a:rPr>
              <a:t>PipeLine gère la distribution des patients entre différents schémas thérapeutiques (1ère ligne, 2ème ligne, 3ème ligne) et modélise les transitions entre schémas.</a:t>
            </a:r>
          </a:p>
          <a:p>
            <a:pPr marL="800100" lvl="1" indent="-342900">
              <a:buFont typeface="Arial" panose="020B0604020202020204" pitchFamily="34" charset="0"/>
              <a:buChar char="•"/>
            </a:pPr>
            <a:endParaRPr lang="fr-FR" sz="2000" b="1" dirty="0">
              <a:latin typeface="Aptos" panose="020B0004020202020204" pitchFamily="34" charset="0"/>
            </a:endParaRPr>
          </a:p>
          <a:p>
            <a:pPr marL="800100" lvl="1" indent="-342900">
              <a:buFont typeface="Arial" panose="020B0604020202020204" pitchFamily="34" charset="0"/>
              <a:buChar char="•"/>
            </a:pPr>
            <a:r>
              <a:rPr lang="fr-FR" sz="2000" b="1" dirty="0">
                <a:latin typeface="Aptos" panose="020B0004020202020204" pitchFamily="34" charset="0"/>
              </a:rPr>
              <a:t>Exemple de répartition de la file active dans PipeLine :</a:t>
            </a:r>
          </a:p>
        </p:txBody>
      </p:sp>
      <p:graphicFrame>
        <p:nvGraphicFramePr>
          <p:cNvPr id="2" name="Tableau 1">
            <a:extLst>
              <a:ext uri="{FF2B5EF4-FFF2-40B4-BE49-F238E27FC236}">
                <a16:creationId xmlns:a16="http://schemas.microsoft.com/office/drawing/2014/main" id="{107E44AC-922D-4BDE-9F93-322F9157AF49}"/>
              </a:ext>
            </a:extLst>
          </p:cNvPr>
          <p:cNvGraphicFramePr>
            <a:graphicFrameLocks noGrp="1"/>
          </p:cNvGraphicFramePr>
          <p:nvPr>
            <p:extLst>
              <p:ext uri="{D42A27DB-BD31-4B8C-83A1-F6EECF244321}">
                <p14:modId xmlns:p14="http://schemas.microsoft.com/office/powerpoint/2010/main" val="848679121"/>
              </p:ext>
            </p:extLst>
          </p:nvPr>
        </p:nvGraphicFramePr>
        <p:xfrm>
          <a:off x="1490182" y="4257347"/>
          <a:ext cx="9927235" cy="1979550"/>
        </p:xfrm>
        <a:graphic>
          <a:graphicData uri="http://schemas.openxmlformats.org/drawingml/2006/table">
            <a:tbl>
              <a:tblPr/>
              <a:tblGrid>
                <a:gridCol w="2318420">
                  <a:extLst>
                    <a:ext uri="{9D8B030D-6E8A-4147-A177-3AD203B41FA5}">
                      <a16:colId xmlns:a16="http://schemas.microsoft.com/office/drawing/2014/main" val="2969813192"/>
                    </a:ext>
                  </a:extLst>
                </a:gridCol>
                <a:gridCol w="1677798">
                  <a:extLst>
                    <a:ext uri="{9D8B030D-6E8A-4147-A177-3AD203B41FA5}">
                      <a16:colId xmlns:a16="http://schemas.microsoft.com/office/drawing/2014/main" val="3403588620"/>
                    </a:ext>
                  </a:extLst>
                </a:gridCol>
                <a:gridCol w="1459685">
                  <a:extLst>
                    <a:ext uri="{9D8B030D-6E8A-4147-A177-3AD203B41FA5}">
                      <a16:colId xmlns:a16="http://schemas.microsoft.com/office/drawing/2014/main" val="1207485273"/>
                    </a:ext>
                  </a:extLst>
                </a:gridCol>
                <a:gridCol w="1409350">
                  <a:extLst>
                    <a:ext uri="{9D8B030D-6E8A-4147-A177-3AD203B41FA5}">
                      <a16:colId xmlns:a16="http://schemas.microsoft.com/office/drawing/2014/main" val="3677943285"/>
                    </a:ext>
                  </a:extLst>
                </a:gridCol>
                <a:gridCol w="3061982">
                  <a:extLst>
                    <a:ext uri="{9D8B030D-6E8A-4147-A177-3AD203B41FA5}">
                      <a16:colId xmlns:a16="http://schemas.microsoft.com/office/drawing/2014/main" val="1761884085"/>
                    </a:ext>
                  </a:extLst>
                </a:gridCol>
              </a:tblGrid>
              <a:tr h="267970">
                <a:tc>
                  <a:txBody>
                    <a:bodyPr/>
                    <a:lstStyle/>
                    <a:p>
                      <a:r>
                        <a:rPr lang="fr-FR" sz="1400" b="1" dirty="0">
                          <a:solidFill>
                            <a:schemeClr val="bg1"/>
                          </a:solidFill>
                          <a:latin typeface="Aptos" panose="020B0004020202020204" pitchFamily="34" charset="0"/>
                        </a:rPr>
                        <a:t>Schéma</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Produits</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Patients</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 file active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Cp/patient/mois</a:t>
                      </a:r>
                    </a:p>
                  </a:txBody>
                  <a:tcPr anchor="ctr">
                    <a:lnL>
                      <a:noFill/>
                    </a:lnL>
                    <a:lnR>
                      <a:noFill/>
                    </a:lnR>
                    <a:lnT>
                      <a:noFill/>
                    </a:lnT>
                    <a:lnB>
                      <a:noFill/>
                    </a:lnB>
                    <a:solidFill>
                      <a:srgbClr val="F37504"/>
                    </a:solidFill>
                  </a:tcPr>
                </a:tc>
                <a:extLst>
                  <a:ext uri="{0D108BD9-81ED-4DB2-BD59-A6C34878D82A}">
                    <a16:rowId xmlns:a16="http://schemas.microsoft.com/office/drawing/2014/main" val="2382986156"/>
                  </a:ext>
                </a:extLst>
              </a:tr>
              <a:tr h="267970">
                <a:tc>
                  <a:txBody>
                    <a:bodyPr/>
                    <a:lstStyle/>
                    <a:p>
                      <a:r>
                        <a:rPr lang="fr-FR" sz="1400">
                          <a:latin typeface="Aptos" panose="020B0004020202020204" pitchFamily="34" charset="0"/>
                        </a:rPr>
                        <a:t>TLD (1ère ligne standard)</a:t>
                      </a:r>
                    </a:p>
                  </a:txBody>
                  <a:tcPr anchor="ctr">
                    <a:lnL>
                      <a:noFill/>
                    </a:lnL>
                    <a:lnR>
                      <a:noFill/>
                    </a:lnR>
                    <a:lnT>
                      <a:noFill/>
                    </a:lnT>
                    <a:lnB>
                      <a:noFill/>
                    </a:lnB>
                  </a:tcPr>
                </a:tc>
                <a:tc>
                  <a:txBody>
                    <a:bodyPr/>
                    <a:lstStyle/>
                    <a:p>
                      <a:r>
                        <a:rPr lang="fr-FR" sz="1400">
                          <a:latin typeface="Aptos" panose="020B0004020202020204" pitchFamily="34" charset="0"/>
                        </a:rPr>
                        <a:t>TDF/3TC/DTG</a:t>
                      </a:r>
                    </a:p>
                  </a:txBody>
                  <a:tcPr anchor="ctr">
                    <a:lnL>
                      <a:noFill/>
                    </a:lnL>
                    <a:lnR>
                      <a:noFill/>
                    </a:lnR>
                    <a:lnT>
                      <a:noFill/>
                    </a:lnT>
                    <a:lnB>
                      <a:noFill/>
                    </a:lnB>
                  </a:tcPr>
                </a:tc>
                <a:tc>
                  <a:txBody>
                    <a:bodyPr/>
                    <a:lstStyle/>
                    <a:p>
                      <a:r>
                        <a:rPr lang="fr-FR" sz="1400">
                          <a:latin typeface="Aptos" panose="020B0004020202020204" pitchFamily="34" charset="0"/>
                        </a:rPr>
                        <a:t>7 850</a:t>
                      </a:r>
                    </a:p>
                  </a:txBody>
                  <a:tcPr anchor="ctr">
                    <a:lnL>
                      <a:noFill/>
                    </a:lnL>
                    <a:lnR>
                      <a:noFill/>
                    </a:lnR>
                    <a:lnT>
                      <a:noFill/>
                    </a:lnT>
                    <a:lnB>
                      <a:noFill/>
                    </a:lnB>
                  </a:tcPr>
                </a:tc>
                <a:tc>
                  <a:txBody>
                    <a:bodyPr/>
                    <a:lstStyle/>
                    <a:p>
                      <a:r>
                        <a:rPr lang="fr-FR" sz="1400">
                          <a:latin typeface="Aptos" panose="020B0004020202020204" pitchFamily="34" charset="0"/>
                        </a:rPr>
                        <a:t>61,9%</a:t>
                      </a:r>
                    </a:p>
                  </a:txBody>
                  <a:tcPr anchor="ctr">
                    <a:lnL>
                      <a:noFill/>
                    </a:lnL>
                    <a:lnR>
                      <a:noFill/>
                    </a:lnR>
                    <a:lnT>
                      <a:noFill/>
                    </a:lnT>
                    <a:lnB>
                      <a:noFill/>
                    </a:lnB>
                  </a:tcPr>
                </a:tc>
                <a:tc>
                  <a:txBody>
                    <a:bodyPr/>
                    <a:lstStyle/>
                    <a:p>
                      <a:r>
                        <a:rPr lang="fr-FR" sz="1400">
                          <a:latin typeface="Aptos" panose="020B0004020202020204" pitchFamily="34" charset="0"/>
                        </a:rPr>
                        <a:t>30 cp</a:t>
                      </a:r>
                    </a:p>
                  </a:txBody>
                  <a:tcPr anchor="ctr">
                    <a:lnL>
                      <a:noFill/>
                    </a:lnL>
                    <a:lnR>
                      <a:noFill/>
                    </a:lnR>
                    <a:lnT>
                      <a:noFill/>
                    </a:lnT>
                    <a:lnB>
                      <a:noFill/>
                    </a:lnB>
                  </a:tcPr>
                </a:tc>
                <a:extLst>
                  <a:ext uri="{0D108BD9-81ED-4DB2-BD59-A6C34878D82A}">
                    <a16:rowId xmlns:a16="http://schemas.microsoft.com/office/drawing/2014/main" val="3456369849"/>
                  </a:ext>
                </a:extLst>
              </a:tr>
              <a:tr h="267970">
                <a:tc>
                  <a:txBody>
                    <a:bodyPr/>
                    <a:lstStyle/>
                    <a:p>
                      <a:r>
                        <a:rPr lang="fr-FR" sz="1400" dirty="0">
                          <a:latin typeface="Aptos" panose="020B0004020202020204" pitchFamily="34" charset="0"/>
                        </a:rPr>
                        <a:t>TLE (1ère ligne ancienne)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TDF/3TC/EFV</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3 200</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25,3%</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30 cp</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11449004"/>
                  </a:ext>
                </a:extLst>
              </a:tr>
              <a:tr h="455550">
                <a:tc>
                  <a:txBody>
                    <a:bodyPr/>
                    <a:lstStyle/>
                    <a:p>
                      <a:r>
                        <a:rPr lang="fr-FR" sz="1400">
                          <a:latin typeface="Aptos" panose="020B0004020202020204" pitchFamily="34" charset="0"/>
                        </a:rPr>
                        <a:t>AZT/3TC/LPV/r (2ème ligne)</a:t>
                      </a:r>
                    </a:p>
                  </a:txBody>
                  <a:tcPr anchor="ctr">
                    <a:lnL>
                      <a:noFill/>
                    </a:lnL>
                    <a:lnR>
                      <a:noFill/>
                    </a:lnR>
                    <a:lnT>
                      <a:noFill/>
                    </a:lnT>
                    <a:lnB>
                      <a:noFill/>
                    </a:lnB>
                  </a:tcPr>
                </a:tc>
                <a:tc>
                  <a:txBody>
                    <a:bodyPr/>
                    <a:lstStyle/>
                    <a:p>
                      <a:r>
                        <a:rPr lang="fr-FR" sz="1400">
                          <a:latin typeface="Aptos" panose="020B0004020202020204" pitchFamily="34" charset="0"/>
                        </a:rPr>
                        <a:t>AZT+3TC+LPV/r</a:t>
                      </a:r>
                    </a:p>
                  </a:txBody>
                  <a:tcPr anchor="ctr">
                    <a:lnL>
                      <a:noFill/>
                    </a:lnL>
                    <a:lnR>
                      <a:noFill/>
                    </a:lnR>
                    <a:lnT>
                      <a:noFill/>
                    </a:lnT>
                    <a:lnB>
                      <a:noFill/>
                    </a:lnB>
                  </a:tcPr>
                </a:tc>
                <a:tc>
                  <a:txBody>
                    <a:bodyPr/>
                    <a:lstStyle/>
                    <a:p>
                      <a:r>
                        <a:rPr lang="fr-FR" sz="1400">
                          <a:latin typeface="Aptos" panose="020B0004020202020204" pitchFamily="34" charset="0"/>
                        </a:rPr>
                        <a:t>1 180</a:t>
                      </a:r>
                    </a:p>
                  </a:txBody>
                  <a:tcPr anchor="ctr">
                    <a:lnL>
                      <a:noFill/>
                    </a:lnL>
                    <a:lnR>
                      <a:noFill/>
                    </a:lnR>
                    <a:lnT>
                      <a:noFill/>
                    </a:lnT>
                    <a:lnB>
                      <a:noFill/>
                    </a:lnB>
                  </a:tcPr>
                </a:tc>
                <a:tc>
                  <a:txBody>
                    <a:bodyPr/>
                    <a:lstStyle/>
                    <a:p>
                      <a:r>
                        <a:rPr lang="fr-FR" sz="1400">
                          <a:latin typeface="Aptos" panose="020B0004020202020204" pitchFamily="34" charset="0"/>
                        </a:rPr>
                        <a:t>9,3%</a:t>
                      </a:r>
                    </a:p>
                  </a:txBody>
                  <a:tcPr anchor="ctr">
                    <a:lnL>
                      <a:noFill/>
                    </a:lnL>
                    <a:lnR>
                      <a:noFill/>
                    </a:lnR>
                    <a:lnT>
                      <a:noFill/>
                    </a:lnT>
                    <a:lnB>
                      <a:noFill/>
                    </a:lnB>
                  </a:tcPr>
                </a:tc>
                <a:tc>
                  <a:txBody>
                    <a:bodyPr/>
                    <a:lstStyle/>
                    <a:p>
                      <a:r>
                        <a:rPr lang="pt-BR" sz="1400">
                          <a:latin typeface="Aptos" panose="020B0004020202020204" pitchFamily="34" charset="0"/>
                        </a:rPr>
                        <a:t>AZT: 60 cp, 3TC: 60 cp, LPV/r: 60 cp</a:t>
                      </a:r>
                    </a:p>
                  </a:txBody>
                  <a:tcPr anchor="ctr">
                    <a:lnL>
                      <a:noFill/>
                    </a:lnL>
                    <a:lnR>
                      <a:noFill/>
                    </a:lnR>
                    <a:lnT>
                      <a:noFill/>
                    </a:lnT>
                    <a:lnB>
                      <a:noFill/>
                    </a:lnB>
                  </a:tcPr>
                </a:tc>
                <a:extLst>
                  <a:ext uri="{0D108BD9-81ED-4DB2-BD59-A6C34878D82A}">
                    <a16:rowId xmlns:a16="http://schemas.microsoft.com/office/drawing/2014/main" val="2641978883"/>
                  </a:ext>
                </a:extLst>
              </a:tr>
              <a:tr h="267970">
                <a:tc>
                  <a:txBody>
                    <a:bodyPr/>
                    <a:lstStyle/>
                    <a:p>
                      <a:r>
                        <a:rPr lang="fr-FR" sz="1400" dirty="0">
                          <a:latin typeface="Aptos" panose="020B0004020202020204" pitchFamily="34" charset="0"/>
                        </a:rPr>
                        <a:t>Autres schémas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Divers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450</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3,5%</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Variable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75227011"/>
                  </a:ext>
                </a:extLst>
              </a:tr>
              <a:tr h="267970">
                <a:tc>
                  <a:txBody>
                    <a:bodyPr/>
                    <a:lstStyle/>
                    <a:p>
                      <a:r>
                        <a:rPr lang="fr-FR" sz="1400" b="1">
                          <a:latin typeface="Aptos" panose="020B0004020202020204" pitchFamily="34" charset="0"/>
                        </a:rPr>
                        <a:t>Total</a:t>
                      </a:r>
                      <a:endParaRPr lang="fr-FR" sz="1400">
                        <a:latin typeface="Aptos" panose="020B0004020202020204" pitchFamily="34" charset="0"/>
                      </a:endParaRPr>
                    </a:p>
                  </a:txBody>
                  <a:tcPr anchor="ctr">
                    <a:lnL>
                      <a:noFill/>
                    </a:lnL>
                    <a:lnR>
                      <a:noFill/>
                    </a:lnR>
                    <a:lnT>
                      <a:noFill/>
                    </a:lnT>
                    <a:lnB>
                      <a:noFill/>
                    </a:lnB>
                  </a:tcPr>
                </a:tc>
                <a:tc>
                  <a:txBody>
                    <a:bodyPr/>
                    <a:lstStyle/>
                    <a:p>
                      <a:endParaRPr lang="fr-FR" sz="1400">
                        <a:latin typeface="Aptos" panose="020B0004020202020204" pitchFamily="34" charset="0"/>
                      </a:endParaRPr>
                    </a:p>
                  </a:txBody>
                  <a:tcPr anchor="ctr">
                    <a:lnL>
                      <a:noFill/>
                    </a:lnL>
                    <a:lnR>
                      <a:noFill/>
                    </a:lnR>
                    <a:lnT>
                      <a:noFill/>
                    </a:lnT>
                    <a:lnB>
                      <a:noFill/>
                    </a:lnB>
                  </a:tcPr>
                </a:tc>
                <a:tc>
                  <a:txBody>
                    <a:bodyPr/>
                    <a:lstStyle/>
                    <a:p>
                      <a:r>
                        <a:rPr lang="fr-FR" sz="1400" b="1">
                          <a:latin typeface="Aptos" panose="020B0004020202020204" pitchFamily="34" charset="0"/>
                        </a:rPr>
                        <a:t>12 680</a:t>
                      </a:r>
                      <a:endParaRPr lang="fr-FR" sz="1400">
                        <a:latin typeface="Aptos" panose="020B0004020202020204" pitchFamily="34" charset="0"/>
                      </a:endParaRPr>
                    </a:p>
                  </a:txBody>
                  <a:tcPr anchor="ctr">
                    <a:lnL>
                      <a:noFill/>
                    </a:lnL>
                    <a:lnR>
                      <a:noFill/>
                    </a:lnR>
                    <a:lnT>
                      <a:noFill/>
                    </a:lnT>
                    <a:lnB>
                      <a:noFill/>
                    </a:lnB>
                  </a:tcPr>
                </a:tc>
                <a:tc>
                  <a:txBody>
                    <a:bodyPr/>
                    <a:lstStyle/>
                    <a:p>
                      <a:r>
                        <a:rPr lang="fr-FR" sz="1400" b="1">
                          <a:latin typeface="Aptos" panose="020B0004020202020204" pitchFamily="34" charset="0"/>
                        </a:rPr>
                        <a:t>100%</a:t>
                      </a:r>
                      <a:endParaRPr lang="fr-FR" sz="1400">
                        <a:latin typeface="Aptos" panose="020B0004020202020204" pitchFamily="34" charset="0"/>
                      </a:endParaRPr>
                    </a:p>
                  </a:txBody>
                  <a:tcPr anchor="ctr">
                    <a:lnL>
                      <a:noFill/>
                    </a:lnL>
                    <a:lnR>
                      <a:noFill/>
                    </a:lnR>
                    <a:lnT>
                      <a:noFill/>
                    </a:lnT>
                    <a:lnB>
                      <a:noFill/>
                    </a:lnB>
                  </a:tcPr>
                </a:tc>
                <a:tc>
                  <a:txBody>
                    <a:bodyPr/>
                    <a:lstStyle/>
                    <a:p>
                      <a:endParaRPr lang="fr-FR" sz="1400" dirty="0">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3153785035"/>
                  </a:ext>
                </a:extLst>
              </a:tr>
            </a:tbl>
          </a:graphicData>
        </a:graphic>
      </p:graphicFrame>
    </p:spTree>
    <p:extLst>
      <p:ext uri="{BB962C8B-B14F-4D97-AF65-F5344CB8AC3E}">
        <p14:creationId xmlns:p14="http://schemas.microsoft.com/office/powerpoint/2010/main" val="29842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Concepts clés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707886"/>
          </a:xfrm>
          <a:prstGeom prst="rect">
            <a:avLst/>
          </a:prstGeom>
          <a:noFill/>
        </p:spPr>
        <p:txBody>
          <a:bodyPr wrap="square">
            <a:spAutoFit/>
          </a:bodyPr>
          <a:lstStyle/>
          <a:p>
            <a:r>
              <a:rPr lang="fr-FR" sz="2000" b="1" dirty="0">
                <a:latin typeface="Aptos" panose="020B0004020202020204" pitchFamily="34" charset="0"/>
              </a:rPr>
              <a:t>Concept 3 — Le pipeline d'approvisionnement</a:t>
            </a:r>
          </a:p>
          <a:p>
            <a:pPr marL="800100" lvl="1" indent="-342900">
              <a:buFont typeface="Arial" panose="020B0604020202020204" pitchFamily="34" charset="0"/>
              <a:buChar char="•"/>
            </a:pPr>
            <a:r>
              <a:rPr lang="fr-FR" sz="2000" dirty="0">
                <a:latin typeface="Aptos" panose="020B0004020202020204" pitchFamily="34" charset="0"/>
              </a:rPr>
              <a:t>PipeLine modélise le stock à chaque niveau de la chaîne d'approvisionnement :</a:t>
            </a:r>
            <a:endParaRPr lang="fr-FR" sz="2000" b="1" dirty="0">
              <a:latin typeface="Aptos" panose="020B0004020202020204" pitchFamily="34" charset="0"/>
            </a:endParaRPr>
          </a:p>
        </p:txBody>
      </p:sp>
      <p:sp>
        <p:nvSpPr>
          <p:cNvPr id="13" name="ZoneTexte 12">
            <a:extLst>
              <a:ext uri="{FF2B5EF4-FFF2-40B4-BE49-F238E27FC236}">
                <a16:creationId xmlns:a16="http://schemas.microsoft.com/office/drawing/2014/main" id="{F2ADADDF-2CC9-443A-A230-6940908087F4}"/>
              </a:ext>
            </a:extLst>
          </p:cNvPr>
          <p:cNvSpPr txBox="1"/>
          <p:nvPr/>
        </p:nvSpPr>
        <p:spPr>
          <a:xfrm>
            <a:off x="2993170" y="3367131"/>
            <a:ext cx="5110595" cy="2031325"/>
          </a:xfrm>
          <a:prstGeom prst="rect">
            <a:avLst/>
          </a:prstGeom>
          <a:noFill/>
        </p:spPr>
        <p:txBody>
          <a:bodyPr wrap="square">
            <a:spAutoFit/>
          </a:bodyPr>
          <a:lstStyle/>
          <a:p>
            <a:r>
              <a:rPr lang="fr-FR" dirty="0">
                <a:latin typeface="Aptos" panose="020B0004020202020204" pitchFamily="34" charset="0"/>
              </a:rPr>
              <a:t>Niveau 1 : Stock central (Centrale d'achat)</a:t>
            </a:r>
          </a:p>
          <a:p>
            <a:r>
              <a:rPr lang="fr-FR" dirty="0">
                <a:latin typeface="Aptos" panose="020B0004020202020204" pitchFamily="34" charset="0"/>
              </a:rPr>
              <a:t>        ↓</a:t>
            </a:r>
          </a:p>
          <a:p>
            <a:r>
              <a:rPr lang="fr-FR" dirty="0">
                <a:latin typeface="Aptos" panose="020B0004020202020204" pitchFamily="34" charset="0"/>
              </a:rPr>
              <a:t>Niveau 2 : Stock régional (Dépôts régionaux)</a:t>
            </a:r>
          </a:p>
          <a:p>
            <a:r>
              <a:rPr lang="fr-FR" dirty="0">
                <a:latin typeface="Aptos" panose="020B0004020202020204" pitchFamily="34" charset="0"/>
              </a:rPr>
              <a:t>        ↓</a:t>
            </a:r>
          </a:p>
          <a:p>
            <a:r>
              <a:rPr lang="fr-FR" dirty="0">
                <a:latin typeface="Aptos" panose="020B0004020202020204" pitchFamily="34" charset="0"/>
              </a:rPr>
              <a:t>Niveau 3 : Stock district (Dépôts de district)</a:t>
            </a:r>
          </a:p>
          <a:p>
            <a:r>
              <a:rPr lang="fr-FR" dirty="0">
                <a:latin typeface="Aptos" panose="020B0004020202020204" pitchFamily="34" charset="0"/>
              </a:rPr>
              <a:t>        ↓</a:t>
            </a:r>
          </a:p>
          <a:p>
            <a:r>
              <a:rPr lang="fr-FR" dirty="0">
                <a:latin typeface="Aptos" panose="020B0004020202020204" pitchFamily="34" charset="0"/>
              </a:rPr>
              <a:t>Niveau 4 : Stock site (Pharmacies des sites VIH)</a:t>
            </a:r>
          </a:p>
        </p:txBody>
      </p:sp>
      <p:sp>
        <p:nvSpPr>
          <p:cNvPr id="15" name="ZoneTexte 14">
            <a:extLst>
              <a:ext uri="{FF2B5EF4-FFF2-40B4-BE49-F238E27FC236}">
                <a16:creationId xmlns:a16="http://schemas.microsoft.com/office/drawing/2014/main" id="{DFD3524C-66E1-46C6-9683-668DC4B11C71}"/>
              </a:ext>
            </a:extLst>
          </p:cNvPr>
          <p:cNvSpPr txBox="1"/>
          <p:nvPr/>
        </p:nvSpPr>
        <p:spPr>
          <a:xfrm>
            <a:off x="1431919" y="5680537"/>
            <a:ext cx="10212000" cy="646331"/>
          </a:xfrm>
          <a:prstGeom prst="rect">
            <a:avLst/>
          </a:prstGeom>
          <a:noFill/>
        </p:spPr>
        <p:txBody>
          <a:bodyPr wrap="square">
            <a:spAutoFit/>
          </a:bodyPr>
          <a:lstStyle/>
          <a:p>
            <a:r>
              <a:rPr lang="fr-FR" dirty="0">
                <a:latin typeface="Aptos" panose="020B0004020202020204" pitchFamily="34" charset="0"/>
              </a:rPr>
              <a:t>Pour chaque niveau, PipeLine calcule le stock disponible, la consommation mensuelle et le stock de sécurité nécessaire.</a:t>
            </a:r>
          </a:p>
        </p:txBody>
      </p:sp>
    </p:spTree>
    <p:extLst>
      <p:ext uri="{BB962C8B-B14F-4D97-AF65-F5344CB8AC3E}">
        <p14:creationId xmlns:p14="http://schemas.microsoft.com/office/powerpoint/2010/main" val="310684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Fonctionnement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400110"/>
          </a:xfrm>
          <a:prstGeom prst="rect">
            <a:avLst/>
          </a:prstGeom>
          <a:noFill/>
        </p:spPr>
        <p:txBody>
          <a:bodyPr wrap="square">
            <a:spAutoFit/>
          </a:bodyPr>
          <a:lstStyle/>
          <a:p>
            <a:r>
              <a:rPr lang="fr-FR" sz="2000" b="1" dirty="0">
                <a:latin typeface="Aptos" panose="020B0004020202020204" pitchFamily="34" charset="0"/>
              </a:rPr>
              <a:t>Étape 1 — Saisie de la file active et des projections</a:t>
            </a:r>
          </a:p>
        </p:txBody>
      </p:sp>
      <p:sp>
        <p:nvSpPr>
          <p:cNvPr id="16" name="ZoneTexte 15">
            <a:extLst>
              <a:ext uri="{FF2B5EF4-FFF2-40B4-BE49-F238E27FC236}">
                <a16:creationId xmlns:a16="http://schemas.microsoft.com/office/drawing/2014/main" id="{E5663720-5346-4AEB-84D4-F7B7B4EBFD52}"/>
              </a:ext>
            </a:extLst>
          </p:cNvPr>
          <p:cNvSpPr txBox="1"/>
          <p:nvPr/>
        </p:nvSpPr>
        <p:spPr>
          <a:xfrm>
            <a:off x="919730" y="3179556"/>
            <a:ext cx="10591376" cy="2554545"/>
          </a:xfrm>
          <a:prstGeom prst="rect">
            <a:avLst/>
          </a:prstGeom>
          <a:noFill/>
        </p:spPr>
        <p:txBody>
          <a:bodyPr wrap="square">
            <a:spAutoFit/>
          </a:bodyPr>
          <a:lstStyle/>
          <a:p>
            <a:r>
              <a:rPr lang="fr-FR" sz="2000" b="1" dirty="0">
                <a:latin typeface="Aptos" panose="020B0004020202020204" pitchFamily="34" charset="0"/>
              </a:rPr>
              <a:t>L'utilisateur saisit </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La file active actuelle par site et par schéma</a:t>
            </a:r>
          </a:p>
          <a:p>
            <a:pPr marL="800100" lvl="1" indent="-342900">
              <a:buFont typeface="Arial" panose="020B0604020202020204" pitchFamily="34" charset="0"/>
              <a:buChar char="•"/>
            </a:pPr>
            <a:r>
              <a:rPr lang="fr-FR" sz="2000" dirty="0">
                <a:latin typeface="Aptos" panose="020B0004020202020204" pitchFamily="34" charset="0"/>
              </a:rPr>
              <a:t>Le taux mensuel de nouveaux enrôlements</a:t>
            </a:r>
          </a:p>
          <a:p>
            <a:pPr marL="800100" lvl="1" indent="-342900">
              <a:buFont typeface="Arial" panose="020B0604020202020204" pitchFamily="34" charset="0"/>
              <a:buChar char="•"/>
            </a:pPr>
            <a:r>
              <a:rPr lang="fr-FR" sz="2000" dirty="0">
                <a:latin typeface="Aptos" panose="020B0004020202020204" pitchFamily="34" charset="0"/>
              </a:rPr>
              <a:t>Le taux d'attrition (décès + perdus de vue)</a:t>
            </a:r>
          </a:p>
          <a:p>
            <a:pPr marL="800100" lvl="1" indent="-342900">
              <a:buFont typeface="Arial" panose="020B0604020202020204" pitchFamily="34" charset="0"/>
              <a:buChar char="•"/>
            </a:pPr>
            <a:r>
              <a:rPr lang="fr-FR" sz="2000" dirty="0">
                <a:latin typeface="Aptos" panose="020B0004020202020204" pitchFamily="34" charset="0"/>
              </a:rPr>
              <a:t>Les projections d'évolution du programme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PipeLine projette automatiquement </a:t>
            </a:r>
            <a:r>
              <a:rPr lang="fr-FR" sz="2000" dirty="0">
                <a:latin typeface="Aptos" panose="020B0004020202020204" pitchFamily="34" charset="0"/>
              </a:rPr>
              <a:t>la file active pour chaque mois de la période de planification.</a:t>
            </a:r>
            <a:endParaRPr lang="fr-FR" sz="2000" b="1" dirty="0">
              <a:latin typeface="Aptos" panose="020B0004020202020204" pitchFamily="34" charset="0"/>
            </a:endParaRPr>
          </a:p>
        </p:txBody>
      </p:sp>
    </p:spTree>
    <p:extLst>
      <p:ext uri="{BB962C8B-B14F-4D97-AF65-F5344CB8AC3E}">
        <p14:creationId xmlns:p14="http://schemas.microsoft.com/office/powerpoint/2010/main" val="373785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Fonctionnement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400110"/>
          </a:xfrm>
          <a:prstGeom prst="rect">
            <a:avLst/>
          </a:prstGeom>
          <a:noFill/>
        </p:spPr>
        <p:txBody>
          <a:bodyPr wrap="square">
            <a:spAutoFit/>
          </a:bodyPr>
          <a:lstStyle/>
          <a:p>
            <a:r>
              <a:rPr lang="fr-FR" sz="2000" b="1" dirty="0">
                <a:latin typeface="Aptos" panose="020B0004020202020204" pitchFamily="34" charset="0"/>
              </a:rPr>
              <a:t>Étape 2 — Calcul des besoins en ARV</a:t>
            </a:r>
          </a:p>
        </p:txBody>
      </p:sp>
      <p:sp>
        <p:nvSpPr>
          <p:cNvPr id="16" name="ZoneTexte 15">
            <a:extLst>
              <a:ext uri="{FF2B5EF4-FFF2-40B4-BE49-F238E27FC236}">
                <a16:creationId xmlns:a16="http://schemas.microsoft.com/office/drawing/2014/main" id="{E5663720-5346-4AEB-84D4-F7B7B4EBFD52}"/>
              </a:ext>
            </a:extLst>
          </p:cNvPr>
          <p:cNvSpPr txBox="1"/>
          <p:nvPr/>
        </p:nvSpPr>
        <p:spPr>
          <a:xfrm>
            <a:off x="919730" y="3179556"/>
            <a:ext cx="10591376" cy="707886"/>
          </a:xfrm>
          <a:prstGeom prst="rect">
            <a:avLst/>
          </a:prstGeom>
          <a:noFill/>
        </p:spPr>
        <p:txBody>
          <a:bodyPr wrap="square">
            <a:spAutoFit/>
          </a:bodyPr>
          <a:lstStyle/>
          <a:p>
            <a:r>
              <a:rPr lang="fr-FR" sz="2000" dirty="0">
                <a:latin typeface="Aptos" panose="020B0004020202020204" pitchFamily="34" charset="0"/>
              </a:rPr>
              <a:t>À partir de la file active mensuelle projetée et de la répartition par schéma, PipeLine calcule les besoins mensuels en chaque ARV.</a:t>
            </a:r>
          </a:p>
        </p:txBody>
      </p:sp>
      <p:sp>
        <p:nvSpPr>
          <p:cNvPr id="13" name="ZoneTexte 12">
            <a:extLst>
              <a:ext uri="{FF2B5EF4-FFF2-40B4-BE49-F238E27FC236}">
                <a16:creationId xmlns:a16="http://schemas.microsoft.com/office/drawing/2014/main" id="{C7E499DA-0CDC-43F6-AF58-8F6442E994DB}"/>
              </a:ext>
            </a:extLst>
          </p:cNvPr>
          <p:cNvSpPr txBox="1"/>
          <p:nvPr/>
        </p:nvSpPr>
        <p:spPr>
          <a:xfrm>
            <a:off x="919730" y="4383328"/>
            <a:ext cx="10591376" cy="400110"/>
          </a:xfrm>
          <a:prstGeom prst="rect">
            <a:avLst/>
          </a:prstGeom>
          <a:noFill/>
        </p:spPr>
        <p:txBody>
          <a:bodyPr wrap="square">
            <a:spAutoFit/>
          </a:bodyPr>
          <a:lstStyle/>
          <a:p>
            <a:r>
              <a:rPr lang="fr-FR" sz="2000" b="1" dirty="0">
                <a:latin typeface="Aptos" panose="020B0004020202020204" pitchFamily="34" charset="0"/>
              </a:rPr>
              <a:t>Étape 3 — Gestion du pipeline (stocks multi-niveaux)</a:t>
            </a:r>
          </a:p>
        </p:txBody>
      </p:sp>
      <p:sp>
        <p:nvSpPr>
          <p:cNvPr id="15" name="ZoneTexte 14">
            <a:extLst>
              <a:ext uri="{FF2B5EF4-FFF2-40B4-BE49-F238E27FC236}">
                <a16:creationId xmlns:a16="http://schemas.microsoft.com/office/drawing/2014/main" id="{4123EDA9-0B7D-4B35-BF59-B19FBA6D04D7}"/>
              </a:ext>
            </a:extLst>
          </p:cNvPr>
          <p:cNvSpPr txBox="1"/>
          <p:nvPr/>
        </p:nvSpPr>
        <p:spPr>
          <a:xfrm>
            <a:off x="919730" y="4955245"/>
            <a:ext cx="10591376" cy="707886"/>
          </a:xfrm>
          <a:prstGeom prst="rect">
            <a:avLst/>
          </a:prstGeom>
          <a:noFill/>
        </p:spPr>
        <p:txBody>
          <a:bodyPr wrap="square">
            <a:spAutoFit/>
          </a:bodyPr>
          <a:lstStyle/>
          <a:p>
            <a:r>
              <a:rPr lang="fr-FR" sz="2000" dirty="0">
                <a:latin typeface="Aptos" panose="020B0004020202020204" pitchFamily="34" charset="0"/>
              </a:rPr>
              <a:t>PipeLine calcule le stock total dans le pipeline à chaque niveau et identifie les niveaux en rupture ou en surstock.</a:t>
            </a:r>
          </a:p>
        </p:txBody>
      </p:sp>
    </p:spTree>
    <p:extLst>
      <p:ext uri="{BB962C8B-B14F-4D97-AF65-F5344CB8AC3E}">
        <p14:creationId xmlns:p14="http://schemas.microsoft.com/office/powerpoint/2010/main" val="331411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Fonctionnement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400110"/>
          </a:xfrm>
          <a:prstGeom prst="rect">
            <a:avLst/>
          </a:prstGeom>
          <a:noFill/>
        </p:spPr>
        <p:txBody>
          <a:bodyPr wrap="square">
            <a:spAutoFit/>
          </a:bodyPr>
          <a:lstStyle/>
          <a:p>
            <a:r>
              <a:rPr lang="fr-FR" sz="2000" b="1" dirty="0">
                <a:latin typeface="Aptos" panose="020B0004020202020204" pitchFamily="34" charset="0"/>
              </a:rPr>
              <a:t>Étape 4 — Calcul de la quantité à commander</a:t>
            </a:r>
          </a:p>
        </p:txBody>
      </p:sp>
      <p:sp>
        <p:nvSpPr>
          <p:cNvPr id="16" name="ZoneTexte 15">
            <a:extLst>
              <a:ext uri="{FF2B5EF4-FFF2-40B4-BE49-F238E27FC236}">
                <a16:creationId xmlns:a16="http://schemas.microsoft.com/office/drawing/2014/main" id="{E5663720-5346-4AEB-84D4-F7B7B4EBFD52}"/>
              </a:ext>
            </a:extLst>
          </p:cNvPr>
          <p:cNvSpPr txBox="1"/>
          <p:nvPr/>
        </p:nvSpPr>
        <p:spPr>
          <a:xfrm>
            <a:off x="919730" y="3179556"/>
            <a:ext cx="10591376" cy="1938992"/>
          </a:xfrm>
          <a:prstGeom prst="rect">
            <a:avLst/>
          </a:prstGeom>
          <a:noFill/>
        </p:spPr>
        <p:txBody>
          <a:bodyPr wrap="square">
            <a:spAutoFit/>
          </a:bodyPr>
          <a:lstStyle/>
          <a:p>
            <a:r>
              <a:rPr lang="fr-FR" sz="2000" dirty="0">
                <a:latin typeface="Aptos" panose="020B0004020202020204" pitchFamily="34" charset="0"/>
              </a:rPr>
              <a:t>PipeLine calcule la quantité à commander en tenant compte du stock total dans le pipeline (pas seulement le stock central).</a:t>
            </a:r>
          </a:p>
          <a:p>
            <a:endParaRPr lang="fr-FR" sz="2000" dirty="0">
              <a:latin typeface="Aptos" panose="020B0004020202020204" pitchFamily="34" charset="0"/>
            </a:endParaRPr>
          </a:p>
          <a:p>
            <a:r>
              <a:rPr lang="fr-FR" sz="2000" dirty="0">
                <a:latin typeface="Aptos" panose="020B0004020202020204" pitchFamily="34" charset="0"/>
              </a:rPr>
              <a:t>Formule PipeLine :</a:t>
            </a:r>
          </a:p>
          <a:p>
            <a:pPr marL="800100" lvl="1" indent="-342900">
              <a:buFont typeface="Arial" panose="020B0604020202020204" pitchFamily="34" charset="0"/>
              <a:buChar char="•"/>
            </a:pPr>
            <a:r>
              <a:rPr lang="fr-FR" sz="2000" b="1" dirty="0">
                <a:latin typeface="Aptos" panose="020B0004020202020204" pitchFamily="34" charset="0"/>
              </a:rPr>
              <a:t>Quantité à commander = Besoins période de planification + Stock de sécurité − Stock total pipeline − Commandes en transit</a:t>
            </a:r>
          </a:p>
        </p:txBody>
      </p:sp>
    </p:spTree>
    <p:extLst>
      <p:ext uri="{BB962C8B-B14F-4D97-AF65-F5344CB8AC3E}">
        <p14:creationId xmlns:p14="http://schemas.microsoft.com/office/powerpoint/2010/main" val="424251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PipeLine</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Forces et limites de PipeLine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4692505" cy="3477875"/>
          </a:xfrm>
          <a:prstGeom prst="rect">
            <a:avLst/>
          </a:prstGeom>
          <a:noFill/>
        </p:spPr>
        <p:txBody>
          <a:bodyPr wrap="square">
            <a:spAutoFit/>
          </a:bodyPr>
          <a:lstStyle/>
          <a:p>
            <a:r>
              <a:rPr lang="fr-FR" sz="2000" b="1" dirty="0">
                <a:latin typeface="Aptos" panose="020B0004020202020204" pitchFamily="34" charset="0"/>
              </a:rPr>
              <a:t>Forces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Parfaitement adapté aux programmes ARV avec gestion de file active</a:t>
            </a:r>
          </a:p>
          <a:p>
            <a:pPr marL="342900" indent="-342900">
              <a:buFont typeface="Arial" panose="020B0604020202020204" pitchFamily="34" charset="0"/>
              <a:buChar char="•"/>
            </a:pPr>
            <a:r>
              <a:rPr lang="fr-FR" sz="2000" dirty="0">
                <a:latin typeface="Aptos" panose="020B0004020202020204" pitchFamily="34" charset="0"/>
              </a:rPr>
              <a:t>Modélisation multi-niveaux du pipeline d'approvisionnement</a:t>
            </a:r>
          </a:p>
          <a:p>
            <a:pPr marL="342900" indent="-342900">
              <a:buFont typeface="Arial" panose="020B0604020202020204" pitchFamily="34" charset="0"/>
              <a:buChar char="•"/>
            </a:pPr>
            <a:r>
              <a:rPr lang="fr-FR" sz="2000" dirty="0">
                <a:latin typeface="Aptos" panose="020B0004020202020204" pitchFamily="34" charset="0"/>
              </a:rPr>
              <a:t>Détection automatique des surstocks et ruptures à chaque niveau</a:t>
            </a:r>
          </a:p>
          <a:p>
            <a:pPr marL="342900" indent="-342900">
              <a:buFont typeface="Arial" panose="020B0604020202020204" pitchFamily="34" charset="0"/>
              <a:buChar char="•"/>
            </a:pPr>
            <a:r>
              <a:rPr lang="fr-FR" sz="2000" dirty="0">
                <a:latin typeface="Aptos" panose="020B0004020202020204" pitchFamily="34" charset="0"/>
              </a:rPr>
              <a:t>Gestion des transitions entre schémas thérapeutiques</a:t>
            </a:r>
          </a:p>
          <a:p>
            <a:pPr marL="342900" indent="-342900">
              <a:buFont typeface="Arial" panose="020B0604020202020204" pitchFamily="34" charset="0"/>
              <a:buChar char="•"/>
            </a:pPr>
            <a:r>
              <a:rPr lang="fr-FR" sz="2000" dirty="0">
                <a:latin typeface="Aptos" panose="020B0004020202020204" pitchFamily="34" charset="0"/>
              </a:rPr>
              <a:t>Calcul précis prenant en compte le stock total du pipeline</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6906937" y="2658075"/>
            <a:ext cx="4946706" cy="2862322"/>
          </a:xfrm>
          <a:prstGeom prst="rect">
            <a:avLst/>
          </a:prstGeom>
          <a:noFill/>
        </p:spPr>
        <p:txBody>
          <a:bodyPr wrap="square">
            <a:spAutoFit/>
          </a:bodyPr>
          <a:lstStyle/>
          <a:p>
            <a:r>
              <a:rPr lang="fr-FR" sz="2000" b="1" dirty="0">
                <a:latin typeface="Aptos" panose="020B0004020202020204" pitchFamily="34" charset="0"/>
              </a:rPr>
              <a:t>Limites</a:t>
            </a:r>
            <a:r>
              <a:rPr lang="fr-FR" sz="2000" dirty="0">
                <a:latin typeface="Aptos" panose="020B0004020202020204" pitchFamily="34" charset="0"/>
              </a:rPr>
              <a:t> :</a:t>
            </a:r>
          </a:p>
          <a:p>
            <a:pPr marL="285750" indent="-285750">
              <a:buFont typeface="Arial" panose="020B0604020202020204" pitchFamily="34" charset="0"/>
              <a:buChar char="•"/>
            </a:pPr>
            <a:r>
              <a:rPr lang="fr-FR" sz="2000" dirty="0">
                <a:latin typeface="Aptos" panose="020B0004020202020204" pitchFamily="34" charset="0"/>
              </a:rPr>
              <a:t>Conçu spécifiquement pour les ARV, peu adapté aux autres médicaments</a:t>
            </a:r>
          </a:p>
          <a:p>
            <a:pPr marL="285750" indent="-285750">
              <a:buFont typeface="Arial" panose="020B0604020202020204" pitchFamily="34" charset="0"/>
              <a:buChar char="•"/>
            </a:pPr>
            <a:r>
              <a:rPr lang="fr-FR" sz="2000" dirty="0">
                <a:latin typeface="Aptos" panose="020B0004020202020204" pitchFamily="34" charset="0"/>
              </a:rPr>
              <a:t>Données de file active doivent être régulièrement mises à jour</a:t>
            </a:r>
          </a:p>
          <a:p>
            <a:pPr marL="285750" indent="-285750">
              <a:buFont typeface="Arial" panose="020B0604020202020204" pitchFamily="34" charset="0"/>
              <a:buChar char="•"/>
            </a:pPr>
            <a:r>
              <a:rPr lang="fr-FR" sz="2000" dirty="0">
                <a:latin typeface="Aptos" panose="020B0004020202020204" pitchFamily="34" charset="0"/>
              </a:rPr>
              <a:t>Pas de gestion de la saisonnalité</a:t>
            </a:r>
          </a:p>
          <a:p>
            <a:pPr marL="285750" indent="-285750">
              <a:buFont typeface="Arial" panose="020B0604020202020204" pitchFamily="34" charset="0"/>
              <a:buChar char="•"/>
            </a:pPr>
            <a:r>
              <a:rPr lang="fr-FR" sz="2000" dirty="0">
                <a:latin typeface="Aptos" panose="020B0004020202020204" pitchFamily="34" charset="0"/>
              </a:rPr>
              <a:t>Interface complexe pour les non-initiés</a:t>
            </a:r>
          </a:p>
          <a:p>
            <a:pPr marL="285750" indent="-285750">
              <a:buFont typeface="Arial" panose="020B0604020202020204" pitchFamily="34" charset="0"/>
              <a:buChar char="•"/>
            </a:pPr>
            <a:r>
              <a:rPr lang="fr-FR" sz="2000" dirty="0">
                <a:latin typeface="Aptos" panose="020B0004020202020204" pitchFamily="34" charset="0"/>
              </a:rPr>
              <a:t>Support technique limité pour les versions récentes</a:t>
            </a:r>
          </a:p>
        </p:txBody>
      </p:sp>
    </p:spTree>
    <p:extLst>
      <p:ext uri="{BB962C8B-B14F-4D97-AF65-F5344CB8AC3E}">
        <p14:creationId xmlns:p14="http://schemas.microsoft.com/office/powerpoint/2010/main" val="145812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Présentation générale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3785652"/>
          </a:xfrm>
          <a:prstGeom prst="rect">
            <a:avLst/>
          </a:prstGeom>
          <a:noFill/>
        </p:spPr>
        <p:txBody>
          <a:bodyPr wrap="square">
            <a:spAutoFit/>
          </a:bodyPr>
          <a:lstStyle/>
          <a:p>
            <a:r>
              <a:rPr lang="fr-FR" sz="2000" dirty="0">
                <a:latin typeface="Aptos" panose="020B0004020202020204" pitchFamily="34" charset="0"/>
              </a:rPr>
              <a:t>ForLAB (</a:t>
            </a:r>
            <a:r>
              <a:rPr lang="fr-FR" sz="2000" dirty="0" err="1">
                <a:latin typeface="Aptos" panose="020B0004020202020204" pitchFamily="34" charset="0"/>
              </a:rPr>
              <a:t>Forecasting</a:t>
            </a:r>
            <a:r>
              <a:rPr lang="fr-FR" sz="2000" dirty="0">
                <a:latin typeface="Aptos" panose="020B0004020202020204" pitchFamily="34" charset="0"/>
              </a:rPr>
              <a:t> </a:t>
            </a:r>
            <a:r>
              <a:rPr lang="fr-FR" sz="2000" dirty="0" err="1">
                <a:latin typeface="Aptos" panose="020B0004020202020204" pitchFamily="34" charset="0"/>
              </a:rPr>
              <a:t>Laboratory</a:t>
            </a:r>
            <a:r>
              <a:rPr lang="fr-FR" sz="2000" dirty="0">
                <a:latin typeface="Aptos" panose="020B0004020202020204" pitchFamily="34" charset="0"/>
              </a:rPr>
              <a:t> </a:t>
            </a:r>
            <a:r>
              <a:rPr lang="fr-FR" sz="2000" dirty="0" err="1">
                <a:latin typeface="Aptos" panose="020B0004020202020204" pitchFamily="34" charset="0"/>
              </a:rPr>
              <a:t>Commodities</a:t>
            </a:r>
            <a:r>
              <a:rPr lang="fr-FR" sz="2000" dirty="0">
                <a:latin typeface="Aptos" panose="020B0004020202020204" pitchFamily="34" charset="0"/>
              </a:rPr>
              <a:t>) est un outil développé par le CDC (Centers for </a:t>
            </a:r>
            <a:r>
              <a:rPr lang="fr-FR" sz="2000" dirty="0" err="1">
                <a:latin typeface="Aptos" panose="020B0004020202020204" pitchFamily="34" charset="0"/>
              </a:rPr>
              <a:t>Disease</a:t>
            </a:r>
            <a:r>
              <a:rPr lang="fr-FR" sz="2000" dirty="0">
                <a:latin typeface="Aptos" panose="020B0004020202020204" pitchFamily="34" charset="0"/>
              </a:rPr>
              <a:t> Control and Prevention) et l'OMS, spécifiquement pour la quantification des réactifs et consommables de laboratoire. </a:t>
            </a:r>
          </a:p>
          <a:p>
            <a:endParaRPr lang="fr-FR" sz="2000" dirty="0">
              <a:latin typeface="Aptos" panose="020B0004020202020204" pitchFamily="34" charset="0"/>
            </a:endParaRPr>
          </a:p>
          <a:p>
            <a:r>
              <a:rPr lang="fr-FR" sz="2000" dirty="0">
                <a:latin typeface="Aptos" panose="020B0004020202020204" pitchFamily="34" charset="0"/>
              </a:rPr>
              <a:t>Dans les programmes de santé publique, les réactifs de laboratoire constituent une catégorie particulière de produits pharmaceutiques, avec des caractéristiques qui rendent les outils génériques peu adaptés : </a:t>
            </a:r>
          </a:p>
          <a:p>
            <a:pPr marL="800100" lvl="1" indent="-342900">
              <a:buFont typeface="Arial" panose="020B0604020202020204" pitchFamily="34" charset="0"/>
              <a:buChar char="•"/>
            </a:pPr>
            <a:r>
              <a:rPr lang="fr-FR" sz="2000" dirty="0">
                <a:latin typeface="Aptos" panose="020B0004020202020204" pitchFamily="34" charset="0"/>
              </a:rPr>
              <a:t>les réactifs sont souvent liés à des équipements spécifiques (automates), </a:t>
            </a:r>
          </a:p>
          <a:p>
            <a:pPr marL="800100" lvl="1" indent="-342900">
              <a:buFont typeface="Arial" panose="020B0604020202020204" pitchFamily="34" charset="0"/>
              <a:buChar char="•"/>
            </a:pPr>
            <a:r>
              <a:rPr lang="fr-FR" sz="2000" dirty="0">
                <a:latin typeface="Aptos" panose="020B0004020202020204" pitchFamily="34" charset="0"/>
              </a:rPr>
              <a:t>leur consommation dépend du nombre de tests réalisés et non du nombre de patients et </a:t>
            </a:r>
          </a:p>
          <a:p>
            <a:pPr marL="800100" lvl="1" indent="-342900">
              <a:buFont typeface="Arial" panose="020B0604020202020204" pitchFamily="34" charset="0"/>
              <a:buChar char="•"/>
            </a:pPr>
            <a:r>
              <a:rPr lang="fr-FR" sz="2000" dirty="0">
                <a:latin typeface="Aptos" panose="020B0004020202020204" pitchFamily="34" charset="0"/>
              </a:rPr>
              <a:t>leur gestion implique des notions de calibration de contrôle qualité et de rendement par kit qui n'existent pas pour les médicaments.</a:t>
            </a:r>
          </a:p>
        </p:txBody>
      </p:sp>
    </p:spTree>
    <p:extLst>
      <p:ext uri="{BB962C8B-B14F-4D97-AF65-F5344CB8AC3E}">
        <p14:creationId xmlns:p14="http://schemas.microsoft.com/office/powerpoint/2010/main" val="220881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Spécificités des réactifs de laboratoire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323439"/>
          </a:xfrm>
          <a:prstGeom prst="rect">
            <a:avLst/>
          </a:prstGeom>
          <a:noFill/>
        </p:spPr>
        <p:txBody>
          <a:bodyPr wrap="square">
            <a:spAutoFit/>
          </a:bodyPr>
          <a:lstStyle/>
          <a:p>
            <a:r>
              <a:rPr lang="fr-FR" sz="2000" b="1" dirty="0">
                <a:latin typeface="Aptos" panose="020B0004020202020204" pitchFamily="34" charset="0"/>
              </a:rPr>
              <a:t>Caractéristique 1 — La notion de test par kit</a:t>
            </a:r>
          </a:p>
          <a:p>
            <a:pPr marL="800100" lvl="1" indent="-342900">
              <a:buFont typeface="Arial" panose="020B0604020202020204" pitchFamily="34" charset="0"/>
              <a:buChar char="•"/>
            </a:pPr>
            <a:r>
              <a:rPr lang="fr-FR" sz="2000" dirty="0">
                <a:latin typeface="Aptos" panose="020B0004020202020204" pitchFamily="34" charset="0"/>
              </a:rPr>
              <a:t>Un kit de réactifs ne contient pas une dose par patient. </a:t>
            </a:r>
          </a:p>
          <a:p>
            <a:pPr marL="800100" lvl="1" indent="-342900">
              <a:buFont typeface="Arial" panose="020B0604020202020204" pitchFamily="34" charset="0"/>
              <a:buChar char="•"/>
            </a:pPr>
            <a:r>
              <a:rPr lang="fr-FR" sz="2000" dirty="0">
                <a:latin typeface="Aptos" panose="020B0004020202020204" pitchFamily="34" charset="0"/>
              </a:rPr>
              <a:t>Il contient un nombre défini de tests, mais ce nombre n'est jamais entièrement utilisé à cause des contrôles qualité et des calibrations.</a:t>
            </a:r>
          </a:p>
        </p:txBody>
      </p:sp>
      <p:sp>
        <p:nvSpPr>
          <p:cNvPr id="13" name="ZoneTexte 12">
            <a:extLst>
              <a:ext uri="{FF2B5EF4-FFF2-40B4-BE49-F238E27FC236}">
                <a16:creationId xmlns:a16="http://schemas.microsoft.com/office/drawing/2014/main" id="{FBE4D9C5-0D5E-447D-AD20-48FFDF9D6A7F}"/>
              </a:ext>
            </a:extLst>
          </p:cNvPr>
          <p:cNvSpPr txBox="1"/>
          <p:nvPr/>
        </p:nvSpPr>
        <p:spPr>
          <a:xfrm>
            <a:off x="919730" y="4108859"/>
            <a:ext cx="10211658" cy="1323439"/>
          </a:xfrm>
          <a:prstGeom prst="rect">
            <a:avLst/>
          </a:prstGeom>
          <a:noFill/>
        </p:spPr>
        <p:txBody>
          <a:bodyPr wrap="square">
            <a:spAutoFit/>
          </a:bodyPr>
          <a:lstStyle/>
          <a:p>
            <a:r>
              <a:rPr lang="fr-FR" sz="2000" b="1" dirty="0">
                <a:latin typeface="Aptos" panose="020B0004020202020204" pitchFamily="34" charset="0"/>
              </a:rPr>
              <a:t>Caractéristique 2 — La dépendance aux équipements</a:t>
            </a:r>
          </a:p>
          <a:p>
            <a:pPr marL="742950" lvl="1" indent="-285750">
              <a:buFont typeface="Arial" panose="020B0604020202020204" pitchFamily="34" charset="0"/>
              <a:buChar char="•"/>
            </a:pPr>
            <a:r>
              <a:rPr lang="fr-FR" sz="2000" dirty="0">
                <a:latin typeface="Aptos" panose="020B0004020202020204" pitchFamily="34" charset="0"/>
              </a:rPr>
              <a:t>Chaque automate de laboratoire utilise des réactifs spécifiques et incompatibles avec d'autres marques. </a:t>
            </a:r>
          </a:p>
          <a:p>
            <a:pPr marL="742950" lvl="1" indent="-285750">
              <a:buFont typeface="Arial" panose="020B0604020202020204" pitchFamily="34" charset="0"/>
              <a:buChar char="•"/>
            </a:pPr>
            <a:r>
              <a:rPr lang="fr-FR" sz="2000" dirty="0">
                <a:latin typeface="Aptos" panose="020B0004020202020204" pitchFamily="34" charset="0"/>
              </a:rPr>
              <a:t>La quantification doit donc être faite par automate et non globalement.</a:t>
            </a:r>
          </a:p>
        </p:txBody>
      </p:sp>
    </p:spTree>
    <p:extLst>
      <p:ext uri="{BB962C8B-B14F-4D97-AF65-F5344CB8AC3E}">
        <p14:creationId xmlns:p14="http://schemas.microsoft.com/office/powerpoint/2010/main" val="173277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Spécificités des réactifs de laboratoire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1631216"/>
          </a:xfrm>
          <a:prstGeom prst="rect">
            <a:avLst/>
          </a:prstGeom>
          <a:noFill/>
        </p:spPr>
        <p:txBody>
          <a:bodyPr wrap="square">
            <a:spAutoFit/>
          </a:bodyPr>
          <a:lstStyle/>
          <a:p>
            <a:r>
              <a:rPr lang="fr-FR" sz="2000" b="1" dirty="0">
                <a:latin typeface="Aptos" panose="020B0004020202020204" pitchFamily="34" charset="0"/>
              </a:rPr>
              <a:t>Caractéristique 3 — La consommation liée aux tests et non aux patients</a:t>
            </a:r>
          </a:p>
          <a:p>
            <a:pPr marL="800100" lvl="1" indent="-342900">
              <a:buFont typeface="Arial" panose="020B0604020202020204" pitchFamily="34" charset="0"/>
              <a:buChar char="•"/>
            </a:pPr>
            <a:r>
              <a:rPr lang="fr-FR" sz="2000" dirty="0">
                <a:latin typeface="Aptos" panose="020B0004020202020204" pitchFamily="34" charset="0"/>
              </a:rPr>
              <a:t>Un même patient peut nécessiter plusieurs types de tests différents lors d'une même consultation. </a:t>
            </a:r>
          </a:p>
          <a:p>
            <a:pPr marL="800100" lvl="1" indent="-342900">
              <a:buFont typeface="Arial" panose="020B0604020202020204" pitchFamily="34" charset="0"/>
              <a:buChar char="•"/>
            </a:pPr>
            <a:r>
              <a:rPr lang="fr-FR" sz="2000" dirty="0">
                <a:latin typeface="Aptos" panose="020B0004020202020204" pitchFamily="34" charset="0"/>
              </a:rPr>
              <a:t>La consommation de réactifs dépend du nombre de tests prescrits, pas du nombre de patients.</a:t>
            </a:r>
          </a:p>
        </p:txBody>
      </p:sp>
    </p:spTree>
    <p:extLst>
      <p:ext uri="{BB962C8B-B14F-4D97-AF65-F5344CB8AC3E}">
        <p14:creationId xmlns:p14="http://schemas.microsoft.com/office/powerpoint/2010/main" val="215296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fonctionnement de ForLAB</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591376" cy="2554545"/>
          </a:xfrm>
          <a:prstGeom prst="rect">
            <a:avLst/>
          </a:prstGeom>
          <a:noFill/>
        </p:spPr>
        <p:txBody>
          <a:bodyPr wrap="square">
            <a:spAutoFit/>
          </a:bodyPr>
          <a:lstStyle/>
          <a:p>
            <a:r>
              <a:rPr lang="fr-FR" sz="2000" b="1" dirty="0">
                <a:latin typeface="Aptos" panose="020B0004020202020204" pitchFamily="34" charset="0"/>
              </a:rPr>
              <a:t>Module 1 — Configuration du laboratoire</a:t>
            </a:r>
          </a:p>
          <a:p>
            <a:r>
              <a:rPr lang="fr-FR" sz="2000" dirty="0">
                <a:latin typeface="Aptos" panose="020B0004020202020204" pitchFamily="34" charset="0"/>
              </a:rPr>
              <a:t>L'utilisateur définit : </a:t>
            </a:r>
          </a:p>
          <a:p>
            <a:pPr marL="800100" lvl="1" indent="-342900">
              <a:buFont typeface="Arial" panose="020B0604020202020204" pitchFamily="34" charset="0"/>
              <a:buChar char="•"/>
            </a:pPr>
            <a:r>
              <a:rPr lang="fr-FR" sz="2000" dirty="0">
                <a:latin typeface="Aptos" panose="020B0004020202020204" pitchFamily="34" charset="0"/>
              </a:rPr>
              <a:t>Les équipements disponibles (automates) avec leur marque et modèle</a:t>
            </a:r>
          </a:p>
          <a:p>
            <a:pPr marL="800100" lvl="1" indent="-342900">
              <a:buFont typeface="Arial" panose="020B0604020202020204" pitchFamily="34" charset="0"/>
              <a:buChar char="•"/>
            </a:pPr>
            <a:r>
              <a:rPr lang="fr-FR" sz="2000" dirty="0">
                <a:latin typeface="Aptos" panose="020B0004020202020204" pitchFamily="34" charset="0"/>
              </a:rPr>
              <a:t>Les types de tests réalisés sur chaque équipement</a:t>
            </a:r>
          </a:p>
          <a:p>
            <a:pPr marL="800100" lvl="1" indent="-342900">
              <a:buFont typeface="Arial" panose="020B0604020202020204" pitchFamily="34" charset="0"/>
              <a:buChar char="•"/>
            </a:pPr>
            <a:r>
              <a:rPr lang="fr-FR" sz="2000" dirty="0">
                <a:latin typeface="Aptos" panose="020B0004020202020204" pitchFamily="34" charset="0"/>
              </a:rPr>
              <a:t>Les réactifs associés à chaque test sur chaque équipement</a:t>
            </a:r>
          </a:p>
          <a:p>
            <a:pPr marL="342900"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Module 2 — Données de tests réalisés</a:t>
            </a:r>
          </a:p>
          <a:p>
            <a:r>
              <a:rPr lang="fr-FR" sz="2000" dirty="0">
                <a:latin typeface="Aptos" panose="020B0004020202020204" pitchFamily="34" charset="0"/>
              </a:rPr>
              <a:t>ForLAB collecte les données du nombre de tests effectués par type et par mois.</a:t>
            </a:r>
          </a:p>
        </p:txBody>
      </p:sp>
    </p:spTree>
    <p:extLst>
      <p:ext uri="{BB962C8B-B14F-4D97-AF65-F5344CB8AC3E}">
        <p14:creationId xmlns:p14="http://schemas.microsoft.com/office/powerpoint/2010/main" val="99647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fonctionnement de ForLAB</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782912" cy="3477875"/>
          </a:xfrm>
          <a:prstGeom prst="rect">
            <a:avLst/>
          </a:prstGeom>
          <a:noFill/>
        </p:spPr>
        <p:txBody>
          <a:bodyPr wrap="square">
            <a:spAutoFit/>
          </a:bodyPr>
          <a:lstStyle/>
          <a:p>
            <a:r>
              <a:rPr lang="fr-FR" sz="2000" b="1" dirty="0">
                <a:latin typeface="Aptos" panose="020B0004020202020204" pitchFamily="34" charset="0"/>
              </a:rPr>
              <a:t>Module 3 — Paramètres des kits de réactifs</a:t>
            </a:r>
          </a:p>
          <a:p>
            <a:r>
              <a:rPr lang="fr-FR" sz="2000" dirty="0">
                <a:latin typeface="Aptos" panose="020B0004020202020204" pitchFamily="34" charset="0"/>
              </a:rPr>
              <a:t>Pour chaque réactif, ForLAB intègre :</a:t>
            </a:r>
          </a:p>
          <a:p>
            <a:pPr marL="800100" lvl="1" indent="-342900">
              <a:buFont typeface="Arial" panose="020B0604020202020204" pitchFamily="34" charset="0"/>
              <a:buChar char="•"/>
            </a:pPr>
            <a:r>
              <a:rPr lang="fr-FR" sz="2000" dirty="0">
                <a:latin typeface="Aptos" panose="020B0004020202020204" pitchFamily="34" charset="0"/>
              </a:rPr>
              <a:t>Nombre de tests théoriques par kit</a:t>
            </a:r>
          </a:p>
          <a:p>
            <a:pPr marL="800100" lvl="1" indent="-342900">
              <a:buFont typeface="Arial" panose="020B0604020202020204" pitchFamily="34" charset="0"/>
              <a:buChar char="•"/>
            </a:pPr>
            <a:r>
              <a:rPr lang="fr-FR" sz="2000" dirty="0">
                <a:latin typeface="Aptos" panose="020B0004020202020204" pitchFamily="34" charset="0"/>
              </a:rPr>
              <a:t>Taux de rendement (tenant compte des calibrations et contrôles qualité)</a:t>
            </a:r>
          </a:p>
          <a:p>
            <a:pPr marL="800100" lvl="1" indent="-342900">
              <a:buFont typeface="Arial" panose="020B0604020202020204" pitchFamily="34" charset="0"/>
              <a:buChar char="•"/>
            </a:pPr>
            <a:r>
              <a:rPr lang="fr-FR" sz="2000" dirty="0">
                <a:latin typeface="Aptos" panose="020B0004020202020204" pitchFamily="34" charset="0"/>
              </a:rPr>
              <a:t>Nombre de tests utilisables par kit = Tests théoriques × Taux de rendement.</a:t>
            </a:r>
          </a:p>
          <a:p>
            <a:endParaRPr lang="fr-FR" sz="2000" dirty="0">
              <a:latin typeface="Aptos" panose="020B0004020202020204" pitchFamily="34" charset="0"/>
            </a:endParaRPr>
          </a:p>
          <a:p>
            <a:r>
              <a:rPr lang="fr-FR" sz="2000" b="1" dirty="0">
                <a:latin typeface="Aptos" panose="020B0004020202020204" pitchFamily="34" charset="0"/>
              </a:rPr>
              <a:t>Module 4 — Calcul des besoins en réactifs</a:t>
            </a:r>
          </a:p>
          <a:p>
            <a:pPr marL="800100" lvl="1" indent="-342900">
              <a:buFont typeface="Arial" panose="020B0604020202020204" pitchFamily="34" charset="0"/>
              <a:buChar char="•"/>
            </a:pPr>
            <a:r>
              <a:rPr lang="fr-FR" sz="2000" dirty="0">
                <a:latin typeface="Aptos" panose="020B0004020202020204" pitchFamily="34" charset="0"/>
              </a:rPr>
              <a:t>ForLAB calcule automatiquement les besoins en kits de réactifs pour chaque type de test.</a:t>
            </a:r>
          </a:p>
          <a:p>
            <a:pPr marL="800100" lvl="1" indent="-342900">
              <a:buFont typeface="Arial" panose="020B0604020202020204" pitchFamily="34" charset="0"/>
              <a:buChar char="•"/>
            </a:pPr>
            <a:r>
              <a:rPr lang="fr-FR" sz="2000" dirty="0">
                <a:latin typeface="Aptos" panose="020B0004020202020204" pitchFamily="34" charset="0"/>
              </a:rPr>
              <a:t>Formule ForLAB : </a:t>
            </a:r>
          </a:p>
          <a:p>
            <a:pPr marL="1257300" lvl="2" indent="-342900">
              <a:buFont typeface="Courier New" panose="02070309020205020404" pitchFamily="49" charset="0"/>
              <a:buChar char="o"/>
            </a:pPr>
            <a:r>
              <a:rPr lang="fr-FR" sz="2000" b="1" dirty="0">
                <a:latin typeface="Aptos" panose="020B0004020202020204" pitchFamily="34" charset="0"/>
              </a:rPr>
              <a:t>Kits nécessaires = (Tests à réaliser × Facteur de croissance) ÷ Tests utilisables par kit</a:t>
            </a:r>
          </a:p>
        </p:txBody>
      </p:sp>
    </p:spTree>
    <p:extLst>
      <p:ext uri="{BB962C8B-B14F-4D97-AF65-F5344CB8AC3E}">
        <p14:creationId xmlns:p14="http://schemas.microsoft.com/office/powerpoint/2010/main" val="345685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et fonctionnement de ForLAB</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10782912" cy="2554545"/>
          </a:xfrm>
          <a:prstGeom prst="rect">
            <a:avLst/>
          </a:prstGeom>
          <a:noFill/>
        </p:spPr>
        <p:txBody>
          <a:bodyPr wrap="square">
            <a:spAutoFit/>
          </a:bodyPr>
          <a:lstStyle/>
          <a:p>
            <a:r>
              <a:rPr lang="fr-FR" sz="2000" b="1" dirty="0">
                <a:latin typeface="Aptos" panose="020B0004020202020204" pitchFamily="34" charset="0"/>
              </a:rPr>
              <a:t>Module 5 — Rapport ForLAB</a:t>
            </a:r>
          </a:p>
          <a:p>
            <a:r>
              <a:rPr lang="fr-FR" sz="2000" dirty="0">
                <a:latin typeface="Aptos" panose="020B0004020202020204" pitchFamily="34" charset="0"/>
              </a:rPr>
              <a:t>ForLAB génère un rapport complet listant pour chaque réactif :</a:t>
            </a:r>
          </a:p>
          <a:p>
            <a:pPr marL="800100" lvl="1" indent="-342900">
              <a:buFont typeface="Arial" panose="020B0604020202020204" pitchFamily="34" charset="0"/>
              <a:buChar char="•"/>
            </a:pPr>
            <a:r>
              <a:rPr lang="fr-FR" sz="2000" dirty="0">
                <a:latin typeface="Aptos" panose="020B0004020202020204" pitchFamily="34" charset="0"/>
              </a:rPr>
              <a:t>Tests réalisés historiquement</a:t>
            </a:r>
          </a:p>
          <a:p>
            <a:pPr marL="800100" lvl="1" indent="-342900">
              <a:buFont typeface="Arial" panose="020B0604020202020204" pitchFamily="34" charset="0"/>
              <a:buChar char="•"/>
            </a:pPr>
            <a:r>
              <a:rPr lang="fr-FR" sz="2000" dirty="0">
                <a:latin typeface="Aptos" panose="020B0004020202020204" pitchFamily="34" charset="0"/>
              </a:rPr>
              <a:t>Tests </a:t>
            </a:r>
            <a:r>
              <a:rPr lang="fr-FR" sz="2000" dirty="0" err="1">
                <a:latin typeface="Aptos" panose="020B0004020202020204" pitchFamily="34" charset="0"/>
              </a:rPr>
              <a:t>projetésKits</a:t>
            </a:r>
            <a:r>
              <a:rPr lang="fr-FR" sz="2000" dirty="0">
                <a:latin typeface="Aptos" panose="020B0004020202020204" pitchFamily="34" charset="0"/>
              </a:rPr>
              <a:t> nécessaires</a:t>
            </a:r>
          </a:p>
          <a:p>
            <a:pPr marL="800100" lvl="1" indent="-342900">
              <a:buFont typeface="Arial" panose="020B0604020202020204" pitchFamily="34" charset="0"/>
              <a:buChar char="•"/>
            </a:pPr>
            <a:r>
              <a:rPr lang="fr-FR" sz="2000" dirty="0">
                <a:latin typeface="Aptos" panose="020B0004020202020204" pitchFamily="34" charset="0"/>
              </a:rPr>
              <a:t>Stock de sécurité</a:t>
            </a:r>
          </a:p>
          <a:p>
            <a:pPr marL="800100" lvl="1" indent="-342900">
              <a:buFont typeface="Arial" panose="020B0604020202020204" pitchFamily="34" charset="0"/>
              <a:buChar char="•"/>
            </a:pPr>
            <a:r>
              <a:rPr lang="fr-FR" sz="2000" dirty="0">
                <a:latin typeface="Aptos" panose="020B0004020202020204" pitchFamily="34" charset="0"/>
              </a:rPr>
              <a:t>Stock disponible</a:t>
            </a:r>
          </a:p>
          <a:p>
            <a:pPr marL="800100" lvl="1" indent="-342900">
              <a:buFont typeface="Arial" panose="020B0604020202020204" pitchFamily="34" charset="0"/>
              <a:buChar char="•"/>
            </a:pPr>
            <a:r>
              <a:rPr lang="fr-FR" sz="2000" dirty="0">
                <a:latin typeface="Aptos" panose="020B0004020202020204" pitchFamily="34" charset="0"/>
              </a:rPr>
              <a:t>Quantité à commander</a:t>
            </a:r>
          </a:p>
          <a:p>
            <a:pPr marL="800100" lvl="1" indent="-342900">
              <a:buFont typeface="Arial" panose="020B0604020202020204" pitchFamily="34" charset="0"/>
              <a:buChar char="•"/>
            </a:pPr>
            <a:r>
              <a:rPr lang="fr-FR" sz="2000" dirty="0">
                <a:latin typeface="Aptos" panose="020B0004020202020204" pitchFamily="34" charset="0"/>
              </a:rPr>
              <a:t>Valeur financière</a:t>
            </a:r>
          </a:p>
        </p:txBody>
      </p:sp>
    </p:spTree>
    <p:extLst>
      <p:ext uri="{BB962C8B-B14F-4D97-AF65-F5344CB8AC3E}">
        <p14:creationId xmlns:p14="http://schemas.microsoft.com/office/powerpoint/2010/main" val="122000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ForLAB</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 Forces et limites de ForLAB</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4692505" cy="3785652"/>
          </a:xfrm>
          <a:prstGeom prst="rect">
            <a:avLst/>
          </a:prstGeom>
          <a:noFill/>
        </p:spPr>
        <p:txBody>
          <a:bodyPr wrap="square">
            <a:spAutoFit/>
          </a:bodyPr>
          <a:lstStyle/>
          <a:p>
            <a:r>
              <a:rPr lang="fr-FR" sz="2000" b="1" dirty="0">
                <a:latin typeface="Aptos" panose="020B0004020202020204" pitchFamily="34" charset="0"/>
              </a:rPr>
              <a:t>Forces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Seul outil spécifiquement conçu pour les réactifs de laboratoire</a:t>
            </a:r>
          </a:p>
          <a:p>
            <a:pPr marL="342900" indent="-342900">
              <a:buFont typeface="Arial" panose="020B0604020202020204" pitchFamily="34" charset="0"/>
              <a:buChar char="•"/>
            </a:pPr>
            <a:r>
              <a:rPr lang="fr-FR" sz="2000" dirty="0">
                <a:latin typeface="Aptos" panose="020B0004020202020204" pitchFamily="34" charset="0"/>
              </a:rPr>
              <a:t>Intègre les paramètres techniques des kits (calibration, contrôle qualité, rendement)</a:t>
            </a:r>
          </a:p>
          <a:p>
            <a:pPr marL="342900" indent="-342900">
              <a:buFont typeface="Arial" panose="020B0604020202020204" pitchFamily="34" charset="0"/>
              <a:buChar char="•"/>
            </a:pPr>
            <a:r>
              <a:rPr lang="fr-FR" sz="2000" dirty="0">
                <a:latin typeface="Aptos" panose="020B0004020202020204" pitchFamily="34" charset="0"/>
              </a:rPr>
              <a:t>Gestion multi-équipements et multi-réactifs</a:t>
            </a:r>
          </a:p>
          <a:p>
            <a:pPr marL="342900" indent="-342900">
              <a:buFont typeface="Arial" panose="020B0604020202020204" pitchFamily="34" charset="0"/>
              <a:buChar char="•"/>
            </a:pPr>
            <a:r>
              <a:rPr lang="fr-FR" sz="2000" dirty="0">
                <a:latin typeface="Aptos" panose="020B0004020202020204" pitchFamily="34" charset="0"/>
              </a:rPr>
              <a:t>Adapté aux programmes VIH (CD4, charge virale) et tuberculose (BK, </a:t>
            </a:r>
            <a:r>
              <a:rPr lang="fr-FR" sz="2000" dirty="0" err="1">
                <a:latin typeface="Aptos" panose="020B0004020202020204" pitchFamily="34" charset="0"/>
              </a:rPr>
              <a:t>GeneXpert</a:t>
            </a:r>
            <a:r>
              <a:rPr lang="fr-FR" sz="2000" dirty="0">
                <a:latin typeface="Aptos" panose="020B0004020202020204" pitchFamily="34" charset="0"/>
              </a:rPr>
              <a:t>)</a:t>
            </a:r>
          </a:p>
          <a:p>
            <a:pPr marL="342900" indent="-342900">
              <a:buFont typeface="Arial" panose="020B0604020202020204" pitchFamily="34" charset="0"/>
              <a:buChar char="•"/>
            </a:pPr>
            <a:r>
              <a:rPr lang="fr-FR" sz="2000" dirty="0">
                <a:latin typeface="Aptos" panose="020B0004020202020204" pitchFamily="34" charset="0"/>
              </a:rPr>
              <a:t>Support actif CDC/OMS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6906937" y="2658075"/>
            <a:ext cx="4946706" cy="2862322"/>
          </a:xfrm>
          <a:prstGeom prst="rect">
            <a:avLst/>
          </a:prstGeom>
          <a:noFill/>
        </p:spPr>
        <p:txBody>
          <a:bodyPr wrap="square">
            <a:spAutoFit/>
          </a:bodyPr>
          <a:lstStyle/>
          <a:p>
            <a:r>
              <a:rPr lang="fr-FR" sz="2000" b="1" dirty="0">
                <a:latin typeface="Aptos" panose="020B0004020202020204" pitchFamily="34" charset="0"/>
              </a:rPr>
              <a:t>Limites</a:t>
            </a:r>
            <a:r>
              <a:rPr lang="fr-FR" sz="2000" dirty="0">
                <a:latin typeface="Aptos" panose="020B0004020202020204" pitchFamily="34" charset="0"/>
              </a:rPr>
              <a:t> :</a:t>
            </a:r>
          </a:p>
          <a:p>
            <a:pPr marL="285750" indent="-285750">
              <a:buFont typeface="Arial" panose="020B0604020202020204" pitchFamily="34" charset="0"/>
              <a:buChar char="•"/>
            </a:pPr>
            <a:r>
              <a:rPr lang="fr-FR" sz="2000" dirty="0">
                <a:latin typeface="Aptos" panose="020B0004020202020204" pitchFamily="34" charset="0"/>
              </a:rPr>
              <a:t>Limité aux réactifs de laboratoire, ne gère pas les médicaments</a:t>
            </a:r>
          </a:p>
          <a:p>
            <a:pPr marL="285750" indent="-285750">
              <a:buFont typeface="Arial" panose="020B0604020202020204" pitchFamily="34" charset="0"/>
              <a:buChar char="•"/>
            </a:pPr>
            <a:r>
              <a:rPr lang="fr-FR" sz="2000" dirty="0">
                <a:latin typeface="Aptos" panose="020B0004020202020204" pitchFamily="34" charset="0"/>
              </a:rPr>
              <a:t>Nécessite des données techniques détaillées sur chaque automate</a:t>
            </a:r>
          </a:p>
          <a:p>
            <a:pPr marL="285750" indent="-285750">
              <a:buFont typeface="Arial" panose="020B0604020202020204" pitchFamily="34" charset="0"/>
              <a:buChar char="•"/>
            </a:pPr>
            <a:r>
              <a:rPr lang="fr-FR" sz="2000" dirty="0">
                <a:latin typeface="Aptos" panose="020B0004020202020204" pitchFamily="34" charset="0"/>
              </a:rPr>
              <a:t>Données de tests parfois difficiles à extraire des laboratoires</a:t>
            </a:r>
          </a:p>
          <a:p>
            <a:pPr marL="285750" indent="-285750">
              <a:buFont typeface="Arial" panose="020B0604020202020204" pitchFamily="34" charset="0"/>
              <a:buChar char="•"/>
            </a:pPr>
            <a:r>
              <a:rPr lang="fr-FR" sz="2000" dirty="0">
                <a:latin typeface="Aptos" panose="020B0004020202020204" pitchFamily="34" charset="0"/>
              </a:rPr>
              <a:t>Pas de gestion de la saisonnalité des tests (sauf saisonnalité du paludisme)</a:t>
            </a:r>
          </a:p>
        </p:txBody>
      </p:sp>
    </p:spTree>
    <p:extLst>
      <p:ext uri="{BB962C8B-B14F-4D97-AF65-F5344CB8AC3E}">
        <p14:creationId xmlns:p14="http://schemas.microsoft.com/office/powerpoint/2010/main" val="252809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Présentation générale</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933913" cy="3477875"/>
          </a:xfrm>
          <a:prstGeom prst="rect">
            <a:avLst/>
          </a:prstGeom>
          <a:noFill/>
        </p:spPr>
        <p:txBody>
          <a:bodyPr wrap="square">
            <a:spAutoFit/>
          </a:bodyPr>
          <a:lstStyle/>
          <a:p>
            <a:r>
              <a:rPr lang="fr-FR" sz="2000" dirty="0">
                <a:latin typeface="Aptos" panose="020B0004020202020204" pitchFamily="34" charset="0"/>
              </a:rPr>
              <a:t>QAT est l'outil le plus récent et le plus complet de la liste. Développé par USAID via Chemonics International et lancé en 2018, il a été conçu pour remplacer et intégrer les fonctionnalités de Quantimed et PipeLine dans un seul outil web moderne. </a:t>
            </a:r>
          </a:p>
          <a:p>
            <a:endParaRPr lang="fr-FR" sz="2000" dirty="0">
              <a:latin typeface="Aptos" panose="020B0004020202020204" pitchFamily="34" charset="0"/>
            </a:endParaRPr>
          </a:p>
          <a:p>
            <a:r>
              <a:rPr lang="fr-FR" sz="2000" dirty="0">
                <a:latin typeface="Aptos" panose="020B0004020202020204" pitchFamily="34" charset="0"/>
              </a:rPr>
              <a:t>QAT est accessible depuis n'importe quel navigateur internet, ne nécessite pas d'installation, et permet la collaboration en temps réel entre plusieurs utilisateurs dans différents pays.</a:t>
            </a:r>
          </a:p>
          <a:p>
            <a:endParaRPr lang="fr-FR" sz="2000" dirty="0">
              <a:latin typeface="Aptos" panose="020B0004020202020204" pitchFamily="34" charset="0"/>
            </a:endParaRPr>
          </a:p>
          <a:p>
            <a:r>
              <a:rPr lang="fr-FR" sz="2000" b="1" dirty="0">
                <a:latin typeface="Aptos" panose="020B0004020202020204" pitchFamily="34" charset="0"/>
              </a:rPr>
              <a:t>Philosophie de l'outil </a:t>
            </a:r>
            <a:r>
              <a:rPr lang="fr-FR" sz="2000" dirty="0">
                <a:latin typeface="Aptos" panose="020B0004020202020204" pitchFamily="34" charset="0"/>
              </a:rPr>
              <a:t>:QAT est construit autour de la triangulation systématique. Pour chaque produit, il permet d'appliquer simultanément plusieurs méthodes de quantification et de les comparer côte à côte. Il intègre également des fonctions d'analyse avancées, de suivi des approvisionnements et de génération de rapports programmatiques.</a:t>
            </a:r>
          </a:p>
        </p:txBody>
      </p:sp>
    </p:spTree>
    <p:extLst>
      <p:ext uri="{BB962C8B-B14F-4D97-AF65-F5344CB8AC3E}">
        <p14:creationId xmlns:p14="http://schemas.microsoft.com/office/powerpoint/2010/main" val="48495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de QAT</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30" y="2607639"/>
            <a:ext cx="4893841" cy="3170099"/>
          </a:xfrm>
          <a:prstGeom prst="rect">
            <a:avLst/>
          </a:prstGeom>
          <a:noFill/>
        </p:spPr>
        <p:txBody>
          <a:bodyPr wrap="square">
            <a:spAutoFit/>
          </a:bodyPr>
          <a:lstStyle/>
          <a:p>
            <a:r>
              <a:rPr lang="fr-FR" sz="2000" b="1" dirty="0">
                <a:latin typeface="Aptos" panose="020B0004020202020204" pitchFamily="34" charset="0"/>
              </a:rPr>
              <a:t>Section 1 — Gestion des programmes</a:t>
            </a:r>
          </a:p>
          <a:p>
            <a:r>
              <a:rPr lang="fr-FR" sz="2000" dirty="0">
                <a:latin typeface="Aptos" panose="020B0004020202020204" pitchFamily="34" charset="0"/>
              </a:rPr>
              <a:t>QAT permet de gérer plusieurs programmes de santé simultanément dans une même plateforme : </a:t>
            </a:r>
          </a:p>
          <a:p>
            <a:pPr marL="800100" lvl="1" indent="-342900">
              <a:buFont typeface="Arial" panose="020B0604020202020204" pitchFamily="34" charset="0"/>
              <a:buChar char="•"/>
            </a:pPr>
            <a:r>
              <a:rPr lang="fr-FR" sz="2000" dirty="0">
                <a:latin typeface="Aptos" panose="020B0004020202020204" pitchFamily="34" charset="0"/>
              </a:rPr>
              <a:t>VIH/SIDA, </a:t>
            </a:r>
          </a:p>
          <a:p>
            <a:pPr marL="800100" lvl="1" indent="-342900">
              <a:buFont typeface="Arial" panose="020B0604020202020204" pitchFamily="34" charset="0"/>
              <a:buChar char="•"/>
            </a:pPr>
            <a:r>
              <a:rPr lang="fr-FR" sz="2000" dirty="0">
                <a:latin typeface="Aptos" panose="020B0004020202020204" pitchFamily="34" charset="0"/>
              </a:rPr>
              <a:t>paludisme, </a:t>
            </a:r>
          </a:p>
          <a:p>
            <a:pPr marL="800100" lvl="1" indent="-342900">
              <a:buFont typeface="Arial" panose="020B0604020202020204" pitchFamily="34" charset="0"/>
              <a:buChar char="•"/>
            </a:pPr>
            <a:r>
              <a:rPr lang="fr-FR" sz="2000" dirty="0">
                <a:latin typeface="Aptos" panose="020B0004020202020204" pitchFamily="34" charset="0"/>
              </a:rPr>
              <a:t>tuberculose, </a:t>
            </a:r>
          </a:p>
          <a:p>
            <a:pPr marL="800100" lvl="1" indent="-342900">
              <a:buFont typeface="Arial" panose="020B0604020202020204" pitchFamily="34" charset="0"/>
              <a:buChar char="•"/>
            </a:pPr>
            <a:r>
              <a:rPr lang="fr-FR" sz="2000" dirty="0">
                <a:latin typeface="Aptos" panose="020B0004020202020204" pitchFamily="34" charset="0"/>
              </a:rPr>
              <a:t>santé reproductive, </a:t>
            </a:r>
          </a:p>
          <a:p>
            <a:pPr marL="800100" lvl="1" indent="-342900">
              <a:buFont typeface="Arial" panose="020B0604020202020204" pitchFamily="34" charset="0"/>
              <a:buChar char="•"/>
            </a:pPr>
            <a:r>
              <a:rPr lang="fr-FR" sz="2000" dirty="0">
                <a:latin typeface="Aptos" panose="020B0004020202020204" pitchFamily="34" charset="0"/>
              </a:rPr>
              <a:t>médicaments essentiels.</a:t>
            </a:r>
          </a:p>
          <a:p>
            <a:endParaRPr lang="fr-FR" sz="2000" dirty="0">
              <a:latin typeface="Aptos" panose="020B0004020202020204" pitchFamily="34" charset="0"/>
            </a:endParaRPr>
          </a:p>
        </p:txBody>
      </p:sp>
      <p:sp>
        <p:nvSpPr>
          <p:cNvPr id="13" name="ZoneTexte 12">
            <a:extLst>
              <a:ext uri="{FF2B5EF4-FFF2-40B4-BE49-F238E27FC236}">
                <a16:creationId xmlns:a16="http://schemas.microsoft.com/office/drawing/2014/main" id="{AF71FA1C-DC54-4504-99BF-302FA99D57E4}"/>
              </a:ext>
            </a:extLst>
          </p:cNvPr>
          <p:cNvSpPr txBox="1"/>
          <p:nvPr/>
        </p:nvSpPr>
        <p:spPr>
          <a:xfrm>
            <a:off x="7237165" y="2928075"/>
            <a:ext cx="4035105" cy="2862322"/>
          </a:xfrm>
          <a:prstGeom prst="rect">
            <a:avLst/>
          </a:prstGeom>
          <a:noFill/>
        </p:spPr>
        <p:txBody>
          <a:bodyPr wrap="square">
            <a:spAutoFit/>
          </a:bodyPr>
          <a:lstStyle/>
          <a:p>
            <a:r>
              <a:rPr lang="fr-FR" sz="2000" dirty="0">
                <a:latin typeface="Aptos" panose="020B0004020202020204" pitchFamily="34" charset="0"/>
              </a:rPr>
              <a:t>Pour chaque programme, l'utilisateur configure : </a:t>
            </a:r>
          </a:p>
          <a:p>
            <a:pPr marL="800100" lvl="1" indent="-342900">
              <a:buFont typeface="Arial" panose="020B0604020202020204" pitchFamily="34" charset="0"/>
              <a:buChar char="•"/>
            </a:pPr>
            <a:r>
              <a:rPr lang="fr-FR" sz="2000" dirty="0">
                <a:latin typeface="Aptos" panose="020B0004020202020204" pitchFamily="34" charset="0"/>
              </a:rPr>
              <a:t>Les produits à quantifier</a:t>
            </a:r>
          </a:p>
          <a:p>
            <a:pPr marL="800100" lvl="1" indent="-342900">
              <a:buFont typeface="Arial" panose="020B0604020202020204" pitchFamily="34" charset="0"/>
              <a:buChar char="•"/>
            </a:pPr>
            <a:r>
              <a:rPr lang="fr-FR" sz="2000" dirty="0">
                <a:latin typeface="Aptos" panose="020B0004020202020204" pitchFamily="34" charset="0"/>
              </a:rPr>
              <a:t>Les unités et conditionnements</a:t>
            </a:r>
          </a:p>
          <a:p>
            <a:pPr marL="800100" lvl="1" indent="-342900">
              <a:buFont typeface="Arial" panose="020B0604020202020204" pitchFamily="34" charset="0"/>
              <a:buChar char="•"/>
            </a:pPr>
            <a:r>
              <a:rPr lang="fr-FR" sz="2000" dirty="0">
                <a:latin typeface="Aptos" panose="020B0004020202020204" pitchFamily="34" charset="0"/>
              </a:rPr>
              <a:t>Les niveaux géographiques</a:t>
            </a:r>
          </a:p>
          <a:p>
            <a:pPr marL="800100" lvl="1" indent="-342900">
              <a:buFont typeface="Arial" panose="020B0604020202020204" pitchFamily="34" charset="0"/>
              <a:buChar char="•"/>
            </a:pPr>
            <a:r>
              <a:rPr lang="fr-FR" sz="2000" dirty="0">
                <a:latin typeface="Aptos" panose="020B0004020202020204" pitchFamily="34" charset="0"/>
              </a:rPr>
              <a:t>Les partenaires et bailleurs de fonds</a:t>
            </a:r>
          </a:p>
          <a:p>
            <a:pPr marL="800100" lvl="1" indent="-342900">
              <a:buFont typeface="Arial" panose="020B0604020202020204" pitchFamily="34" charset="0"/>
              <a:buChar char="•"/>
            </a:pPr>
            <a:r>
              <a:rPr lang="fr-FR" sz="2000" dirty="0">
                <a:latin typeface="Aptos" panose="020B0004020202020204" pitchFamily="34" charset="0"/>
              </a:rPr>
              <a:t>La période de planification</a:t>
            </a:r>
          </a:p>
        </p:txBody>
      </p:sp>
    </p:spTree>
    <p:extLst>
      <p:ext uri="{BB962C8B-B14F-4D97-AF65-F5344CB8AC3E}">
        <p14:creationId xmlns:p14="http://schemas.microsoft.com/office/powerpoint/2010/main" val="419698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de QAT</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321519" cy="1631216"/>
          </a:xfrm>
          <a:prstGeom prst="rect">
            <a:avLst/>
          </a:prstGeom>
          <a:noFill/>
        </p:spPr>
        <p:txBody>
          <a:bodyPr wrap="square">
            <a:spAutoFit/>
          </a:bodyPr>
          <a:lstStyle/>
          <a:p>
            <a:r>
              <a:rPr lang="fr-FR" sz="2000" b="1" dirty="0">
                <a:latin typeface="Aptos" panose="020B0004020202020204" pitchFamily="34" charset="0"/>
              </a:rPr>
              <a:t>Section 2 — Collecte et gestion des données</a:t>
            </a:r>
          </a:p>
          <a:p>
            <a:r>
              <a:rPr lang="fr-FR" sz="2000" dirty="0">
                <a:latin typeface="Aptos" panose="020B0004020202020204" pitchFamily="34" charset="0"/>
              </a:rPr>
              <a:t>QAT dispose de fonctions avancées de collecte de données directement dans l'outil, sans passer par des fichiers Excel intermédiaires.</a:t>
            </a:r>
          </a:p>
          <a:p>
            <a:endParaRPr lang="fr-FR" sz="2000" dirty="0">
              <a:latin typeface="Aptos" panose="020B0004020202020204" pitchFamily="34" charset="0"/>
            </a:endParaRPr>
          </a:p>
          <a:p>
            <a:r>
              <a:rPr lang="fr-FR" sz="2000" b="1" dirty="0">
                <a:latin typeface="Aptos" panose="020B0004020202020204" pitchFamily="34" charset="0"/>
              </a:rPr>
              <a:t>Types de données collectées dans QAT :</a:t>
            </a:r>
          </a:p>
        </p:txBody>
      </p:sp>
      <p:graphicFrame>
        <p:nvGraphicFramePr>
          <p:cNvPr id="2" name="Tableau 1">
            <a:extLst>
              <a:ext uri="{FF2B5EF4-FFF2-40B4-BE49-F238E27FC236}">
                <a16:creationId xmlns:a16="http://schemas.microsoft.com/office/drawing/2014/main" id="{744BA320-373E-4D7C-A84C-E5D8CEF305D6}"/>
              </a:ext>
            </a:extLst>
          </p:cNvPr>
          <p:cNvGraphicFramePr>
            <a:graphicFrameLocks noGrp="1"/>
          </p:cNvGraphicFramePr>
          <p:nvPr>
            <p:extLst>
              <p:ext uri="{D42A27DB-BD31-4B8C-83A1-F6EECF244321}">
                <p14:modId xmlns:p14="http://schemas.microsoft.com/office/powerpoint/2010/main" val="1477525818"/>
              </p:ext>
            </p:extLst>
          </p:nvPr>
        </p:nvGraphicFramePr>
        <p:xfrm>
          <a:off x="990000" y="4262760"/>
          <a:ext cx="7675723" cy="1920240"/>
        </p:xfrm>
        <a:graphic>
          <a:graphicData uri="http://schemas.openxmlformats.org/drawingml/2006/table">
            <a:tbl>
              <a:tblPr/>
              <a:tblGrid>
                <a:gridCol w="1380007">
                  <a:extLst>
                    <a:ext uri="{9D8B030D-6E8A-4147-A177-3AD203B41FA5}">
                      <a16:colId xmlns:a16="http://schemas.microsoft.com/office/drawing/2014/main" val="4066028489"/>
                    </a:ext>
                  </a:extLst>
                </a:gridCol>
                <a:gridCol w="3823189">
                  <a:extLst>
                    <a:ext uri="{9D8B030D-6E8A-4147-A177-3AD203B41FA5}">
                      <a16:colId xmlns:a16="http://schemas.microsoft.com/office/drawing/2014/main" val="196155595"/>
                    </a:ext>
                  </a:extLst>
                </a:gridCol>
                <a:gridCol w="2472527">
                  <a:extLst>
                    <a:ext uri="{9D8B030D-6E8A-4147-A177-3AD203B41FA5}">
                      <a16:colId xmlns:a16="http://schemas.microsoft.com/office/drawing/2014/main" val="1792589384"/>
                    </a:ext>
                  </a:extLst>
                </a:gridCol>
              </a:tblGrid>
              <a:tr h="0">
                <a:tc>
                  <a:txBody>
                    <a:bodyPr/>
                    <a:lstStyle/>
                    <a:p>
                      <a:r>
                        <a:rPr lang="fr-FR" sz="1200" b="1" dirty="0">
                          <a:solidFill>
                            <a:schemeClr val="bg1"/>
                          </a:solidFill>
                          <a:latin typeface="Aptos" panose="020B0004020202020204" pitchFamily="34" charset="0"/>
                        </a:rPr>
                        <a:t>Type de données</a:t>
                      </a:r>
                    </a:p>
                  </a:txBody>
                  <a:tcPr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Description</a:t>
                      </a:r>
                    </a:p>
                  </a:txBody>
                  <a:tcPr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Source</a:t>
                      </a:r>
                    </a:p>
                  </a:txBody>
                  <a:tcPr anchor="ctr">
                    <a:lnL>
                      <a:noFill/>
                    </a:lnL>
                    <a:lnR>
                      <a:noFill/>
                    </a:lnR>
                    <a:lnT>
                      <a:noFill/>
                    </a:lnT>
                    <a:lnB>
                      <a:noFill/>
                    </a:lnB>
                    <a:solidFill>
                      <a:srgbClr val="F37504"/>
                    </a:solidFill>
                  </a:tcPr>
                </a:tc>
                <a:extLst>
                  <a:ext uri="{0D108BD9-81ED-4DB2-BD59-A6C34878D82A}">
                    <a16:rowId xmlns:a16="http://schemas.microsoft.com/office/drawing/2014/main" val="1612074581"/>
                  </a:ext>
                </a:extLst>
              </a:tr>
              <a:tr h="0">
                <a:tc>
                  <a:txBody>
                    <a:bodyPr/>
                    <a:lstStyle/>
                    <a:p>
                      <a:r>
                        <a:rPr lang="fr-FR" sz="1200">
                          <a:latin typeface="Aptos" panose="020B0004020202020204" pitchFamily="34" charset="0"/>
                        </a:rPr>
                        <a:t>Consommation</a:t>
                      </a:r>
                    </a:p>
                  </a:txBody>
                  <a:tcPr anchor="ctr">
                    <a:lnL>
                      <a:noFill/>
                    </a:lnL>
                    <a:lnR>
                      <a:noFill/>
                    </a:lnR>
                    <a:lnT>
                      <a:noFill/>
                    </a:lnT>
                    <a:lnB>
                      <a:noFill/>
                    </a:lnB>
                  </a:tcPr>
                </a:tc>
                <a:tc>
                  <a:txBody>
                    <a:bodyPr/>
                    <a:lstStyle/>
                    <a:p>
                      <a:r>
                        <a:rPr lang="fr-FR" sz="1200" dirty="0">
                          <a:latin typeface="Aptos" panose="020B0004020202020204" pitchFamily="34" charset="0"/>
                        </a:rPr>
                        <a:t>Sorties de stock mensuelle par produit et par site</a:t>
                      </a:r>
                    </a:p>
                  </a:txBody>
                  <a:tcPr anchor="ctr">
                    <a:lnL>
                      <a:noFill/>
                    </a:lnL>
                    <a:lnR>
                      <a:noFill/>
                    </a:lnR>
                    <a:lnT>
                      <a:noFill/>
                    </a:lnT>
                    <a:lnB>
                      <a:noFill/>
                    </a:lnB>
                  </a:tcPr>
                </a:tc>
                <a:tc>
                  <a:txBody>
                    <a:bodyPr/>
                    <a:lstStyle/>
                    <a:p>
                      <a:r>
                        <a:rPr lang="fr-FR" sz="1200">
                          <a:latin typeface="Aptos" panose="020B0004020202020204" pitchFamily="34" charset="0"/>
                        </a:rPr>
                        <a:t>LMIS, rapports mensuels</a:t>
                      </a:r>
                    </a:p>
                  </a:txBody>
                  <a:tcPr anchor="ctr">
                    <a:lnL>
                      <a:noFill/>
                    </a:lnL>
                    <a:lnR>
                      <a:noFill/>
                    </a:lnR>
                    <a:lnT>
                      <a:noFill/>
                    </a:lnT>
                    <a:lnB>
                      <a:noFill/>
                    </a:lnB>
                  </a:tcPr>
                </a:tc>
                <a:extLst>
                  <a:ext uri="{0D108BD9-81ED-4DB2-BD59-A6C34878D82A}">
                    <a16:rowId xmlns:a16="http://schemas.microsoft.com/office/drawing/2014/main" val="172289064"/>
                  </a:ext>
                </a:extLst>
              </a:tr>
              <a:tr h="0">
                <a:tc>
                  <a:txBody>
                    <a:bodyPr/>
                    <a:lstStyle/>
                    <a:p>
                      <a:r>
                        <a:rPr lang="fr-FR" sz="1200" dirty="0">
                          <a:latin typeface="Aptos" panose="020B0004020202020204" pitchFamily="34" charset="0"/>
                        </a:rPr>
                        <a:t>Stock</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Niveaux de stock actuels à chaque niveau</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Inventaires, rapports de stock</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440490975"/>
                  </a:ext>
                </a:extLst>
              </a:tr>
              <a:tr h="0">
                <a:tc>
                  <a:txBody>
                    <a:bodyPr/>
                    <a:lstStyle/>
                    <a:p>
                      <a:r>
                        <a:rPr lang="fr-FR" sz="1200">
                          <a:latin typeface="Aptos" panose="020B0004020202020204" pitchFamily="34" charset="0"/>
                        </a:rPr>
                        <a:t>Morbidité</a:t>
                      </a:r>
                    </a:p>
                  </a:txBody>
                  <a:tcPr anchor="ctr">
                    <a:lnL>
                      <a:noFill/>
                    </a:lnL>
                    <a:lnR>
                      <a:noFill/>
                    </a:lnR>
                    <a:lnT>
                      <a:noFill/>
                    </a:lnT>
                    <a:lnB>
                      <a:noFill/>
                    </a:lnB>
                  </a:tcPr>
                </a:tc>
                <a:tc>
                  <a:txBody>
                    <a:bodyPr/>
                    <a:lstStyle/>
                    <a:p>
                      <a:r>
                        <a:rPr lang="fr-FR" sz="1200" dirty="0">
                          <a:latin typeface="Aptos" panose="020B0004020202020204" pitchFamily="34" charset="0"/>
                        </a:rPr>
                        <a:t>Données épidémiologiques par pathologie</a:t>
                      </a:r>
                    </a:p>
                  </a:txBody>
                  <a:tcPr anchor="ctr">
                    <a:lnL>
                      <a:noFill/>
                    </a:lnL>
                    <a:lnR>
                      <a:noFill/>
                    </a:lnR>
                    <a:lnT>
                      <a:noFill/>
                    </a:lnT>
                    <a:lnB>
                      <a:noFill/>
                    </a:lnB>
                  </a:tcPr>
                </a:tc>
                <a:tc>
                  <a:txBody>
                    <a:bodyPr/>
                    <a:lstStyle/>
                    <a:p>
                      <a:r>
                        <a:rPr lang="fr-FR" sz="1200">
                          <a:latin typeface="Aptos" panose="020B0004020202020204" pitchFamily="34" charset="0"/>
                        </a:rPr>
                        <a:t>DHIS2, rapports épidémiologiques</a:t>
                      </a:r>
                    </a:p>
                  </a:txBody>
                  <a:tcPr anchor="ctr">
                    <a:lnL>
                      <a:noFill/>
                    </a:lnL>
                    <a:lnR>
                      <a:noFill/>
                    </a:lnR>
                    <a:lnT>
                      <a:noFill/>
                    </a:lnT>
                    <a:lnB>
                      <a:noFill/>
                    </a:lnB>
                  </a:tcPr>
                </a:tc>
                <a:extLst>
                  <a:ext uri="{0D108BD9-81ED-4DB2-BD59-A6C34878D82A}">
                    <a16:rowId xmlns:a16="http://schemas.microsoft.com/office/drawing/2014/main" val="1582686651"/>
                  </a:ext>
                </a:extLst>
              </a:tr>
              <a:tr h="0">
                <a:tc>
                  <a:txBody>
                    <a:bodyPr/>
                    <a:lstStyle/>
                    <a:p>
                      <a:r>
                        <a:rPr lang="fr-FR" sz="1200" dirty="0">
                          <a:latin typeface="Aptos" panose="020B0004020202020204" pitchFamily="34" charset="0"/>
                        </a:rPr>
                        <a:t>Activités</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Données de prestation de soins</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Rapports d'activités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30188341"/>
                  </a:ext>
                </a:extLst>
              </a:tr>
              <a:tr h="0">
                <a:tc>
                  <a:txBody>
                    <a:bodyPr/>
                    <a:lstStyle/>
                    <a:p>
                      <a:r>
                        <a:rPr lang="fr-FR" sz="1200">
                          <a:latin typeface="Aptos" panose="020B0004020202020204" pitchFamily="34" charset="0"/>
                        </a:rPr>
                        <a:t>Population</a:t>
                      </a:r>
                    </a:p>
                  </a:txBody>
                  <a:tcPr anchor="ctr">
                    <a:lnL>
                      <a:noFill/>
                    </a:lnL>
                    <a:lnR>
                      <a:noFill/>
                    </a:lnR>
                    <a:lnT>
                      <a:noFill/>
                    </a:lnT>
                    <a:lnB>
                      <a:noFill/>
                    </a:lnB>
                  </a:tcPr>
                </a:tc>
                <a:tc>
                  <a:txBody>
                    <a:bodyPr/>
                    <a:lstStyle/>
                    <a:p>
                      <a:r>
                        <a:rPr lang="fr-FR" sz="1200" dirty="0">
                          <a:latin typeface="Aptos" panose="020B0004020202020204" pitchFamily="34" charset="0"/>
                        </a:rPr>
                        <a:t>Données démographiques et cibles programmatiques</a:t>
                      </a:r>
                    </a:p>
                  </a:txBody>
                  <a:tcPr anchor="ctr">
                    <a:lnL>
                      <a:noFill/>
                    </a:lnL>
                    <a:lnR>
                      <a:noFill/>
                    </a:lnR>
                    <a:lnT>
                      <a:noFill/>
                    </a:lnT>
                    <a:lnB>
                      <a:noFill/>
                    </a:lnB>
                  </a:tcPr>
                </a:tc>
                <a:tc>
                  <a:txBody>
                    <a:bodyPr/>
                    <a:lstStyle/>
                    <a:p>
                      <a:r>
                        <a:rPr lang="fr-FR" sz="1200">
                          <a:latin typeface="Aptos" panose="020B0004020202020204" pitchFamily="34" charset="0"/>
                        </a:rPr>
                        <a:t>INSAE, projections OMS</a:t>
                      </a:r>
                    </a:p>
                  </a:txBody>
                  <a:tcPr anchor="ctr">
                    <a:lnL>
                      <a:noFill/>
                    </a:lnL>
                    <a:lnR>
                      <a:noFill/>
                    </a:lnR>
                    <a:lnT>
                      <a:noFill/>
                    </a:lnT>
                    <a:lnB>
                      <a:noFill/>
                    </a:lnB>
                  </a:tcPr>
                </a:tc>
                <a:extLst>
                  <a:ext uri="{0D108BD9-81ED-4DB2-BD59-A6C34878D82A}">
                    <a16:rowId xmlns:a16="http://schemas.microsoft.com/office/drawing/2014/main" val="4248898596"/>
                  </a:ext>
                </a:extLst>
              </a:tr>
              <a:tr h="0">
                <a:tc>
                  <a:txBody>
                    <a:bodyPr/>
                    <a:lstStyle/>
                    <a:p>
                      <a:r>
                        <a:rPr lang="fr-FR" sz="1200" dirty="0">
                          <a:latin typeface="Aptos" panose="020B0004020202020204" pitchFamily="34" charset="0"/>
                        </a:rPr>
                        <a:t>Pipeline</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Commandes en transit et délais de livraison</a:t>
                      </a:r>
                    </a:p>
                  </a:txBody>
                  <a:tcPr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Données d'achats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98784333"/>
                  </a:ext>
                </a:extLst>
              </a:tr>
            </a:tbl>
          </a:graphicData>
        </a:graphic>
      </p:graphicFrame>
      <p:sp>
        <p:nvSpPr>
          <p:cNvPr id="13" name="ZoneTexte 12">
            <a:extLst>
              <a:ext uri="{FF2B5EF4-FFF2-40B4-BE49-F238E27FC236}">
                <a16:creationId xmlns:a16="http://schemas.microsoft.com/office/drawing/2014/main" id="{8DBD13D9-1E87-4954-B355-2A5CDBC53784}"/>
              </a:ext>
            </a:extLst>
          </p:cNvPr>
          <p:cNvSpPr txBox="1"/>
          <p:nvPr/>
        </p:nvSpPr>
        <p:spPr>
          <a:xfrm>
            <a:off x="8850280" y="4369757"/>
            <a:ext cx="3078865" cy="1815882"/>
          </a:xfrm>
          <a:prstGeom prst="rect">
            <a:avLst/>
          </a:prstGeom>
          <a:noFill/>
        </p:spPr>
        <p:txBody>
          <a:bodyPr wrap="square">
            <a:spAutoFit/>
          </a:bodyPr>
          <a:lstStyle/>
          <a:p>
            <a:r>
              <a:rPr lang="fr-FR" sz="1400" b="1" dirty="0">
                <a:latin typeface="Aptos" panose="020B0004020202020204" pitchFamily="34" charset="0"/>
              </a:rPr>
              <a:t>Fonctionnalité clé </a:t>
            </a:r>
            <a:r>
              <a:rPr lang="fr-FR" sz="1400" dirty="0">
                <a:latin typeface="Aptos" panose="020B0004020202020204" pitchFamily="34" charset="0"/>
              </a:rPr>
              <a:t>: </a:t>
            </a:r>
          </a:p>
          <a:p>
            <a:pPr marL="285750" indent="-285750">
              <a:buFont typeface="Arial" panose="020B0604020202020204" pitchFamily="34" charset="0"/>
              <a:buChar char="•"/>
            </a:pPr>
            <a:r>
              <a:rPr lang="fr-FR" sz="1400" dirty="0">
                <a:latin typeface="Aptos" panose="020B0004020202020204" pitchFamily="34" charset="0"/>
              </a:rPr>
              <a:t>QAT peut importer directement les données via une connexion API, éliminant la saisie manuelle et réduisant les erreurs de transcription. </a:t>
            </a:r>
          </a:p>
          <a:p>
            <a:pPr marL="285750" indent="-285750">
              <a:buFont typeface="Arial" panose="020B0604020202020204" pitchFamily="34" charset="0"/>
              <a:buChar char="•"/>
            </a:pPr>
            <a:r>
              <a:rPr lang="fr-FR" sz="1400" dirty="0">
                <a:latin typeface="Aptos" panose="020B0004020202020204" pitchFamily="34" charset="0"/>
              </a:rPr>
              <a:t>C'est une avancée majeure par rapport aux outils précédents.</a:t>
            </a:r>
          </a:p>
        </p:txBody>
      </p:sp>
    </p:spTree>
    <p:extLst>
      <p:ext uri="{BB962C8B-B14F-4D97-AF65-F5344CB8AC3E}">
        <p14:creationId xmlns:p14="http://schemas.microsoft.com/office/powerpoint/2010/main" val="2895901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de QAT</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321519" cy="1323439"/>
          </a:xfrm>
          <a:prstGeom prst="rect">
            <a:avLst/>
          </a:prstGeom>
          <a:noFill/>
        </p:spPr>
        <p:txBody>
          <a:bodyPr wrap="square">
            <a:spAutoFit/>
          </a:bodyPr>
          <a:lstStyle/>
          <a:p>
            <a:r>
              <a:rPr lang="fr-FR" sz="2000" b="1" dirty="0">
                <a:latin typeface="Aptos" panose="020B0004020202020204" pitchFamily="34" charset="0"/>
              </a:rPr>
              <a:t>Section 3 — Quantification </a:t>
            </a:r>
            <a:r>
              <a:rPr lang="fr-FR" sz="2000" b="1" dirty="0" err="1">
                <a:latin typeface="Aptos" panose="020B0004020202020204" pitchFamily="34" charset="0"/>
              </a:rPr>
              <a:t>multi-méthodes</a:t>
            </a:r>
            <a:endParaRPr lang="fr-FR" sz="2000" b="1" dirty="0">
              <a:latin typeface="Aptos" panose="020B0004020202020204" pitchFamily="34" charset="0"/>
            </a:endParaRPr>
          </a:p>
          <a:p>
            <a:r>
              <a:rPr lang="fr-FR" sz="2000" dirty="0">
                <a:latin typeface="Aptos" panose="020B0004020202020204" pitchFamily="34" charset="0"/>
              </a:rPr>
              <a:t>C'est le cœur de QAT. </a:t>
            </a:r>
          </a:p>
          <a:p>
            <a:r>
              <a:rPr lang="fr-FR" sz="2000" dirty="0">
                <a:latin typeface="Aptos" panose="020B0004020202020204" pitchFamily="34" charset="0"/>
              </a:rPr>
              <a:t>Pour chaque produit, l'utilisateur peut appliquer jusqu'à quatre méthodes de quantification simultanément et les comparer dans un tableau de triangulation intégré.</a:t>
            </a:r>
            <a:endParaRPr lang="fr-FR" sz="2000" b="1" dirty="0">
              <a:latin typeface="Aptos" panose="020B0004020202020204" pitchFamily="34" charset="0"/>
            </a:endParaRPr>
          </a:p>
        </p:txBody>
      </p:sp>
    </p:spTree>
    <p:extLst>
      <p:ext uri="{BB962C8B-B14F-4D97-AF65-F5344CB8AC3E}">
        <p14:creationId xmlns:p14="http://schemas.microsoft.com/office/powerpoint/2010/main" val="39455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Architecture de QAT</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321519" cy="1015663"/>
          </a:xfrm>
          <a:prstGeom prst="rect">
            <a:avLst/>
          </a:prstGeom>
          <a:noFill/>
        </p:spPr>
        <p:txBody>
          <a:bodyPr wrap="square">
            <a:spAutoFit/>
          </a:bodyPr>
          <a:lstStyle/>
          <a:p>
            <a:r>
              <a:rPr lang="fr-FR" sz="2000" b="1" dirty="0">
                <a:latin typeface="Aptos" panose="020B0004020202020204" pitchFamily="34" charset="0"/>
              </a:rPr>
              <a:t>Section 4 — Suivi des approvisionnements</a:t>
            </a:r>
          </a:p>
          <a:p>
            <a:r>
              <a:rPr lang="fr-FR" sz="2000" dirty="0">
                <a:latin typeface="Aptos" panose="020B0004020202020204" pitchFamily="34" charset="0"/>
              </a:rPr>
              <a:t>QAT intègre un module de suivi des commandes et du pipeline d'approvisionnement qui permet de visualiser en temps réel la situation des stocks à chaque niveau.</a:t>
            </a:r>
            <a:endParaRPr lang="fr-FR" sz="2000" b="1" dirty="0">
              <a:latin typeface="Aptos" panose="020B0004020202020204" pitchFamily="34" charset="0"/>
            </a:endParaRPr>
          </a:p>
        </p:txBody>
      </p:sp>
      <p:sp>
        <p:nvSpPr>
          <p:cNvPr id="13" name="ZoneTexte 12">
            <a:extLst>
              <a:ext uri="{FF2B5EF4-FFF2-40B4-BE49-F238E27FC236}">
                <a16:creationId xmlns:a16="http://schemas.microsoft.com/office/drawing/2014/main" id="{1D5284FE-71B1-44AF-BDCC-25B4BCBD7E98}"/>
              </a:ext>
            </a:extLst>
          </p:cNvPr>
          <p:cNvSpPr txBox="1"/>
          <p:nvPr/>
        </p:nvSpPr>
        <p:spPr>
          <a:xfrm>
            <a:off x="990000" y="4018395"/>
            <a:ext cx="10141388" cy="707886"/>
          </a:xfrm>
          <a:prstGeom prst="rect">
            <a:avLst/>
          </a:prstGeom>
          <a:noFill/>
        </p:spPr>
        <p:txBody>
          <a:bodyPr wrap="square">
            <a:spAutoFit/>
          </a:bodyPr>
          <a:lstStyle/>
          <a:p>
            <a:r>
              <a:rPr lang="fr-FR" sz="2000" dirty="0">
                <a:latin typeface="Aptos" panose="020B0004020202020204" pitchFamily="34" charset="0"/>
              </a:rPr>
              <a:t>Fonctionnalité avancée — Analyse de scénarios dans QAT :</a:t>
            </a:r>
          </a:p>
          <a:p>
            <a:pPr marL="800100" lvl="1" indent="-342900">
              <a:buFont typeface="Arial" panose="020B0604020202020204" pitchFamily="34" charset="0"/>
              <a:buChar char="•"/>
            </a:pPr>
            <a:r>
              <a:rPr lang="fr-FR" sz="2000" b="1" dirty="0">
                <a:latin typeface="Aptos" panose="020B0004020202020204" pitchFamily="34" charset="0"/>
              </a:rPr>
              <a:t>QAT permet de simuler l'impact de différentes hypothèses sur la quantification.</a:t>
            </a:r>
          </a:p>
        </p:txBody>
      </p:sp>
    </p:spTree>
    <p:extLst>
      <p:ext uri="{BB962C8B-B14F-4D97-AF65-F5344CB8AC3E}">
        <p14:creationId xmlns:p14="http://schemas.microsoft.com/office/powerpoint/2010/main" val="22379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endParaRPr lang="fr-FR"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Génération de rapports dans QAT :</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321519" cy="707886"/>
          </a:xfrm>
          <a:prstGeom prst="rect">
            <a:avLst/>
          </a:prstGeom>
          <a:noFill/>
        </p:spPr>
        <p:txBody>
          <a:bodyPr wrap="square">
            <a:spAutoFit/>
          </a:bodyPr>
          <a:lstStyle/>
          <a:p>
            <a:r>
              <a:rPr lang="fr-FR" sz="2000" dirty="0">
                <a:latin typeface="Aptos" panose="020B0004020202020204" pitchFamily="34" charset="0"/>
              </a:rPr>
              <a:t>QAT génère automatiquement plusieurs types de rapports exportables en Excel, PDF ou Word :</a:t>
            </a:r>
          </a:p>
        </p:txBody>
      </p:sp>
      <p:graphicFrame>
        <p:nvGraphicFramePr>
          <p:cNvPr id="2" name="Tableau 1">
            <a:extLst>
              <a:ext uri="{FF2B5EF4-FFF2-40B4-BE49-F238E27FC236}">
                <a16:creationId xmlns:a16="http://schemas.microsoft.com/office/drawing/2014/main" id="{09AFD65A-6AC1-4CD4-A82D-80DFD11562CD}"/>
              </a:ext>
            </a:extLst>
          </p:cNvPr>
          <p:cNvGraphicFramePr>
            <a:graphicFrameLocks noGrp="1"/>
          </p:cNvGraphicFramePr>
          <p:nvPr>
            <p:extLst>
              <p:ext uri="{D42A27DB-BD31-4B8C-83A1-F6EECF244321}">
                <p14:modId xmlns:p14="http://schemas.microsoft.com/office/powerpoint/2010/main" val="3427215382"/>
              </p:ext>
            </p:extLst>
          </p:nvPr>
        </p:nvGraphicFramePr>
        <p:xfrm>
          <a:off x="919729" y="3308003"/>
          <a:ext cx="10933914" cy="3017520"/>
        </p:xfrm>
        <a:graphic>
          <a:graphicData uri="http://schemas.openxmlformats.org/drawingml/2006/table">
            <a:tbl>
              <a:tblPr/>
              <a:tblGrid>
                <a:gridCol w="3317811">
                  <a:extLst>
                    <a:ext uri="{9D8B030D-6E8A-4147-A177-3AD203B41FA5}">
                      <a16:colId xmlns:a16="http://schemas.microsoft.com/office/drawing/2014/main" val="2355604136"/>
                    </a:ext>
                  </a:extLst>
                </a:gridCol>
                <a:gridCol w="3971465">
                  <a:extLst>
                    <a:ext uri="{9D8B030D-6E8A-4147-A177-3AD203B41FA5}">
                      <a16:colId xmlns:a16="http://schemas.microsoft.com/office/drawing/2014/main" val="1471142793"/>
                    </a:ext>
                  </a:extLst>
                </a:gridCol>
                <a:gridCol w="3644638">
                  <a:extLst>
                    <a:ext uri="{9D8B030D-6E8A-4147-A177-3AD203B41FA5}">
                      <a16:colId xmlns:a16="http://schemas.microsoft.com/office/drawing/2014/main" val="1134238062"/>
                    </a:ext>
                  </a:extLst>
                </a:gridCol>
              </a:tblGrid>
              <a:tr h="0">
                <a:tc>
                  <a:txBody>
                    <a:bodyPr/>
                    <a:lstStyle/>
                    <a:p>
                      <a:r>
                        <a:rPr lang="fr-FR" sz="1800" b="1" dirty="0">
                          <a:solidFill>
                            <a:schemeClr val="bg1"/>
                          </a:solidFill>
                          <a:latin typeface="Aptos" panose="020B0004020202020204" pitchFamily="34" charset="0"/>
                        </a:rPr>
                        <a:t>Rapport</a:t>
                      </a:r>
                    </a:p>
                  </a:txBody>
                  <a:tcPr anchor="ctr">
                    <a:lnL>
                      <a:noFill/>
                    </a:lnL>
                    <a:lnR>
                      <a:noFill/>
                    </a:lnR>
                    <a:lnT>
                      <a:noFill/>
                    </a:lnT>
                    <a:lnB>
                      <a:noFill/>
                    </a:lnB>
                    <a:solidFill>
                      <a:srgbClr val="F37504"/>
                    </a:solidFill>
                  </a:tcPr>
                </a:tc>
                <a:tc>
                  <a:txBody>
                    <a:bodyPr/>
                    <a:lstStyle/>
                    <a:p>
                      <a:r>
                        <a:rPr lang="fr-FR" sz="1800" b="1" dirty="0">
                          <a:solidFill>
                            <a:schemeClr val="bg1"/>
                          </a:solidFill>
                          <a:latin typeface="Aptos" panose="020B0004020202020204" pitchFamily="34" charset="0"/>
                        </a:rPr>
                        <a:t>Contenu</a:t>
                      </a:r>
                    </a:p>
                  </a:txBody>
                  <a:tcPr anchor="ctr">
                    <a:lnL>
                      <a:noFill/>
                    </a:lnL>
                    <a:lnR>
                      <a:noFill/>
                    </a:lnR>
                    <a:lnT>
                      <a:noFill/>
                    </a:lnT>
                    <a:lnB>
                      <a:noFill/>
                    </a:lnB>
                    <a:solidFill>
                      <a:srgbClr val="F37504"/>
                    </a:solidFill>
                  </a:tcPr>
                </a:tc>
                <a:tc>
                  <a:txBody>
                    <a:bodyPr/>
                    <a:lstStyle/>
                    <a:p>
                      <a:r>
                        <a:rPr lang="fr-FR" sz="1800" b="1" dirty="0">
                          <a:solidFill>
                            <a:schemeClr val="bg1"/>
                          </a:solidFill>
                          <a:latin typeface="Aptos" panose="020B0004020202020204" pitchFamily="34" charset="0"/>
                        </a:rPr>
                        <a:t>Utilisateurs</a:t>
                      </a:r>
                    </a:p>
                  </a:txBody>
                  <a:tcPr anchor="ctr">
                    <a:lnL>
                      <a:noFill/>
                    </a:lnL>
                    <a:lnR>
                      <a:noFill/>
                    </a:lnR>
                    <a:lnT>
                      <a:noFill/>
                    </a:lnT>
                    <a:lnB>
                      <a:noFill/>
                    </a:lnB>
                    <a:solidFill>
                      <a:srgbClr val="F37504"/>
                    </a:solidFill>
                  </a:tcPr>
                </a:tc>
                <a:extLst>
                  <a:ext uri="{0D108BD9-81ED-4DB2-BD59-A6C34878D82A}">
                    <a16:rowId xmlns:a16="http://schemas.microsoft.com/office/drawing/2014/main" val="2409005096"/>
                  </a:ext>
                </a:extLst>
              </a:tr>
              <a:tr h="0">
                <a:tc>
                  <a:txBody>
                    <a:bodyPr/>
                    <a:lstStyle/>
                    <a:p>
                      <a:r>
                        <a:rPr lang="fr-FR" sz="1800" dirty="0">
                          <a:latin typeface="Aptos" panose="020B0004020202020204" pitchFamily="34" charset="0"/>
                        </a:rPr>
                        <a:t>Rapport de quantification</a:t>
                      </a:r>
                    </a:p>
                  </a:txBody>
                  <a:tcPr anchor="ctr">
                    <a:lnL>
                      <a:noFill/>
                    </a:lnL>
                    <a:lnR>
                      <a:noFill/>
                    </a:lnR>
                    <a:lnT>
                      <a:noFill/>
                    </a:lnT>
                    <a:lnB>
                      <a:noFill/>
                    </a:lnB>
                  </a:tcPr>
                </a:tc>
                <a:tc>
                  <a:txBody>
                    <a:bodyPr/>
                    <a:lstStyle/>
                    <a:p>
                      <a:r>
                        <a:rPr lang="fr-FR" sz="1800">
                          <a:latin typeface="Aptos" panose="020B0004020202020204" pitchFamily="34" charset="0"/>
                        </a:rPr>
                        <a:t>Besoins par produit, méthode et période</a:t>
                      </a:r>
                    </a:p>
                  </a:txBody>
                  <a:tcPr anchor="ctr">
                    <a:lnL>
                      <a:noFill/>
                    </a:lnL>
                    <a:lnR>
                      <a:noFill/>
                    </a:lnR>
                    <a:lnT>
                      <a:noFill/>
                    </a:lnT>
                    <a:lnB>
                      <a:noFill/>
                    </a:lnB>
                  </a:tcPr>
                </a:tc>
                <a:tc>
                  <a:txBody>
                    <a:bodyPr/>
                    <a:lstStyle/>
                    <a:p>
                      <a:r>
                        <a:rPr lang="fr-FR" sz="1800">
                          <a:latin typeface="Aptos" panose="020B0004020202020204" pitchFamily="34" charset="0"/>
                        </a:rPr>
                        <a:t>Gestionnaires, planificateurs</a:t>
                      </a:r>
                    </a:p>
                  </a:txBody>
                  <a:tcPr anchor="ctr">
                    <a:lnL>
                      <a:noFill/>
                    </a:lnL>
                    <a:lnR>
                      <a:noFill/>
                    </a:lnR>
                    <a:lnT>
                      <a:noFill/>
                    </a:lnT>
                    <a:lnB>
                      <a:noFill/>
                    </a:lnB>
                  </a:tcPr>
                </a:tc>
                <a:extLst>
                  <a:ext uri="{0D108BD9-81ED-4DB2-BD59-A6C34878D82A}">
                    <a16:rowId xmlns:a16="http://schemas.microsoft.com/office/drawing/2014/main" val="3244864362"/>
                  </a:ext>
                </a:extLst>
              </a:tr>
              <a:tr h="0">
                <a:tc>
                  <a:txBody>
                    <a:bodyPr/>
                    <a:lstStyle/>
                    <a:p>
                      <a:r>
                        <a:rPr lang="fr-FR" sz="1800" dirty="0">
                          <a:latin typeface="Aptos" panose="020B0004020202020204" pitchFamily="34" charset="0"/>
                        </a:rPr>
                        <a:t>Rapport de triangulation</a:t>
                      </a:r>
                    </a:p>
                  </a:txBody>
                  <a:tcPr anchor="ctr">
                    <a:lnL>
                      <a:noFill/>
                    </a:lnL>
                    <a:lnR>
                      <a:noFill/>
                    </a:lnR>
                    <a:lnT>
                      <a:noFill/>
                    </a:lnT>
                    <a:lnB>
                      <a:noFill/>
                    </a:lnB>
                    <a:solidFill>
                      <a:schemeClr val="bg2">
                        <a:lumMod val="90000"/>
                      </a:schemeClr>
                    </a:solidFill>
                  </a:tcPr>
                </a:tc>
                <a:tc>
                  <a:txBody>
                    <a:bodyPr/>
                    <a:lstStyle/>
                    <a:p>
                      <a:r>
                        <a:rPr lang="fr-FR" sz="1800">
                          <a:latin typeface="Aptos" panose="020B0004020202020204" pitchFamily="34" charset="0"/>
                        </a:rPr>
                        <a:t>Comparaison des méthodes, justification</a:t>
                      </a:r>
                    </a:p>
                  </a:txBody>
                  <a:tcPr anchor="ctr">
                    <a:lnL>
                      <a:noFill/>
                    </a:lnL>
                    <a:lnR>
                      <a:noFill/>
                    </a:lnR>
                    <a:lnT>
                      <a:noFill/>
                    </a:lnT>
                    <a:lnB>
                      <a:noFill/>
                    </a:lnB>
                    <a:solidFill>
                      <a:schemeClr val="bg2">
                        <a:lumMod val="90000"/>
                      </a:schemeClr>
                    </a:solidFill>
                  </a:tcPr>
                </a:tc>
                <a:tc>
                  <a:txBody>
                    <a:bodyPr/>
                    <a:lstStyle/>
                    <a:p>
                      <a:r>
                        <a:rPr lang="fr-FR" sz="1800" dirty="0">
                          <a:latin typeface="Aptos" panose="020B0004020202020204" pitchFamily="34" charset="0"/>
                        </a:rPr>
                        <a:t>Décideurs, bailleurs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482094244"/>
                  </a:ext>
                </a:extLst>
              </a:tr>
              <a:tr h="0">
                <a:tc>
                  <a:txBody>
                    <a:bodyPr/>
                    <a:lstStyle/>
                    <a:p>
                      <a:r>
                        <a:rPr lang="fr-FR" sz="1800">
                          <a:latin typeface="Aptos" panose="020B0004020202020204" pitchFamily="34" charset="0"/>
                        </a:rPr>
                        <a:t>Rapport budgétaire</a:t>
                      </a:r>
                    </a:p>
                  </a:txBody>
                  <a:tcPr anchor="ctr">
                    <a:lnL>
                      <a:noFill/>
                    </a:lnL>
                    <a:lnR>
                      <a:noFill/>
                    </a:lnR>
                    <a:lnT>
                      <a:noFill/>
                    </a:lnT>
                    <a:lnB>
                      <a:noFill/>
                    </a:lnB>
                  </a:tcPr>
                </a:tc>
                <a:tc>
                  <a:txBody>
                    <a:bodyPr/>
                    <a:lstStyle/>
                    <a:p>
                      <a:r>
                        <a:rPr lang="fr-FR" sz="1800" dirty="0">
                          <a:latin typeface="Aptos" panose="020B0004020202020204" pitchFamily="34" charset="0"/>
                        </a:rPr>
                        <a:t>Coût total par produit et par bailleur</a:t>
                      </a:r>
                    </a:p>
                  </a:txBody>
                  <a:tcPr anchor="ctr">
                    <a:lnL>
                      <a:noFill/>
                    </a:lnL>
                    <a:lnR>
                      <a:noFill/>
                    </a:lnR>
                    <a:lnT>
                      <a:noFill/>
                    </a:lnT>
                    <a:lnB>
                      <a:noFill/>
                    </a:lnB>
                  </a:tcPr>
                </a:tc>
                <a:tc>
                  <a:txBody>
                    <a:bodyPr/>
                    <a:lstStyle/>
                    <a:p>
                      <a:r>
                        <a:rPr lang="fr-FR" sz="1800" dirty="0">
                          <a:latin typeface="Aptos" panose="020B0004020202020204" pitchFamily="34" charset="0"/>
                        </a:rPr>
                        <a:t>Ministère des Finances, bailleurs</a:t>
                      </a:r>
                    </a:p>
                  </a:txBody>
                  <a:tcPr anchor="ctr">
                    <a:lnL>
                      <a:noFill/>
                    </a:lnL>
                    <a:lnR>
                      <a:noFill/>
                    </a:lnR>
                    <a:lnT>
                      <a:noFill/>
                    </a:lnT>
                    <a:lnB>
                      <a:noFill/>
                    </a:lnB>
                  </a:tcPr>
                </a:tc>
                <a:extLst>
                  <a:ext uri="{0D108BD9-81ED-4DB2-BD59-A6C34878D82A}">
                    <a16:rowId xmlns:a16="http://schemas.microsoft.com/office/drawing/2014/main" val="4131966084"/>
                  </a:ext>
                </a:extLst>
              </a:tr>
              <a:tr h="0">
                <a:tc>
                  <a:txBody>
                    <a:bodyPr/>
                    <a:lstStyle/>
                    <a:p>
                      <a:r>
                        <a:rPr lang="fr-FR" sz="1800" dirty="0">
                          <a:latin typeface="Aptos" panose="020B0004020202020204" pitchFamily="34" charset="0"/>
                        </a:rPr>
                        <a:t>Rapport de pipeline</a:t>
                      </a:r>
                    </a:p>
                  </a:txBody>
                  <a:tcPr anchor="ctr">
                    <a:lnL>
                      <a:noFill/>
                    </a:lnL>
                    <a:lnR>
                      <a:noFill/>
                    </a:lnR>
                    <a:lnT>
                      <a:noFill/>
                    </a:lnT>
                    <a:lnB>
                      <a:noFill/>
                    </a:lnB>
                    <a:solidFill>
                      <a:schemeClr val="bg2">
                        <a:lumMod val="90000"/>
                      </a:schemeClr>
                    </a:solidFill>
                  </a:tcPr>
                </a:tc>
                <a:tc>
                  <a:txBody>
                    <a:bodyPr/>
                    <a:lstStyle/>
                    <a:p>
                      <a:r>
                        <a:rPr lang="fr-FR" sz="1800" dirty="0">
                          <a:latin typeface="Aptos" panose="020B0004020202020204" pitchFamily="34" charset="0"/>
                        </a:rPr>
                        <a:t>Situation des stocks à chaque niveau</a:t>
                      </a:r>
                    </a:p>
                  </a:txBody>
                  <a:tcPr anchor="ctr">
                    <a:lnL>
                      <a:noFill/>
                    </a:lnL>
                    <a:lnR>
                      <a:noFill/>
                    </a:lnR>
                    <a:lnT>
                      <a:noFill/>
                    </a:lnT>
                    <a:lnB>
                      <a:noFill/>
                    </a:lnB>
                    <a:solidFill>
                      <a:schemeClr val="bg2">
                        <a:lumMod val="90000"/>
                      </a:schemeClr>
                    </a:solidFill>
                  </a:tcPr>
                </a:tc>
                <a:tc>
                  <a:txBody>
                    <a:bodyPr/>
                    <a:lstStyle/>
                    <a:p>
                      <a:r>
                        <a:rPr lang="fr-FR" sz="1800" dirty="0">
                          <a:latin typeface="Aptos" panose="020B0004020202020204" pitchFamily="34" charset="0"/>
                        </a:rPr>
                        <a:t>Gestionnaires de la chaîne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434411329"/>
                  </a:ext>
                </a:extLst>
              </a:tr>
              <a:tr h="0">
                <a:tc>
                  <a:txBody>
                    <a:bodyPr/>
                    <a:lstStyle/>
                    <a:p>
                      <a:r>
                        <a:rPr lang="fr-FR" sz="1800">
                          <a:latin typeface="Aptos" panose="020B0004020202020204" pitchFamily="34" charset="0"/>
                        </a:rPr>
                        <a:t>Tableau de bord programmatique</a:t>
                      </a:r>
                    </a:p>
                  </a:txBody>
                  <a:tcPr anchor="ctr">
                    <a:lnL>
                      <a:noFill/>
                    </a:lnL>
                    <a:lnR>
                      <a:noFill/>
                    </a:lnR>
                    <a:lnT>
                      <a:noFill/>
                    </a:lnT>
                    <a:lnB>
                      <a:noFill/>
                    </a:lnB>
                  </a:tcPr>
                </a:tc>
                <a:tc>
                  <a:txBody>
                    <a:bodyPr/>
                    <a:lstStyle/>
                    <a:p>
                      <a:r>
                        <a:rPr lang="fr-FR" sz="1800">
                          <a:latin typeface="Aptos" panose="020B0004020202020204" pitchFamily="34" charset="0"/>
                        </a:rPr>
                        <a:t>KPIs du programme (couverture, ruptures)</a:t>
                      </a:r>
                    </a:p>
                  </a:txBody>
                  <a:tcPr anchor="ctr">
                    <a:lnL>
                      <a:noFill/>
                    </a:lnL>
                    <a:lnR>
                      <a:noFill/>
                    </a:lnR>
                    <a:lnT>
                      <a:noFill/>
                    </a:lnT>
                    <a:lnB>
                      <a:noFill/>
                    </a:lnB>
                  </a:tcPr>
                </a:tc>
                <a:tc>
                  <a:txBody>
                    <a:bodyPr/>
                    <a:lstStyle/>
                    <a:p>
                      <a:r>
                        <a:rPr lang="fr-FR" sz="1800" dirty="0">
                          <a:latin typeface="Aptos" panose="020B0004020202020204" pitchFamily="34" charset="0"/>
                        </a:rPr>
                        <a:t>Directeurs de programme</a:t>
                      </a:r>
                    </a:p>
                  </a:txBody>
                  <a:tcPr anchor="ctr">
                    <a:lnL>
                      <a:noFill/>
                    </a:lnL>
                    <a:lnR>
                      <a:noFill/>
                    </a:lnR>
                    <a:lnT>
                      <a:noFill/>
                    </a:lnT>
                    <a:lnB>
                      <a:noFill/>
                    </a:lnB>
                  </a:tcPr>
                </a:tc>
                <a:extLst>
                  <a:ext uri="{0D108BD9-81ED-4DB2-BD59-A6C34878D82A}">
                    <a16:rowId xmlns:a16="http://schemas.microsoft.com/office/drawing/2014/main" val="302117636"/>
                  </a:ext>
                </a:extLst>
              </a:tr>
            </a:tbl>
          </a:graphicData>
        </a:graphic>
      </p:graphicFrame>
    </p:spTree>
    <p:extLst>
      <p:ext uri="{BB962C8B-B14F-4D97-AF65-F5344CB8AC3E}">
        <p14:creationId xmlns:p14="http://schemas.microsoft.com/office/powerpoint/2010/main" val="382984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Forces et limites de QAT</a:t>
            </a:r>
          </a:p>
        </p:txBody>
      </p:sp>
      <p:sp>
        <p:nvSpPr>
          <p:cNvPr id="11" name="ZoneTexte 10">
            <a:extLst>
              <a:ext uri="{FF2B5EF4-FFF2-40B4-BE49-F238E27FC236}">
                <a16:creationId xmlns:a16="http://schemas.microsoft.com/office/drawing/2014/main" id="{00953569-409A-48CB-BAD4-E50A574C431A}"/>
              </a:ext>
            </a:extLst>
          </p:cNvPr>
          <p:cNvSpPr txBox="1"/>
          <p:nvPr/>
        </p:nvSpPr>
        <p:spPr>
          <a:xfrm>
            <a:off x="919729" y="2607639"/>
            <a:ext cx="10933913" cy="3785652"/>
          </a:xfrm>
          <a:prstGeom prst="rect">
            <a:avLst/>
          </a:prstGeom>
          <a:noFill/>
        </p:spPr>
        <p:txBody>
          <a:bodyPr wrap="square">
            <a:spAutoFit/>
          </a:bodyPr>
          <a:lstStyle/>
          <a:p>
            <a:r>
              <a:rPr lang="fr-FR" sz="2000" b="1" dirty="0">
                <a:latin typeface="Aptos" panose="020B0004020202020204" pitchFamily="34" charset="0"/>
              </a:rPr>
              <a:t>Forces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Outil le plus complet et le plus récent</a:t>
            </a:r>
          </a:p>
          <a:p>
            <a:pPr marL="342900" indent="-342900">
              <a:buFont typeface="Arial" panose="020B0604020202020204" pitchFamily="34" charset="0"/>
              <a:buChar char="•"/>
            </a:pPr>
            <a:r>
              <a:rPr lang="fr-FR" sz="2000" dirty="0">
                <a:latin typeface="Aptos" panose="020B0004020202020204" pitchFamily="34" charset="0"/>
              </a:rPr>
              <a:t>Accessible en ligne, pas d'installation nécessaire</a:t>
            </a:r>
          </a:p>
          <a:p>
            <a:pPr marL="342900" indent="-342900">
              <a:buFont typeface="Arial" panose="020B0604020202020204" pitchFamily="34" charset="0"/>
              <a:buChar char="•"/>
            </a:pPr>
            <a:r>
              <a:rPr lang="fr-FR" sz="2000" dirty="0">
                <a:latin typeface="Aptos" panose="020B0004020202020204" pitchFamily="34" charset="0"/>
              </a:rPr>
              <a:t>Disponible en mode off line</a:t>
            </a:r>
          </a:p>
          <a:p>
            <a:pPr marL="342900" indent="-342900">
              <a:buFont typeface="Arial" panose="020B0604020202020204" pitchFamily="34" charset="0"/>
              <a:buChar char="•"/>
            </a:pPr>
            <a:r>
              <a:rPr lang="fr-FR" sz="2000" dirty="0">
                <a:latin typeface="Aptos" panose="020B0004020202020204" pitchFamily="34" charset="0"/>
              </a:rPr>
              <a:t>Collaboration multi-utilisateurs en temps réel</a:t>
            </a:r>
          </a:p>
          <a:p>
            <a:pPr marL="342900" indent="-342900">
              <a:buFont typeface="Arial" panose="020B0604020202020204" pitchFamily="34" charset="0"/>
              <a:buChar char="•"/>
            </a:pPr>
            <a:r>
              <a:rPr lang="fr-FR" sz="2000" dirty="0">
                <a:latin typeface="Aptos" panose="020B0004020202020204" pitchFamily="34" charset="0"/>
              </a:rPr>
              <a:t>Intégration des quatre méthodes de quantification dans un seul outil</a:t>
            </a:r>
          </a:p>
          <a:p>
            <a:pPr marL="342900" indent="-342900">
              <a:buFont typeface="Arial" panose="020B0604020202020204" pitchFamily="34" charset="0"/>
              <a:buChar char="•"/>
            </a:pPr>
            <a:r>
              <a:rPr lang="fr-FR" sz="2000" dirty="0">
                <a:latin typeface="Aptos" panose="020B0004020202020204" pitchFamily="34" charset="0"/>
              </a:rPr>
              <a:t>Triangulation intégrée avec pondération ajustable</a:t>
            </a:r>
          </a:p>
          <a:p>
            <a:pPr marL="342900" indent="-342900">
              <a:buFont typeface="Arial" panose="020B0604020202020204" pitchFamily="34" charset="0"/>
              <a:buChar char="•"/>
            </a:pPr>
            <a:r>
              <a:rPr lang="fr-FR" sz="2000" dirty="0">
                <a:latin typeface="Aptos" panose="020B0004020202020204" pitchFamily="34" charset="0"/>
              </a:rPr>
              <a:t>Import depuis DHIS2 (réduction des erreurs de saisie)</a:t>
            </a:r>
          </a:p>
          <a:p>
            <a:pPr marL="342900" indent="-342900">
              <a:buFont typeface="Arial" panose="020B0604020202020204" pitchFamily="34" charset="0"/>
              <a:buChar char="•"/>
            </a:pPr>
            <a:r>
              <a:rPr lang="fr-FR" sz="2000" dirty="0">
                <a:latin typeface="Aptos" panose="020B0004020202020204" pitchFamily="34" charset="0"/>
              </a:rPr>
              <a:t>Analyse de scénarios intégrée</a:t>
            </a:r>
          </a:p>
          <a:p>
            <a:pPr marL="342900" indent="-342900">
              <a:buFont typeface="Arial" panose="020B0604020202020204" pitchFamily="34" charset="0"/>
              <a:buChar char="•"/>
            </a:pPr>
            <a:r>
              <a:rPr lang="fr-FR" sz="2000" dirty="0">
                <a:latin typeface="Aptos" panose="020B0004020202020204" pitchFamily="34" charset="0"/>
              </a:rPr>
              <a:t>Rapports standardisés de haute qualité</a:t>
            </a:r>
          </a:p>
          <a:p>
            <a:pPr marL="342900" indent="-342900">
              <a:buFont typeface="Arial" panose="020B0604020202020204" pitchFamily="34" charset="0"/>
              <a:buChar char="•"/>
            </a:pPr>
            <a:r>
              <a:rPr lang="fr-FR" sz="2000" dirty="0">
                <a:latin typeface="Aptos" panose="020B0004020202020204" pitchFamily="34" charset="0"/>
              </a:rPr>
              <a:t>Support technique actif USAID/Chemonics</a:t>
            </a:r>
          </a:p>
          <a:p>
            <a:pPr marL="342900" indent="-342900">
              <a:buFont typeface="Arial" panose="020B0604020202020204" pitchFamily="34" charset="0"/>
              <a:buChar char="•"/>
            </a:pPr>
            <a:r>
              <a:rPr lang="fr-FR" sz="2000" dirty="0">
                <a:latin typeface="Aptos" panose="020B0004020202020204" pitchFamily="34" charset="0"/>
              </a:rPr>
              <a:t>Adapté à tous les types de produits de santé</a:t>
            </a:r>
          </a:p>
        </p:txBody>
      </p:sp>
    </p:spTree>
    <p:extLst>
      <p:ext uri="{BB962C8B-B14F-4D97-AF65-F5344CB8AC3E}">
        <p14:creationId xmlns:p14="http://schemas.microsoft.com/office/powerpoint/2010/main" val="185009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Utilisation de Quantimed, PipeLine, ForLAB, QAT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QAT (Quantification and Analytics Tool)</a:t>
            </a: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Forces et limites de QAT</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4" y="2658075"/>
            <a:ext cx="10771259" cy="1938992"/>
          </a:xfrm>
          <a:prstGeom prst="rect">
            <a:avLst/>
          </a:prstGeom>
          <a:noFill/>
        </p:spPr>
        <p:txBody>
          <a:bodyPr wrap="square">
            <a:spAutoFit/>
          </a:bodyPr>
          <a:lstStyle/>
          <a:p>
            <a:r>
              <a:rPr lang="fr-FR" sz="2000" b="1" dirty="0">
                <a:latin typeface="Aptos" panose="020B0004020202020204" pitchFamily="34" charset="0"/>
              </a:rPr>
              <a:t>Limites</a:t>
            </a:r>
            <a:r>
              <a:rPr lang="fr-FR" sz="2000" dirty="0">
                <a:latin typeface="Aptos" panose="020B0004020202020204" pitchFamily="34" charset="0"/>
              </a:rPr>
              <a:t> :</a:t>
            </a:r>
          </a:p>
          <a:p>
            <a:pPr marL="285750" indent="-285750">
              <a:buFont typeface="Arial" panose="020B0604020202020204" pitchFamily="34" charset="0"/>
              <a:buChar char="•"/>
            </a:pPr>
            <a:r>
              <a:rPr lang="fr-FR" sz="2000" dirty="0">
                <a:latin typeface="Aptos" panose="020B0004020202020204" pitchFamily="34" charset="0"/>
              </a:rPr>
              <a:t>Nécessite une connexion internet fiable (mode en ligne)</a:t>
            </a:r>
          </a:p>
          <a:p>
            <a:pPr marL="285750" indent="-285750">
              <a:buFont typeface="Arial" panose="020B0604020202020204" pitchFamily="34" charset="0"/>
              <a:buChar char="•"/>
            </a:pPr>
            <a:r>
              <a:rPr lang="fr-FR" sz="2000" dirty="0">
                <a:latin typeface="Aptos" panose="020B0004020202020204" pitchFamily="34" charset="0"/>
              </a:rPr>
              <a:t>Courbe d'apprentissage plus longue que les autres outils</a:t>
            </a:r>
          </a:p>
          <a:p>
            <a:pPr marL="285750" indent="-285750">
              <a:buFont typeface="Arial" panose="020B0604020202020204" pitchFamily="34" charset="0"/>
              <a:buChar char="•"/>
            </a:pPr>
            <a:r>
              <a:rPr lang="fr-FR" sz="2000" dirty="0">
                <a:latin typeface="Aptos" panose="020B0004020202020204" pitchFamily="34" charset="0"/>
              </a:rPr>
              <a:t>Interface en anglais uniquement (au moment de la rédaction)</a:t>
            </a:r>
          </a:p>
          <a:p>
            <a:pPr marL="285750" indent="-285750">
              <a:buFont typeface="Arial" panose="020B0604020202020204" pitchFamily="34" charset="0"/>
              <a:buChar char="•"/>
            </a:pPr>
            <a:r>
              <a:rPr lang="fr-FR" sz="2000" dirty="0">
                <a:latin typeface="Aptos" panose="020B0004020202020204" pitchFamily="34" charset="0"/>
              </a:rPr>
              <a:t>Certaines fonctionnalités avancées nécessitent une formation spécifique</a:t>
            </a:r>
          </a:p>
          <a:p>
            <a:pPr marL="285750" indent="-285750">
              <a:buFont typeface="Arial" panose="020B0604020202020204" pitchFamily="34" charset="0"/>
              <a:buChar char="•"/>
            </a:pPr>
            <a:r>
              <a:rPr lang="fr-FR" sz="2000" dirty="0">
                <a:latin typeface="Aptos" panose="020B0004020202020204" pitchFamily="34" charset="0"/>
              </a:rPr>
              <a:t>Dépendance à l'infrastructure internet dans les zones à faible connectivité</a:t>
            </a:r>
          </a:p>
        </p:txBody>
      </p:sp>
    </p:spTree>
    <p:extLst>
      <p:ext uri="{BB962C8B-B14F-4D97-AF65-F5344CB8AC3E}">
        <p14:creationId xmlns:p14="http://schemas.microsoft.com/office/powerpoint/2010/main" val="310664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ZoneTexte 12">
            <a:extLst>
              <a:ext uri="{FF2B5EF4-FFF2-40B4-BE49-F238E27FC236}">
                <a16:creationId xmlns:a16="http://schemas.microsoft.com/office/drawing/2014/main" id="{135A91B1-7F9D-47C2-88F4-0B05003892D6}"/>
              </a:ext>
            </a:extLst>
          </p:cNvPr>
          <p:cNvSpPr txBox="1"/>
          <p:nvPr/>
        </p:nvSpPr>
        <p:spPr>
          <a:xfrm>
            <a:off x="753042" y="1468665"/>
            <a:ext cx="10940118" cy="4185761"/>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Une prévision qui ignore la saisonnalité et les facteurs contextuels est une prévision aveugle.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produit une demande "moyenne" qui ne correspond à la réalité d'aucun mois de l'année. </a:t>
            </a:r>
          </a:p>
          <a:p>
            <a:pPr marL="800100" lvl="1" indent="-342900">
              <a:buFont typeface="Courier New" panose="02070309020205020404" pitchFamily="49" charset="0"/>
              <a:buChar char="o"/>
            </a:pPr>
            <a:r>
              <a:rPr lang="fr-FR" sz="1400" dirty="0">
                <a:latin typeface="Aptos" panose="020B0004020202020204" pitchFamily="34" charset="0"/>
              </a:rPr>
              <a:t>En mai, le gestionnaire est en rupture d'ACT pendant que son entrepôt déborde d'antihypertenseurs. </a:t>
            </a:r>
          </a:p>
          <a:p>
            <a:pPr marL="800100" lvl="1" indent="-342900">
              <a:buFont typeface="Courier New" panose="02070309020205020404" pitchFamily="49" charset="0"/>
              <a:buChar char="o"/>
            </a:pPr>
            <a:r>
              <a:rPr lang="fr-FR" sz="1400" dirty="0">
                <a:latin typeface="Aptos" panose="020B0004020202020204" pitchFamily="34" charset="0"/>
              </a:rPr>
              <a:t>En janvier, il a six mois de stock d'ACT qui occupent de l'espace et immobilisent des ressources</a:t>
            </a:r>
            <a:r>
              <a:rPr lang="fr-FR" sz="1600" dirty="0">
                <a:latin typeface="Aptos" panose="020B0004020202020204" pitchFamily="34" charset="0"/>
              </a:rPr>
              <a:t>. </a:t>
            </a:r>
          </a:p>
          <a:p>
            <a:pPr marL="800100" lvl="1" indent="-342900">
              <a:buFont typeface="Courier New" panose="02070309020205020404" pitchFamily="49" charset="0"/>
              <a:buChar char="o"/>
            </a:pPr>
            <a:endParaRPr lang="fr-FR" sz="16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saisonnalité est la réalité de terrain de tout gestionnaire pharmaceutique en zone tropicale.</a:t>
            </a:r>
          </a:p>
          <a:p>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Les facteurs contextuels — politiques de santé, événements démographiques, crises, changements de protocoles — sont les perturbateurs qui déforment les tendances "normales" et que seul un regard attentif sur l'environnement permet d'anticiper.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Maîtriser ces deux dimensions transforme une quantification mécanique en une prévision intelligente, adaptée à la réalité de chaque territoire et de chaque période.</a:t>
            </a:r>
          </a:p>
        </p:txBody>
      </p:sp>
    </p:spTree>
    <p:extLst>
      <p:ext uri="{BB962C8B-B14F-4D97-AF65-F5344CB8AC3E}">
        <p14:creationId xmlns:p14="http://schemas.microsoft.com/office/powerpoint/2010/main" val="239277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Définition et sources de la saisonnalité pharmaceutique</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5" y="2658075"/>
            <a:ext cx="5712698"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saisonnalité est la variation cyclique et prévisible de la demande pharmaceutique qui se répète à intervalles réguliers, généralement sur une base annuelle.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est dite "saisonnière" car elle est le plus souvent liée aux saisons climatiques, mais elle peut aussi être liée au calendrier épidémiologique, au calendrier scolaire ou aux cycles agricoles.</a:t>
            </a:r>
          </a:p>
        </p:txBody>
      </p:sp>
    </p:spTree>
    <p:extLst>
      <p:ext uri="{BB962C8B-B14F-4D97-AF65-F5344CB8AC3E}">
        <p14:creationId xmlns:p14="http://schemas.microsoft.com/office/powerpoint/2010/main" val="74794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Sources principales de saisonnalité en santé publique</a:t>
            </a:r>
          </a:p>
        </p:txBody>
      </p:sp>
      <p:graphicFrame>
        <p:nvGraphicFramePr>
          <p:cNvPr id="2" name="Tableau 1">
            <a:extLst>
              <a:ext uri="{FF2B5EF4-FFF2-40B4-BE49-F238E27FC236}">
                <a16:creationId xmlns:a16="http://schemas.microsoft.com/office/drawing/2014/main" id="{AB8F98E2-7441-42D3-B5B9-9BEA9737B01F}"/>
              </a:ext>
            </a:extLst>
          </p:cNvPr>
          <p:cNvGraphicFramePr>
            <a:graphicFrameLocks noGrp="1"/>
          </p:cNvGraphicFramePr>
          <p:nvPr>
            <p:extLst>
              <p:ext uri="{D42A27DB-BD31-4B8C-83A1-F6EECF244321}">
                <p14:modId xmlns:p14="http://schemas.microsoft.com/office/powerpoint/2010/main" val="3132690565"/>
              </p:ext>
            </p:extLst>
          </p:nvPr>
        </p:nvGraphicFramePr>
        <p:xfrm>
          <a:off x="751075" y="2700418"/>
          <a:ext cx="11102568" cy="3467223"/>
        </p:xfrm>
        <a:graphic>
          <a:graphicData uri="http://schemas.openxmlformats.org/drawingml/2006/table">
            <a:tbl>
              <a:tblPr/>
              <a:tblGrid>
                <a:gridCol w="2545800">
                  <a:extLst>
                    <a:ext uri="{9D8B030D-6E8A-4147-A177-3AD203B41FA5}">
                      <a16:colId xmlns:a16="http://schemas.microsoft.com/office/drawing/2014/main" val="1485224651"/>
                    </a:ext>
                  </a:extLst>
                </a:gridCol>
                <a:gridCol w="4555222">
                  <a:extLst>
                    <a:ext uri="{9D8B030D-6E8A-4147-A177-3AD203B41FA5}">
                      <a16:colId xmlns:a16="http://schemas.microsoft.com/office/drawing/2014/main" val="4136887533"/>
                    </a:ext>
                  </a:extLst>
                </a:gridCol>
                <a:gridCol w="4001546">
                  <a:extLst>
                    <a:ext uri="{9D8B030D-6E8A-4147-A177-3AD203B41FA5}">
                      <a16:colId xmlns:a16="http://schemas.microsoft.com/office/drawing/2014/main" val="2850421112"/>
                    </a:ext>
                  </a:extLst>
                </a:gridCol>
              </a:tblGrid>
              <a:tr h="257591">
                <a:tc>
                  <a:txBody>
                    <a:bodyPr/>
                    <a:lstStyle/>
                    <a:p>
                      <a:r>
                        <a:rPr lang="fr-FR" sz="1400" b="1" dirty="0">
                          <a:solidFill>
                            <a:schemeClr val="bg1"/>
                          </a:solidFill>
                          <a:latin typeface="Aptos" panose="020B0004020202020204" pitchFamily="34" charset="0"/>
                        </a:rPr>
                        <a:t>Source</a:t>
                      </a:r>
                    </a:p>
                  </a:txBody>
                  <a:tcPr marL="72522" marR="72522" marT="36261" marB="36261" anchor="ctr">
                    <a:lnL>
                      <a:noFill/>
                    </a:lnL>
                    <a:lnR>
                      <a:noFill/>
                    </a:lnR>
                    <a:lnT>
                      <a:noFill/>
                    </a:lnT>
                    <a:lnB>
                      <a:noFill/>
                    </a:lnB>
                    <a:solidFill>
                      <a:schemeClr val="accent2"/>
                    </a:solidFill>
                  </a:tcPr>
                </a:tc>
                <a:tc>
                  <a:txBody>
                    <a:bodyPr/>
                    <a:lstStyle/>
                    <a:p>
                      <a:r>
                        <a:rPr lang="fr-FR" sz="1400" b="1" dirty="0">
                          <a:solidFill>
                            <a:schemeClr val="bg1"/>
                          </a:solidFill>
                          <a:latin typeface="Aptos" panose="020B0004020202020204" pitchFamily="34" charset="0"/>
                        </a:rPr>
                        <a:t>Mécanisme</a:t>
                      </a:r>
                    </a:p>
                  </a:txBody>
                  <a:tcPr marL="72522" marR="72522" marT="36261" marB="36261" anchor="ctr">
                    <a:lnL>
                      <a:noFill/>
                    </a:lnL>
                    <a:lnR>
                      <a:noFill/>
                    </a:lnR>
                    <a:lnT>
                      <a:noFill/>
                    </a:lnT>
                    <a:lnB>
                      <a:noFill/>
                    </a:lnB>
                    <a:solidFill>
                      <a:schemeClr val="accent2"/>
                    </a:solidFill>
                  </a:tcPr>
                </a:tc>
                <a:tc>
                  <a:txBody>
                    <a:bodyPr/>
                    <a:lstStyle/>
                    <a:p>
                      <a:r>
                        <a:rPr lang="fr-FR" sz="1400" b="1" dirty="0">
                          <a:solidFill>
                            <a:schemeClr val="bg1"/>
                          </a:solidFill>
                          <a:latin typeface="Aptos" panose="020B0004020202020204" pitchFamily="34" charset="0"/>
                        </a:rPr>
                        <a:t>Produits affectés</a:t>
                      </a:r>
                    </a:p>
                  </a:txBody>
                  <a:tcPr marL="72522" marR="72522" marT="36261" marB="36261" anchor="ctr">
                    <a:lnL>
                      <a:noFill/>
                    </a:lnL>
                    <a:lnR>
                      <a:noFill/>
                    </a:lnR>
                    <a:lnT>
                      <a:noFill/>
                    </a:lnT>
                    <a:lnB>
                      <a:noFill/>
                    </a:lnB>
                    <a:solidFill>
                      <a:schemeClr val="accent2"/>
                    </a:solidFill>
                  </a:tcPr>
                </a:tc>
                <a:extLst>
                  <a:ext uri="{0D108BD9-81ED-4DB2-BD59-A6C34878D82A}">
                    <a16:rowId xmlns:a16="http://schemas.microsoft.com/office/drawing/2014/main" val="569664231"/>
                  </a:ext>
                </a:extLst>
              </a:tr>
              <a:tr h="383157">
                <a:tc>
                  <a:txBody>
                    <a:bodyPr/>
                    <a:lstStyle/>
                    <a:p>
                      <a:r>
                        <a:rPr lang="fr-FR" sz="1400">
                          <a:latin typeface="Aptos" panose="020B0004020202020204" pitchFamily="34" charset="0"/>
                        </a:rPr>
                        <a:t>Saison des pluies</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Prolifération des moustiques → paludisme</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ACT, quinine, TDR paludisme, artésunate IV</a:t>
                      </a:r>
                    </a:p>
                  </a:txBody>
                  <a:tcPr marL="72522" marR="72522" marT="36261" marB="36261" anchor="ctr">
                    <a:lnL>
                      <a:noFill/>
                    </a:lnL>
                    <a:lnR>
                      <a:noFill/>
                    </a:lnR>
                    <a:lnT>
                      <a:noFill/>
                    </a:lnT>
                    <a:lnB>
                      <a:noFill/>
                    </a:lnB>
                  </a:tcPr>
                </a:tc>
                <a:extLst>
                  <a:ext uri="{0D108BD9-81ED-4DB2-BD59-A6C34878D82A}">
                    <a16:rowId xmlns:a16="http://schemas.microsoft.com/office/drawing/2014/main" val="3302426729"/>
                  </a:ext>
                </a:extLst>
              </a:tr>
              <a:tr h="449838">
                <a:tc>
                  <a:txBody>
                    <a:bodyPr/>
                    <a:lstStyle/>
                    <a:p>
                      <a:r>
                        <a:rPr lang="fr-FR" sz="1400" dirty="0">
                          <a:latin typeface="Aptos" panose="020B0004020202020204" pitchFamily="34" charset="0"/>
                        </a:rPr>
                        <a:t>Saison sèche</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Poussières, vent de l'harmattan → méningite, infections respiratoires</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Vaccin méningite, antibiotiques</a:t>
                      </a:r>
                    </a:p>
                  </a:txBody>
                  <a:tcPr marL="72522" marR="72522" marT="36261" marB="36261" anchor="ctr">
                    <a:lnL>
                      <a:noFill/>
                    </a:lnL>
                    <a:lnR>
                      <a:noFill/>
                    </a:lnR>
                    <a:lnT>
                      <a:noFill/>
                    </a:lnT>
                    <a:lnB>
                      <a:noFill/>
                    </a:lnB>
                    <a:solidFill>
                      <a:schemeClr val="bg2">
                        <a:lumMod val="90000"/>
                      </a:schemeClr>
                    </a:solidFill>
                  </a:tcPr>
                </a:tc>
                <a:extLst>
                  <a:ext uri="{0D108BD9-81ED-4DB2-BD59-A6C34878D82A}">
                    <a16:rowId xmlns:a16="http://schemas.microsoft.com/office/drawing/2014/main" val="3288490111"/>
                  </a:ext>
                </a:extLst>
              </a:tr>
              <a:tr h="383157">
                <a:tc>
                  <a:txBody>
                    <a:bodyPr/>
                    <a:lstStyle/>
                    <a:p>
                      <a:r>
                        <a:rPr lang="fr-FR" sz="1400">
                          <a:latin typeface="Aptos" panose="020B0004020202020204" pitchFamily="34" charset="0"/>
                        </a:rPr>
                        <a:t>Saison froide/fraîche</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Favorise la transmission des virus respiratoires</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Paracétamol, amoxicilline pédiatrique, SRO</a:t>
                      </a:r>
                    </a:p>
                  </a:txBody>
                  <a:tcPr marL="72522" marR="72522" marT="36261" marB="36261" anchor="ctr">
                    <a:lnL>
                      <a:noFill/>
                    </a:lnL>
                    <a:lnR>
                      <a:noFill/>
                    </a:lnR>
                    <a:lnT>
                      <a:noFill/>
                    </a:lnT>
                    <a:lnB>
                      <a:noFill/>
                    </a:lnB>
                  </a:tcPr>
                </a:tc>
                <a:extLst>
                  <a:ext uri="{0D108BD9-81ED-4DB2-BD59-A6C34878D82A}">
                    <a16:rowId xmlns:a16="http://schemas.microsoft.com/office/drawing/2014/main" val="2068937639"/>
                  </a:ext>
                </a:extLst>
              </a:tr>
              <a:tr h="383157">
                <a:tc>
                  <a:txBody>
                    <a:bodyPr/>
                    <a:lstStyle/>
                    <a:p>
                      <a:r>
                        <a:rPr lang="fr-FR" sz="1400" dirty="0">
                          <a:latin typeface="Aptos" panose="020B0004020202020204" pitchFamily="34" charset="0"/>
                        </a:rPr>
                        <a:t>Période de récolte</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Déplacements de population, changements alimentaires</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SRO, antipaludéens</a:t>
                      </a:r>
                    </a:p>
                  </a:txBody>
                  <a:tcPr marL="72522" marR="72522" marT="36261" marB="36261" anchor="ctr">
                    <a:lnL>
                      <a:noFill/>
                    </a:lnL>
                    <a:lnR>
                      <a:noFill/>
                    </a:lnR>
                    <a:lnT>
                      <a:noFill/>
                    </a:lnT>
                    <a:lnB>
                      <a:noFill/>
                    </a:lnB>
                    <a:solidFill>
                      <a:schemeClr val="bg2">
                        <a:lumMod val="90000"/>
                      </a:schemeClr>
                    </a:solidFill>
                  </a:tcPr>
                </a:tc>
                <a:extLst>
                  <a:ext uri="{0D108BD9-81ED-4DB2-BD59-A6C34878D82A}">
                    <a16:rowId xmlns:a16="http://schemas.microsoft.com/office/drawing/2014/main" val="1116162739"/>
                  </a:ext>
                </a:extLst>
              </a:tr>
              <a:tr h="383157">
                <a:tc>
                  <a:txBody>
                    <a:bodyPr/>
                    <a:lstStyle/>
                    <a:p>
                      <a:r>
                        <a:rPr lang="fr-FR" sz="1400">
                          <a:latin typeface="Aptos" panose="020B0004020202020204" pitchFamily="34" charset="0"/>
                        </a:rPr>
                        <a:t>Calendrier vaccinal</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Campagnes de vaccination programmées</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Vaccins selon programme</a:t>
                      </a:r>
                    </a:p>
                  </a:txBody>
                  <a:tcPr marL="72522" marR="72522" marT="36261" marB="36261" anchor="ctr">
                    <a:lnL>
                      <a:noFill/>
                    </a:lnL>
                    <a:lnR>
                      <a:noFill/>
                    </a:lnR>
                    <a:lnT>
                      <a:noFill/>
                    </a:lnT>
                    <a:lnB>
                      <a:noFill/>
                    </a:lnB>
                  </a:tcPr>
                </a:tc>
                <a:extLst>
                  <a:ext uri="{0D108BD9-81ED-4DB2-BD59-A6C34878D82A}">
                    <a16:rowId xmlns:a16="http://schemas.microsoft.com/office/drawing/2014/main" val="2797937719"/>
                  </a:ext>
                </a:extLst>
              </a:tr>
              <a:tr h="383157">
                <a:tc>
                  <a:txBody>
                    <a:bodyPr/>
                    <a:lstStyle/>
                    <a:p>
                      <a:r>
                        <a:rPr lang="fr-FR" sz="1400" dirty="0">
                          <a:latin typeface="Aptos" panose="020B0004020202020204" pitchFamily="34" charset="0"/>
                        </a:rPr>
                        <a:t>Saison de maternité</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Légère augmentation des naissances certaines périodes</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err="1">
                          <a:latin typeface="Aptos" panose="020B0004020202020204" pitchFamily="34" charset="0"/>
                        </a:rPr>
                        <a:t>Oxytocine</a:t>
                      </a:r>
                      <a:r>
                        <a:rPr lang="fr-FR" sz="1400" dirty="0">
                          <a:latin typeface="Aptos" panose="020B0004020202020204" pitchFamily="34" charset="0"/>
                        </a:rPr>
                        <a:t>, fer acide folique, vitamine K</a:t>
                      </a:r>
                    </a:p>
                  </a:txBody>
                  <a:tcPr marL="72522" marR="72522" marT="36261" marB="36261" anchor="ctr">
                    <a:lnL>
                      <a:noFill/>
                    </a:lnL>
                    <a:lnR>
                      <a:noFill/>
                    </a:lnR>
                    <a:lnT>
                      <a:noFill/>
                    </a:lnT>
                    <a:lnB>
                      <a:noFill/>
                    </a:lnB>
                    <a:solidFill>
                      <a:schemeClr val="bg2">
                        <a:lumMod val="90000"/>
                      </a:schemeClr>
                    </a:solidFill>
                  </a:tcPr>
                </a:tc>
                <a:extLst>
                  <a:ext uri="{0D108BD9-81ED-4DB2-BD59-A6C34878D82A}">
                    <a16:rowId xmlns:a16="http://schemas.microsoft.com/office/drawing/2014/main" val="808482093"/>
                  </a:ext>
                </a:extLst>
              </a:tr>
              <a:tr h="383157">
                <a:tc>
                  <a:txBody>
                    <a:bodyPr/>
                    <a:lstStyle/>
                    <a:p>
                      <a:r>
                        <a:rPr lang="fr-FR" sz="1400">
                          <a:latin typeface="Aptos" panose="020B0004020202020204" pitchFamily="34" charset="0"/>
                        </a:rPr>
                        <a:t>Rentrée scolaire</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Dépistage des troubles visuels, dentaires</a:t>
                      </a:r>
                    </a:p>
                  </a:txBody>
                  <a:tcPr marL="72522" marR="72522" marT="36261" marB="36261" anchor="ctr">
                    <a:lnL>
                      <a:noFill/>
                    </a:lnL>
                    <a:lnR>
                      <a:noFill/>
                    </a:lnR>
                    <a:lnT>
                      <a:noFill/>
                    </a:lnT>
                    <a:lnB>
                      <a:noFill/>
                    </a:lnB>
                  </a:tcPr>
                </a:tc>
                <a:tc>
                  <a:txBody>
                    <a:bodyPr/>
                    <a:lstStyle/>
                    <a:p>
                      <a:r>
                        <a:rPr lang="fr-FR" sz="1400">
                          <a:latin typeface="Aptos" panose="020B0004020202020204" pitchFamily="34" charset="0"/>
                        </a:rPr>
                        <a:t>Médicaments pédiatriques</a:t>
                      </a:r>
                    </a:p>
                  </a:txBody>
                  <a:tcPr marL="72522" marR="72522" marT="36261" marB="36261" anchor="ctr">
                    <a:lnL>
                      <a:noFill/>
                    </a:lnL>
                    <a:lnR>
                      <a:noFill/>
                    </a:lnR>
                    <a:lnT>
                      <a:noFill/>
                    </a:lnT>
                    <a:lnB>
                      <a:noFill/>
                    </a:lnB>
                  </a:tcPr>
                </a:tc>
                <a:extLst>
                  <a:ext uri="{0D108BD9-81ED-4DB2-BD59-A6C34878D82A}">
                    <a16:rowId xmlns:a16="http://schemas.microsoft.com/office/drawing/2014/main" val="980889957"/>
                  </a:ext>
                </a:extLst>
              </a:tr>
              <a:tr h="383157">
                <a:tc>
                  <a:txBody>
                    <a:bodyPr/>
                    <a:lstStyle/>
                    <a:p>
                      <a:r>
                        <a:rPr lang="fr-FR" sz="1400" dirty="0">
                          <a:latin typeface="Aptos" panose="020B0004020202020204" pitchFamily="34" charset="0"/>
                        </a:rPr>
                        <a:t>Ramadan</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Adaptation des horaires de prise de médicaments</a:t>
                      </a:r>
                    </a:p>
                  </a:txBody>
                  <a:tcPr marL="72522" marR="72522" marT="36261" marB="36261"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Médicaments chroniques (diabète, HTA)</a:t>
                      </a:r>
                    </a:p>
                  </a:txBody>
                  <a:tcPr marL="72522" marR="72522" marT="36261" marB="36261" anchor="ctr">
                    <a:lnL>
                      <a:noFill/>
                    </a:lnL>
                    <a:lnR>
                      <a:noFill/>
                    </a:lnR>
                    <a:lnT>
                      <a:noFill/>
                    </a:lnT>
                    <a:lnB>
                      <a:noFill/>
                    </a:lnB>
                    <a:solidFill>
                      <a:schemeClr val="bg2">
                        <a:lumMod val="90000"/>
                      </a:schemeClr>
                    </a:solidFill>
                  </a:tcPr>
                </a:tc>
                <a:extLst>
                  <a:ext uri="{0D108BD9-81ED-4DB2-BD59-A6C34878D82A}">
                    <a16:rowId xmlns:a16="http://schemas.microsoft.com/office/drawing/2014/main" val="2439194297"/>
                  </a:ext>
                </a:extLst>
              </a:tr>
            </a:tbl>
          </a:graphicData>
        </a:graphic>
      </p:graphicFrame>
    </p:spTree>
    <p:extLst>
      <p:ext uri="{BB962C8B-B14F-4D97-AF65-F5344CB8AC3E}">
        <p14:creationId xmlns:p14="http://schemas.microsoft.com/office/powerpoint/2010/main" val="200594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Méthode de calcul des indices saisonniers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5" y="2658075"/>
            <a:ext cx="5645586" cy="2554545"/>
          </a:xfrm>
          <a:prstGeom prst="rect">
            <a:avLst/>
          </a:prstGeom>
          <a:noFill/>
        </p:spPr>
        <p:txBody>
          <a:bodyPr wrap="square">
            <a:spAutoFit/>
          </a:bodyPr>
          <a:lstStyle/>
          <a:p>
            <a:r>
              <a:rPr lang="fr-FR" sz="2000" dirty="0">
                <a:latin typeface="Aptos" panose="020B0004020202020204" pitchFamily="34" charset="0"/>
              </a:rPr>
              <a:t>L'indice saisonnier est un coefficient multiplicateur qui exprime, pour chaque mois, l'écart entre la demande de ce mois et la demande mensuelle moyenne annuelle.</a:t>
            </a:r>
          </a:p>
          <a:p>
            <a:endParaRPr lang="fr-FR" sz="2000" dirty="0">
              <a:latin typeface="Aptos" panose="020B0004020202020204" pitchFamily="34" charset="0"/>
            </a:endParaRPr>
          </a:p>
          <a:p>
            <a:r>
              <a:rPr lang="fr-FR" sz="2000" dirty="0">
                <a:latin typeface="Aptos" panose="020B0004020202020204" pitchFamily="34" charset="0"/>
              </a:rPr>
              <a:t>Formule :</a:t>
            </a:r>
          </a:p>
          <a:p>
            <a:r>
              <a:rPr lang="fr-FR" sz="2000" b="1" dirty="0">
                <a:latin typeface="Aptos" panose="020B0004020202020204" pitchFamily="34" charset="0"/>
              </a:rPr>
              <a:t>Indice saisonnier du mois M = Consommation moyenne historique du mois M ÷ CMM globale</a:t>
            </a:r>
          </a:p>
        </p:txBody>
      </p:sp>
    </p:spTree>
    <p:extLst>
      <p:ext uri="{BB962C8B-B14F-4D97-AF65-F5344CB8AC3E}">
        <p14:creationId xmlns:p14="http://schemas.microsoft.com/office/powerpoint/2010/main" val="10166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Méthode de calcul des indices saisonniers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4" y="2658075"/>
            <a:ext cx="10358541"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Pour être fiable, le calcul des indices saisonniers nécessite au minimum 3 ans de données. Avec moins de données, les variations accidentelles d'une année peuvent être confondues avec des effets saisonniers réels.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Étapes du calcul :</a:t>
            </a:r>
          </a:p>
          <a:p>
            <a:pPr marL="800100" lvl="1" indent="-342900">
              <a:buFont typeface="Courier New" panose="02070309020205020404" pitchFamily="49" charset="0"/>
              <a:buChar char="o"/>
            </a:pPr>
            <a:r>
              <a:rPr lang="fr-FR" sz="2000" b="1" dirty="0">
                <a:latin typeface="Aptos" panose="020B0004020202020204" pitchFamily="34" charset="0"/>
              </a:rPr>
              <a:t>Étape 1 </a:t>
            </a:r>
            <a:r>
              <a:rPr lang="fr-FR" sz="2000" dirty="0">
                <a:latin typeface="Aptos" panose="020B0004020202020204" pitchFamily="34" charset="0"/>
              </a:rPr>
              <a:t>: Collecter les données mensuelles sur au minimum 3 ans</a:t>
            </a:r>
          </a:p>
          <a:p>
            <a:pPr marL="800100" lvl="1" indent="-342900">
              <a:buFont typeface="Courier New" panose="02070309020205020404" pitchFamily="49" charset="0"/>
              <a:buChar char="o"/>
            </a:pPr>
            <a:r>
              <a:rPr lang="fr-FR" sz="2000" b="1" dirty="0">
                <a:latin typeface="Aptos" panose="020B0004020202020204" pitchFamily="34" charset="0"/>
              </a:rPr>
              <a:t>Étape 2 </a:t>
            </a:r>
            <a:r>
              <a:rPr lang="fr-FR" sz="2000" dirty="0">
                <a:latin typeface="Aptos" panose="020B0004020202020204" pitchFamily="34" charset="0"/>
              </a:rPr>
              <a:t>: Calculer la consommation moyenne de chaque mois sur toutes les années</a:t>
            </a:r>
          </a:p>
          <a:p>
            <a:pPr marL="800100" lvl="1" indent="-342900">
              <a:buFont typeface="Courier New" panose="02070309020205020404" pitchFamily="49" charset="0"/>
              <a:buChar char="o"/>
            </a:pPr>
            <a:r>
              <a:rPr lang="fr-FR" sz="2000" b="1" dirty="0">
                <a:latin typeface="Aptos" panose="020B0004020202020204" pitchFamily="34" charset="0"/>
              </a:rPr>
              <a:t>Étape 3 </a:t>
            </a:r>
            <a:r>
              <a:rPr lang="fr-FR" sz="2000" dirty="0">
                <a:latin typeface="Aptos" panose="020B0004020202020204" pitchFamily="34" charset="0"/>
              </a:rPr>
              <a:t>: Calculer la CMM globale sur l'ensemble de la période</a:t>
            </a:r>
          </a:p>
          <a:p>
            <a:pPr marL="800100" lvl="1" indent="-342900">
              <a:buFont typeface="Courier New" panose="02070309020205020404" pitchFamily="49" charset="0"/>
              <a:buChar char="o"/>
            </a:pPr>
            <a:r>
              <a:rPr lang="fr-FR" sz="2000" b="1" dirty="0">
                <a:latin typeface="Aptos" panose="020B0004020202020204" pitchFamily="34" charset="0"/>
              </a:rPr>
              <a:t>Étape 4 </a:t>
            </a:r>
            <a:r>
              <a:rPr lang="fr-FR" sz="2000" dirty="0">
                <a:latin typeface="Aptos" panose="020B0004020202020204" pitchFamily="34" charset="0"/>
              </a:rPr>
              <a:t>: Diviser la moyenne de chaque mois par la CMM globale</a:t>
            </a:r>
          </a:p>
          <a:p>
            <a:pPr marL="800100" lvl="1" indent="-342900">
              <a:buFont typeface="Courier New" panose="02070309020205020404" pitchFamily="49" charset="0"/>
              <a:buChar char="o"/>
            </a:pPr>
            <a:r>
              <a:rPr lang="fr-FR" sz="2000" b="1" dirty="0">
                <a:latin typeface="Aptos" panose="020B0004020202020204" pitchFamily="34" charset="0"/>
              </a:rPr>
              <a:t>Étape 5 </a:t>
            </a:r>
            <a:r>
              <a:rPr lang="fr-FR" sz="2000" dirty="0">
                <a:latin typeface="Aptos" panose="020B0004020202020204" pitchFamily="34" charset="0"/>
              </a:rPr>
              <a:t>: Vérifier que la somme des 12 indices = 12 (contrôle de cohérence)</a:t>
            </a:r>
          </a:p>
        </p:txBody>
      </p:sp>
    </p:spTree>
    <p:extLst>
      <p:ext uri="{BB962C8B-B14F-4D97-AF65-F5344CB8AC3E}">
        <p14:creationId xmlns:p14="http://schemas.microsoft.com/office/powerpoint/2010/main" val="398328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Application des indices saisonniers aux prévisions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4" y="2658075"/>
            <a:ext cx="10486034"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Une fois les indices calculés, ils sont appliqués aux prévisions pour désaisonnaliser ou saisonnaliser les estimations.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Application 1 : Prévision mensuelle saisonnalisée</a:t>
            </a:r>
          </a:p>
          <a:p>
            <a:pPr marL="800100" lvl="1" indent="-342900">
              <a:buFont typeface="Courier New" panose="02070309020205020404" pitchFamily="49" charset="0"/>
              <a:buChar char="o"/>
            </a:pPr>
            <a:r>
              <a:rPr lang="fr-FR" sz="2000" dirty="0">
                <a:latin typeface="Aptos" panose="020B0004020202020204" pitchFamily="34" charset="0"/>
              </a:rPr>
              <a:t>Prévision mensuelle = CMM projetée × Indice saisonnier du mois</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Annuellement</a:t>
            </a:r>
            <a:r>
              <a:rPr lang="fr-FR" sz="2000" dirty="0">
                <a:latin typeface="Aptos" panose="020B0004020202020204" pitchFamily="34" charset="0"/>
              </a:rPr>
              <a:t>, les totaux sont presque identiques. La différence n'est pas dans la quantité totale commandée sur l'année, mais dans </a:t>
            </a:r>
            <a:r>
              <a:rPr lang="fr-FR" sz="2000" b="1" dirty="0">
                <a:latin typeface="Aptos" panose="020B0004020202020204" pitchFamily="34" charset="0"/>
              </a:rPr>
              <a:t>le calendrier des commandes</a:t>
            </a:r>
            <a:r>
              <a:rPr lang="fr-FR" sz="2000" dirty="0">
                <a:latin typeface="Aptos" panose="020B0004020202020204" pitchFamily="34" charset="0"/>
              </a:rPr>
              <a:t>. Sans ajustement saisonnier, on commandera trop en hiver et pas assez en été, créant des surstocks inutiles en basse saison et des ruptures en haute saison.</a:t>
            </a:r>
          </a:p>
        </p:txBody>
      </p:sp>
    </p:spTree>
    <p:extLst>
      <p:ext uri="{BB962C8B-B14F-4D97-AF65-F5344CB8AC3E}">
        <p14:creationId xmlns:p14="http://schemas.microsoft.com/office/powerpoint/2010/main" val="257488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Application des indices saisonniers aux prévisions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3" y="2658075"/>
            <a:ext cx="6761323" cy="2862322"/>
          </a:xfrm>
          <a:prstGeom prst="rect">
            <a:avLst/>
          </a:prstGeom>
          <a:noFill/>
        </p:spPr>
        <p:txBody>
          <a:bodyPr wrap="square">
            <a:spAutoFit/>
          </a:bodyPr>
          <a:lstStyle/>
          <a:p>
            <a:r>
              <a:rPr lang="fr-FR" sz="2000" b="1" dirty="0">
                <a:latin typeface="Aptos" panose="020B0004020202020204" pitchFamily="34" charset="0"/>
              </a:rPr>
              <a:t>Application 2 — Désaisonnalisation pour identifier la tendance pure</a:t>
            </a:r>
          </a:p>
          <a:p>
            <a:pPr marL="342900" indent="-342900">
              <a:buFont typeface="Arial" panose="020B0604020202020204" pitchFamily="34" charset="0"/>
              <a:buChar char="•"/>
            </a:pPr>
            <a:r>
              <a:rPr lang="fr-FR" sz="2000" dirty="0">
                <a:latin typeface="Aptos" panose="020B0004020202020204" pitchFamily="34" charset="0"/>
              </a:rPr>
              <a:t>La désaisonnalisation permet d'éliminer l'effet saisonnier pour ne voir que la tendance structurelle de la demande, indépendamment des variations cycliques.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Formule :</a:t>
            </a:r>
          </a:p>
          <a:p>
            <a:pPr marL="800100" lvl="1" indent="-342900">
              <a:buFont typeface="Courier New" panose="02070309020205020404" pitchFamily="49" charset="0"/>
              <a:buChar char="o"/>
            </a:pPr>
            <a:r>
              <a:rPr lang="fr-FR" sz="2000" b="1" dirty="0">
                <a:latin typeface="Aptos" panose="020B0004020202020204" pitchFamily="34" charset="0"/>
              </a:rPr>
              <a:t>Consommation désaisonnalisée = Consommation réelle ÷ Indice saisonnier</a:t>
            </a:r>
          </a:p>
        </p:txBody>
      </p:sp>
    </p:spTree>
    <p:extLst>
      <p:ext uri="{BB962C8B-B14F-4D97-AF65-F5344CB8AC3E}">
        <p14:creationId xmlns:p14="http://schemas.microsoft.com/office/powerpoint/2010/main" val="405900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 Saisonnalité et planification des commandes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3" y="2658075"/>
            <a:ext cx="7289830" cy="347787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L'ajustement saisonnier doit être intégré dans le calendrier des commandes, pas seulement dans les quantités.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Principe de l'anticipation saisonnière </a:t>
            </a:r>
            <a:r>
              <a:rPr lang="fr-FR" sz="2000" dirty="0">
                <a:latin typeface="Aptos" panose="020B0004020202020204" pitchFamily="34" charset="0"/>
              </a:rPr>
              <a:t>: Les commandes destinées à couvrir les pics saisonniers doivent être passées suffisamment tôt pour arriver avant le début du pic, en tenant compte du délai de livraison.</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Formule :</a:t>
            </a:r>
          </a:p>
          <a:p>
            <a:pPr marL="800100" lvl="1" indent="-342900">
              <a:buFont typeface="Courier New" panose="02070309020205020404" pitchFamily="49" charset="0"/>
              <a:buChar char="o"/>
            </a:pPr>
            <a:r>
              <a:rPr lang="fr-FR" sz="2000" b="1" dirty="0">
                <a:latin typeface="Aptos" panose="020B0004020202020204" pitchFamily="34" charset="0"/>
              </a:rPr>
              <a:t>Date limite de commande = Début du pic saisonnier − Délai de livraison</a:t>
            </a:r>
          </a:p>
        </p:txBody>
      </p:sp>
    </p:spTree>
    <p:extLst>
      <p:ext uri="{BB962C8B-B14F-4D97-AF65-F5344CB8AC3E}">
        <p14:creationId xmlns:p14="http://schemas.microsoft.com/office/powerpoint/2010/main" val="21044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ajustements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saisonniers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Saisonnalité de la chaîne d'approvisionnement</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2" y="2658075"/>
            <a:ext cx="10687371" cy="132343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saisonnalité ne concerne pas uniquement la demande. Elle affecte aussi la chaîne d'approvisionnement elle-même.</a:t>
            </a:r>
          </a:p>
          <a:p>
            <a:pPr marL="342900"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Perturbations saisonnières de l'approvisionnement </a:t>
            </a:r>
          </a:p>
        </p:txBody>
      </p:sp>
      <p:graphicFrame>
        <p:nvGraphicFramePr>
          <p:cNvPr id="2" name="Tableau 1">
            <a:extLst>
              <a:ext uri="{FF2B5EF4-FFF2-40B4-BE49-F238E27FC236}">
                <a16:creationId xmlns:a16="http://schemas.microsoft.com/office/drawing/2014/main" id="{9EAF8966-E149-4BDF-8207-7229AD74784C}"/>
              </a:ext>
            </a:extLst>
          </p:cNvPr>
          <p:cNvGraphicFramePr>
            <a:graphicFrameLocks noGrp="1"/>
          </p:cNvGraphicFramePr>
          <p:nvPr>
            <p:extLst>
              <p:ext uri="{D42A27DB-BD31-4B8C-83A1-F6EECF244321}">
                <p14:modId xmlns:p14="http://schemas.microsoft.com/office/powerpoint/2010/main" val="31965510"/>
              </p:ext>
            </p:extLst>
          </p:nvPr>
        </p:nvGraphicFramePr>
        <p:xfrm>
          <a:off x="1157883" y="4008758"/>
          <a:ext cx="10515600" cy="2377440"/>
        </p:xfrm>
        <a:graphic>
          <a:graphicData uri="http://schemas.openxmlformats.org/drawingml/2006/table">
            <a:tbl>
              <a:tblPr/>
              <a:tblGrid>
                <a:gridCol w="2541662">
                  <a:extLst>
                    <a:ext uri="{9D8B030D-6E8A-4147-A177-3AD203B41FA5}">
                      <a16:colId xmlns:a16="http://schemas.microsoft.com/office/drawing/2014/main" val="2716073088"/>
                    </a:ext>
                  </a:extLst>
                </a:gridCol>
                <a:gridCol w="2716138">
                  <a:extLst>
                    <a:ext uri="{9D8B030D-6E8A-4147-A177-3AD203B41FA5}">
                      <a16:colId xmlns:a16="http://schemas.microsoft.com/office/drawing/2014/main" val="50670778"/>
                    </a:ext>
                  </a:extLst>
                </a:gridCol>
                <a:gridCol w="2628900">
                  <a:extLst>
                    <a:ext uri="{9D8B030D-6E8A-4147-A177-3AD203B41FA5}">
                      <a16:colId xmlns:a16="http://schemas.microsoft.com/office/drawing/2014/main" val="3933776972"/>
                    </a:ext>
                  </a:extLst>
                </a:gridCol>
                <a:gridCol w="2628900">
                  <a:extLst>
                    <a:ext uri="{9D8B030D-6E8A-4147-A177-3AD203B41FA5}">
                      <a16:colId xmlns:a16="http://schemas.microsoft.com/office/drawing/2014/main" val="4291149232"/>
                    </a:ext>
                  </a:extLst>
                </a:gridCol>
              </a:tblGrid>
              <a:tr h="0">
                <a:tc>
                  <a:txBody>
                    <a:bodyPr/>
                    <a:lstStyle/>
                    <a:p>
                      <a:r>
                        <a:rPr lang="fr-FR" sz="1400" b="1" dirty="0">
                          <a:solidFill>
                            <a:schemeClr val="bg1"/>
                          </a:solidFill>
                          <a:latin typeface="Aptos" panose="020B0004020202020204" pitchFamily="34" charset="0"/>
                        </a:rPr>
                        <a:t>Période</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Perturbation</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Impact</a:t>
                      </a:r>
                    </a:p>
                  </a:txBody>
                  <a:tcPr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Anticipation nécessaire</a:t>
                      </a:r>
                    </a:p>
                  </a:txBody>
                  <a:tcPr anchor="ctr">
                    <a:lnL>
                      <a:noFill/>
                    </a:lnL>
                    <a:lnR>
                      <a:noFill/>
                    </a:lnR>
                    <a:lnT>
                      <a:noFill/>
                    </a:lnT>
                    <a:lnB>
                      <a:noFill/>
                    </a:lnB>
                    <a:solidFill>
                      <a:srgbClr val="F37504"/>
                    </a:solidFill>
                  </a:tcPr>
                </a:tc>
                <a:extLst>
                  <a:ext uri="{0D108BD9-81ED-4DB2-BD59-A6C34878D82A}">
                    <a16:rowId xmlns:a16="http://schemas.microsoft.com/office/drawing/2014/main" val="1998979254"/>
                  </a:ext>
                </a:extLst>
              </a:tr>
              <a:tr h="0">
                <a:tc>
                  <a:txBody>
                    <a:bodyPr/>
                    <a:lstStyle/>
                    <a:p>
                      <a:r>
                        <a:rPr lang="fr-FR" sz="1400">
                          <a:latin typeface="Aptos" panose="020B0004020202020204" pitchFamily="34" charset="0"/>
                        </a:rPr>
                        <a:t>Saison des pluies</a:t>
                      </a:r>
                    </a:p>
                  </a:txBody>
                  <a:tcPr anchor="ctr">
                    <a:lnL>
                      <a:noFill/>
                    </a:lnL>
                    <a:lnR>
                      <a:noFill/>
                    </a:lnR>
                    <a:lnT>
                      <a:noFill/>
                    </a:lnT>
                    <a:lnB>
                      <a:noFill/>
                    </a:lnB>
                  </a:tcPr>
                </a:tc>
                <a:tc>
                  <a:txBody>
                    <a:bodyPr/>
                    <a:lstStyle/>
                    <a:p>
                      <a:r>
                        <a:rPr lang="fr-FR" sz="1400">
                          <a:latin typeface="Aptos" panose="020B0004020202020204" pitchFamily="34" charset="0"/>
                        </a:rPr>
                        <a:t>Routes impraticables dans les zones rurales</a:t>
                      </a:r>
                    </a:p>
                  </a:txBody>
                  <a:tcPr anchor="ctr">
                    <a:lnL>
                      <a:noFill/>
                    </a:lnL>
                    <a:lnR>
                      <a:noFill/>
                    </a:lnR>
                    <a:lnT>
                      <a:noFill/>
                    </a:lnT>
                    <a:lnB>
                      <a:noFill/>
                    </a:lnB>
                  </a:tcPr>
                </a:tc>
                <a:tc>
                  <a:txBody>
                    <a:bodyPr/>
                    <a:lstStyle/>
                    <a:p>
                      <a:r>
                        <a:rPr lang="fr-FR" sz="1400" dirty="0">
                          <a:latin typeface="Aptos" panose="020B0004020202020204" pitchFamily="34" charset="0"/>
                        </a:rPr>
                        <a:t>Retard de livraison aux sites périphériques</a:t>
                      </a:r>
                    </a:p>
                  </a:txBody>
                  <a:tcPr anchor="ctr">
                    <a:lnL>
                      <a:noFill/>
                    </a:lnL>
                    <a:lnR>
                      <a:noFill/>
                    </a:lnR>
                    <a:lnT>
                      <a:noFill/>
                    </a:lnT>
                    <a:lnB>
                      <a:noFill/>
                    </a:lnB>
                  </a:tcPr>
                </a:tc>
                <a:tc>
                  <a:txBody>
                    <a:bodyPr/>
                    <a:lstStyle/>
                    <a:p>
                      <a:r>
                        <a:rPr lang="fr-FR" sz="1400" dirty="0">
                          <a:latin typeface="Aptos" panose="020B0004020202020204" pitchFamily="34" charset="0"/>
                        </a:rPr>
                        <a:t>Constituer un stock avancé avant les pluies</a:t>
                      </a:r>
                    </a:p>
                  </a:txBody>
                  <a:tcPr anchor="ctr">
                    <a:lnL>
                      <a:noFill/>
                    </a:lnL>
                    <a:lnR>
                      <a:noFill/>
                    </a:lnR>
                    <a:lnT>
                      <a:noFill/>
                    </a:lnT>
                    <a:lnB>
                      <a:noFill/>
                    </a:lnB>
                  </a:tcPr>
                </a:tc>
                <a:extLst>
                  <a:ext uri="{0D108BD9-81ED-4DB2-BD59-A6C34878D82A}">
                    <a16:rowId xmlns:a16="http://schemas.microsoft.com/office/drawing/2014/main" val="855777615"/>
                  </a:ext>
                </a:extLst>
              </a:tr>
              <a:tr h="0">
                <a:tc>
                  <a:txBody>
                    <a:bodyPr/>
                    <a:lstStyle/>
                    <a:p>
                      <a:r>
                        <a:rPr lang="fr-FR" sz="1400" dirty="0">
                          <a:latin typeface="Aptos" panose="020B0004020202020204" pitchFamily="34" charset="0"/>
                        </a:rPr>
                        <a:t>Période de fin d'année</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Fermetures administratives, congés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Blocage des commandes et livraisons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Passer les commandes fin novembre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532702464"/>
                  </a:ext>
                </a:extLst>
              </a:tr>
              <a:tr h="0">
                <a:tc>
                  <a:txBody>
                    <a:bodyPr/>
                    <a:lstStyle/>
                    <a:p>
                      <a:r>
                        <a:rPr lang="fr-FR" sz="1400">
                          <a:latin typeface="Aptos" panose="020B0004020202020204" pitchFamily="34" charset="0"/>
                        </a:rPr>
                        <a:t>Début d'année budgétaire</a:t>
                      </a:r>
                    </a:p>
                  </a:txBody>
                  <a:tcPr anchor="ctr">
                    <a:lnL>
                      <a:noFill/>
                    </a:lnL>
                    <a:lnR>
                      <a:noFill/>
                    </a:lnR>
                    <a:lnT>
                      <a:noFill/>
                    </a:lnT>
                    <a:lnB>
                      <a:noFill/>
                    </a:lnB>
                  </a:tcPr>
                </a:tc>
                <a:tc>
                  <a:txBody>
                    <a:bodyPr/>
                    <a:lstStyle/>
                    <a:p>
                      <a:r>
                        <a:rPr lang="fr-FR" sz="1400">
                          <a:latin typeface="Aptos" panose="020B0004020202020204" pitchFamily="34" charset="0"/>
                        </a:rPr>
                        <a:t>Délais d'approbation des nouveaux budgets</a:t>
                      </a:r>
                    </a:p>
                  </a:txBody>
                  <a:tcPr anchor="ctr">
                    <a:lnL>
                      <a:noFill/>
                    </a:lnL>
                    <a:lnR>
                      <a:noFill/>
                    </a:lnR>
                    <a:lnT>
                      <a:noFill/>
                    </a:lnT>
                    <a:lnB>
                      <a:noFill/>
                    </a:lnB>
                  </a:tcPr>
                </a:tc>
                <a:tc>
                  <a:txBody>
                    <a:bodyPr/>
                    <a:lstStyle/>
                    <a:p>
                      <a:r>
                        <a:rPr lang="fr-FR" sz="1400">
                          <a:latin typeface="Aptos" panose="020B0004020202020204" pitchFamily="34" charset="0"/>
                        </a:rPr>
                        <a:t>Retard de financement des commandes</a:t>
                      </a:r>
                    </a:p>
                  </a:txBody>
                  <a:tcPr anchor="ctr">
                    <a:lnL>
                      <a:noFill/>
                    </a:lnL>
                    <a:lnR>
                      <a:noFill/>
                    </a:lnR>
                    <a:lnT>
                      <a:noFill/>
                    </a:lnT>
                    <a:lnB>
                      <a:noFill/>
                    </a:lnB>
                  </a:tcPr>
                </a:tc>
                <a:tc>
                  <a:txBody>
                    <a:bodyPr/>
                    <a:lstStyle/>
                    <a:p>
                      <a:r>
                        <a:rPr lang="fr-FR" sz="1400">
                          <a:latin typeface="Aptos" panose="020B0004020202020204" pitchFamily="34" charset="0"/>
                        </a:rPr>
                        <a:t>Stock de sécurité renforcé en début d'année</a:t>
                      </a:r>
                    </a:p>
                  </a:txBody>
                  <a:tcPr anchor="ctr">
                    <a:lnL>
                      <a:noFill/>
                    </a:lnL>
                    <a:lnR>
                      <a:noFill/>
                    </a:lnR>
                    <a:lnT>
                      <a:noFill/>
                    </a:lnT>
                    <a:lnB>
                      <a:noFill/>
                    </a:lnB>
                  </a:tcPr>
                </a:tc>
                <a:extLst>
                  <a:ext uri="{0D108BD9-81ED-4DB2-BD59-A6C34878D82A}">
                    <a16:rowId xmlns:a16="http://schemas.microsoft.com/office/drawing/2014/main" val="2116684087"/>
                  </a:ext>
                </a:extLst>
              </a:tr>
              <a:tr h="0">
                <a:tc>
                  <a:txBody>
                    <a:bodyPr/>
                    <a:lstStyle/>
                    <a:p>
                      <a:r>
                        <a:rPr lang="fr-FR" sz="1400" dirty="0">
                          <a:latin typeface="Aptos" panose="020B0004020202020204" pitchFamily="34" charset="0"/>
                        </a:rPr>
                        <a:t>Période de haute transmission</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Demande augmente chez tous les acteurs simultanément</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Tensions d'approvisionnement chez les fournisseurs</a:t>
                      </a:r>
                    </a:p>
                  </a:txBody>
                  <a:tcPr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Commander à l'avance, avant le pic</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789976631"/>
                  </a:ext>
                </a:extLst>
              </a:tr>
            </a:tbl>
          </a:graphicData>
        </a:graphic>
      </p:graphicFrame>
    </p:spTree>
    <p:extLst>
      <p:ext uri="{BB962C8B-B14F-4D97-AF65-F5344CB8AC3E}">
        <p14:creationId xmlns:p14="http://schemas.microsoft.com/office/powerpoint/2010/main" val="96336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facteurs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contextuels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Facteurs contextuels démographiques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2" y="2658075"/>
            <a:ext cx="10687371" cy="3170099"/>
          </a:xfrm>
          <a:prstGeom prst="rect">
            <a:avLst/>
          </a:prstGeom>
          <a:noFill/>
        </p:spPr>
        <p:txBody>
          <a:bodyPr wrap="square">
            <a:spAutoFit/>
          </a:bodyPr>
          <a:lstStyle/>
          <a:p>
            <a:r>
              <a:rPr lang="fr-FR" sz="2000" b="1" dirty="0">
                <a:latin typeface="Aptos" panose="020B0004020202020204" pitchFamily="34" charset="0"/>
              </a:rPr>
              <a:t>Facteur 1 — Croissance et migrations de population</a:t>
            </a:r>
          </a:p>
          <a:p>
            <a:pPr marL="800100" lvl="1" indent="-342900">
              <a:buFont typeface="Arial" panose="020B0604020202020204" pitchFamily="34" charset="0"/>
              <a:buChar char="•"/>
            </a:pPr>
            <a:r>
              <a:rPr lang="fr-FR" sz="2000" dirty="0">
                <a:latin typeface="Aptos" panose="020B0004020202020204" pitchFamily="34" charset="0"/>
              </a:rPr>
              <a:t>La croissance démographique génère une augmentation mécanique de la demande proportionnelle au taux de croissance. </a:t>
            </a:r>
          </a:p>
          <a:p>
            <a:pPr marL="800100" lvl="1" indent="-342900">
              <a:buFont typeface="Arial" panose="020B0604020202020204" pitchFamily="34" charset="0"/>
              <a:buChar char="•"/>
            </a:pPr>
            <a:r>
              <a:rPr lang="fr-FR" sz="2000" dirty="0">
                <a:latin typeface="Aptos" panose="020B0004020202020204" pitchFamily="34" charset="0"/>
              </a:rPr>
              <a:t>Les mouvements migratoires (ruraux vers urbains, réfugiés, déplacés internes) peuvent créer des hausses brutales et localisées de la demande.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Facteur 2 — Vieillissement de la population et transition épidémiologique</a:t>
            </a:r>
          </a:p>
          <a:p>
            <a:pPr marL="800100" lvl="1" indent="-342900">
              <a:buFont typeface="Arial" panose="020B0604020202020204" pitchFamily="34" charset="0"/>
              <a:buChar char="•"/>
            </a:pPr>
            <a:r>
              <a:rPr lang="fr-FR" sz="2000" dirty="0">
                <a:latin typeface="Aptos" panose="020B0004020202020204" pitchFamily="34" charset="0"/>
              </a:rPr>
              <a:t>Dans les pays à revenu intermédiaire et supérieur, le vieillissement de la population entraîne une montée progressive des maladies chroniques (HTA, diabète, maladies cardiovasculaires, cancer) au détriment relatif des maladies infectieuses.</a:t>
            </a:r>
          </a:p>
        </p:txBody>
      </p:sp>
    </p:spTree>
    <p:extLst>
      <p:ext uri="{BB962C8B-B14F-4D97-AF65-F5344CB8AC3E}">
        <p14:creationId xmlns:p14="http://schemas.microsoft.com/office/powerpoint/2010/main" val="370863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facteurs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contextuels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Facteurs contextuels programmatiques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2" y="2658075"/>
            <a:ext cx="10687371" cy="3785652"/>
          </a:xfrm>
          <a:prstGeom prst="rect">
            <a:avLst/>
          </a:prstGeom>
          <a:noFill/>
        </p:spPr>
        <p:txBody>
          <a:bodyPr wrap="square">
            <a:spAutoFit/>
          </a:bodyPr>
          <a:lstStyle/>
          <a:p>
            <a:r>
              <a:rPr lang="fr-FR" sz="2000" b="1" dirty="0">
                <a:latin typeface="Aptos" panose="020B0004020202020204" pitchFamily="34" charset="0"/>
              </a:rPr>
              <a:t>Facteur 3 — Extension de la couverture géographique</a:t>
            </a:r>
          </a:p>
          <a:p>
            <a:pPr marL="800100" lvl="1" indent="-342900">
              <a:buFont typeface="Arial" panose="020B0604020202020204" pitchFamily="34" charset="0"/>
              <a:buChar char="•"/>
            </a:pPr>
            <a:r>
              <a:rPr lang="fr-FR" sz="2000" dirty="0">
                <a:latin typeface="Aptos" panose="020B0004020202020204" pitchFamily="34" charset="0"/>
              </a:rPr>
              <a:t>L'ouverture de nouveaux centres de santé ou l'extension d'un programme à de nouvelles zones génère une augmentation immédiate et parfois substantielle de la demande.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Facteur 4 — Changement de protocole de traitement</a:t>
            </a:r>
          </a:p>
          <a:p>
            <a:pPr marL="800100" lvl="1" indent="-342900">
              <a:buFont typeface="Arial" panose="020B0604020202020204" pitchFamily="34" charset="0"/>
              <a:buChar char="•"/>
            </a:pPr>
            <a:r>
              <a:rPr lang="fr-FR" sz="2000" dirty="0">
                <a:latin typeface="Aptos" panose="020B0004020202020204" pitchFamily="34" charset="0"/>
              </a:rPr>
              <a:t>L'introduction d'un nouveau médicament ou d'une nouvelle dose modifie les besoins de façon immédiate et durable.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Facteur 5 — Objectifs programmatiques ambitieux</a:t>
            </a:r>
          </a:p>
          <a:p>
            <a:pPr marL="800100" lvl="1" indent="-342900">
              <a:buFont typeface="Arial" panose="020B0604020202020204" pitchFamily="34" charset="0"/>
              <a:buChar char="•"/>
            </a:pPr>
            <a:r>
              <a:rPr lang="fr-FR" sz="2000" dirty="0">
                <a:latin typeface="Aptos" panose="020B0004020202020204" pitchFamily="34" charset="0"/>
              </a:rPr>
              <a:t>Les objectifs 90-90-90 et 95-95-95 de l'ONUSIDA pour le VIH (95% des séropositifs dépistés, 95% des dépistés sous traitement, 95% en succès thérapeutique) génèrent des augmentations continues et planifiées de la file active et donc de la demande en ARV.</a:t>
            </a:r>
          </a:p>
        </p:txBody>
      </p:sp>
    </p:spTree>
    <p:extLst>
      <p:ext uri="{BB962C8B-B14F-4D97-AF65-F5344CB8AC3E}">
        <p14:creationId xmlns:p14="http://schemas.microsoft.com/office/powerpoint/2010/main" val="367001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facteurs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contextuels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Facteurs contextuels liés aux politiques de santé</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2" y="2658075"/>
            <a:ext cx="10687371" cy="2554545"/>
          </a:xfrm>
          <a:prstGeom prst="rect">
            <a:avLst/>
          </a:prstGeom>
          <a:noFill/>
        </p:spPr>
        <p:txBody>
          <a:bodyPr wrap="square">
            <a:spAutoFit/>
          </a:bodyPr>
          <a:lstStyle/>
          <a:p>
            <a:r>
              <a:rPr lang="fr-FR" sz="2000" b="1" dirty="0">
                <a:latin typeface="Aptos" panose="020B0004020202020204" pitchFamily="34" charset="0"/>
              </a:rPr>
              <a:t>Facteur 6 — Gratuité des soins</a:t>
            </a:r>
          </a:p>
          <a:p>
            <a:pPr marL="800100" lvl="1" indent="-342900">
              <a:buFont typeface="Arial" panose="020B0604020202020204" pitchFamily="34" charset="0"/>
              <a:buChar char="•"/>
            </a:pPr>
            <a:r>
              <a:rPr lang="fr-FR" sz="2000" dirty="0">
                <a:latin typeface="Aptos" panose="020B0004020202020204" pitchFamily="34" charset="0"/>
              </a:rPr>
              <a:t>La suppression des barrières financières entraîne une augmentation du taux d'utilisation des services et donc de la consommation pharmaceutique.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Facteur 7 — Introduction d'une assurance maladie universelle</a:t>
            </a:r>
          </a:p>
          <a:p>
            <a:pPr marL="800100" lvl="1" indent="-342900">
              <a:buFont typeface="Arial" panose="020B0604020202020204" pitchFamily="34" charset="0"/>
              <a:buChar char="•"/>
            </a:pPr>
            <a:r>
              <a:rPr lang="fr-FR" sz="2000" dirty="0">
                <a:latin typeface="Aptos" panose="020B0004020202020204" pitchFamily="34" charset="0"/>
              </a:rPr>
              <a:t>Similaire à la gratuité, l'assurance maladie réduit les barrières financières et augmente le taux d'utilisation des services, avec un effet particulièrement marqué sur les médicaments de prescription pour les maladies chroniques.</a:t>
            </a:r>
          </a:p>
        </p:txBody>
      </p:sp>
    </p:spTree>
    <p:extLst>
      <p:ext uri="{BB962C8B-B14F-4D97-AF65-F5344CB8AC3E}">
        <p14:creationId xmlns:p14="http://schemas.microsoft.com/office/powerpoint/2010/main" val="40080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b="1" dirty="0">
                <a:solidFill>
                  <a:schemeClr val="bg1"/>
                </a:solidFill>
                <a:latin typeface="Aptos" panose="020B0004020202020204" pitchFamily="34" charset="0"/>
              </a:rPr>
              <a:t>Les </a:t>
            </a:r>
            <a:r>
              <a:rPr lang="en-US" sz="2400" b="1" dirty="0" err="1">
                <a:solidFill>
                  <a:schemeClr val="bg1"/>
                </a:solidFill>
                <a:latin typeface="Aptos" panose="020B0004020202020204" pitchFamily="34" charset="0"/>
              </a:rPr>
              <a:t>facteurs</a:t>
            </a:r>
            <a:r>
              <a:rPr lang="en-US" sz="2400" b="1" dirty="0">
                <a:solidFill>
                  <a:schemeClr val="bg1"/>
                </a:solidFill>
                <a:latin typeface="Aptos" panose="020B0004020202020204" pitchFamily="34" charset="0"/>
              </a:rPr>
              <a:t> </a:t>
            </a:r>
            <a:r>
              <a:rPr lang="en-US" sz="2400" b="1" dirty="0" err="1">
                <a:solidFill>
                  <a:schemeClr val="bg1"/>
                </a:solidFill>
                <a:latin typeface="Aptos" panose="020B0004020202020204" pitchFamily="34" charset="0"/>
              </a:rPr>
              <a:t>contextuels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Facteurs contextuels liés aux épidémies et crises</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3" y="2658075"/>
            <a:ext cx="10486036" cy="3170099"/>
          </a:xfrm>
          <a:prstGeom prst="rect">
            <a:avLst/>
          </a:prstGeom>
          <a:noFill/>
        </p:spPr>
        <p:txBody>
          <a:bodyPr wrap="square">
            <a:spAutoFit/>
          </a:bodyPr>
          <a:lstStyle/>
          <a:p>
            <a:r>
              <a:rPr lang="fr-FR" sz="2000" b="1" dirty="0">
                <a:latin typeface="Aptos" panose="020B0004020202020204" pitchFamily="34" charset="0"/>
              </a:rPr>
              <a:t>Facteur 8 — Épidémies imprévisibles</a:t>
            </a:r>
          </a:p>
          <a:p>
            <a:pPr marL="800100" lvl="1" indent="-342900">
              <a:buFont typeface="Arial" panose="020B0604020202020204" pitchFamily="34" charset="0"/>
              <a:buChar char="•"/>
            </a:pPr>
            <a:r>
              <a:rPr lang="fr-FR" sz="2000" dirty="0">
                <a:latin typeface="Aptos" panose="020B0004020202020204" pitchFamily="34" charset="0"/>
              </a:rPr>
              <a:t>Les épidémies créent des pics de demande soudains et brutaux qui ne peuvent pas être prévus précisément mais peuvent être anticipés dans leur probabilité grâce à la surveillance épidémiologique.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Facteur 9 — Impact du changement climatique</a:t>
            </a:r>
          </a:p>
          <a:p>
            <a:pPr marL="800100" lvl="1" indent="-342900">
              <a:buFont typeface="Arial" panose="020B0604020202020204" pitchFamily="34" charset="0"/>
              <a:buChar char="•"/>
            </a:pPr>
            <a:r>
              <a:rPr lang="fr-FR" sz="2000" dirty="0">
                <a:latin typeface="Aptos" panose="020B0004020202020204" pitchFamily="34" charset="0"/>
              </a:rPr>
              <a:t>Le réchauffement climatique modifie progressivement les zones de transmission des maladies vectorielles (paludisme, dengue, leishmaniose) et augmente la fréquence des événements météorologiques extrêmes (inondations → maladies hydriques, sécheresses → malnutrition).</a:t>
            </a:r>
          </a:p>
        </p:txBody>
      </p:sp>
    </p:spTree>
    <p:extLst>
      <p:ext uri="{BB962C8B-B14F-4D97-AF65-F5344CB8AC3E}">
        <p14:creationId xmlns:p14="http://schemas.microsoft.com/office/powerpoint/2010/main" val="389725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Intégration des ajustements dans un modèle de prévision complet</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Ce qu’il faut retenir</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3" y="2658075"/>
            <a:ext cx="10486036" cy="707886"/>
          </a:xfrm>
          <a:prstGeom prst="rect">
            <a:avLst/>
          </a:prstGeom>
          <a:noFill/>
        </p:spPr>
        <p:txBody>
          <a:bodyPr wrap="square">
            <a:spAutoFit/>
          </a:bodyPr>
          <a:lstStyle/>
          <a:p>
            <a:r>
              <a:rPr lang="fr-FR" sz="2000" dirty="0">
                <a:latin typeface="Aptos" panose="020B0004020202020204" pitchFamily="34" charset="0"/>
              </a:rPr>
              <a:t>La puissance d'une bonne prévision réside dans la capacité à intégrer simultanément tous les ajustements pertinents dans un modèle cohérent.</a:t>
            </a:r>
          </a:p>
        </p:txBody>
      </p:sp>
    </p:spTree>
    <p:extLst>
      <p:ext uri="{BB962C8B-B14F-4D97-AF65-F5344CB8AC3E}">
        <p14:creationId xmlns:p14="http://schemas.microsoft.com/office/powerpoint/2010/main" val="149114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de bord des facteurs contextuels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453BF2D7-1D49-452D-BC8E-9FCCBB6C9870}"/>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Ce qu’il faut retenir</a:t>
            </a:r>
          </a:p>
        </p:txBody>
      </p:sp>
      <p:sp>
        <p:nvSpPr>
          <p:cNvPr id="13" name="ZoneTexte 12">
            <a:extLst>
              <a:ext uri="{FF2B5EF4-FFF2-40B4-BE49-F238E27FC236}">
                <a16:creationId xmlns:a16="http://schemas.microsoft.com/office/drawing/2014/main" id="{135A91B1-7F9D-47C2-88F4-0B05003892D6}"/>
              </a:ext>
            </a:extLst>
          </p:cNvPr>
          <p:cNvSpPr txBox="1"/>
          <p:nvPr/>
        </p:nvSpPr>
        <p:spPr>
          <a:xfrm>
            <a:off x="1082383" y="2658075"/>
            <a:ext cx="10486036" cy="1015663"/>
          </a:xfrm>
          <a:prstGeom prst="rect">
            <a:avLst/>
          </a:prstGeom>
          <a:noFill/>
        </p:spPr>
        <p:txBody>
          <a:bodyPr wrap="square">
            <a:spAutoFit/>
          </a:bodyPr>
          <a:lstStyle/>
          <a:p>
            <a:r>
              <a:rPr lang="fr-FR" sz="2000" dirty="0">
                <a:latin typeface="Aptos" panose="020B0004020202020204" pitchFamily="34" charset="0"/>
              </a:rPr>
              <a:t>Un outil pratique pour les planificateurs est le tableau de bord des facteurs contextuels, qui liste tous les facteurs susceptibles d'influencer la demande et permet de les surveiller régulièrement.</a:t>
            </a:r>
          </a:p>
        </p:txBody>
      </p:sp>
    </p:spTree>
    <p:extLst>
      <p:ext uri="{BB962C8B-B14F-4D97-AF65-F5344CB8AC3E}">
        <p14:creationId xmlns:p14="http://schemas.microsoft.com/office/powerpoint/2010/main" val="158851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Ajustements saisonniers et facteurs contextuels</a:t>
            </a:r>
            <a:endPar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endParaRP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Synthèse </a:t>
            </a:r>
            <a:endParaRPr lang="en-US" sz="2400" b="1" dirty="0">
              <a:solidFill>
                <a:schemeClr val="bg1"/>
              </a:solidFill>
              <a:latin typeface="Aptos" panose="020B0004020202020204" pitchFamily="34" charset="0"/>
            </a:endParaRPr>
          </a:p>
        </p:txBody>
      </p:sp>
      <p:graphicFrame>
        <p:nvGraphicFramePr>
          <p:cNvPr id="2" name="Tableau 1">
            <a:extLst>
              <a:ext uri="{FF2B5EF4-FFF2-40B4-BE49-F238E27FC236}">
                <a16:creationId xmlns:a16="http://schemas.microsoft.com/office/drawing/2014/main" id="{42A503CB-E056-4986-A747-3A55F392317B}"/>
              </a:ext>
            </a:extLst>
          </p:cNvPr>
          <p:cNvGraphicFramePr>
            <a:graphicFrameLocks noGrp="1"/>
          </p:cNvGraphicFramePr>
          <p:nvPr>
            <p:extLst>
              <p:ext uri="{D42A27DB-BD31-4B8C-83A1-F6EECF244321}">
                <p14:modId xmlns:p14="http://schemas.microsoft.com/office/powerpoint/2010/main" val="3513051456"/>
              </p:ext>
            </p:extLst>
          </p:nvPr>
        </p:nvGraphicFramePr>
        <p:xfrm>
          <a:off x="1367405" y="2253749"/>
          <a:ext cx="8925887" cy="4062280"/>
        </p:xfrm>
        <a:graphic>
          <a:graphicData uri="http://schemas.openxmlformats.org/drawingml/2006/table">
            <a:tbl>
              <a:tblPr/>
              <a:tblGrid>
                <a:gridCol w="3263319">
                  <a:extLst>
                    <a:ext uri="{9D8B030D-6E8A-4147-A177-3AD203B41FA5}">
                      <a16:colId xmlns:a16="http://schemas.microsoft.com/office/drawing/2014/main" val="3211117346"/>
                    </a:ext>
                  </a:extLst>
                </a:gridCol>
                <a:gridCol w="5662568">
                  <a:extLst>
                    <a:ext uri="{9D8B030D-6E8A-4147-A177-3AD203B41FA5}">
                      <a16:colId xmlns:a16="http://schemas.microsoft.com/office/drawing/2014/main" val="2796650299"/>
                    </a:ext>
                  </a:extLst>
                </a:gridCol>
              </a:tblGrid>
              <a:tr h="251320">
                <a:tc>
                  <a:txBody>
                    <a:bodyPr/>
                    <a:lstStyle/>
                    <a:p>
                      <a:r>
                        <a:rPr lang="fr-FR" sz="1400" b="1" dirty="0">
                          <a:solidFill>
                            <a:schemeClr val="bg1"/>
                          </a:solidFill>
                          <a:latin typeface="Aptos" panose="020B0004020202020204" pitchFamily="34" charset="0"/>
                        </a:rPr>
                        <a:t>Dimension</a:t>
                      </a:r>
                    </a:p>
                  </a:txBody>
                  <a:tcPr marL="66944" marR="66944" marT="33472" marB="33472" anchor="ctr">
                    <a:lnL>
                      <a:noFill/>
                    </a:lnL>
                    <a:lnR>
                      <a:noFill/>
                    </a:lnR>
                    <a:lnT>
                      <a:noFill/>
                    </a:lnT>
                    <a:lnB>
                      <a:noFill/>
                    </a:lnB>
                    <a:solidFill>
                      <a:srgbClr val="F37504"/>
                    </a:solidFill>
                  </a:tcPr>
                </a:tc>
                <a:tc>
                  <a:txBody>
                    <a:bodyPr/>
                    <a:lstStyle/>
                    <a:p>
                      <a:r>
                        <a:rPr lang="fr-FR" sz="1400" b="1" dirty="0">
                          <a:solidFill>
                            <a:schemeClr val="bg1"/>
                          </a:solidFill>
                          <a:latin typeface="Aptos" panose="020B0004020202020204" pitchFamily="34" charset="0"/>
                        </a:rPr>
                        <a:t>Points clés</a:t>
                      </a:r>
                    </a:p>
                  </a:txBody>
                  <a:tcPr marL="66944" marR="66944" marT="33472" marB="33472" anchor="ctr">
                    <a:lnL>
                      <a:noFill/>
                    </a:lnL>
                    <a:lnR>
                      <a:noFill/>
                    </a:lnR>
                    <a:lnT>
                      <a:noFill/>
                    </a:lnT>
                    <a:lnB>
                      <a:noFill/>
                    </a:lnB>
                    <a:solidFill>
                      <a:srgbClr val="F37504"/>
                    </a:solidFill>
                  </a:tcPr>
                </a:tc>
                <a:extLst>
                  <a:ext uri="{0D108BD9-81ED-4DB2-BD59-A6C34878D82A}">
                    <a16:rowId xmlns:a16="http://schemas.microsoft.com/office/drawing/2014/main" val="847596192"/>
                  </a:ext>
                </a:extLst>
              </a:tr>
              <a:tr h="420152">
                <a:tc>
                  <a:txBody>
                    <a:bodyPr/>
                    <a:lstStyle/>
                    <a:p>
                      <a:r>
                        <a:rPr lang="fr-FR" sz="1400">
                          <a:latin typeface="Aptos" panose="020B0004020202020204" pitchFamily="34" charset="0"/>
                        </a:rPr>
                        <a:t>Indices saisonniers</a:t>
                      </a:r>
                    </a:p>
                  </a:txBody>
                  <a:tcPr marL="66944" marR="66944" marT="33472" marB="33472" anchor="ctr">
                    <a:lnL>
                      <a:noFill/>
                    </a:lnL>
                    <a:lnR>
                      <a:noFill/>
                    </a:lnR>
                    <a:lnT>
                      <a:noFill/>
                    </a:lnT>
                    <a:lnB>
                      <a:noFill/>
                    </a:lnB>
                  </a:tcPr>
                </a:tc>
                <a:tc>
                  <a:txBody>
                    <a:bodyPr/>
                    <a:lstStyle/>
                    <a:p>
                      <a:r>
                        <a:rPr lang="fr-FR" sz="1400">
                          <a:latin typeface="Aptos" panose="020B0004020202020204" pitchFamily="34" charset="0"/>
                        </a:rPr>
                        <a:t>Calculés sur 3 ans minimum, contrôle de cohérence (somme = 12)</a:t>
                      </a:r>
                    </a:p>
                  </a:txBody>
                  <a:tcPr marL="66944" marR="66944" marT="33472" marB="33472" anchor="ctr">
                    <a:lnL>
                      <a:noFill/>
                    </a:lnL>
                    <a:lnR>
                      <a:noFill/>
                    </a:lnR>
                    <a:lnT>
                      <a:noFill/>
                    </a:lnT>
                    <a:lnB>
                      <a:noFill/>
                    </a:lnB>
                  </a:tcPr>
                </a:tc>
                <a:extLst>
                  <a:ext uri="{0D108BD9-81ED-4DB2-BD59-A6C34878D82A}">
                    <a16:rowId xmlns:a16="http://schemas.microsoft.com/office/drawing/2014/main" val="2433440525"/>
                  </a:ext>
                </a:extLst>
              </a:tr>
              <a:tr h="420152">
                <a:tc>
                  <a:txBody>
                    <a:bodyPr/>
                    <a:lstStyle/>
                    <a:p>
                      <a:r>
                        <a:rPr lang="fr-FR" sz="1400" dirty="0">
                          <a:latin typeface="Aptos" panose="020B0004020202020204" pitchFamily="34" charset="0"/>
                        </a:rPr>
                        <a:t>Application aux prévisions</a:t>
                      </a:r>
                    </a:p>
                  </a:txBody>
                  <a:tcPr marL="66944" marR="66944" marT="33472" marB="33472"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Prévision mensuelle = CMM projetée × Index saisonnier du mois</a:t>
                      </a:r>
                    </a:p>
                  </a:txBody>
                  <a:tcPr marL="66944" marR="66944" marT="33472" marB="33472" anchor="ctr">
                    <a:lnL>
                      <a:noFill/>
                    </a:lnL>
                    <a:lnR>
                      <a:noFill/>
                    </a:lnR>
                    <a:lnT>
                      <a:noFill/>
                    </a:lnT>
                    <a:lnB>
                      <a:noFill/>
                    </a:lnB>
                    <a:solidFill>
                      <a:schemeClr val="bg2">
                        <a:lumMod val="90000"/>
                      </a:schemeClr>
                    </a:solidFill>
                  </a:tcPr>
                </a:tc>
                <a:extLst>
                  <a:ext uri="{0D108BD9-81ED-4DB2-BD59-A6C34878D82A}">
                    <a16:rowId xmlns:a16="http://schemas.microsoft.com/office/drawing/2014/main" val="1337265700"/>
                  </a:ext>
                </a:extLst>
              </a:tr>
              <a:tr h="420152">
                <a:tc>
                  <a:txBody>
                    <a:bodyPr/>
                    <a:lstStyle/>
                    <a:p>
                      <a:r>
                        <a:rPr lang="fr-FR" sz="1400">
                          <a:latin typeface="Aptos" panose="020B0004020202020204" pitchFamily="34" charset="0"/>
                        </a:rPr>
                        <a:t>Désaisonnalisation</a:t>
                      </a:r>
                    </a:p>
                  </a:txBody>
                  <a:tcPr marL="66944" marR="66944" marT="33472" marB="33472" anchor="ctr">
                    <a:lnL>
                      <a:noFill/>
                    </a:lnL>
                    <a:lnR>
                      <a:noFill/>
                    </a:lnR>
                    <a:lnT>
                      <a:noFill/>
                    </a:lnT>
                    <a:lnB>
                      <a:noFill/>
                    </a:lnB>
                  </a:tcPr>
                </a:tc>
                <a:tc>
                  <a:txBody>
                    <a:bodyPr/>
                    <a:lstStyle/>
                    <a:p>
                      <a:r>
                        <a:rPr lang="fr-FR" sz="1400">
                          <a:latin typeface="Aptos" panose="020B0004020202020204" pitchFamily="34" charset="0"/>
                        </a:rPr>
                        <a:t>Permet d'identifier la tendance pure indépendamment des cycles</a:t>
                      </a:r>
                    </a:p>
                  </a:txBody>
                  <a:tcPr marL="66944" marR="66944" marT="33472" marB="33472" anchor="ctr">
                    <a:lnL>
                      <a:noFill/>
                    </a:lnL>
                    <a:lnR>
                      <a:noFill/>
                    </a:lnR>
                    <a:lnT>
                      <a:noFill/>
                    </a:lnT>
                    <a:lnB>
                      <a:noFill/>
                    </a:lnB>
                  </a:tcPr>
                </a:tc>
                <a:extLst>
                  <a:ext uri="{0D108BD9-81ED-4DB2-BD59-A6C34878D82A}">
                    <a16:rowId xmlns:a16="http://schemas.microsoft.com/office/drawing/2014/main" val="4201268458"/>
                  </a:ext>
                </a:extLst>
              </a:tr>
              <a:tr h="420152">
                <a:tc>
                  <a:txBody>
                    <a:bodyPr/>
                    <a:lstStyle/>
                    <a:p>
                      <a:r>
                        <a:rPr lang="fr-FR" sz="1400" dirty="0">
                          <a:latin typeface="Aptos" panose="020B0004020202020204" pitchFamily="34" charset="0"/>
                        </a:rPr>
                        <a:t>Calendrier des commandes</a:t>
                      </a:r>
                    </a:p>
                  </a:txBody>
                  <a:tcPr marL="66944" marR="66944" marT="33472" marB="33472"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Commandes pré-saisonnières = Début du pic − Délai de livraison</a:t>
                      </a:r>
                    </a:p>
                  </a:txBody>
                  <a:tcPr marL="66944" marR="66944" marT="33472" marB="33472" anchor="ctr">
                    <a:lnL>
                      <a:noFill/>
                    </a:lnL>
                    <a:lnR>
                      <a:noFill/>
                    </a:lnR>
                    <a:lnT>
                      <a:noFill/>
                    </a:lnT>
                    <a:lnB>
                      <a:noFill/>
                    </a:lnB>
                    <a:solidFill>
                      <a:schemeClr val="bg2">
                        <a:lumMod val="90000"/>
                      </a:schemeClr>
                    </a:solidFill>
                  </a:tcPr>
                </a:tc>
                <a:extLst>
                  <a:ext uri="{0D108BD9-81ED-4DB2-BD59-A6C34878D82A}">
                    <a16:rowId xmlns:a16="http://schemas.microsoft.com/office/drawing/2014/main" val="2614820652"/>
                  </a:ext>
                </a:extLst>
              </a:tr>
              <a:tr h="251320">
                <a:tc>
                  <a:txBody>
                    <a:bodyPr/>
                    <a:lstStyle/>
                    <a:p>
                      <a:r>
                        <a:rPr lang="fr-FR" sz="1400">
                          <a:latin typeface="Aptos" panose="020B0004020202020204" pitchFamily="34" charset="0"/>
                        </a:rPr>
                        <a:t>Facteurs démographiques</a:t>
                      </a:r>
                    </a:p>
                  </a:txBody>
                  <a:tcPr marL="66944" marR="66944" marT="33472" marB="33472" anchor="ctr">
                    <a:lnL>
                      <a:noFill/>
                    </a:lnL>
                    <a:lnR>
                      <a:noFill/>
                    </a:lnR>
                    <a:lnT>
                      <a:noFill/>
                    </a:lnT>
                    <a:lnB>
                      <a:noFill/>
                    </a:lnB>
                  </a:tcPr>
                </a:tc>
                <a:tc>
                  <a:txBody>
                    <a:bodyPr/>
                    <a:lstStyle/>
                    <a:p>
                      <a:r>
                        <a:rPr lang="fr-FR" sz="1400">
                          <a:latin typeface="Aptos" panose="020B0004020202020204" pitchFamily="34" charset="0"/>
                        </a:rPr>
                        <a:t>Croissance population, migrations, vieillissement</a:t>
                      </a:r>
                    </a:p>
                  </a:txBody>
                  <a:tcPr marL="66944" marR="66944" marT="33472" marB="33472" anchor="ctr">
                    <a:lnL>
                      <a:noFill/>
                    </a:lnL>
                    <a:lnR>
                      <a:noFill/>
                    </a:lnR>
                    <a:lnT>
                      <a:noFill/>
                    </a:lnT>
                    <a:lnB>
                      <a:noFill/>
                    </a:lnB>
                  </a:tcPr>
                </a:tc>
                <a:extLst>
                  <a:ext uri="{0D108BD9-81ED-4DB2-BD59-A6C34878D82A}">
                    <a16:rowId xmlns:a16="http://schemas.microsoft.com/office/drawing/2014/main" val="899852508"/>
                  </a:ext>
                </a:extLst>
              </a:tr>
              <a:tr h="420152">
                <a:tc>
                  <a:txBody>
                    <a:bodyPr/>
                    <a:lstStyle/>
                    <a:p>
                      <a:r>
                        <a:rPr lang="fr-FR" sz="1400" dirty="0">
                          <a:latin typeface="Aptos" panose="020B0004020202020204" pitchFamily="34" charset="0"/>
                        </a:rPr>
                        <a:t>Facteurs programmatiques</a:t>
                      </a:r>
                    </a:p>
                  </a:txBody>
                  <a:tcPr marL="66944" marR="66944" marT="33472" marB="33472"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Extension couverture, changements de protocoles, objectifs 95-95-95</a:t>
                      </a:r>
                    </a:p>
                  </a:txBody>
                  <a:tcPr marL="66944" marR="66944" marT="33472" marB="33472" anchor="ctr">
                    <a:lnL>
                      <a:noFill/>
                    </a:lnL>
                    <a:lnR>
                      <a:noFill/>
                    </a:lnR>
                    <a:lnT>
                      <a:noFill/>
                    </a:lnT>
                    <a:lnB>
                      <a:noFill/>
                    </a:lnB>
                    <a:solidFill>
                      <a:schemeClr val="bg2">
                        <a:lumMod val="90000"/>
                      </a:schemeClr>
                    </a:solidFill>
                  </a:tcPr>
                </a:tc>
                <a:extLst>
                  <a:ext uri="{0D108BD9-81ED-4DB2-BD59-A6C34878D82A}">
                    <a16:rowId xmlns:a16="http://schemas.microsoft.com/office/drawing/2014/main" val="995570618"/>
                  </a:ext>
                </a:extLst>
              </a:tr>
              <a:tr h="420152">
                <a:tc>
                  <a:txBody>
                    <a:bodyPr/>
                    <a:lstStyle/>
                    <a:p>
                      <a:r>
                        <a:rPr lang="fr-FR" sz="1400">
                          <a:latin typeface="Aptos" panose="020B0004020202020204" pitchFamily="34" charset="0"/>
                        </a:rPr>
                        <a:t>Facteurs politiques</a:t>
                      </a:r>
                    </a:p>
                  </a:txBody>
                  <a:tcPr marL="66944" marR="66944" marT="33472" marB="33472" anchor="ctr">
                    <a:lnL>
                      <a:noFill/>
                    </a:lnL>
                    <a:lnR>
                      <a:noFill/>
                    </a:lnR>
                    <a:lnT>
                      <a:noFill/>
                    </a:lnT>
                    <a:lnB>
                      <a:noFill/>
                    </a:lnB>
                  </a:tcPr>
                </a:tc>
                <a:tc>
                  <a:txBody>
                    <a:bodyPr/>
                    <a:lstStyle/>
                    <a:p>
                      <a:r>
                        <a:rPr lang="fr-FR" sz="1400">
                          <a:latin typeface="Aptos" panose="020B0004020202020204" pitchFamily="34" charset="0"/>
                        </a:rPr>
                        <a:t>Gratuité des soins, assurance maladie, nouvelles politiques</a:t>
                      </a:r>
                    </a:p>
                  </a:txBody>
                  <a:tcPr marL="66944" marR="66944" marT="33472" marB="33472" anchor="ctr">
                    <a:lnL>
                      <a:noFill/>
                    </a:lnL>
                    <a:lnR>
                      <a:noFill/>
                    </a:lnR>
                    <a:lnT>
                      <a:noFill/>
                    </a:lnT>
                    <a:lnB>
                      <a:noFill/>
                    </a:lnB>
                  </a:tcPr>
                </a:tc>
                <a:extLst>
                  <a:ext uri="{0D108BD9-81ED-4DB2-BD59-A6C34878D82A}">
                    <a16:rowId xmlns:a16="http://schemas.microsoft.com/office/drawing/2014/main" val="579432633"/>
                  </a:ext>
                </a:extLst>
              </a:tr>
              <a:tr h="251320">
                <a:tc>
                  <a:txBody>
                    <a:bodyPr/>
                    <a:lstStyle/>
                    <a:p>
                      <a:r>
                        <a:rPr lang="fr-FR" sz="1400" dirty="0">
                          <a:latin typeface="Aptos" panose="020B0004020202020204" pitchFamily="34" charset="0"/>
                        </a:rPr>
                        <a:t>Facteurs conjoncturels</a:t>
                      </a:r>
                    </a:p>
                  </a:txBody>
                  <a:tcPr marL="66944" marR="66944" marT="33472" marB="33472"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Épidémies, catastrophes, crises humanitaires</a:t>
                      </a:r>
                    </a:p>
                  </a:txBody>
                  <a:tcPr marL="66944" marR="66944" marT="33472" marB="33472" anchor="ctr">
                    <a:lnL>
                      <a:noFill/>
                    </a:lnL>
                    <a:lnR>
                      <a:noFill/>
                    </a:lnR>
                    <a:lnT>
                      <a:noFill/>
                    </a:lnT>
                    <a:lnB>
                      <a:noFill/>
                    </a:lnB>
                    <a:solidFill>
                      <a:schemeClr val="bg2">
                        <a:lumMod val="90000"/>
                      </a:schemeClr>
                    </a:solidFill>
                  </a:tcPr>
                </a:tc>
                <a:extLst>
                  <a:ext uri="{0D108BD9-81ED-4DB2-BD59-A6C34878D82A}">
                    <a16:rowId xmlns:a16="http://schemas.microsoft.com/office/drawing/2014/main" val="4062547107"/>
                  </a:ext>
                </a:extLst>
              </a:tr>
              <a:tr h="251320">
                <a:tc>
                  <a:txBody>
                    <a:bodyPr/>
                    <a:lstStyle/>
                    <a:p>
                      <a:r>
                        <a:rPr lang="fr-FR" sz="1400">
                          <a:latin typeface="Aptos" panose="020B0004020202020204" pitchFamily="34" charset="0"/>
                        </a:rPr>
                        <a:t>Facteurs environnementaux</a:t>
                      </a:r>
                    </a:p>
                  </a:txBody>
                  <a:tcPr marL="66944" marR="66944" marT="33472" marB="33472" anchor="ctr">
                    <a:lnL>
                      <a:noFill/>
                    </a:lnL>
                    <a:lnR>
                      <a:noFill/>
                    </a:lnR>
                    <a:lnT>
                      <a:noFill/>
                    </a:lnT>
                    <a:lnB>
                      <a:noFill/>
                    </a:lnB>
                  </a:tcPr>
                </a:tc>
                <a:tc>
                  <a:txBody>
                    <a:bodyPr/>
                    <a:lstStyle/>
                    <a:p>
                      <a:r>
                        <a:rPr lang="fr-FR" sz="1400">
                          <a:latin typeface="Aptos" panose="020B0004020202020204" pitchFamily="34" charset="0"/>
                        </a:rPr>
                        <a:t>Changement climatique, saisonnalité renforcée</a:t>
                      </a:r>
                    </a:p>
                  </a:txBody>
                  <a:tcPr marL="66944" marR="66944" marT="33472" marB="33472" anchor="ctr">
                    <a:lnL>
                      <a:noFill/>
                    </a:lnL>
                    <a:lnR>
                      <a:noFill/>
                    </a:lnR>
                    <a:lnT>
                      <a:noFill/>
                    </a:lnT>
                    <a:lnB>
                      <a:noFill/>
                    </a:lnB>
                  </a:tcPr>
                </a:tc>
                <a:extLst>
                  <a:ext uri="{0D108BD9-81ED-4DB2-BD59-A6C34878D82A}">
                    <a16:rowId xmlns:a16="http://schemas.microsoft.com/office/drawing/2014/main" val="3502305701"/>
                  </a:ext>
                </a:extLst>
              </a:tr>
              <a:tr h="420152">
                <a:tc>
                  <a:txBody>
                    <a:bodyPr/>
                    <a:lstStyle/>
                    <a:p>
                      <a:r>
                        <a:rPr lang="fr-FR" sz="1400" dirty="0">
                          <a:latin typeface="Aptos" panose="020B0004020202020204" pitchFamily="34" charset="0"/>
                        </a:rPr>
                        <a:t>Tableau de bord contextuel</a:t>
                      </a:r>
                    </a:p>
                  </a:txBody>
                  <a:tcPr marL="66944" marR="66944" marT="33472" marB="33472" anchor="ctr">
                    <a:lnL>
                      <a:noFill/>
                    </a:lnL>
                    <a:lnR>
                      <a:noFill/>
                    </a:lnR>
                    <a:lnT>
                      <a:noFill/>
                    </a:lnT>
                    <a:lnB>
                      <a:noFill/>
                    </a:lnB>
                    <a:solidFill>
                      <a:schemeClr val="bg2">
                        <a:lumMod val="90000"/>
                      </a:schemeClr>
                    </a:solidFill>
                  </a:tcPr>
                </a:tc>
                <a:tc>
                  <a:txBody>
                    <a:bodyPr/>
                    <a:lstStyle/>
                    <a:p>
                      <a:r>
                        <a:rPr lang="fr-FR" sz="1400" dirty="0">
                          <a:latin typeface="Aptos" panose="020B0004020202020204" pitchFamily="34" charset="0"/>
                        </a:rPr>
                        <a:t>Outil de surveillance continue et de mise à jour des prévisions</a:t>
                      </a:r>
                    </a:p>
                  </a:txBody>
                  <a:tcPr marL="66944" marR="66944" marT="33472" marB="33472" anchor="ctr">
                    <a:lnL>
                      <a:noFill/>
                    </a:lnL>
                    <a:lnR>
                      <a:noFill/>
                    </a:lnR>
                    <a:lnT>
                      <a:noFill/>
                    </a:lnT>
                    <a:lnB>
                      <a:noFill/>
                    </a:lnB>
                    <a:solidFill>
                      <a:schemeClr val="bg2">
                        <a:lumMod val="90000"/>
                      </a:schemeClr>
                    </a:solidFill>
                  </a:tcPr>
                </a:tc>
                <a:extLst>
                  <a:ext uri="{0D108BD9-81ED-4DB2-BD59-A6C34878D82A}">
                    <a16:rowId xmlns:a16="http://schemas.microsoft.com/office/drawing/2014/main" val="4128274368"/>
                  </a:ext>
                </a:extLst>
              </a:tr>
            </a:tbl>
          </a:graphicData>
        </a:graphic>
      </p:graphicFrame>
    </p:spTree>
    <p:extLst>
      <p:ext uri="{BB962C8B-B14F-4D97-AF65-F5344CB8AC3E}">
        <p14:creationId xmlns:p14="http://schemas.microsoft.com/office/powerpoint/2010/main" val="147108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0" name="ZoneTexte 9">
            <a:extLst>
              <a:ext uri="{FF2B5EF4-FFF2-40B4-BE49-F238E27FC236}">
                <a16:creationId xmlns:a16="http://schemas.microsoft.com/office/drawing/2014/main" id="{0505DFC8-ADEA-4F79-8566-4049CA10AA86}"/>
              </a:ext>
            </a:extLst>
          </p:cNvPr>
          <p:cNvSpPr txBox="1"/>
          <p:nvPr/>
        </p:nvSpPr>
        <p:spPr>
          <a:xfrm>
            <a:off x="738230" y="1307439"/>
            <a:ext cx="10981189" cy="5016758"/>
          </a:xfrm>
          <a:prstGeom prst="rect">
            <a:avLst/>
          </a:prstGeom>
          <a:noFill/>
        </p:spPr>
        <p:txBody>
          <a:bodyPr wrap="square">
            <a:spAutoFit/>
          </a:bodyPr>
          <a:lstStyle/>
          <a:p>
            <a:r>
              <a:rPr lang="fr-FR" sz="2000" dirty="0">
                <a:latin typeface="Aptos" panose="020B0004020202020204" pitchFamily="34" charset="0"/>
              </a:rPr>
              <a:t>Une prévision n'est jamais parfaite. L'objectif n'est pas d'éliminer les écarts entre ce qui était prévu et ce qui s'est réellement passé — c'est impossible — mais de les mesurer, les comprendre et les utiliser pour améliorer continuellement la qualité des prévisions suivantes. </a:t>
            </a:r>
          </a:p>
          <a:p>
            <a:endParaRPr lang="fr-FR" sz="2000" dirty="0">
              <a:latin typeface="Aptos" panose="020B0004020202020204" pitchFamily="34" charset="0"/>
            </a:endParaRPr>
          </a:p>
          <a:p>
            <a:r>
              <a:rPr lang="fr-FR" sz="2000" dirty="0">
                <a:latin typeface="Aptos" panose="020B0004020202020204" pitchFamily="34" charset="0"/>
              </a:rPr>
              <a:t>L'analyse des écarts est le mécanisme d'apprentissage du système de prévision. Sans elle, les mêmes erreurs se répètent indéfiniment : </a:t>
            </a:r>
          </a:p>
          <a:p>
            <a:pPr marL="800100" lvl="1" indent="-342900">
              <a:buFont typeface="Arial" panose="020B0604020202020204" pitchFamily="34" charset="0"/>
              <a:buChar char="•"/>
            </a:pPr>
            <a:r>
              <a:rPr lang="fr-FR" sz="2000" dirty="0">
                <a:latin typeface="Aptos" panose="020B0004020202020204" pitchFamily="34" charset="0"/>
              </a:rPr>
              <a:t>on sous-estime systématiquement la demande en haute saison, </a:t>
            </a:r>
          </a:p>
          <a:p>
            <a:pPr marL="800100" lvl="1" indent="-342900">
              <a:buFont typeface="Arial" panose="020B0604020202020204" pitchFamily="34" charset="0"/>
              <a:buChar char="•"/>
            </a:pPr>
            <a:r>
              <a:rPr lang="fr-FR" sz="2000" dirty="0">
                <a:latin typeface="Aptos" panose="020B0004020202020204" pitchFamily="34" charset="0"/>
              </a:rPr>
              <a:t>on </a:t>
            </a:r>
            <a:r>
              <a:rPr lang="fr-FR" sz="2000" dirty="0" err="1">
                <a:latin typeface="Aptos" panose="020B0004020202020204" pitchFamily="34" charset="0"/>
              </a:rPr>
              <a:t>sur-estime</a:t>
            </a:r>
            <a:r>
              <a:rPr lang="fr-FR" sz="2000" dirty="0">
                <a:latin typeface="Aptos" panose="020B0004020202020204" pitchFamily="34" charset="0"/>
              </a:rPr>
              <a:t> en basse saison, </a:t>
            </a:r>
          </a:p>
          <a:p>
            <a:pPr marL="800100" lvl="1" indent="-342900">
              <a:buFont typeface="Arial" panose="020B0604020202020204" pitchFamily="34" charset="0"/>
              <a:buChar char="•"/>
            </a:pPr>
            <a:r>
              <a:rPr lang="fr-FR" sz="2000" dirty="0">
                <a:latin typeface="Aptos" panose="020B0004020202020204" pitchFamily="34" charset="0"/>
              </a:rPr>
              <a:t>on ignore les effets des politiques de santé, </a:t>
            </a:r>
          </a:p>
          <a:p>
            <a:pPr marL="800100" lvl="1" indent="-342900">
              <a:buFont typeface="Arial" panose="020B0604020202020204" pitchFamily="34" charset="0"/>
              <a:buChar char="•"/>
            </a:pPr>
            <a:r>
              <a:rPr lang="fr-FR" sz="2000" dirty="0">
                <a:latin typeface="Aptos" panose="020B0004020202020204" pitchFamily="34" charset="0"/>
              </a:rPr>
              <a:t>on ne détecte pas les tendances émergentes. </a:t>
            </a:r>
          </a:p>
          <a:p>
            <a:endParaRPr lang="fr-FR" sz="2000" dirty="0">
              <a:latin typeface="Aptos" panose="020B0004020202020204" pitchFamily="34" charset="0"/>
            </a:endParaRPr>
          </a:p>
          <a:p>
            <a:r>
              <a:rPr lang="fr-FR" sz="2000" dirty="0">
                <a:latin typeface="Aptos" panose="020B0004020202020204" pitchFamily="34" charset="0"/>
              </a:rPr>
              <a:t>Avec une analyse rigoureuse et régulière des écarts, le système de prévision s'améliore à chaque cycle, réduit progressivement ses erreurs et produit des estimations de plus en plus fiables. </a:t>
            </a:r>
          </a:p>
          <a:p>
            <a:endParaRPr lang="fr-FR" sz="2000" dirty="0">
              <a:latin typeface="Aptos" panose="020B0004020202020204" pitchFamily="34" charset="0"/>
            </a:endParaRPr>
          </a:p>
          <a:p>
            <a:r>
              <a:rPr lang="fr-FR" sz="2000" dirty="0">
                <a:latin typeface="Aptos" panose="020B0004020202020204" pitchFamily="34" charset="0"/>
              </a:rPr>
              <a:t>C'est ce processus d'amélioration continue qui distingue un système de quantification professionnel d'un exercice ponctuel.</a:t>
            </a:r>
          </a:p>
        </p:txBody>
      </p:sp>
    </p:spTree>
    <p:extLst>
      <p:ext uri="{BB962C8B-B14F-4D97-AF65-F5344CB8AC3E}">
        <p14:creationId xmlns:p14="http://schemas.microsoft.com/office/powerpoint/2010/main" val="382853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Définition et types d'écarts</a:t>
            </a:r>
            <a:endParaRPr lang="en-US" sz="2400" b="1" dirty="0">
              <a:solidFill>
                <a:schemeClr val="bg1"/>
              </a:solidFill>
              <a:latin typeface="Aptos" panose="020B0004020202020204" pitchFamily="34" charset="0"/>
            </a:endParaRPr>
          </a:p>
        </p:txBody>
      </p:sp>
      <p:sp>
        <p:nvSpPr>
          <p:cNvPr id="2" name="Rectangle 1">
            <a:extLst>
              <a:ext uri="{FF2B5EF4-FFF2-40B4-BE49-F238E27FC236}">
                <a16:creationId xmlns:a16="http://schemas.microsoft.com/office/drawing/2014/main" id="{77B643DB-457B-4F14-BA78-39518A3BF0FC}"/>
              </a:ext>
            </a:extLst>
          </p:cNvPr>
          <p:cNvSpPr>
            <a:spLocks noChangeArrowheads="1"/>
          </p:cNvSpPr>
          <p:nvPr/>
        </p:nvSpPr>
        <p:spPr bwMode="auto">
          <a:xfrm>
            <a:off x="753042" y="2276480"/>
            <a:ext cx="699838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Un écart est la différence entre la consommation réelle observée et la consommation prévue pour la même période.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1" i="0" u="none" strike="noStrike" cap="none" normalizeH="0" baseline="0" dirty="0">
                <a:ln>
                  <a:noFill/>
                </a:ln>
                <a:solidFill>
                  <a:schemeClr val="tx1"/>
                </a:solidFill>
                <a:effectLst/>
                <a:latin typeface="Aptos" panose="020B0004020202020204" pitchFamily="34" charset="0"/>
              </a:rPr>
              <a:t>Formule :</a:t>
            </a:r>
            <a:endParaRPr kumimoji="0" lang="fr-FR" altLang="fr-FR" sz="2000" b="0" i="0" u="none" strike="noStrike" cap="none" normalizeH="0" baseline="0" dirty="0">
              <a:ln>
                <a:noFill/>
              </a:ln>
              <a:solidFill>
                <a:schemeClr val="tx1"/>
              </a:solidFill>
              <a:effectLst/>
              <a:latin typeface="Aptos" panose="020B0004020202020204" pitchFamily="34" charset="0"/>
            </a:endParaRPr>
          </a:p>
          <a:p>
            <a:pPr lvl="1" eaLnBrk="0" fontAlgn="base" hangingPunct="0">
              <a:spcBef>
                <a:spcPct val="0"/>
              </a:spcBef>
              <a:spcAft>
                <a:spcPct val="0"/>
              </a:spcAft>
            </a:pPr>
            <a:r>
              <a:rPr kumimoji="0" lang="fr-FR" altLang="fr-FR" sz="2000" i="0" u="none" strike="noStrike" cap="none" normalizeH="0" baseline="0" dirty="0">
                <a:ln>
                  <a:noFill/>
                </a:ln>
                <a:solidFill>
                  <a:schemeClr val="tx1"/>
                </a:solidFill>
                <a:effectLst/>
                <a:latin typeface="Aptos" panose="020B0004020202020204" pitchFamily="34" charset="0"/>
              </a:rPr>
              <a:t>Écart absolu = Consommation réelle − Consommation prévue Écart relatif (%) = (Consommation réelle − Consommation prévue) ÷ Consommation prévue × 100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chemeClr val="tx1"/>
                </a:solidFill>
                <a:effectLst/>
                <a:latin typeface="Aptos" panose="020B0004020202020204" pitchFamily="34" charset="0"/>
              </a:rPr>
              <a:t>Un écart positif signifie que la consommation réelle a dépassé la prévision → risque de rupture de stock. Un écart négatif signifie que la consommation réelle est inférieure à la prévision → risque de surstock.</a:t>
            </a:r>
          </a:p>
        </p:txBody>
      </p:sp>
    </p:spTree>
    <p:extLst>
      <p:ext uri="{BB962C8B-B14F-4D97-AF65-F5344CB8AC3E}">
        <p14:creationId xmlns:p14="http://schemas.microsoft.com/office/powerpoint/2010/main" val="343637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Définition et types d'écarts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Classification des écarts par amplitude</a:t>
            </a:r>
          </a:p>
        </p:txBody>
      </p:sp>
      <p:graphicFrame>
        <p:nvGraphicFramePr>
          <p:cNvPr id="3" name="Tableau 2">
            <a:extLst>
              <a:ext uri="{FF2B5EF4-FFF2-40B4-BE49-F238E27FC236}">
                <a16:creationId xmlns:a16="http://schemas.microsoft.com/office/drawing/2014/main" id="{C707BA57-54D6-48C2-98EA-66DA357474F1}"/>
              </a:ext>
            </a:extLst>
          </p:cNvPr>
          <p:cNvGraphicFramePr>
            <a:graphicFrameLocks noGrp="1"/>
          </p:cNvGraphicFramePr>
          <p:nvPr>
            <p:extLst>
              <p:ext uri="{D42A27DB-BD31-4B8C-83A1-F6EECF244321}">
                <p14:modId xmlns:p14="http://schemas.microsoft.com/office/powerpoint/2010/main" val="3673997008"/>
              </p:ext>
            </p:extLst>
          </p:nvPr>
        </p:nvGraphicFramePr>
        <p:xfrm>
          <a:off x="1215705" y="2965486"/>
          <a:ext cx="10515600" cy="2255520"/>
        </p:xfrm>
        <a:graphic>
          <a:graphicData uri="http://schemas.openxmlformats.org/drawingml/2006/table">
            <a:tbl>
              <a:tblPr/>
              <a:tblGrid>
                <a:gridCol w="2433506">
                  <a:extLst>
                    <a:ext uri="{9D8B030D-6E8A-4147-A177-3AD203B41FA5}">
                      <a16:colId xmlns:a16="http://schemas.microsoft.com/office/drawing/2014/main" val="3667781340"/>
                    </a:ext>
                  </a:extLst>
                </a:gridCol>
                <a:gridCol w="2432808">
                  <a:extLst>
                    <a:ext uri="{9D8B030D-6E8A-4147-A177-3AD203B41FA5}">
                      <a16:colId xmlns:a16="http://schemas.microsoft.com/office/drawing/2014/main" val="3112755584"/>
                    </a:ext>
                  </a:extLst>
                </a:gridCol>
                <a:gridCol w="5649286">
                  <a:extLst>
                    <a:ext uri="{9D8B030D-6E8A-4147-A177-3AD203B41FA5}">
                      <a16:colId xmlns:a16="http://schemas.microsoft.com/office/drawing/2014/main" val="3816360599"/>
                    </a:ext>
                  </a:extLst>
                </a:gridCol>
              </a:tblGrid>
              <a:tr h="0">
                <a:tc>
                  <a:txBody>
                    <a:bodyPr/>
                    <a:lstStyle/>
                    <a:p>
                      <a:r>
                        <a:rPr lang="fr-FR" sz="1600" b="1" dirty="0">
                          <a:solidFill>
                            <a:schemeClr val="bg1"/>
                          </a:solidFill>
                          <a:latin typeface="Aptos" panose="020B0004020202020204" pitchFamily="34" charset="0"/>
                        </a:rPr>
                        <a:t>Amplitude de l'écart</a:t>
                      </a:r>
                    </a:p>
                  </a:txBody>
                  <a:tcPr anchor="ctr">
                    <a:lnL>
                      <a:noFill/>
                    </a:lnL>
                    <a:lnR>
                      <a:noFill/>
                    </a:lnR>
                    <a:lnT>
                      <a:noFill/>
                    </a:lnT>
                    <a:lnB>
                      <a:noFill/>
                    </a:lnB>
                    <a:solidFill>
                      <a:schemeClr val="accent2"/>
                    </a:solidFill>
                  </a:tcPr>
                </a:tc>
                <a:tc>
                  <a:txBody>
                    <a:bodyPr/>
                    <a:lstStyle/>
                    <a:p>
                      <a:r>
                        <a:rPr lang="fr-FR" sz="1600" b="1" dirty="0">
                          <a:solidFill>
                            <a:schemeClr val="bg1"/>
                          </a:solidFill>
                          <a:latin typeface="Aptos" panose="020B0004020202020204" pitchFamily="34" charset="0"/>
                        </a:rPr>
                        <a:t>Classification</a:t>
                      </a:r>
                    </a:p>
                  </a:txBody>
                  <a:tcPr anchor="ctr">
                    <a:lnL>
                      <a:noFill/>
                    </a:lnL>
                    <a:lnR>
                      <a:noFill/>
                    </a:lnR>
                    <a:lnT>
                      <a:noFill/>
                    </a:lnT>
                    <a:lnB>
                      <a:noFill/>
                    </a:lnB>
                    <a:solidFill>
                      <a:schemeClr val="accent2"/>
                    </a:solidFill>
                  </a:tcPr>
                </a:tc>
                <a:tc>
                  <a:txBody>
                    <a:bodyPr/>
                    <a:lstStyle/>
                    <a:p>
                      <a:r>
                        <a:rPr lang="fr-FR" sz="1600" b="1" dirty="0">
                          <a:solidFill>
                            <a:schemeClr val="bg1"/>
                          </a:solidFill>
                          <a:latin typeface="Aptos" panose="020B0004020202020204" pitchFamily="34" charset="0"/>
                        </a:rPr>
                        <a:t>Niveau d'investigation requis</a:t>
                      </a:r>
                    </a:p>
                  </a:txBody>
                  <a:tcPr anchor="ctr">
                    <a:lnL>
                      <a:noFill/>
                    </a:lnL>
                    <a:lnR>
                      <a:noFill/>
                    </a:lnR>
                    <a:lnT>
                      <a:noFill/>
                    </a:lnT>
                    <a:lnB>
                      <a:noFill/>
                    </a:lnB>
                    <a:solidFill>
                      <a:schemeClr val="accent2"/>
                    </a:solidFill>
                  </a:tcPr>
                </a:tc>
                <a:extLst>
                  <a:ext uri="{0D108BD9-81ED-4DB2-BD59-A6C34878D82A}">
                    <a16:rowId xmlns:a16="http://schemas.microsoft.com/office/drawing/2014/main" val="392322694"/>
                  </a:ext>
                </a:extLst>
              </a:tr>
              <a:tr h="0">
                <a:tc>
                  <a:txBody>
                    <a:bodyPr/>
                    <a:lstStyle/>
                    <a:p>
                      <a:r>
                        <a:rPr lang="fr-FR" sz="1600">
                          <a:latin typeface="Aptos" panose="020B0004020202020204" pitchFamily="34" charset="0"/>
                        </a:rPr>
                        <a:t>&lt; 5%</a:t>
                      </a:r>
                    </a:p>
                  </a:txBody>
                  <a:tcPr anchor="ctr">
                    <a:lnL>
                      <a:noFill/>
                    </a:lnL>
                    <a:lnR>
                      <a:noFill/>
                    </a:lnR>
                    <a:lnT>
                      <a:noFill/>
                    </a:lnT>
                    <a:lnB>
                      <a:noFill/>
                    </a:lnB>
                  </a:tcPr>
                </a:tc>
                <a:tc>
                  <a:txBody>
                    <a:bodyPr/>
                    <a:lstStyle/>
                    <a:p>
                      <a:r>
                        <a:rPr lang="fr-FR" sz="1600">
                          <a:latin typeface="Aptos" panose="020B0004020202020204" pitchFamily="34" charset="0"/>
                        </a:rPr>
                        <a:t>Écart négligeable</a:t>
                      </a:r>
                    </a:p>
                  </a:txBody>
                  <a:tcPr anchor="ctr">
                    <a:lnL>
                      <a:noFill/>
                    </a:lnL>
                    <a:lnR>
                      <a:noFill/>
                    </a:lnR>
                    <a:lnT>
                      <a:noFill/>
                    </a:lnT>
                    <a:lnB>
                      <a:noFill/>
                    </a:lnB>
                  </a:tcPr>
                </a:tc>
                <a:tc>
                  <a:txBody>
                    <a:bodyPr/>
                    <a:lstStyle/>
                    <a:p>
                      <a:r>
                        <a:rPr lang="fr-FR" sz="1600">
                          <a:latin typeface="Aptos" panose="020B0004020202020204" pitchFamily="34" charset="0"/>
                        </a:rPr>
                        <a:t>Aucune action requise</a:t>
                      </a:r>
                    </a:p>
                  </a:txBody>
                  <a:tcPr anchor="ctr">
                    <a:lnL>
                      <a:noFill/>
                    </a:lnL>
                    <a:lnR>
                      <a:noFill/>
                    </a:lnR>
                    <a:lnT>
                      <a:noFill/>
                    </a:lnT>
                    <a:lnB>
                      <a:noFill/>
                    </a:lnB>
                  </a:tcPr>
                </a:tc>
                <a:extLst>
                  <a:ext uri="{0D108BD9-81ED-4DB2-BD59-A6C34878D82A}">
                    <a16:rowId xmlns:a16="http://schemas.microsoft.com/office/drawing/2014/main" val="2997215279"/>
                  </a:ext>
                </a:extLst>
              </a:tr>
              <a:tr h="0">
                <a:tc>
                  <a:txBody>
                    <a:bodyPr/>
                    <a:lstStyle/>
                    <a:p>
                      <a:r>
                        <a:rPr lang="fr-FR" sz="1600" dirty="0">
                          <a:latin typeface="Aptos" panose="020B0004020202020204" pitchFamily="34" charset="0"/>
                        </a:rPr>
                        <a:t>5% à 10%</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Écart mineur</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Surveiller, ajuster à la prochaine révision</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5913491"/>
                  </a:ext>
                </a:extLst>
              </a:tr>
              <a:tr h="0">
                <a:tc>
                  <a:txBody>
                    <a:bodyPr/>
                    <a:lstStyle/>
                    <a:p>
                      <a:r>
                        <a:rPr lang="fr-FR" sz="1600">
                          <a:latin typeface="Aptos" panose="020B0004020202020204" pitchFamily="34" charset="0"/>
                        </a:rPr>
                        <a:t>10% à 20%</a:t>
                      </a:r>
                    </a:p>
                  </a:txBody>
                  <a:tcPr anchor="ctr">
                    <a:lnL>
                      <a:noFill/>
                    </a:lnL>
                    <a:lnR>
                      <a:noFill/>
                    </a:lnR>
                    <a:lnT>
                      <a:noFill/>
                    </a:lnT>
                    <a:lnB>
                      <a:noFill/>
                    </a:lnB>
                  </a:tcPr>
                </a:tc>
                <a:tc>
                  <a:txBody>
                    <a:bodyPr/>
                    <a:lstStyle/>
                    <a:p>
                      <a:r>
                        <a:rPr lang="fr-FR" sz="1600">
                          <a:latin typeface="Aptos" panose="020B0004020202020204" pitchFamily="34" charset="0"/>
                        </a:rPr>
                        <a:t>Écart modéré</a:t>
                      </a:r>
                    </a:p>
                  </a:txBody>
                  <a:tcPr anchor="ctr">
                    <a:lnL>
                      <a:noFill/>
                    </a:lnL>
                    <a:lnR>
                      <a:noFill/>
                    </a:lnR>
                    <a:lnT>
                      <a:noFill/>
                    </a:lnT>
                    <a:lnB>
                      <a:noFill/>
                    </a:lnB>
                  </a:tcPr>
                </a:tc>
                <a:tc>
                  <a:txBody>
                    <a:bodyPr/>
                    <a:lstStyle/>
                    <a:p>
                      <a:r>
                        <a:rPr lang="fr-FR" sz="1600">
                          <a:latin typeface="Aptos" panose="020B0004020202020204" pitchFamily="34" charset="0"/>
                        </a:rPr>
                        <a:t>Investigation systématique, ajustement du modèle</a:t>
                      </a:r>
                    </a:p>
                  </a:txBody>
                  <a:tcPr anchor="ctr">
                    <a:lnL>
                      <a:noFill/>
                    </a:lnL>
                    <a:lnR>
                      <a:noFill/>
                    </a:lnR>
                    <a:lnT>
                      <a:noFill/>
                    </a:lnT>
                    <a:lnB>
                      <a:noFill/>
                    </a:lnB>
                  </a:tcPr>
                </a:tc>
                <a:extLst>
                  <a:ext uri="{0D108BD9-81ED-4DB2-BD59-A6C34878D82A}">
                    <a16:rowId xmlns:a16="http://schemas.microsoft.com/office/drawing/2014/main" val="1120917741"/>
                  </a:ext>
                </a:extLst>
              </a:tr>
              <a:tr h="0">
                <a:tc>
                  <a:txBody>
                    <a:bodyPr/>
                    <a:lstStyle/>
                    <a:p>
                      <a:r>
                        <a:rPr lang="fr-FR" sz="1600" dirty="0">
                          <a:latin typeface="Aptos" panose="020B0004020202020204" pitchFamily="34" charset="0"/>
                        </a:rPr>
                        <a:t>20% à 30%</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Écart significatif</a:t>
                      </a:r>
                    </a:p>
                  </a:txBody>
                  <a:tcPr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Investigation approfondie, révision des hypothèses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441133983"/>
                  </a:ext>
                </a:extLst>
              </a:tr>
              <a:tr h="0">
                <a:tc>
                  <a:txBody>
                    <a:bodyPr/>
                    <a:lstStyle/>
                    <a:p>
                      <a:r>
                        <a:rPr lang="fr-FR" sz="1600">
                          <a:latin typeface="Aptos" panose="020B0004020202020204" pitchFamily="34" charset="0"/>
                        </a:rPr>
                        <a:t>&gt; 30%</a:t>
                      </a:r>
                    </a:p>
                  </a:txBody>
                  <a:tcPr anchor="ctr">
                    <a:lnL>
                      <a:noFill/>
                    </a:lnL>
                    <a:lnR>
                      <a:noFill/>
                    </a:lnR>
                    <a:lnT>
                      <a:noFill/>
                    </a:lnT>
                    <a:lnB>
                      <a:noFill/>
                    </a:lnB>
                  </a:tcPr>
                </a:tc>
                <a:tc>
                  <a:txBody>
                    <a:bodyPr/>
                    <a:lstStyle/>
                    <a:p>
                      <a:r>
                        <a:rPr lang="fr-FR" sz="1600">
                          <a:latin typeface="Aptos" panose="020B0004020202020204" pitchFamily="34" charset="0"/>
                        </a:rPr>
                        <a:t>Écart majeur</a:t>
                      </a:r>
                    </a:p>
                  </a:txBody>
                  <a:tcPr anchor="ctr">
                    <a:lnL>
                      <a:noFill/>
                    </a:lnL>
                    <a:lnR>
                      <a:noFill/>
                    </a:lnR>
                    <a:lnT>
                      <a:noFill/>
                    </a:lnT>
                    <a:lnB>
                      <a:noFill/>
                    </a:lnB>
                  </a:tcPr>
                </a:tc>
                <a:tc>
                  <a:txBody>
                    <a:bodyPr/>
                    <a:lstStyle/>
                    <a:p>
                      <a:r>
                        <a:rPr lang="fr-FR" sz="1600" dirty="0">
                          <a:latin typeface="Aptos" panose="020B0004020202020204" pitchFamily="34" charset="0"/>
                        </a:rPr>
                        <a:t>Investigation urgente, révision complète du modèle de prévision</a:t>
                      </a:r>
                    </a:p>
                  </a:txBody>
                  <a:tcPr anchor="ctr">
                    <a:lnL>
                      <a:noFill/>
                    </a:lnL>
                    <a:lnR>
                      <a:noFill/>
                    </a:lnR>
                    <a:lnT>
                      <a:noFill/>
                    </a:lnT>
                    <a:lnB>
                      <a:noFill/>
                    </a:lnB>
                  </a:tcPr>
                </a:tc>
                <a:extLst>
                  <a:ext uri="{0D108BD9-81ED-4DB2-BD59-A6C34878D82A}">
                    <a16:rowId xmlns:a16="http://schemas.microsoft.com/office/drawing/2014/main" val="3177974093"/>
                  </a:ext>
                </a:extLst>
              </a:tr>
            </a:tbl>
          </a:graphicData>
        </a:graphic>
      </p:graphicFrame>
    </p:spTree>
    <p:extLst>
      <p:ext uri="{BB962C8B-B14F-4D97-AF65-F5344CB8AC3E}">
        <p14:creationId xmlns:p14="http://schemas.microsoft.com/office/powerpoint/2010/main" val="403440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Définition et types d'écarts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Classification des écarts par nature</a:t>
            </a:r>
          </a:p>
        </p:txBody>
      </p:sp>
      <p:sp>
        <p:nvSpPr>
          <p:cNvPr id="11" name="ZoneTexte 10">
            <a:extLst>
              <a:ext uri="{FF2B5EF4-FFF2-40B4-BE49-F238E27FC236}">
                <a16:creationId xmlns:a16="http://schemas.microsoft.com/office/drawing/2014/main" id="{E2E30FE0-B32E-41B6-9175-B38950BC46AF}"/>
              </a:ext>
            </a:extLst>
          </p:cNvPr>
          <p:cNvSpPr txBox="1"/>
          <p:nvPr/>
        </p:nvSpPr>
        <p:spPr>
          <a:xfrm>
            <a:off x="1082383" y="2658075"/>
            <a:ext cx="10606541" cy="378565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Écart systématique :</a:t>
            </a:r>
            <a:r>
              <a:rPr lang="fr-FR" sz="2000" dirty="0">
                <a:latin typeface="Aptos" panose="020B0004020202020204" pitchFamily="34" charset="0"/>
              </a:rPr>
              <a:t> L'écart est toujours dans la même direction (toujours positif ou toujours négatif) sur plusieurs périodes consécutives. Cela indique un biais structurel dans le modèle de prévision, une hypothèse fondamentalement erronée ou un changement de tendance non détecté.</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Écart aléatoire :</a:t>
            </a:r>
            <a:r>
              <a:rPr lang="fr-FR" sz="2000" dirty="0">
                <a:latin typeface="Aptos" panose="020B0004020202020204" pitchFamily="34" charset="0"/>
              </a:rPr>
              <a:t> L'écart change de signe d'une période à l'autre, alternant entre positif et négatif sans tendance claire. C'est la variabilité inhérente à tout système complexe. Un certain niveau d'écart aléatoire est inévitable et normal.</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Écart ponctuel :</a:t>
            </a:r>
            <a:r>
              <a:rPr lang="fr-FR" sz="2000" dirty="0">
                <a:latin typeface="Aptos" panose="020B0004020202020204" pitchFamily="34" charset="0"/>
              </a:rPr>
              <a:t> Un écart isolé et important sur une seule période, entouré de périodes sans écart significatif. Il indique généralement un événement exceptionnel (épidémie, rupture de stock, changement brusque de protocole).</a:t>
            </a:r>
          </a:p>
        </p:txBody>
      </p:sp>
    </p:spTree>
    <p:extLst>
      <p:ext uri="{BB962C8B-B14F-4D97-AF65-F5344CB8AC3E}">
        <p14:creationId xmlns:p14="http://schemas.microsoft.com/office/powerpoint/2010/main" val="157765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Méthodes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3042" y="2028788"/>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L'analyse visuelle par graphique</a:t>
            </a:r>
          </a:p>
        </p:txBody>
      </p:sp>
      <p:sp>
        <p:nvSpPr>
          <p:cNvPr id="11" name="ZoneTexte 10">
            <a:extLst>
              <a:ext uri="{FF2B5EF4-FFF2-40B4-BE49-F238E27FC236}">
                <a16:creationId xmlns:a16="http://schemas.microsoft.com/office/drawing/2014/main" id="{E2E30FE0-B32E-41B6-9175-B38950BC46AF}"/>
              </a:ext>
            </a:extLst>
          </p:cNvPr>
          <p:cNvSpPr txBox="1"/>
          <p:nvPr/>
        </p:nvSpPr>
        <p:spPr>
          <a:xfrm>
            <a:off x="1082383" y="2494572"/>
            <a:ext cx="10922263" cy="4093428"/>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Graphique 1 </a:t>
            </a:r>
            <a:r>
              <a:rPr lang="fr-FR" sz="2000" dirty="0">
                <a:latin typeface="Aptos" panose="020B0004020202020204" pitchFamily="34" charset="0"/>
              </a:rPr>
              <a:t>: Courbes superposées prévision/réel :</a:t>
            </a:r>
          </a:p>
          <a:p>
            <a:pPr marL="800100" lvl="1" indent="-342900">
              <a:buFont typeface="Courier New" panose="02070309020205020404" pitchFamily="49" charset="0"/>
              <a:buChar char="o"/>
            </a:pPr>
            <a:r>
              <a:rPr lang="fr-FR" sz="2000" dirty="0">
                <a:latin typeface="Aptos" panose="020B0004020202020204" pitchFamily="34" charset="0"/>
              </a:rPr>
              <a:t>Deux courbes sur le même axe temporel. Les zones où les courbes s'écartent significativement sont les zones d'investigation prioritaire.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Graphique 2 </a:t>
            </a:r>
            <a:r>
              <a:rPr lang="fr-FR" sz="2000" dirty="0">
                <a:latin typeface="Aptos" panose="020B0004020202020204" pitchFamily="34" charset="0"/>
              </a:rPr>
              <a:t>: Graphique des écarts (bar chart) :</a:t>
            </a:r>
          </a:p>
          <a:p>
            <a:pPr marL="800100" lvl="1" indent="-342900">
              <a:buFont typeface="Courier New" panose="02070309020205020404" pitchFamily="49" charset="0"/>
              <a:buChar char="o"/>
            </a:pPr>
            <a:r>
              <a:rPr lang="fr-FR" sz="2000" dirty="0">
                <a:latin typeface="Aptos" panose="020B0004020202020204" pitchFamily="34" charset="0"/>
              </a:rPr>
              <a:t>Un graphique à barres montrant l'écart positif ou négatif pour chaque mois. Les barres vers le haut indiquent une sous-estimation, les barres vers le bas une surestimation. La taille des barres indique l'amplitude de l'erreur.</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Graphique 3 </a:t>
            </a:r>
            <a:r>
              <a:rPr lang="fr-FR" sz="2000" dirty="0">
                <a:latin typeface="Aptos" panose="020B0004020202020204" pitchFamily="34" charset="0"/>
              </a:rPr>
              <a:t>: Graphique de dispersion avec bandes de contrôle :</a:t>
            </a:r>
          </a:p>
          <a:p>
            <a:pPr marL="800100" lvl="1" indent="-342900">
              <a:buFont typeface="Courier New" panose="02070309020205020404" pitchFamily="49" charset="0"/>
              <a:buChar char="o"/>
            </a:pPr>
            <a:r>
              <a:rPr lang="fr-FR" sz="2000" dirty="0">
                <a:latin typeface="Aptos" panose="020B0004020202020204" pitchFamily="34" charset="0"/>
              </a:rPr>
              <a:t>Les écarts mensuels sont représentés en pourcentage avec des bandes de contrôle à ±10% et ±20%. Les points hors des bandes de contrôle sont les points d'alerte qui nécessitent une investigation.</a:t>
            </a:r>
          </a:p>
        </p:txBody>
      </p:sp>
    </p:spTree>
    <p:extLst>
      <p:ext uri="{BB962C8B-B14F-4D97-AF65-F5344CB8AC3E}">
        <p14:creationId xmlns:p14="http://schemas.microsoft.com/office/powerpoint/2010/main" val="169111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Méthodes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L'analyse statistique des écarts</a:t>
            </a:r>
          </a:p>
        </p:txBody>
      </p:sp>
      <p:sp>
        <p:nvSpPr>
          <p:cNvPr id="11" name="ZoneTexte 10">
            <a:extLst>
              <a:ext uri="{FF2B5EF4-FFF2-40B4-BE49-F238E27FC236}">
                <a16:creationId xmlns:a16="http://schemas.microsoft.com/office/drawing/2014/main" id="{E2E30FE0-B32E-41B6-9175-B38950BC46AF}"/>
              </a:ext>
            </a:extLst>
          </p:cNvPr>
          <p:cNvSpPr txBox="1"/>
          <p:nvPr/>
        </p:nvSpPr>
        <p:spPr>
          <a:xfrm>
            <a:off x="1082383" y="2576324"/>
            <a:ext cx="10922263" cy="707886"/>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Erreur Absolue Moyenne (EAM)</a:t>
            </a:r>
          </a:p>
          <a:p>
            <a:pPr marL="342900" indent="-342900">
              <a:buFont typeface="Arial" panose="020B0604020202020204" pitchFamily="34" charset="0"/>
              <a:buChar char="•"/>
            </a:pPr>
            <a:r>
              <a:rPr lang="fr-FR" sz="2000" b="1" dirty="0">
                <a:latin typeface="Aptos" panose="020B0004020202020204" pitchFamily="34" charset="0"/>
              </a:rPr>
              <a:t>Taux d'Erreur Absolue Moyen (MAPE)</a:t>
            </a:r>
          </a:p>
        </p:txBody>
      </p:sp>
    </p:spTree>
    <p:extLst>
      <p:ext uri="{BB962C8B-B14F-4D97-AF65-F5344CB8AC3E}">
        <p14:creationId xmlns:p14="http://schemas.microsoft.com/office/powerpoint/2010/main" val="200332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Méthodes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Méthode des 5 Pourquoi appliquée aux écarts de prévision</a:t>
            </a:r>
          </a:p>
        </p:txBody>
      </p:sp>
      <p:graphicFrame>
        <p:nvGraphicFramePr>
          <p:cNvPr id="2" name="Tableau 1">
            <a:extLst>
              <a:ext uri="{FF2B5EF4-FFF2-40B4-BE49-F238E27FC236}">
                <a16:creationId xmlns:a16="http://schemas.microsoft.com/office/drawing/2014/main" id="{7636D0EF-B7DB-462E-A4E2-813E7045B0EB}"/>
              </a:ext>
            </a:extLst>
          </p:cNvPr>
          <p:cNvGraphicFramePr>
            <a:graphicFrameLocks noGrp="1"/>
          </p:cNvGraphicFramePr>
          <p:nvPr>
            <p:extLst>
              <p:ext uri="{D42A27DB-BD31-4B8C-83A1-F6EECF244321}">
                <p14:modId xmlns:p14="http://schemas.microsoft.com/office/powerpoint/2010/main" val="291905490"/>
              </p:ext>
            </p:extLst>
          </p:nvPr>
        </p:nvGraphicFramePr>
        <p:xfrm>
          <a:off x="809798" y="2995392"/>
          <a:ext cx="11102568" cy="2462754"/>
        </p:xfrm>
        <a:graphic>
          <a:graphicData uri="http://schemas.openxmlformats.org/drawingml/2006/table">
            <a:tbl>
              <a:tblPr/>
              <a:tblGrid>
                <a:gridCol w="1170004">
                  <a:extLst>
                    <a:ext uri="{9D8B030D-6E8A-4147-A177-3AD203B41FA5}">
                      <a16:colId xmlns:a16="http://schemas.microsoft.com/office/drawing/2014/main" val="3227562599"/>
                    </a:ext>
                  </a:extLst>
                </a:gridCol>
                <a:gridCol w="4194495">
                  <a:extLst>
                    <a:ext uri="{9D8B030D-6E8A-4147-A177-3AD203B41FA5}">
                      <a16:colId xmlns:a16="http://schemas.microsoft.com/office/drawing/2014/main" val="3837442970"/>
                    </a:ext>
                  </a:extLst>
                </a:gridCol>
                <a:gridCol w="5738069">
                  <a:extLst>
                    <a:ext uri="{9D8B030D-6E8A-4147-A177-3AD203B41FA5}">
                      <a16:colId xmlns:a16="http://schemas.microsoft.com/office/drawing/2014/main" val="3283863147"/>
                    </a:ext>
                  </a:extLst>
                </a:gridCol>
              </a:tblGrid>
              <a:tr h="224044">
                <a:tc>
                  <a:txBody>
                    <a:bodyPr/>
                    <a:lstStyle/>
                    <a:p>
                      <a:r>
                        <a:rPr lang="fr-FR" sz="1200" b="1" dirty="0">
                          <a:solidFill>
                            <a:schemeClr val="bg1"/>
                          </a:solidFill>
                          <a:latin typeface="Aptos" panose="020B0004020202020204" pitchFamily="34" charset="0"/>
                        </a:rPr>
                        <a:t>Niveau</a:t>
                      </a:r>
                    </a:p>
                  </a:txBody>
                  <a:tcPr marL="69069" marR="69069" marT="34534" marB="34534"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Question</a:t>
                      </a:r>
                    </a:p>
                  </a:txBody>
                  <a:tcPr marL="69069" marR="69069" marT="34534" marB="34534"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Réponse</a:t>
                      </a:r>
                    </a:p>
                  </a:txBody>
                  <a:tcPr marL="69069" marR="69069" marT="34534" marB="34534" anchor="ctr">
                    <a:lnL>
                      <a:noFill/>
                    </a:lnL>
                    <a:lnR>
                      <a:noFill/>
                    </a:lnR>
                    <a:lnT>
                      <a:noFill/>
                    </a:lnT>
                    <a:lnB>
                      <a:noFill/>
                    </a:lnB>
                    <a:solidFill>
                      <a:srgbClr val="F37504"/>
                    </a:solidFill>
                  </a:tcPr>
                </a:tc>
                <a:extLst>
                  <a:ext uri="{0D108BD9-81ED-4DB2-BD59-A6C34878D82A}">
                    <a16:rowId xmlns:a16="http://schemas.microsoft.com/office/drawing/2014/main" val="1046593230"/>
                  </a:ext>
                </a:extLst>
              </a:tr>
              <a:tr h="393297">
                <a:tc>
                  <a:txBody>
                    <a:bodyPr/>
                    <a:lstStyle/>
                    <a:p>
                      <a:r>
                        <a:rPr lang="fr-FR" sz="1200">
                          <a:latin typeface="Aptos" panose="020B0004020202020204" pitchFamily="34" charset="0"/>
                        </a:rPr>
                        <a:t>Pourquoi 1</a:t>
                      </a:r>
                    </a:p>
                  </a:txBody>
                  <a:tcPr marL="69069" marR="69069" marT="34534" marB="34534" anchor="ctr">
                    <a:lnL>
                      <a:noFill/>
                    </a:lnL>
                    <a:lnR>
                      <a:noFill/>
                    </a:lnR>
                    <a:lnT>
                      <a:noFill/>
                    </a:lnT>
                    <a:lnB>
                      <a:noFill/>
                    </a:lnB>
                  </a:tcPr>
                </a:tc>
                <a:tc>
                  <a:txBody>
                    <a:bodyPr/>
                    <a:lstStyle/>
                    <a:p>
                      <a:r>
                        <a:rPr lang="fr-FR" sz="1200" dirty="0">
                          <a:latin typeface="Aptos" panose="020B0004020202020204" pitchFamily="34" charset="0"/>
                        </a:rPr>
                        <a:t>Pourquoi la demande a-t-elle dépassé la prévision ?</a:t>
                      </a:r>
                    </a:p>
                  </a:txBody>
                  <a:tcPr marL="69069" marR="69069" marT="34534" marB="34534" anchor="ctr">
                    <a:lnL>
                      <a:noFill/>
                    </a:lnL>
                    <a:lnR>
                      <a:noFill/>
                    </a:lnR>
                    <a:lnT>
                      <a:noFill/>
                    </a:lnT>
                    <a:lnB>
                      <a:noFill/>
                    </a:lnB>
                  </a:tcPr>
                </a:tc>
                <a:tc>
                  <a:txBody>
                    <a:bodyPr/>
                    <a:lstStyle/>
                    <a:p>
                      <a:r>
                        <a:rPr lang="fr-FR" sz="1200" dirty="0">
                          <a:latin typeface="Aptos" panose="020B0004020202020204" pitchFamily="34" charset="0"/>
                        </a:rPr>
                        <a:t>Parce que la consommation réelle était supérieure aux indices saisonniers appliqués</a:t>
                      </a:r>
                    </a:p>
                  </a:txBody>
                  <a:tcPr marL="69069" marR="69069" marT="34534" marB="34534" anchor="ctr">
                    <a:lnL>
                      <a:noFill/>
                    </a:lnL>
                    <a:lnR>
                      <a:noFill/>
                    </a:lnR>
                    <a:lnT>
                      <a:noFill/>
                    </a:lnT>
                    <a:lnB>
                      <a:noFill/>
                    </a:lnB>
                  </a:tcPr>
                </a:tc>
                <a:extLst>
                  <a:ext uri="{0D108BD9-81ED-4DB2-BD59-A6C34878D82A}">
                    <a16:rowId xmlns:a16="http://schemas.microsoft.com/office/drawing/2014/main" val="1221797417"/>
                  </a:ext>
                </a:extLst>
              </a:tr>
              <a:tr h="416833">
                <a:tc>
                  <a:txBody>
                    <a:bodyPr/>
                    <a:lstStyle/>
                    <a:p>
                      <a:r>
                        <a:rPr lang="fr-FR" sz="1200" dirty="0">
                          <a:latin typeface="Aptos" panose="020B0004020202020204" pitchFamily="34" charset="0"/>
                        </a:rPr>
                        <a:t>Pourquoi 2</a:t>
                      </a:r>
                    </a:p>
                  </a:txBody>
                  <a:tcPr marL="69069" marR="69069" marT="34534" marB="34534"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Pourquoi les indices saisonniers sous-estimaient-ils le pic ?</a:t>
                      </a:r>
                    </a:p>
                  </a:txBody>
                  <a:tcPr marL="69069" marR="69069" marT="34534" marB="34534"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Parce qu'ils étaient calculés sur les données 2022-2024 qui incluaient une saison des pluies </a:t>
                      </a:r>
                      <a:r>
                        <a:rPr lang="fr-FR" sz="1200" dirty="0" err="1">
                          <a:latin typeface="Aptos" panose="020B0004020202020204" pitchFamily="34" charset="0"/>
                        </a:rPr>
                        <a:t>atypiquement</a:t>
                      </a:r>
                      <a:r>
                        <a:rPr lang="fr-FR" sz="1200" dirty="0">
                          <a:latin typeface="Aptos" panose="020B0004020202020204" pitchFamily="34" charset="0"/>
                        </a:rPr>
                        <a:t> faible en 2022</a:t>
                      </a:r>
                    </a:p>
                  </a:txBody>
                  <a:tcPr marL="69069" marR="69069" marT="34534" marB="34534" anchor="ctr">
                    <a:lnL>
                      <a:noFill/>
                    </a:lnL>
                    <a:lnR>
                      <a:noFill/>
                    </a:lnR>
                    <a:lnT>
                      <a:noFill/>
                    </a:lnT>
                    <a:lnB>
                      <a:noFill/>
                    </a:lnB>
                    <a:solidFill>
                      <a:schemeClr val="bg2">
                        <a:lumMod val="90000"/>
                      </a:schemeClr>
                    </a:solidFill>
                  </a:tcPr>
                </a:tc>
                <a:extLst>
                  <a:ext uri="{0D108BD9-81ED-4DB2-BD59-A6C34878D82A}">
                    <a16:rowId xmlns:a16="http://schemas.microsoft.com/office/drawing/2014/main" val="2595598362"/>
                  </a:ext>
                </a:extLst>
              </a:tr>
              <a:tr h="393297">
                <a:tc>
                  <a:txBody>
                    <a:bodyPr/>
                    <a:lstStyle/>
                    <a:p>
                      <a:r>
                        <a:rPr lang="fr-FR" sz="1200">
                          <a:latin typeface="Aptos" panose="020B0004020202020204" pitchFamily="34" charset="0"/>
                        </a:rPr>
                        <a:t>Pourquoi 3</a:t>
                      </a:r>
                    </a:p>
                  </a:txBody>
                  <a:tcPr marL="69069" marR="69069" marT="34534" marB="34534" anchor="ctr">
                    <a:lnL>
                      <a:noFill/>
                    </a:lnL>
                    <a:lnR>
                      <a:noFill/>
                    </a:lnR>
                    <a:lnT>
                      <a:noFill/>
                    </a:lnT>
                    <a:lnB>
                      <a:noFill/>
                    </a:lnB>
                  </a:tcPr>
                </a:tc>
                <a:tc>
                  <a:txBody>
                    <a:bodyPr/>
                    <a:lstStyle/>
                    <a:p>
                      <a:r>
                        <a:rPr lang="fr-FR" sz="1200">
                          <a:latin typeface="Aptos" panose="020B0004020202020204" pitchFamily="34" charset="0"/>
                        </a:rPr>
                        <a:t>Pourquoi les données 2022 distordent-elles les indices ?</a:t>
                      </a:r>
                    </a:p>
                  </a:txBody>
                  <a:tcPr marL="69069" marR="69069" marT="34534" marB="34534" anchor="ctr">
                    <a:lnL>
                      <a:noFill/>
                    </a:lnL>
                    <a:lnR>
                      <a:noFill/>
                    </a:lnR>
                    <a:lnT>
                      <a:noFill/>
                    </a:lnT>
                    <a:lnB>
                      <a:noFill/>
                    </a:lnB>
                  </a:tcPr>
                </a:tc>
                <a:tc>
                  <a:txBody>
                    <a:bodyPr/>
                    <a:lstStyle/>
                    <a:p>
                      <a:r>
                        <a:rPr lang="fr-FR" sz="1200" dirty="0">
                          <a:latin typeface="Aptos" panose="020B0004020202020204" pitchFamily="34" charset="0"/>
                        </a:rPr>
                        <a:t>Parce que 2022 était une année avec moins de précipitations et donc moins de paludisme</a:t>
                      </a:r>
                    </a:p>
                  </a:txBody>
                  <a:tcPr marL="69069" marR="69069" marT="34534" marB="34534" anchor="ctr">
                    <a:lnL>
                      <a:noFill/>
                    </a:lnL>
                    <a:lnR>
                      <a:noFill/>
                    </a:lnR>
                    <a:lnT>
                      <a:noFill/>
                    </a:lnT>
                    <a:lnB>
                      <a:noFill/>
                    </a:lnB>
                  </a:tcPr>
                </a:tc>
                <a:extLst>
                  <a:ext uri="{0D108BD9-81ED-4DB2-BD59-A6C34878D82A}">
                    <a16:rowId xmlns:a16="http://schemas.microsoft.com/office/drawing/2014/main" val="3214909720"/>
                  </a:ext>
                </a:extLst>
              </a:tr>
              <a:tr h="393297">
                <a:tc>
                  <a:txBody>
                    <a:bodyPr/>
                    <a:lstStyle/>
                    <a:p>
                      <a:r>
                        <a:rPr lang="fr-FR" sz="1200" dirty="0">
                          <a:latin typeface="Aptos" panose="020B0004020202020204" pitchFamily="34" charset="0"/>
                        </a:rPr>
                        <a:t>Pourquoi 4</a:t>
                      </a:r>
                    </a:p>
                  </a:txBody>
                  <a:tcPr marL="69069" marR="69069" marT="34534" marB="34534"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Pourquoi les indices n'ont-ils pas été corrigés pour exclure 2022 ?</a:t>
                      </a:r>
                    </a:p>
                  </a:txBody>
                  <a:tcPr marL="69069" marR="69069" marT="34534" marB="34534"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Parce que l'analyse météorologique n'a pas été intégrée dans le processus de prévision</a:t>
                      </a:r>
                    </a:p>
                  </a:txBody>
                  <a:tcPr marL="69069" marR="69069" marT="34534" marB="34534" anchor="ctr">
                    <a:lnL>
                      <a:noFill/>
                    </a:lnL>
                    <a:lnR>
                      <a:noFill/>
                    </a:lnR>
                    <a:lnT>
                      <a:noFill/>
                    </a:lnT>
                    <a:lnB>
                      <a:noFill/>
                    </a:lnB>
                    <a:solidFill>
                      <a:schemeClr val="bg2">
                        <a:lumMod val="90000"/>
                      </a:schemeClr>
                    </a:solidFill>
                  </a:tcPr>
                </a:tc>
                <a:extLst>
                  <a:ext uri="{0D108BD9-81ED-4DB2-BD59-A6C34878D82A}">
                    <a16:rowId xmlns:a16="http://schemas.microsoft.com/office/drawing/2014/main" val="3187099416"/>
                  </a:ext>
                </a:extLst>
              </a:tr>
              <a:tr h="513025">
                <a:tc>
                  <a:txBody>
                    <a:bodyPr/>
                    <a:lstStyle/>
                    <a:p>
                      <a:r>
                        <a:rPr lang="fr-FR" sz="1200">
                          <a:latin typeface="Aptos" panose="020B0004020202020204" pitchFamily="34" charset="0"/>
                        </a:rPr>
                        <a:t>Pourquoi 5</a:t>
                      </a:r>
                    </a:p>
                  </a:txBody>
                  <a:tcPr marL="69069" marR="69069" marT="34534" marB="34534" anchor="ctr">
                    <a:lnL>
                      <a:noFill/>
                    </a:lnL>
                    <a:lnR>
                      <a:noFill/>
                    </a:lnR>
                    <a:lnT>
                      <a:noFill/>
                    </a:lnT>
                    <a:lnB>
                      <a:noFill/>
                    </a:lnB>
                  </a:tcPr>
                </a:tc>
                <a:tc>
                  <a:txBody>
                    <a:bodyPr/>
                    <a:lstStyle/>
                    <a:p>
                      <a:r>
                        <a:rPr lang="fr-FR" sz="1200" dirty="0">
                          <a:latin typeface="Aptos" panose="020B0004020202020204" pitchFamily="34" charset="0"/>
                        </a:rPr>
                        <a:t>Pourquoi l'analyse météorologique n'est-elle pas intégrée ?</a:t>
                      </a:r>
                    </a:p>
                  </a:txBody>
                  <a:tcPr marL="69069" marR="69069" marT="34534" marB="34534" anchor="ctr">
                    <a:lnL>
                      <a:noFill/>
                    </a:lnL>
                    <a:lnR>
                      <a:noFill/>
                    </a:lnR>
                    <a:lnT>
                      <a:noFill/>
                    </a:lnT>
                    <a:lnB>
                      <a:noFill/>
                    </a:lnB>
                  </a:tcPr>
                </a:tc>
                <a:tc>
                  <a:txBody>
                    <a:bodyPr/>
                    <a:lstStyle/>
                    <a:p>
                      <a:r>
                        <a:rPr lang="fr-FR" sz="1200" dirty="0">
                          <a:latin typeface="Aptos" panose="020B0004020202020204" pitchFamily="34" charset="0"/>
                        </a:rPr>
                        <a:t>Parce qu'il n'existe pas de procédure formalisée de consultation des données météorologiques dans le processus de quantification</a:t>
                      </a:r>
                    </a:p>
                  </a:txBody>
                  <a:tcPr marL="69069" marR="69069" marT="34534" marB="34534" anchor="ctr">
                    <a:lnL>
                      <a:noFill/>
                    </a:lnL>
                    <a:lnR>
                      <a:noFill/>
                    </a:lnR>
                    <a:lnT>
                      <a:noFill/>
                    </a:lnT>
                    <a:lnB>
                      <a:noFill/>
                    </a:lnB>
                  </a:tcPr>
                </a:tc>
                <a:extLst>
                  <a:ext uri="{0D108BD9-81ED-4DB2-BD59-A6C34878D82A}">
                    <a16:rowId xmlns:a16="http://schemas.microsoft.com/office/drawing/2014/main" val="2371650298"/>
                  </a:ext>
                </a:extLst>
              </a:tr>
            </a:tbl>
          </a:graphicData>
        </a:graphic>
      </p:graphicFrame>
      <p:sp>
        <p:nvSpPr>
          <p:cNvPr id="13" name="ZoneTexte 12">
            <a:extLst>
              <a:ext uri="{FF2B5EF4-FFF2-40B4-BE49-F238E27FC236}">
                <a16:creationId xmlns:a16="http://schemas.microsoft.com/office/drawing/2014/main" id="{A1CB4435-1A51-4E19-A912-85EDBDDA736A}"/>
              </a:ext>
            </a:extLst>
          </p:cNvPr>
          <p:cNvSpPr txBox="1"/>
          <p:nvPr/>
        </p:nvSpPr>
        <p:spPr>
          <a:xfrm>
            <a:off x="751074" y="2732428"/>
            <a:ext cx="6864892" cy="276999"/>
          </a:xfrm>
          <a:prstGeom prst="rect">
            <a:avLst/>
          </a:prstGeom>
          <a:noFill/>
        </p:spPr>
        <p:txBody>
          <a:bodyPr wrap="square">
            <a:spAutoFit/>
          </a:bodyPr>
          <a:lstStyle/>
          <a:p>
            <a:r>
              <a:rPr lang="fr-FR" sz="1200" dirty="0">
                <a:latin typeface="Aptos" panose="020B0004020202020204" pitchFamily="34" charset="0"/>
              </a:rPr>
              <a:t>Écart analysé : sous-estimation de la demande en ACT en mai-juin (+21% et +26%)</a:t>
            </a:r>
          </a:p>
        </p:txBody>
      </p:sp>
      <p:sp>
        <p:nvSpPr>
          <p:cNvPr id="15" name="ZoneTexte 14">
            <a:extLst>
              <a:ext uri="{FF2B5EF4-FFF2-40B4-BE49-F238E27FC236}">
                <a16:creationId xmlns:a16="http://schemas.microsoft.com/office/drawing/2014/main" id="{D70CC0A9-0BB4-4654-8F24-50FF1EB03541}"/>
              </a:ext>
            </a:extLst>
          </p:cNvPr>
          <p:cNvSpPr txBox="1"/>
          <p:nvPr/>
        </p:nvSpPr>
        <p:spPr>
          <a:xfrm>
            <a:off x="809798" y="5579336"/>
            <a:ext cx="11102567" cy="461665"/>
          </a:xfrm>
          <a:prstGeom prst="rect">
            <a:avLst/>
          </a:prstGeom>
          <a:noFill/>
        </p:spPr>
        <p:txBody>
          <a:bodyPr wrap="square">
            <a:spAutoFit/>
          </a:bodyPr>
          <a:lstStyle/>
          <a:p>
            <a:r>
              <a:rPr lang="fr-FR" sz="1200" b="1" dirty="0">
                <a:latin typeface="Aptos" panose="020B0004020202020204" pitchFamily="34" charset="0"/>
              </a:rPr>
              <a:t>Mesure corrective identifiée :</a:t>
            </a:r>
            <a:r>
              <a:rPr lang="fr-FR" sz="1200" dirty="0">
                <a:latin typeface="Aptos" panose="020B0004020202020204" pitchFamily="34" charset="0"/>
              </a:rPr>
              <a:t> Intégrer une consultation des prévisions saisonnières météorologiques (ANACIM ou météo nationale) dans le processus annuel de calcul des indices saisonniers. Les années avec moins ou plus d’incidence doivent être identifiées et pondérées différemment dans le calcul des indices.</a:t>
            </a:r>
          </a:p>
        </p:txBody>
      </p:sp>
    </p:spTree>
    <p:extLst>
      <p:ext uri="{BB962C8B-B14F-4D97-AF65-F5344CB8AC3E}">
        <p14:creationId xmlns:p14="http://schemas.microsoft.com/office/powerpoint/2010/main" val="441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Méthodes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Catalogue des causes fréquentes d'écarts :</a:t>
            </a:r>
          </a:p>
        </p:txBody>
      </p:sp>
      <p:graphicFrame>
        <p:nvGraphicFramePr>
          <p:cNvPr id="3" name="Tableau 2">
            <a:extLst>
              <a:ext uri="{FF2B5EF4-FFF2-40B4-BE49-F238E27FC236}">
                <a16:creationId xmlns:a16="http://schemas.microsoft.com/office/drawing/2014/main" id="{A3F3CA31-5A73-4EDE-9B9B-B6C08FE07117}"/>
              </a:ext>
            </a:extLst>
          </p:cNvPr>
          <p:cNvGraphicFramePr>
            <a:graphicFrameLocks noGrp="1"/>
          </p:cNvGraphicFramePr>
          <p:nvPr>
            <p:extLst>
              <p:ext uri="{D42A27DB-BD31-4B8C-83A1-F6EECF244321}">
                <p14:modId xmlns:p14="http://schemas.microsoft.com/office/powerpoint/2010/main" val="2510095854"/>
              </p:ext>
            </p:extLst>
          </p:nvPr>
        </p:nvGraphicFramePr>
        <p:xfrm>
          <a:off x="751075" y="2696619"/>
          <a:ext cx="11102568" cy="3616560"/>
        </p:xfrm>
        <a:graphic>
          <a:graphicData uri="http://schemas.openxmlformats.org/drawingml/2006/table">
            <a:tbl>
              <a:tblPr/>
              <a:tblGrid>
                <a:gridCol w="5070885">
                  <a:extLst>
                    <a:ext uri="{9D8B030D-6E8A-4147-A177-3AD203B41FA5}">
                      <a16:colId xmlns:a16="http://schemas.microsoft.com/office/drawing/2014/main" val="1463934059"/>
                    </a:ext>
                  </a:extLst>
                </a:gridCol>
                <a:gridCol w="2330827">
                  <a:extLst>
                    <a:ext uri="{9D8B030D-6E8A-4147-A177-3AD203B41FA5}">
                      <a16:colId xmlns:a16="http://schemas.microsoft.com/office/drawing/2014/main" val="288615333"/>
                    </a:ext>
                  </a:extLst>
                </a:gridCol>
                <a:gridCol w="3700856">
                  <a:extLst>
                    <a:ext uri="{9D8B030D-6E8A-4147-A177-3AD203B41FA5}">
                      <a16:colId xmlns:a16="http://schemas.microsoft.com/office/drawing/2014/main" val="2380039687"/>
                    </a:ext>
                  </a:extLst>
                </a:gridCol>
              </a:tblGrid>
              <a:tr h="212170">
                <a:tc>
                  <a:txBody>
                    <a:bodyPr/>
                    <a:lstStyle/>
                    <a:p>
                      <a:r>
                        <a:rPr lang="fr-FR" sz="1300" b="1" dirty="0">
                          <a:solidFill>
                            <a:schemeClr val="bg1"/>
                          </a:solidFill>
                          <a:latin typeface="Aptos" panose="020B0004020202020204" pitchFamily="34" charset="0"/>
                        </a:rPr>
                        <a:t>Cause</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Écart typique</a:t>
                      </a:r>
                    </a:p>
                  </a:txBody>
                  <a:tcPr marL="64945" marR="64945" marT="32473" marB="32473" anchor="ctr">
                    <a:lnL>
                      <a:noFill/>
                    </a:lnL>
                    <a:lnR>
                      <a:noFill/>
                    </a:lnR>
                    <a:lnT>
                      <a:noFill/>
                    </a:lnT>
                    <a:lnB>
                      <a:noFill/>
                    </a:lnB>
                    <a:solidFill>
                      <a:srgbClr val="F37504"/>
                    </a:solidFill>
                  </a:tcPr>
                </a:tc>
                <a:tc>
                  <a:txBody>
                    <a:bodyPr/>
                    <a:lstStyle/>
                    <a:p>
                      <a:r>
                        <a:rPr lang="fr-FR" sz="1300" b="1" dirty="0">
                          <a:solidFill>
                            <a:schemeClr val="bg1"/>
                          </a:solidFill>
                          <a:latin typeface="Aptos" panose="020B0004020202020204" pitchFamily="34" charset="0"/>
                        </a:rPr>
                        <a:t>Signal d'alerte</a:t>
                      </a:r>
                    </a:p>
                  </a:txBody>
                  <a:tcPr marL="64945" marR="64945" marT="32473" marB="32473" anchor="ctr">
                    <a:lnL>
                      <a:noFill/>
                    </a:lnL>
                    <a:lnR>
                      <a:noFill/>
                    </a:lnR>
                    <a:lnT>
                      <a:noFill/>
                    </a:lnT>
                    <a:lnB>
                      <a:noFill/>
                    </a:lnB>
                    <a:solidFill>
                      <a:srgbClr val="F37504"/>
                    </a:solidFill>
                  </a:tcPr>
                </a:tc>
                <a:extLst>
                  <a:ext uri="{0D108BD9-81ED-4DB2-BD59-A6C34878D82A}">
                    <a16:rowId xmlns:a16="http://schemas.microsoft.com/office/drawing/2014/main" val="2507195102"/>
                  </a:ext>
                </a:extLst>
              </a:tr>
              <a:tr h="366661">
                <a:tc>
                  <a:txBody>
                    <a:bodyPr/>
                    <a:lstStyle/>
                    <a:p>
                      <a:r>
                        <a:rPr lang="fr-FR" sz="1300">
                          <a:latin typeface="Aptos" panose="020B0004020202020204" pitchFamily="34" charset="0"/>
                        </a:rPr>
                        <a:t>Rupture de stock non corrigée dans les données historiques</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Négatif</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CMM sous-estimée, ruptures récurrentes</a:t>
                      </a:r>
                    </a:p>
                  </a:txBody>
                  <a:tcPr marL="64945" marR="64945" marT="32473" marB="32473" anchor="ctr">
                    <a:lnL>
                      <a:noFill/>
                    </a:lnL>
                    <a:lnR>
                      <a:noFill/>
                    </a:lnR>
                    <a:lnT>
                      <a:noFill/>
                    </a:lnT>
                    <a:lnB>
                      <a:noFill/>
                    </a:lnB>
                  </a:tcPr>
                </a:tc>
                <a:extLst>
                  <a:ext uri="{0D108BD9-81ED-4DB2-BD59-A6C34878D82A}">
                    <a16:rowId xmlns:a16="http://schemas.microsoft.com/office/drawing/2014/main" val="97032069"/>
                  </a:ext>
                </a:extLst>
              </a:tr>
              <a:tr h="366661">
                <a:tc>
                  <a:txBody>
                    <a:bodyPr/>
                    <a:lstStyle/>
                    <a:p>
                      <a:r>
                        <a:rPr lang="fr-FR" sz="1300" dirty="0">
                          <a:latin typeface="Aptos" panose="020B0004020202020204" pitchFamily="34" charset="0"/>
                        </a:rPr>
                        <a:t>Saisonnalité sous-estimée pendant le pic</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Positif en haute saison</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MAPE plus élevé en mai-août</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2769265705"/>
                  </a:ext>
                </a:extLst>
              </a:tr>
              <a:tr h="212170">
                <a:tc>
                  <a:txBody>
                    <a:bodyPr/>
                    <a:lstStyle/>
                    <a:p>
                      <a:r>
                        <a:rPr lang="fr-FR" sz="1300">
                          <a:latin typeface="Aptos" panose="020B0004020202020204" pitchFamily="34" charset="0"/>
                        </a:rPr>
                        <a:t>Saisonnalité surestimée hors pic</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Négatif en basse saison</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MAPE plus élevé en déc-fév</a:t>
                      </a:r>
                    </a:p>
                  </a:txBody>
                  <a:tcPr marL="64945" marR="64945" marT="32473" marB="32473" anchor="ctr">
                    <a:lnL>
                      <a:noFill/>
                    </a:lnL>
                    <a:lnR>
                      <a:noFill/>
                    </a:lnR>
                    <a:lnT>
                      <a:noFill/>
                    </a:lnT>
                    <a:lnB>
                      <a:noFill/>
                    </a:lnB>
                  </a:tcPr>
                </a:tc>
                <a:extLst>
                  <a:ext uri="{0D108BD9-81ED-4DB2-BD59-A6C34878D82A}">
                    <a16:rowId xmlns:a16="http://schemas.microsoft.com/office/drawing/2014/main" val="3319128158"/>
                  </a:ext>
                </a:extLst>
              </a:tr>
              <a:tr h="366661">
                <a:tc>
                  <a:txBody>
                    <a:bodyPr/>
                    <a:lstStyle/>
                    <a:p>
                      <a:r>
                        <a:rPr lang="fr-FR" sz="1300" dirty="0">
                          <a:latin typeface="Aptos" panose="020B0004020202020204" pitchFamily="34" charset="0"/>
                        </a:rPr>
                        <a:t>Croissance de la file active/programme non intégrée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a:latin typeface="Aptos" panose="020B0004020202020204" pitchFamily="34" charset="0"/>
                        </a:rPr>
                        <a:t>Positif croissant</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Biais positif qui augmente avec le temps</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2063286994"/>
                  </a:ext>
                </a:extLst>
              </a:tr>
              <a:tr h="366661">
                <a:tc>
                  <a:txBody>
                    <a:bodyPr/>
                    <a:lstStyle/>
                    <a:p>
                      <a:r>
                        <a:rPr lang="fr-FR" sz="1300" dirty="0">
                          <a:latin typeface="Aptos" panose="020B0004020202020204" pitchFamily="34" charset="0"/>
                        </a:rPr>
                        <a:t>Changement de protocole non anticipé</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Variable</a:t>
                      </a:r>
                    </a:p>
                  </a:txBody>
                  <a:tcPr marL="64945" marR="64945" marT="32473" marB="32473" anchor="ctr">
                    <a:lnL>
                      <a:noFill/>
                    </a:lnL>
                    <a:lnR>
                      <a:noFill/>
                    </a:lnR>
                    <a:lnT>
                      <a:noFill/>
                    </a:lnT>
                    <a:lnB>
                      <a:noFill/>
                    </a:lnB>
                  </a:tcPr>
                </a:tc>
                <a:tc>
                  <a:txBody>
                    <a:bodyPr/>
                    <a:lstStyle/>
                    <a:p>
                      <a:r>
                        <a:rPr lang="fr-FR" sz="1300">
                          <a:latin typeface="Aptos" panose="020B0004020202020204" pitchFamily="34" charset="0"/>
                        </a:rPr>
                        <a:t>Rupture de tendance brutale</a:t>
                      </a:r>
                    </a:p>
                  </a:txBody>
                  <a:tcPr marL="64945" marR="64945" marT="32473" marB="32473" anchor="ctr">
                    <a:lnL>
                      <a:noFill/>
                    </a:lnL>
                    <a:lnR>
                      <a:noFill/>
                    </a:lnR>
                    <a:lnT>
                      <a:noFill/>
                    </a:lnT>
                    <a:lnB>
                      <a:noFill/>
                    </a:lnB>
                  </a:tcPr>
                </a:tc>
                <a:extLst>
                  <a:ext uri="{0D108BD9-81ED-4DB2-BD59-A6C34878D82A}">
                    <a16:rowId xmlns:a16="http://schemas.microsoft.com/office/drawing/2014/main" val="1732270140"/>
                  </a:ext>
                </a:extLst>
              </a:tr>
              <a:tr h="366661">
                <a:tc>
                  <a:txBody>
                    <a:bodyPr/>
                    <a:lstStyle/>
                    <a:p>
                      <a:r>
                        <a:rPr lang="fr-FR" sz="1300" dirty="0">
                          <a:latin typeface="Aptos" panose="020B0004020202020204" pitchFamily="34" charset="0"/>
                        </a:rPr>
                        <a:t>Épidémie non intégrée dans le scénario de base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Positif ponctuel</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Pic isolé sur 1-2 mois</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2423695047"/>
                  </a:ext>
                </a:extLst>
              </a:tr>
              <a:tr h="366661">
                <a:tc>
                  <a:txBody>
                    <a:bodyPr/>
                    <a:lstStyle/>
                    <a:p>
                      <a:r>
                        <a:rPr lang="fr-FR" sz="1300">
                          <a:latin typeface="Aptos" panose="020B0004020202020204" pitchFamily="34" charset="0"/>
                        </a:rPr>
                        <a:t>Politique de gratuité sous-estimée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Positif persistant</a:t>
                      </a:r>
                    </a:p>
                  </a:txBody>
                  <a:tcPr marL="64945" marR="64945" marT="32473" marB="32473" anchor="ctr">
                    <a:lnL>
                      <a:noFill/>
                    </a:lnL>
                    <a:lnR>
                      <a:noFill/>
                    </a:lnR>
                    <a:lnT>
                      <a:noFill/>
                    </a:lnT>
                    <a:lnB>
                      <a:noFill/>
                    </a:lnB>
                  </a:tcPr>
                </a:tc>
                <a:tc>
                  <a:txBody>
                    <a:bodyPr/>
                    <a:lstStyle/>
                    <a:p>
                      <a:r>
                        <a:rPr lang="fr-FR" sz="1300" dirty="0" err="1">
                          <a:latin typeface="Aptos" panose="020B0004020202020204" pitchFamily="34" charset="0"/>
                        </a:rPr>
                        <a:t>Surdemande</a:t>
                      </a:r>
                      <a:r>
                        <a:rPr lang="fr-FR" sz="1300" dirty="0">
                          <a:latin typeface="Aptos" panose="020B0004020202020204" pitchFamily="34" charset="0"/>
                        </a:rPr>
                        <a:t> dès le début de la politique</a:t>
                      </a:r>
                    </a:p>
                  </a:txBody>
                  <a:tcPr marL="64945" marR="64945" marT="32473" marB="32473" anchor="ctr">
                    <a:lnL>
                      <a:noFill/>
                    </a:lnL>
                    <a:lnR>
                      <a:noFill/>
                    </a:lnR>
                    <a:lnT>
                      <a:noFill/>
                    </a:lnT>
                    <a:lnB>
                      <a:noFill/>
                    </a:lnB>
                  </a:tcPr>
                </a:tc>
                <a:extLst>
                  <a:ext uri="{0D108BD9-81ED-4DB2-BD59-A6C34878D82A}">
                    <a16:rowId xmlns:a16="http://schemas.microsoft.com/office/drawing/2014/main" val="2435288378"/>
                  </a:ext>
                </a:extLst>
              </a:tr>
              <a:tr h="366661">
                <a:tc>
                  <a:txBody>
                    <a:bodyPr/>
                    <a:lstStyle/>
                    <a:p>
                      <a:r>
                        <a:rPr lang="fr-FR" sz="1300" dirty="0">
                          <a:latin typeface="Aptos" panose="020B0004020202020204" pitchFamily="34" charset="0"/>
                        </a:rPr>
                        <a:t>Données de base incomplètes (taux complétude faible)</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Négatif</a:t>
                      </a:r>
                    </a:p>
                  </a:txBody>
                  <a:tcPr marL="64945" marR="64945" marT="32473" marB="32473" anchor="ctr">
                    <a:lnL>
                      <a:noFill/>
                    </a:lnL>
                    <a:lnR>
                      <a:noFill/>
                    </a:lnR>
                    <a:lnT>
                      <a:noFill/>
                    </a:lnT>
                    <a:lnB>
                      <a:noFill/>
                    </a:lnB>
                    <a:solidFill>
                      <a:schemeClr val="bg2">
                        <a:lumMod val="90000"/>
                      </a:schemeClr>
                    </a:solidFill>
                  </a:tcPr>
                </a:tc>
                <a:tc>
                  <a:txBody>
                    <a:bodyPr/>
                    <a:lstStyle/>
                    <a:p>
                      <a:r>
                        <a:rPr lang="fr-FR" sz="1300" dirty="0">
                          <a:latin typeface="Aptos" panose="020B0004020202020204" pitchFamily="34" charset="0"/>
                        </a:rPr>
                        <a:t>MAPE élevé sur tous les mois</a:t>
                      </a:r>
                    </a:p>
                  </a:txBody>
                  <a:tcPr marL="64945" marR="64945" marT="32473" marB="32473" anchor="ctr">
                    <a:lnL>
                      <a:noFill/>
                    </a:lnL>
                    <a:lnR>
                      <a:noFill/>
                    </a:lnR>
                    <a:lnT>
                      <a:noFill/>
                    </a:lnT>
                    <a:lnB>
                      <a:noFill/>
                    </a:lnB>
                    <a:solidFill>
                      <a:schemeClr val="bg2">
                        <a:lumMod val="90000"/>
                      </a:schemeClr>
                    </a:solidFill>
                  </a:tcPr>
                </a:tc>
                <a:extLst>
                  <a:ext uri="{0D108BD9-81ED-4DB2-BD59-A6C34878D82A}">
                    <a16:rowId xmlns:a16="http://schemas.microsoft.com/office/drawing/2014/main" val="3300306647"/>
                  </a:ext>
                </a:extLst>
              </a:tr>
              <a:tr h="523801">
                <a:tc>
                  <a:txBody>
                    <a:bodyPr/>
                    <a:lstStyle/>
                    <a:p>
                      <a:r>
                        <a:rPr lang="fr-FR" sz="1300">
                          <a:latin typeface="Aptos" panose="020B0004020202020204" pitchFamily="34" charset="0"/>
                        </a:rPr>
                        <a:t>Périmètre de quantification différent du périmètre de consommation</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Systématique</a:t>
                      </a:r>
                    </a:p>
                  </a:txBody>
                  <a:tcPr marL="64945" marR="64945" marT="32473" marB="32473" anchor="ctr">
                    <a:lnL>
                      <a:noFill/>
                    </a:lnL>
                    <a:lnR>
                      <a:noFill/>
                    </a:lnR>
                    <a:lnT>
                      <a:noFill/>
                    </a:lnT>
                    <a:lnB>
                      <a:noFill/>
                    </a:lnB>
                  </a:tcPr>
                </a:tc>
                <a:tc>
                  <a:txBody>
                    <a:bodyPr/>
                    <a:lstStyle/>
                    <a:p>
                      <a:r>
                        <a:rPr lang="fr-FR" sz="1300" dirty="0">
                          <a:latin typeface="Aptos" panose="020B0004020202020204" pitchFamily="34" charset="0"/>
                        </a:rPr>
                        <a:t>Biais constant positif ou négatif</a:t>
                      </a:r>
                    </a:p>
                  </a:txBody>
                  <a:tcPr marL="64945" marR="64945" marT="32473" marB="32473" anchor="ctr">
                    <a:lnL>
                      <a:noFill/>
                    </a:lnL>
                    <a:lnR>
                      <a:noFill/>
                    </a:lnR>
                    <a:lnT>
                      <a:noFill/>
                    </a:lnT>
                    <a:lnB>
                      <a:noFill/>
                    </a:lnB>
                  </a:tcPr>
                </a:tc>
                <a:extLst>
                  <a:ext uri="{0D108BD9-81ED-4DB2-BD59-A6C34878D82A}">
                    <a16:rowId xmlns:a16="http://schemas.microsoft.com/office/drawing/2014/main" val="2149748702"/>
                  </a:ext>
                </a:extLst>
              </a:tr>
            </a:tbl>
          </a:graphicData>
        </a:graphic>
      </p:graphicFrame>
    </p:spTree>
    <p:extLst>
      <p:ext uri="{BB962C8B-B14F-4D97-AF65-F5344CB8AC3E}">
        <p14:creationId xmlns:p14="http://schemas.microsoft.com/office/powerpoint/2010/main" val="227717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Processus formel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Le cycle mensuel d'analyse des écarts</a:t>
            </a:r>
          </a:p>
        </p:txBody>
      </p:sp>
      <p:sp>
        <p:nvSpPr>
          <p:cNvPr id="11" name="ZoneTexte 10">
            <a:extLst>
              <a:ext uri="{FF2B5EF4-FFF2-40B4-BE49-F238E27FC236}">
                <a16:creationId xmlns:a16="http://schemas.microsoft.com/office/drawing/2014/main" id="{781570BA-36B3-4276-B0DD-448F42A06B0D}"/>
              </a:ext>
            </a:extLst>
          </p:cNvPr>
          <p:cNvSpPr txBox="1"/>
          <p:nvPr/>
        </p:nvSpPr>
        <p:spPr>
          <a:xfrm>
            <a:off x="849549" y="2692913"/>
            <a:ext cx="11004094" cy="3139321"/>
          </a:xfrm>
          <a:prstGeom prst="rect">
            <a:avLst/>
          </a:prstGeom>
          <a:noFill/>
        </p:spPr>
        <p:txBody>
          <a:bodyPr wrap="square">
            <a:spAutoFit/>
          </a:bodyPr>
          <a:lstStyle/>
          <a:p>
            <a:r>
              <a:rPr lang="fr-FR" b="1" dirty="0">
                <a:latin typeface="Aptos" panose="020B0004020202020204" pitchFamily="34" charset="0"/>
              </a:rPr>
              <a:t>Fréquence :</a:t>
            </a:r>
            <a:r>
              <a:rPr lang="fr-FR" dirty="0">
                <a:latin typeface="Aptos" panose="020B0004020202020204" pitchFamily="34" charset="0"/>
              </a:rPr>
              <a:t> mensuelle pour les produits critiques, trimestrielle pour les autres.</a:t>
            </a:r>
          </a:p>
          <a:p>
            <a:endParaRPr lang="fr-FR" dirty="0">
              <a:latin typeface="Aptos" panose="020B0004020202020204" pitchFamily="34" charset="0"/>
            </a:endParaRPr>
          </a:p>
          <a:p>
            <a:r>
              <a:rPr lang="fr-FR" b="1" dirty="0">
                <a:latin typeface="Aptos" panose="020B0004020202020204" pitchFamily="34" charset="0"/>
              </a:rPr>
              <a:t>Processus :</a:t>
            </a:r>
            <a:endParaRPr lang="fr-FR" dirty="0">
              <a:latin typeface="Aptos" panose="020B0004020202020204" pitchFamily="34" charset="0"/>
            </a:endParaRPr>
          </a:p>
          <a:p>
            <a:pPr marL="742950" lvl="1" indent="-285750">
              <a:buFont typeface="Arial" panose="020B0604020202020204" pitchFamily="34" charset="0"/>
              <a:buChar char="•"/>
            </a:pPr>
            <a:r>
              <a:rPr lang="fr-FR" b="1" dirty="0">
                <a:latin typeface="Aptos" panose="020B0004020202020204" pitchFamily="34" charset="0"/>
              </a:rPr>
              <a:t>Semaine 1 du mois M+1 :</a:t>
            </a:r>
            <a:r>
              <a:rPr lang="fr-FR" dirty="0">
                <a:latin typeface="Aptos" panose="020B0004020202020204" pitchFamily="34" charset="0"/>
              </a:rPr>
              <a:t> Collecter les données de consommation réelle du mois M dès leur disponibilité.</a:t>
            </a:r>
          </a:p>
          <a:p>
            <a:pPr marL="742950" lvl="1" indent="-285750">
              <a:buFont typeface="Arial" panose="020B0604020202020204" pitchFamily="34" charset="0"/>
              <a:buChar char="•"/>
            </a:pPr>
            <a:r>
              <a:rPr lang="fr-FR" b="1" dirty="0">
                <a:latin typeface="Aptos" panose="020B0004020202020204" pitchFamily="34" charset="0"/>
              </a:rPr>
              <a:t>Semaine 2 du mois M+1 :</a:t>
            </a:r>
            <a:r>
              <a:rPr lang="fr-FR" dirty="0">
                <a:latin typeface="Aptos" panose="020B0004020202020204" pitchFamily="34" charset="0"/>
              </a:rPr>
              <a:t> Calculer les écarts par rapport aux prévisions du mois M. Identifier les écarts dépassant les seuils d'alerte (&gt;10%).</a:t>
            </a:r>
          </a:p>
          <a:p>
            <a:pPr marL="742950" lvl="1" indent="-285750">
              <a:buFont typeface="Arial" panose="020B0604020202020204" pitchFamily="34" charset="0"/>
              <a:buChar char="•"/>
            </a:pPr>
            <a:r>
              <a:rPr lang="fr-FR" b="1" dirty="0">
                <a:latin typeface="Aptos" panose="020B0004020202020204" pitchFamily="34" charset="0"/>
              </a:rPr>
              <a:t>Semaine 3 du mois M+1 :</a:t>
            </a:r>
            <a:r>
              <a:rPr lang="fr-FR" dirty="0">
                <a:latin typeface="Aptos" panose="020B0004020202020204" pitchFamily="34" charset="0"/>
              </a:rPr>
              <a:t> Mener les investigations causales sur les écarts significatifs. Documenter les causes identifiées.</a:t>
            </a:r>
          </a:p>
          <a:p>
            <a:pPr marL="742950" lvl="1" indent="-285750">
              <a:buFont typeface="Arial" panose="020B0604020202020204" pitchFamily="34" charset="0"/>
              <a:buChar char="•"/>
            </a:pPr>
            <a:r>
              <a:rPr lang="fr-FR" b="1" dirty="0">
                <a:latin typeface="Aptos" panose="020B0004020202020204" pitchFamily="34" charset="0"/>
              </a:rPr>
              <a:t>Semaine 4 du mois M+1 :</a:t>
            </a:r>
            <a:r>
              <a:rPr lang="fr-FR" dirty="0">
                <a:latin typeface="Aptos" panose="020B0004020202020204" pitchFamily="34" charset="0"/>
              </a:rPr>
              <a:t> Mettre à jour les prévisions pour les 3 prochains mois en intégrant les enseignements de l'analyse. Ajuster les commandes si nécessaire.</a:t>
            </a:r>
          </a:p>
        </p:txBody>
      </p:sp>
    </p:spTree>
    <p:extLst>
      <p:ext uri="{BB962C8B-B14F-4D97-AF65-F5344CB8AC3E}">
        <p14:creationId xmlns:p14="http://schemas.microsoft.com/office/powerpoint/2010/main" val="187985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Processus formel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La revue trimestrielle des prévisions</a:t>
            </a:r>
          </a:p>
        </p:txBody>
      </p:sp>
      <p:graphicFrame>
        <p:nvGraphicFramePr>
          <p:cNvPr id="2" name="Tableau 1">
            <a:extLst>
              <a:ext uri="{FF2B5EF4-FFF2-40B4-BE49-F238E27FC236}">
                <a16:creationId xmlns:a16="http://schemas.microsoft.com/office/drawing/2014/main" id="{D1A260CD-82FE-4243-AE4F-FD73AA979B40}"/>
              </a:ext>
            </a:extLst>
          </p:cNvPr>
          <p:cNvGraphicFramePr>
            <a:graphicFrameLocks noGrp="1"/>
          </p:cNvGraphicFramePr>
          <p:nvPr>
            <p:extLst>
              <p:ext uri="{D42A27DB-BD31-4B8C-83A1-F6EECF244321}">
                <p14:modId xmlns:p14="http://schemas.microsoft.com/office/powerpoint/2010/main" val="1745242653"/>
              </p:ext>
            </p:extLst>
          </p:nvPr>
        </p:nvGraphicFramePr>
        <p:xfrm>
          <a:off x="1208922" y="2782840"/>
          <a:ext cx="10409830" cy="3107610"/>
        </p:xfrm>
        <a:graphic>
          <a:graphicData uri="http://schemas.openxmlformats.org/drawingml/2006/table">
            <a:tbl>
              <a:tblPr/>
              <a:tblGrid>
                <a:gridCol w="3925140">
                  <a:extLst>
                    <a:ext uri="{9D8B030D-6E8A-4147-A177-3AD203B41FA5}">
                      <a16:colId xmlns:a16="http://schemas.microsoft.com/office/drawing/2014/main" val="3690081866"/>
                    </a:ext>
                  </a:extLst>
                </a:gridCol>
                <a:gridCol w="6484690">
                  <a:extLst>
                    <a:ext uri="{9D8B030D-6E8A-4147-A177-3AD203B41FA5}">
                      <a16:colId xmlns:a16="http://schemas.microsoft.com/office/drawing/2014/main" val="2467072253"/>
                    </a:ext>
                  </a:extLst>
                </a:gridCol>
              </a:tblGrid>
              <a:tr h="231674">
                <a:tc>
                  <a:txBody>
                    <a:bodyPr/>
                    <a:lstStyle/>
                    <a:p>
                      <a:r>
                        <a:rPr lang="fr-FR" sz="1600" b="1" dirty="0">
                          <a:solidFill>
                            <a:schemeClr val="bg1"/>
                          </a:solidFill>
                          <a:latin typeface="Aptos" panose="020B0004020202020204" pitchFamily="34" charset="0"/>
                        </a:rPr>
                        <a:t>Étape</a:t>
                      </a:r>
                    </a:p>
                  </a:txBody>
                  <a:tcPr marL="83680" marR="83680" marT="41840" marB="41840" anchor="ctr">
                    <a:lnL>
                      <a:noFill/>
                    </a:lnL>
                    <a:lnR>
                      <a:noFill/>
                    </a:lnR>
                    <a:lnT>
                      <a:noFill/>
                    </a:lnT>
                    <a:lnB>
                      <a:noFill/>
                    </a:lnB>
                    <a:solidFill>
                      <a:srgbClr val="F37504"/>
                    </a:solidFill>
                  </a:tcPr>
                </a:tc>
                <a:tc>
                  <a:txBody>
                    <a:bodyPr/>
                    <a:lstStyle/>
                    <a:p>
                      <a:r>
                        <a:rPr lang="fr-FR" sz="1600" b="1" dirty="0">
                          <a:solidFill>
                            <a:schemeClr val="bg1"/>
                          </a:solidFill>
                          <a:latin typeface="Aptos" panose="020B0004020202020204" pitchFamily="34" charset="0"/>
                        </a:rPr>
                        <a:t>Contenu</a:t>
                      </a:r>
                    </a:p>
                  </a:txBody>
                  <a:tcPr marL="83680" marR="83680" marT="41840" marB="41840" anchor="ctr">
                    <a:lnL>
                      <a:noFill/>
                    </a:lnL>
                    <a:lnR>
                      <a:noFill/>
                    </a:lnR>
                    <a:lnT>
                      <a:noFill/>
                    </a:lnT>
                    <a:lnB>
                      <a:noFill/>
                    </a:lnB>
                    <a:solidFill>
                      <a:srgbClr val="F37504"/>
                    </a:solidFill>
                  </a:tcPr>
                </a:tc>
                <a:extLst>
                  <a:ext uri="{0D108BD9-81ED-4DB2-BD59-A6C34878D82A}">
                    <a16:rowId xmlns:a16="http://schemas.microsoft.com/office/drawing/2014/main" val="3667082921"/>
                  </a:ext>
                </a:extLst>
              </a:tr>
              <a:tr h="579185">
                <a:tc>
                  <a:txBody>
                    <a:bodyPr/>
                    <a:lstStyle/>
                    <a:p>
                      <a:r>
                        <a:rPr lang="fr-FR" sz="1600">
                          <a:latin typeface="Aptos" panose="020B0004020202020204" pitchFamily="34" charset="0"/>
                        </a:rPr>
                        <a:t>1. Bilan des écarts du trimestre</a:t>
                      </a:r>
                    </a:p>
                  </a:txBody>
                  <a:tcPr marL="83680" marR="83680" marT="41840" marB="41840" anchor="ctr">
                    <a:lnL>
                      <a:noFill/>
                    </a:lnL>
                    <a:lnR>
                      <a:noFill/>
                    </a:lnR>
                    <a:lnT>
                      <a:noFill/>
                    </a:lnT>
                    <a:lnB>
                      <a:noFill/>
                    </a:lnB>
                  </a:tcPr>
                </a:tc>
                <a:tc>
                  <a:txBody>
                    <a:bodyPr/>
                    <a:lstStyle/>
                    <a:p>
                      <a:r>
                        <a:rPr lang="fr-FR" sz="1600" dirty="0">
                          <a:latin typeface="Aptos" panose="020B0004020202020204" pitchFamily="34" charset="0"/>
                        </a:rPr>
                        <a:t>Présentation des statistiques d'erreur (EAM, MAPE, biais) par produit</a:t>
                      </a:r>
                    </a:p>
                  </a:txBody>
                  <a:tcPr marL="83680" marR="83680" marT="41840" marB="41840" anchor="ctr">
                    <a:lnL>
                      <a:noFill/>
                    </a:lnL>
                    <a:lnR>
                      <a:noFill/>
                    </a:lnR>
                    <a:lnT>
                      <a:noFill/>
                    </a:lnT>
                    <a:lnB>
                      <a:noFill/>
                    </a:lnB>
                  </a:tcPr>
                </a:tc>
                <a:extLst>
                  <a:ext uri="{0D108BD9-81ED-4DB2-BD59-A6C34878D82A}">
                    <a16:rowId xmlns:a16="http://schemas.microsoft.com/office/drawing/2014/main" val="58103928"/>
                  </a:ext>
                </a:extLst>
              </a:tr>
              <a:tr h="405430">
                <a:tc>
                  <a:txBody>
                    <a:bodyPr/>
                    <a:lstStyle/>
                    <a:p>
                      <a:r>
                        <a:rPr lang="fr-FR" sz="1600" dirty="0">
                          <a:latin typeface="Aptos" panose="020B0004020202020204" pitchFamily="34" charset="0"/>
                        </a:rPr>
                        <a:t>2. Analyse des causes principales</a:t>
                      </a:r>
                    </a:p>
                  </a:txBody>
                  <a:tcPr marL="83680" marR="83680" marT="41840" marB="41840"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Discussion des 3-5 causes d'écart les plus importantes</a:t>
                      </a:r>
                    </a:p>
                  </a:txBody>
                  <a:tcPr marL="83680" marR="83680" marT="41840" marB="41840" anchor="ctr">
                    <a:lnL>
                      <a:noFill/>
                    </a:lnL>
                    <a:lnR>
                      <a:noFill/>
                    </a:lnR>
                    <a:lnT>
                      <a:noFill/>
                    </a:lnT>
                    <a:lnB>
                      <a:noFill/>
                    </a:lnB>
                    <a:solidFill>
                      <a:schemeClr val="bg2">
                        <a:lumMod val="90000"/>
                      </a:schemeClr>
                    </a:solidFill>
                  </a:tcPr>
                </a:tc>
                <a:extLst>
                  <a:ext uri="{0D108BD9-81ED-4DB2-BD59-A6C34878D82A}">
                    <a16:rowId xmlns:a16="http://schemas.microsoft.com/office/drawing/2014/main" val="1397279694"/>
                  </a:ext>
                </a:extLst>
              </a:tr>
              <a:tr h="579185">
                <a:tc>
                  <a:txBody>
                    <a:bodyPr/>
                    <a:lstStyle/>
                    <a:p>
                      <a:r>
                        <a:rPr lang="fr-FR" sz="1600">
                          <a:latin typeface="Aptos" panose="020B0004020202020204" pitchFamily="34" charset="0"/>
                        </a:rPr>
                        <a:t>3. Révision des hypothèses</a:t>
                      </a:r>
                    </a:p>
                  </a:txBody>
                  <a:tcPr marL="83680" marR="83680" marT="41840" marB="41840" anchor="ctr">
                    <a:lnL>
                      <a:noFill/>
                    </a:lnL>
                    <a:lnR>
                      <a:noFill/>
                    </a:lnR>
                    <a:lnT>
                      <a:noFill/>
                    </a:lnT>
                    <a:lnB>
                      <a:noFill/>
                    </a:lnB>
                  </a:tcPr>
                </a:tc>
                <a:tc>
                  <a:txBody>
                    <a:bodyPr/>
                    <a:lstStyle/>
                    <a:p>
                      <a:r>
                        <a:rPr lang="fr-FR" sz="1600">
                          <a:latin typeface="Aptos" panose="020B0004020202020204" pitchFamily="34" charset="0"/>
                        </a:rPr>
                        <a:t>Mise à jour des facteurs contextuels (épidémies, politiques, protocoles)</a:t>
                      </a:r>
                    </a:p>
                  </a:txBody>
                  <a:tcPr marL="83680" marR="83680" marT="41840" marB="41840" anchor="ctr">
                    <a:lnL>
                      <a:noFill/>
                    </a:lnL>
                    <a:lnR>
                      <a:noFill/>
                    </a:lnR>
                    <a:lnT>
                      <a:noFill/>
                    </a:lnT>
                    <a:lnB>
                      <a:noFill/>
                    </a:lnB>
                  </a:tcPr>
                </a:tc>
                <a:extLst>
                  <a:ext uri="{0D108BD9-81ED-4DB2-BD59-A6C34878D82A}">
                    <a16:rowId xmlns:a16="http://schemas.microsoft.com/office/drawing/2014/main" val="3283038906"/>
                  </a:ext>
                </a:extLst>
              </a:tr>
              <a:tr h="405430">
                <a:tc>
                  <a:txBody>
                    <a:bodyPr/>
                    <a:lstStyle/>
                    <a:p>
                      <a:r>
                        <a:rPr lang="fr-FR" sz="1600" dirty="0">
                          <a:latin typeface="Aptos" panose="020B0004020202020204" pitchFamily="34" charset="0"/>
                        </a:rPr>
                        <a:t>4. Recalibration des indices saisonniers</a:t>
                      </a:r>
                    </a:p>
                  </a:txBody>
                  <a:tcPr marL="83680" marR="83680" marT="41840" marB="41840"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Intégration des nouvelles données dans le calcul des indices</a:t>
                      </a:r>
                    </a:p>
                  </a:txBody>
                  <a:tcPr marL="83680" marR="83680" marT="41840" marB="41840" anchor="ctr">
                    <a:lnL>
                      <a:noFill/>
                    </a:lnL>
                    <a:lnR>
                      <a:noFill/>
                    </a:lnR>
                    <a:lnT>
                      <a:noFill/>
                    </a:lnT>
                    <a:lnB>
                      <a:noFill/>
                    </a:lnB>
                    <a:solidFill>
                      <a:schemeClr val="bg2">
                        <a:lumMod val="90000"/>
                      </a:schemeClr>
                    </a:solidFill>
                  </a:tcPr>
                </a:tc>
                <a:extLst>
                  <a:ext uri="{0D108BD9-81ED-4DB2-BD59-A6C34878D82A}">
                    <a16:rowId xmlns:a16="http://schemas.microsoft.com/office/drawing/2014/main" val="961248383"/>
                  </a:ext>
                </a:extLst>
              </a:tr>
              <a:tr h="405430">
                <a:tc>
                  <a:txBody>
                    <a:bodyPr/>
                    <a:lstStyle/>
                    <a:p>
                      <a:r>
                        <a:rPr lang="fr-FR" sz="1600">
                          <a:latin typeface="Aptos" panose="020B0004020202020204" pitchFamily="34" charset="0"/>
                        </a:rPr>
                        <a:t>5. Mise à jour des prévisions à 12 mois</a:t>
                      </a:r>
                    </a:p>
                  </a:txBody>
                  <a:tcPr marL="83680" marR="83680" marT="41840" marB="41840" anchor="ctr">
                    <a:lnL>
                      <a:noFill/>
                    </a:lnL>
                    <a:lnR>
                      <a:noFill/>
                    </a:lnR>
                    <a:lnT>
                      <a:noFill/>
                    </a:lnT>
                    <a:lnB>
                      <a:noFill/>
                    </a:lnB>
                  </a:tcPr>
                </a:tc>
                <a:tc>
                  <a:txBody>
                    <a:bodyPr/>
                    <a:lstStyle/>
                    <a:p>
                      <a:r>
                        <a:rPr lang="fr-FR" sz="1600">
                          <a:latin typeface="Aptos" panose="020B0004020202020204" pitchFamily="34" charset="0"/>
                        </a:rPr>
                        <a:t>Nouvelles prévisions mensuelles révisées</a:t>
                      </a:r>
                    </a:p>
                  </a:txBody>
                  <a:tcPr marL="83680" marR="83680" marT="41840" marB="41840" anchor="ctr">
                    <a:lnL>
                      <a:noFill/>
                    </a:lnL>
                    <a:lnR>
                      <a:noFill/>
                    </a:lnR>
                    <a:lnT>
                      <a:noFill/>
                    </a:lnT>
                    <a:lnB>
                      <a:noFill/>
                    </a:lnB>
                  </a:tcPr>
                </a:tc>
                <a:extLst>
                  <a:ext uri="{0D108BD9-81ED-4DB2-BD59-A6C34878D82A}">
                    <a16:rowId xmlns:a16="http://schemas.microsoft.com/office/drawing/2014/main" val="105056376"/>
                  </a:ext>
                </a:extLst>
              </a:tr>
              <a:tr h="405430">
                <a:tc>
                  <a:txBody>
                    <a:bodyPr/>
                    <a:lstStyle/>
                    <a:p>
                      <a:r>
                        <a:rPr lang="fr-FR" sz="1600" dirty="0">
                          <a:latin typeface="Aptos" panose="020B0004020202020204" pitchFamily="34" charset="0"/>
                        </a:rPr>
                        <a:t>6. Plan d'action</a:t>
                      </a:r>
                    </a:p>
                  </a:txBody>
                  <a:tcPr marL="83680" marR="83680" marT="41840" marB="41840" anchor="ctr">
                    <a:lnL>
                      <a:noFill/>
                    </a:lnL>
                    <a:lnR>
                      <a:noFill/>
                    </a:lnR>
                    <a:lnT>
                      <a:noFill/>
                    </a:lnT>
                    <a:lnB>
                      <a:noFill/>
                    </a:lnB>
                    <a:solidFill>
                      <a:schemeClr val="bg2">
                        <a:lumMod val="90000"/>
                      </a:schemeClr>
                    </a:solidFill>
                  </a:tcPr>
                </a:tc>
                <a:tc>
                  <a:txBody>
                    <a:bodyPr/>
                    <a:lstStyle/>
                    <a:p>
                      <a:r>
                        <a:rPr lang="fr-FR" sz="1600" dirty="0">
                          <a:latin typeface="Aptos" panose="020B0004020202020204" pitchFamily="34" charset="0"/>
                        </a:rPr>
                        <a:t>Actions correctives avec responsables et délais</a:t>
                      </a:r>
                    </a:p>
                  </a:txBody>
                  <a:tcPr marL="83680" marR="83680" marT="41840" marB="41840" anchor="ctr">
                    <a:lnL>
                      <a:noFill/>
                    </a:lnL>
                    <a:lnR>
                      <a:noFill/>
                    </a:lnR>
                    <a:lnT>
                      <a:noFill/>
                    </a:lnT>
                    <a:lnB>
                      <a:noFill/>
                    </a:lnB>
                    <a:solidFill>
                      <a:schemeClr val="bg2">
                        <a:lumMod val="90000"/>
                      </a:schemeClr>
                    </a:solidFill>
                  </a:tcPr>
                </a:tc>
                <a:extLst>
                  <a:ext uri="{0D108BD9-81ED-4DB2-BD59-A6C34878D82A}">
                    <a16:rowId xmlns:a16="http://schemas.microsoft.com/office/drawing/2014/main" val="1754855990"/>
                  </a:ext>
                </a:extLst>
              </a:tr>
            </a:tbl>
          </a:graphicData>
        </a:graphic>
      </p:graphicFrame>
    </p:spTree>
    <p:extLst>
      <p:ext uri="{BB962C8B-B14F-4D97-AF65-F5344CB8AC3E}">
        <p14:creationId xmlns:p14="http://schemas.microsoft.com/office/powerpoint/2010/main" val="216203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Processus formel d'analyse des écarts</a:t>
            </a:r>
            <a:endParaRPr lang="en-US" sz="2400" b="1" dirty="0">
              <a:solidFill>
                <a:schemeClr val="bg1"/>
              </a:solidFill>
              <a:latin typeface="Aptos" panose="020B0004020202020204" pitchFamily="34" charset="0"/>
            </a:endParaRPr>
          </a:p>
        </p:txBody>
      </p:sp>
      <p:sp>
        <p:nvSpPr>
          <p:cNvPr id="10" name="ZoneTexte 9">
            <a:extLst>
              <a:ext uri="{FF2B5EF4-FFF2-40B4-BE49-F238E27FC236}">
                <a16:creationId xmlns:a16="http://schemas.microsoft.com/office/drawing/2014/main" id="{30D91C3E-32D7-4876-984A-2B6E08525767}"/>
              </a:ext>
            </a:extLst>
          </p:cNvPr>
          <p:cNvSpPr txBox="1"/>
          <p:nvPr/>
        </p:nvSpPr>
        <p:spPr>
          <a:xfrm>
            <a:off x="751074" y="2192290"/>
            <a:ext cx="10591377" cy="46578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339933"/>
                </a:solidFill>
              </a:rPr>
              <a:t>La revue annuelle du modèle de prévision</a:t>
            </a:r>
          </a:p>
        </p:txBody>
      </p:sp>
      <p:sp>
        <p:nvSpPr>
          <p:cNvPr id="11" name="ZoneTexte 10">
            <a:extLst>
              <a:ext uri="{FF2B5EF4-FFF2-40B4-BE49-F238E27FC236}">
                <a16:creationId xmlns:a16="http://schemas.microsoft.com/office/drawing/2014/main" id="{781570BA-36B3-4276-B0DD-448F42A06B0D}"/>
              </a:ext>
            </a:extLst>
          </p:cNvPr>
          <p:cNvSpPr txBox="1"/>
          <p:nvPr/>
        </p:nvSpPr>
        <p:spPr>
          <a:xfrm>
            <a:off x="849549" y="2692913"/>
            <a:ext cx="11004094" cy="2862322"/>
          </a:xfrm>
          <a:prstGeom prst="rect">
            <a:avLst/>
          </a:prstGeom>
          <a:noFill/>
        </p:spPr>
        <p:txBody>
          <a:bodyPr wrap="square">
            <a:spAutoFit/>
          </a:bodyPr>
          <a:lstStyle/>
          <a:p>
            <a:r>
              <a:rPr lang="fr-FR" sz="2000" dirty="0">
                <a:latin typeface="Aptos" panose="020B0004020202020204" pitchFamily="34" charset="0"/>
              </a:rPr>
              <a:t>Une fois par an, le modèle de prévision lui-même est évalué et potentiellement restructuré.</a:t>
            </a:r>
          </a:p>
          <a:p>
            <a:endParaRPr lang="fr-FR" sz="2000" dirty="0">
              <a:latin typeface="Aptos" panose="020B0004020202020204" pitchFamily="34" charset="0"/>
            </a:endParaRPr>
          </a:p>
          <a:p>
            <a:r>
              <a:rPr lang="fr-FR" sz="2000" b="1" dirty="0">
                <a:latin typeface="Aptos" panose="020B0004020202020204" pitchFamily="34" charset="0"/>
              </a:rPr>
              <a:t>Questions clés de la revue annuelle :</a:t>
            </a:r>
          </a:p>
          <a:p>
            <a:pPr marL="742950" lvl="1" indent="-285750">
              <a:buFont typeface="Arial" panose="020B0604020202020204" pitchFamily="34" charset="0"/>
              <a:buChar char="•"/>
            </a:pPr>
            <a:r>
              <a:rPr lang="fr-FR" sz="2000" dirty="0">
                <a:latin typeface="Aptos" panose="020B0004020202020204" pitchFamily="34" charset="0"/>
              </a:rPr>
              <a:t>Le MAPE annuel est-il en amélioration, stable ou en dégradation par rapport à l'année précédente ?</a:t>
            </a:r>
          </a:p>
          <a:p>
            <a:pPr marL="742950" lvl="1" indent="-285750">
              <a:buFont typeface="Arial" panose="020B0604020202020204" pitchFamily="34" charset="0"/>
              <a:buChar char="•"/>
            </a:pPr>
            <a:r>
              <a:rPr lang="fr-FR" sz="2000" dirty="0">
                <a:latin typeface="Aptos" panose="020B0004020202020204" pitchFamily="34" charset="0"/>
              </a:rPr>
              <a:t>Les biais systématiques ont-ils été corrigés ?</a:t>
            </a:r>
          </a:p>
          <a:p>
            <a:pPr marL="742950" lvl="1" indent="-285750">
              <a:buFont typeface="Arial" panose="020B0604020202020204" pitchFamily="34" charset="0"/>
              <a:buChar char="•"/>
            </a:pPr>
            <a:r>
              <a:rPr lang="fr-FR" sz="2000" dirty="0">
                <a:latin typeface="Aptos" panose="020B0004020202020204" pitchFamily="34" charset="0"/>
              </a:rPr>
              <a:t>La méthode de prévision utilisée est-elle toujours la plus adaptée au contexte actuel ?</a:t>
            </a:r>
          </a:p>
          <a:p>
            <a:pPr marL="742950" lvl="1" indent="-285750">
              <a:buFont typeface="Arial" panose="020B0604020202020204" pitchFamily="34" charset="0"/>
              <a:buChar char="•"/>
            </a:pPr>
            <a:r>
              <a:rPr lang="fr-FR" sz="2000" dirty="0">
                <a:latin typeface="Aptos" panose="020B0004020202020204" pitchFamily="34" charset="0"/>
              </a:rPr>
              <a:t>Les données sources sont-elles de meilleure qualité ?</a:t>
            </a:r>
          </a:p>
          <a:p>
            <a:pPr marL="742950" lvl="1" indent="-285750">
              <a:buFont typeface="Arial" panose="020B0604020202020204" pitchFamily="34" charset="0"/>
              <a:buChar char="•"/>
            </a:pPr>
            <a:r>
              <a:rPr lang="fr-FR" sz="2000" dirty="0">
                <a:latin typeface="Aptos" panose="020B0004020202020204" pitchFamily="34" charset="0"/>
              </a:rPr>
              <a:t>Y a-t-il de nouveaux facteurs contextuels à intégrer dans le modèle ?</a:t>
            </a:r>
          </a:p>
        </p:txBody>
      </p:sp>
    </p:spTree>
    <p:extLst>
      <p:ext uri="{BB962C8B-B14F-4D97-AF65-F5344CB8AC3E}">
        <p14:creationId xmlns:p14="http://schemas.microsoft.com/office/powerpoint/2010/main" val="208609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Ajustement des prévisions basé sur l'analyse des écarts</a:t>
            </a:r>
            <a:endParaRPr lang="en-US" sz="2400" b="1" dirty="0">
              <a:solidFill>
                <a:schemeClr val="bg1"/>
              </a:solidFill>
              <a:latin typeface="Aptos" panose="020B0004020202020204" pitchFamily="34" charset="0"/>
            </a:endParaRPr>
          </a:p>
        </p:txBody>
      </p:sp>
      <p:sp>
        <p:nvSpPr>
          <p:cNvPr id="11" name="ZoneTexte 10">
            <a:extLst>
              <a:ext uri="{FF2B5EF4-FFF2-40B4-BE49-F238E27FC236}">
                <a16:creationId xmlns:a16="http://schemas.microsoft.com/office/drawing/2014/main" id="{781570BA-36B3-4276-B0DD-448F42A06B0D}"/>
              </a:ext>
            </a:extLst>
          </p:cNvPr>
          <p:cNvSpPr txBox="1"/>
          <p:nvPr/>
        </p:nvSpPr>
        <p:spPr>
          <a:xfrm>
            <a:off x="849549" y="2220719"/>
            <a:ext cx="11004094" cy="1015663"/>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Recalibration des indices saisonniers</a:t>
            </a:r>
          </a:p>
          <a:p>
            <a:pPr marL="342900" indent="-342900">
              <a:buFont typeface="Arial" panose="020B0604020202020204" pitchFamily="34" charset="0"/>
              <a:buChar char="•"/>
            </a:pPr>
            <a:r>
              <a:rPr lang="fr-FR" sz="2000" dirty="0">
                <a:latin typeface="Aptos" panose="020B0004020202020204" pitchFamily="34" charset="0"/>
              </a:rPr>
              <a:t>Révision du biais systématique</a:t>
            </a:r>
          </a:p>
          <a:p>
            <a:pPr marL="342900" indent="-342900">
              <a:buFont typeface="Arial" panose="020B0604020202020204" pitchFamily="34" charset="0"/>
              <a:buChar char="•"/>
            </a:pPr>
            <a:r>
              <a:rPr lang="fr-FR" sz="2000" dirty="0">
                <a:latin typeface="Aptos" panose="020B0004020202020204" pitchFamily="34" charset="0"/>
              </a:rPr>
              <a:t>Révision des hypothèses clés</a:t>
            </a:r>
          </a:p>
        </p:txBody>
      </p:sp>
      <p:sp>
        <p:nvSpPr>
          <p:cNvPr id="13" name="Rectangle : coins arrondis 12">
            <a:extLst>
              <a:ext uri="{FF2B5EF4-FFF2-40B4-BE49-F238E27FC236}">
                <a16:creationId xmlns:a16="http://schemas.microsoft.com/office/drawing/2014/main" id="{FDDE6F47-A7F8-4EDC-A9AB-E0899D029FAE}"/>
              </a:ext>
            </a:extLst>
          </p:cNvPr>
          <p:cNvSpPr/>
          <p:nvPr/>
        </p:nvSpPr>
        <p:spPr>
          <a:xfrm>
            <a:off x="586355" y="3928391"/>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de bord de suivi de la qualité des prévisions</a:t>
            </a:r>
            <a:endParaRPr lang="en-US" sz="2400" b="1" dirty="0">
              <a:solidFill>
                <a:schemeClr val="bg1"/>
              </a:solidFill>
              <a:latin typeface="Aptos" panose="020B0004020202020204" pitchFamily="34" charset="0"/>
            </a:endParaRPr>
          </a:p>
        </p:txBody>
      </p:sp>
      <p:sp>
        <p:nvSpPr>
          <p:cNvPr id="15" name="ZoneTexte 14">
            <a:extLst>
              <a:ext uri="{FF2B5EF4-FFF2-40B4-BE49-F238E27FC236}">
                <a16:creationId xmlns:a16="http://schemas.microsoft.com/office/drawing/2014/main" id="{5B0C3CF9-C828-4281-85EC-BC2E0C54DE8B}"/>
              </a:ext>
            </a:extLst>
          </p:cNvPr>
          <p:cNvSpPr txBox="1"/>
          <p:nvPr/>
        </p:nvSpPr>
        <p:spPr>
          <a:xfrm>
            <a:off x="849549" y="4550283"/>
            <a:ext cx="11004094" cy="70788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 tableau de bord dédié au suivi de la qualité des prévisions permet au gestionnaire de monitorer l'amélioration de ses prévisions dans le temps.</a:t>
            </a:r>
          </a:p>
        </p:txBody>
      </p:sp>
    </p:spTree>
    <p:extLst>
      <p:ext uri="{BB962C8B-B14F-4D97-AF65-F5344CB8AC3E}">
        <p14:creationId xmlns:p14="http://schemas.microsoft.com/office/powerpoint/2010/main" val="162441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Rapport d'analyse des écarts</a:t>
            </a:r>
            <a:endParaRPr lang="en-US" sz="2400" b="1" dirty="0">
              <a:solidFill>
                <a:schemeClr val="bg1"/>
              </a:solidFill>
              <a:latin typeface="Aptos" panose="020B0004020202020204" pitchFamily="34" charset="0"/>
            </a:endParaRPr>
          </a:p>
        </p:txBody>
      </p:sp>
      <p:sp>
        <p:nvSpPr>
          <p:cNvPr id="11" name="ZoneTexte 10">
            <a:extLst>
              <a:ext uri="{FF2B5EF4-FFF2-40B4-BE49-F238E27FC236}">
                <a16:creationId xmlns:a16="http://schemas.microsoft.com/office/drawing/2014/main" id="{781570BA-36B3-4276-B0DD-448F42A06B0D}"/>
              </a:ext>
            </a:extLst>
          </p:cNvPr>
          <p:cNvSpPr txBox="1"/>
          <p:nvPr/>
        </p:nvSpPr>
        <p:spPr>
          <a:xfrm>
            <a:off x="849549" y="2220719"/>
            <a:ext cx="11004094"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Résumé exécutif</a:t>
            </a:r>
          </a:p>
          <a:p>
            <a:pPr marL="342900" indent="-342900">
              <a:buFont typeface="Arial" panose="020B0604020202020204" pitchFamily="34" charset="0"/>
              <a:buChar char="•"/>
            </a:pPr>
            <a:r>
              <a:rPr lang="fr-FR" sz="2000" dirty="0">
                <a:latin typeface="Aptos" panose="020B0004020202020204" pitchFamily="34" charset="0"/>
              </a:rPr>
              <a:t>Détail des écarts par mois</a:t>
            </a:r>
          </a:p>
          <a:p>
            <a:pPr marL="342900" indent="-342900">
              <a:buFont typeface="Arial" panose="020B0604020202020204" pitchFamily="34" charset="0"/>
              <a:buChar char="•"/>
            </a:pPr>
            <a:r>
              <a:rPr lang="fr-FR" sz="2000" dirty="0">
                <a:latin typeface="Aptos" panose="020B0004020202020204" pitchFamily="34" charset="0"/>
              </a:rPr>
              <a:t>Analyse des causes</a:t>
            </a:r>
          </a:p>
          <a:p>
            <a:pPr marL="342900" indent="-342900">
              <a:buFont typeface="Arial" panose="020B0604020202020204" pitchFamily="34" charset="0"/>
              <a:buChar char="•"/>
            </a:pPr>
            <a:r>
              <a:rPr lang="fr-FR" sz="2000" dirty="0">
                <a:latin typeface="Aptos" panose="020B0004020202020204" pitchFamily="34" charset="0"/>
              </a:rPr>
              <a:t>Actions correctives mises en place</a:t>
            </a:r>
          </a:p>
          <a:p>
            <a:pPr marL="342900" indent="-342900">
              <a:buFont typeface="Arial" panose="020B0604020202020204" pitchFamily="34" charset="0"/>
              <a:buChar char="•"/>
            </a:pPr>
            <a:r>
              <a:rPr lang="fr-FR" sz="2000" dirty="0">
                <a:latin typeface="Aptos" panose="020B0004020202020204" pitchFamily="34" charset="0"/>
              </a:rPr>
              <a:t>Prévisions révisées </a:t>
            </a:r>
          </a:p>
          <a:p>
            <a:pPr marL="342900" indent="-342900">
              <a:buFont typeface="Arial" panose="020B0604020202020204" pitchFamily="34" charset="0"/>
              <a:buChar char="•"/>
            </a:pPr>
            <a:r>
              <a:rPr lang="fr-FR" sz="2000" dirty="0">
                <a:latin typeface="Aptos" panose="020B0004020202020204" pitchFamily="34" charset="0"/>
              </a:rPr>
              <a:t>Impact financier des écarts</a:t>
            </a:r>
          </a:p>
          <a:p>
            <a:pPr marL="342900" indent="-342900">
              <a:buFont typeface="Arial" panose="020B0604020202020204" pitchFamily="34" charset="0"/>
              <a:buChar char="•"/>
            </a:pPr>
            <a:r>
              <a:rPr lang="fr-FR" sz="2000" dirty="0">
                <a:latin typeface="Aptos" panose="020B0004020202020204" pitchFamily="34" charset="0"/>
              </a:rPr>
              <a:t>Recommandations</a:t>
            </a:r>
          </a:p>
        </p:txBody>
      </p:sp>
    </p:spTree>
    <p:extLst>
      <p:ext uri="{BB962C8B-B14F-4D97-AF65-F5344CB8AC3E}">
        <p14:creationId xmlns:p14="http://schemas.microsoft.com/office/powerpoint/2010/main" val="244102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36019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Analyse des écarts entre prévisions et consommations réelles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31021D8E-61D7-407D-A06C-D7142D12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D9FC044F-04C7-46B2-9204-AA1176512CA7}"/>
              </a:ext>
            </a:extLst>
          </p:cNvPr>
          <p:cNvSpPr/>
          <p:nvPr/>
        </p:nvSpPr>
        <p:spPr>
          <a:xfrm>
            <a:off x="586355" y="1598827"/>
            <a:ext cx="11267288" cy="421785"/>
          </a:xfrm>
          <a:prstGeom prst="roundRect">
            <a:avLst>
              <a:gd name="adj" fmla="val 50000"/>
            </a:avLst>
          </a:prstGeom>
          <a:solidFill>
            <a:srgbClr val="01469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Synthèse</a:t>
            </a:r>
            <a:endParaRPr lang="en-US" sz="2400" b="1" dirty="0">
              <a:solidFill>
                <a:schemeClr val="bg1"/>
              </a:solidFill>
              <a:latin typeface="Aptos" panose="020B0004020202020204" pitchFamily="34" charset="0"/>
            </a:endParaRPr>
          </a:p>
        </p:txBody>
      </p:sp>
      <p:graphicFrame>
        <p:nvGraphicFramePr>
          <p:cNvPr id="2" name="Tableau 1">
            <a:extLst>
              <a:ext uri="{FF2B5EF4-FFF2-40B4-BE49-F238E27FC236}">
                <a16:creationId xmlns:a16="http://schemas.microsoft.com/office/drawing/2014/main" id="{8B9C8BE1-E250-429C-AEC4-80E0574BB9C9}"/>
              </a:ext>
            </a:extLst>
          </p:cNvPr>
          <p:cNvGraphicFramePr>
            <a:graphicFrameLocks noGrp="1"/>
          </p:cNvGraphicFramePr>
          <p:nvPr>
            <p:extLst>
              <p:ext uri="{D42A27DB-BD31-4B8C-83A1-F6EECF244321}">
                <p14:modId xmlns:p14="http://schemas.microsoft.com/office/powerpoint/2010/main" val="137080082"/>
              </p:ext>
            </p:extLst>
          </p:nvPr>
        </p:nvGraphicFramePr>
        <p:xfrm>
          <a:off x="796953" y="2197985"/>
          <a:ext cx="11056690" cy="4130816"/>
        </p:xfrm>
        <a:graphic>
          <a:graphicData uri="http://schemas.openxmlformats.org/drawingml/2006/table">
            <a:tbl>
              <a:tblPr/>
              <a:tblGrid>
                <a:gridCol w="4068662">
                  <a:extLst>
                    <a:ext uri="{9D8B030D-6E8A-4147-A177-3AD203B41FA5}">
                      <a16:colId xmlns:a16="http://schemas.microsoft.com/office/drawing/2014/main" val="1446184948"/>
                    </a:ext>
                  </a:extLst>
                </a:gridCol>
                <a:gridCol w="6988028">
                  <a:extLst>
                    <a:ext uri="{9D8B030D-6E8A-4147-A177-3AD203B41FA5}">
                      <a16:colId xmlns:a16="http://schemas.microsoft.com/office/drawing/2014/main" val="865251310"/>
                    </a:ext>
                  </a:extLst>
                </a:gridCol>
              </a:tblGrid>
              <a:tr h="227009">
                <a:tc>
                  <a:txBody>
                    <a:bodyPr/>
                    <a:lstStyle/>
                    <a:p>
                      <a:r>
                        <a:rPr lang="fr-FR" sz="1200" b="1" dirty="0">
                          <a:solidFill>
                            <a:schemeClr val="bg1"/>
                          </a:solidFill>
                          <a:latin typeface="Aptos" panose="020B0004020202020204" pitchFamily="34" charset="0"/>
                        </a:rPr>
                        <a:t>Dimension</a:t>
                      </a:r>
                    </a:p>
                  </a:txBody>
                  <a:tcPr marL="60435" marR="60435" marT="30218" marB="30218" anchor="ctr">
                    <a:lnL>
                      <a:noFill/>
                    </a:lnL>
                    <a:lnR>
                      <a:noFill/>
                    </a:lnR>
                    <a:lnT>
                      <a:noFill/>
                    </a:lnT>
                    <a:lnB>
                      <a:noFill/>
                    </a:lnB>
                    <a:solidFill>
                      <a:srgbClr val="F37504"/>
                    </a:solidFill>
                  </a:tcPr>
                </a:tc>
                <a:tc>
                  <a:txBody>
                    <a:bodyPr/>
                    <a:lstStyle/>
                    <a:p>
                      <a:r>
                        <a:rPr lang="fr-FR" sz="1200" b="1" dirty="0">
                          <a:solidFill>
                            <a:schemeClr val="bg1"/>
                          </a:solidFill>
                          <a:latin typeface="Aptos" panose="020B0004020202020204" pitchFamily="34" charset="0"/>
                        </a:rPr>
                        <a:t>Points clés</a:t>
                      </a:r>
                    </a:p>
                  </a:txBody>
                  <a:tcPr marL="60435" marR="60435" marT="30218" marB="30218" anchor="ctr">
                    <a:lnL>
                      <a:noFill/>
                    </a:lnL>
                    <a:lnR>
                      <a:noFill/>
                    </a:lnR>
                    <a:lnT>
                      <a:noFill/>
                    </a:lnT>
                    <a:lnB>
                      <a:noFill/>
                    </a:lnB>
                    <a:solidFill>
                      <a:srgbClr val="F37504"/>
                    </a:solidFill>
                  </a:tcPr>
                </a:tc>
                <a:extLst>
                  <a:ext uri="{0D108BD9-81ED-4DB2-BD59-A6C34878D82A}">
                    <a16:rowId xmlns:a16="http://schemas.microsoft.com/office/drawing/2014/main" val="1867884461"/>
                  </a:ext>
                </a:extLst>
              </a:tr>
              <a:tr h="394694">
                <a:tc>
                  <a:txBody>
                    <a:bodyPr/>
                    <a:lstStyle/>
                    <a:p>
                      <a:r>
                        <a:rPr lang="fr-FR" sz="1200">
                          <a:latin typeface="Aptos" panose="020B0004020202020204" pitchFamily="34" charset="0"/>
                        </a:rPr>
                        <a:t>Définition des écarts</a:t>
                      </a:r>
                    </a:p>
                  </a:txBody>
                  <a:tcPr marL="60435" marR="60435" marT="30218" marB="30218" anchor="ctr">
                    <a:lnL>
                      <a:noFill/>
                    </a:lnL>
                    <a:lnR>
                      <a:noFill/>
                    </a:lnR>
                    <a:lnT>
                      <a:noFill/>
                    </a:lnT>
                    <a:lnB>
                      <a:noFill/>
                    </a:lnB>
                  </a:tcPr>
                </a:tc>
                <a:tc>
                  <a:txBody>
                    <a:bodyPr/>
                    <a:lstStyle/>
                    <a:p>
                      <a:r>
                        <a:rPr lang="fr-FR" sz="1200">
                          <a:latin typeface="Aptos" panose="020B0004020202020204" pitchFamily="34" charset="0"/>
                        </a:rPr>
                        <a:t>Absolu (Réel − Prévu) et relatif (%) ; positif = sous-estimation, négatif = surestimation</a:t>
                      </a:r>
                    </a:p>
                  </a:txBody>
                  <a:tcPr marL="60435" marR="60435" marT="30218" marB="30218" anchor="ctr">
                    <a:lnL>
                      <a:noFill/>
                    </a:lnL>
                    <a:lnR>
                      <a:noFill/>
                    </a:lnR>
                    <a:lnT>
                      <a:noFill/>
                    </a:lnT>
                    <a:lnB>
                      <a:noFill/>
                    </a:lnB>
                  </a:tcPr>
                </a:tc>
                <a:extLst>
                  <a:ext uri="{0D108BD9-81ED-4DB2-BD59-A6C34878D82A}">
                    <a16:rowId xmlns:a16="http://schemas.microsoft.com/office/drawing/2014/main" val="2995063279"/>
                  </a:ext>
                </a:extLst>
              </a:tr>
              <a:tr h="394694">
                <a:tc>
                  <a:txBody>
                    <a:bodyPr/>
                    <a:lstStyle/>
                    <a:p>
                      <a:r>
                        <a:rPr lang="fr-FR" sz="1200" dirty="0">
                          <a:latin typeface="Aptos" panose="020B0004020202020204" pitchFamily="34" charset="0"/>
                        </a:rPr>
                        <a:t>Classification par amplitude</a:t>
                      </a:r>
                    </a:p>
                  </a:txBody>
                  <a:tcPr marL="60435" marR="60435" marT="30218" marB="30218"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Négligeable &lt; 5%, Mineur 5-10%, Modéré 10-20%, Significatif 20-30%, Majeur &gt; 30%</a:t>
                      </a:r>
                    </a:p>
                  </a:txBody>
                  <a:tcPr marL="60435" marR="60435" marT="30218" marB="30218" anchor="ctr">
                    <a:lnL>
                      <a:noFill/>
                    </a:lnL>
                    <a:lnR>
                      <a:noFill/>
                    </a:lnR>
                    <a:lnT>
                      <a:noFill/>
                    </a:lnT>
                    <a:lnB>
                      <a:noFill/>
                    </a:lnB>
                    <a:solidFill>
                      <a:schemeClr val="bg2">
                        <a:lumMod val="90000"/>
                      </a:schemeClr>
                    </a:solidFill>
                  </a:tcPr>
                </a:tc>
                <a:extLst>
                  <a:ext uri="{0D108BD9-81ED-4DB2-BD59-A6C34878D82A}">
                    <a16:rowId xmlns:a16="http://schemas.microsoft.com/office/drawing/2014/main" val="2345786653"/>
                  </a:ext>
                </a:extLst>
              </a:tr>
              <a:tr h="394694">
                <a:tc>
                  <a:txBody>
                    <a:bodyPr/>
                    <a:lstStyle/>
                    <a:p>
                      <a:r>
                        <a:rPr lang="fr-FR" sz="1200">
                          <a:latin typeface="Aptos" panose="020B0004020202020204" pitchFamily="34" charset="0"/>
                        </a:rPr>
                        <a:t>Classification par nature</a:t>
                      </a:r>
                    </a:p>
                  </a:txBody>
                  <a:tcPr marL="60435" marR="60435" marT="30218" marB="30218" anchor="ctr">
                    <a:lnL>
                      <a:noFill/>
                    </a:lnL>
                    <a:lnR>
                      <a:noFill/>
                    </a:lnR>
                    <a:lnT>
                      <a:noFill/>
                    </a:lnT>
                    <a:lnB>
                      <a:noFill/>
                    </a:lnB>
                  </a:tcPr>
                </a:tc>
                <a:tc>
                  <a:txBody>
                    <a:bodyPr/>
                    <a:lstStyle/>
                    <a:p>
                      <a:r>
                        <a:rPr lang="fr-FR" sz="1200">
                          <a:latin typeface="Aptos" panose="020B0004020202020204" pitchFamily="34" charset="0"/>
                        </a:rPr>
                        <a:t>Systématique (même direction persistante), aléatoire (alternatif), ponctuel (isolé)</a:t>
                      </a:r>
                    </a:p>
                  </a:txBody>
                  <a:tcPr marL="60435" marR="60435" marT="30218" marB="30218" anchor="ctr">
                    <a:lnL>
                      <a:noFill/>
                    </a:lnL>
                    <a:lnR>
                      <a:noFill/>
                    </a:lnR>
                    <a:lnT>
                      <a:noFill/>
                    </a:lnT>
                    <a:lnB>
                      <a:noFill/>
                    </a:lnB>
                  </a:tcPr>
                </a:tc>
                <a:extLst>
                  <a:ext uri="{0D108BD9-81ED-4DB2-BD59-A6C34878D82A}">
                    <a16:rowId xmlns:a16="http://schemas.microsoft.com/office/drawing/2014/main" val="2953334067"/>
                  </a:ext>
                </a:extLst>
              </a:tr>
              <a:tr h="394694">
                <a:tc>
                  <a:txBody>
                    <a:bodyPr/>
                    <a:lstStyle/>
                    <a:p>
                      <a:r>
                        <a:rPr lang="fr-FR" sz="1200" dirty="0">
                          <a:latin typeface="Aptos" panose="020B0004020202020204" pitchFamily="34" charset="0"/>
                        </a:rPr>
                        <a:t>Indicateurs statistiques</a:t>
                      </a:r>
                    </a:p>
                  </a:txBody>
                  <a:tcPr marL="60435" marR="60435" marT="30218" marB="30218"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EAM (erreur absolue moyenne), MAPE (taux erreur absolu moyen), Biais (erreur directionnelle)</a:t>
                      </a:r>
                    </a:p>
                  </a:txBody>
                  <a:tcPr marL="60435" marR="60435" marT="30218" marB="30218" anchor="ctr">
                    <a:lnL>
                      <a:noFill/>
                    </a:lnL>
                    <a:lnR>
                      <a:noFill/>
                    </a:lnR>
                    <a:lnT>
                      <a:noFill/>
                    </a:lnT>
                    <a:lnB>
                      <a:noFill/>
                    </a:lnB>
                    <a:solidFill>
                      <a:schemeClr val="bg2">
                        <a:lumMod val="90000"/>
                      </a:schemeClr>
                    </a:solidFill>
                  </a:tcPr>
                </a:tc>
                <a:extLst>
                  <a:ext uri="{0D108BD9-81ED-4DB2-BD59-A6C34878D82A}">
                    <a16:rowId xmlns:a16="http://schemas.microsoft.com/office/drawing/2014/main" val="2675959465"/>
                  </a:ext>
                </a:extLst>
              </a:tr>
              <a:tr h="227009">
                <a:tc>
                  <a:txBody>
                    <a:bodyPr/>
                    <a:lstStyle/>
                    <a:p>
                      <a:r>
                        <a:rPr lang="fr-FR" sz="1200">
                          <a:latin typeface="Aptos" panose="020B0004020202020204" pitchFamily="34" charset="0"/>
                        </a:rPr>
                        <a:t>Cible de précision</a:t>
                      </a:r>
                    </a:p>
                  </a:txBody>
                  <a:tcPr marL="60435" marR="60435" marT="30218" marB="30218" anchor="ctr">
                    <a:lnL>
                      <a:noFill/>
                    </a:lnL>
                    <a:lnR>
                      <a:noFill/>
                    </a:lnR>
                    <a:lnT>
                      <a:noFill/>
                    </a:lnT>
                    <a:lnB>
                      <a:noFill/>
                    </a:lnB>
                  </a:tcPr>
                </a:tc>
                <a:tc>
                  <a:txBody>
                    <a:bodyPr/>
                    <a:lstStyle/>
                    <a:p>
                      <a:r>
                        <a:rPr lang="fr-FR" sz="1200">
                          <a:latin typeface="Aptos" panose="020B0004020202020204" pitchFamily="34" charset="0"/>
                        </a:rPr>
                        <a:t>MAPE &lt; 10% globalement, &lt; 12% en haute saison</a:t>
                      </a:r>
                    </a:p>
                  </a:txBody>
                  <a:tcPr marL="60435" marR="60435" marT="30218" marB="30218" anchor="ctr">
                    <a:lnL>
                      <a:noFill/>
                    </a:lnL>
                    <a:lnR>
                      <a:noFill/>
                    </a:lnR>
                    <a:lnT>
                      <a:noFill/>
                    </a:lnT>
                    <a:lnB>
                      <a:noFill/>
                    </a:lnB>
                  </a:tcPr>
                </a:tc>
                <a:extLst>
                  <a:ext uri="{0D108BD9-81ED-4DB2-BD59-A6C34878D82A}">
                    <a16:rowId xmlns:a16="http://schemas.microsoft.com/office/drawing/2014/main" val="2254017195"/>
                  </a:ext>
                </a:extLst>
              </a:tr>
              <a:tr h="394694">
                <a:tc>
                  <a:txBody>
                    <a:bodyPr/>
                    <a:lstStyle/>
                    <a:p>
                      <a:r>
                        <a:rPr lang="fr-FR" sz="1200" dirty="0">
                          <a:latin typeface="Aptos" panose="020B0004020202020204" pitchFamily="34" charset="0"/>
                        </a:rPr>
                        <a:t>Analyse causale</a:t>
                      </a:r>
                    </a:p>
                  </a:txBody>
                  <a:tcPr marL="60435" marR="60435" marT="30218" marB="30218"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Méthode des 5 Pourquoi pour identifier les causes profondes</a:t>
                      </a:r>
                    </a:p>
                  </a:txBody>
                  <a:tcPr marL="60435" marR="60435" marT="30218" marB="30218" anchor="ctr">
                    <a:lnL>
                      <a:noFill/>
                    </a:lnL>
                    <a:lnR>
                      <a:noFill/>
                    </a:lnR>
                    <a:lnT>
                      <a:noFill/>
                    </a:lnT>
                    <a:lnB>
                      <a:noFill/>
                    </a:lnB>
                    <a:solidFill>
                      <a:schemeClr val="bg2">
                        <a:lumMod val="90000"/>
                      </a:schemeClr>
                    </a:solidFill>
                  </a:tcPr>
                </a:tc>
                <a:extLst>
                  <a:ext uri="{0D108BD9-81ED-4DB2-BD59-A6C34878D82A}">
                    <a16:rowId xmlns:a16="http://schemas.microsoft.com/office/drawing/2014/main" val="1802240852"/>
                  </a:ext>
                </a:extLst>
              </a:tr>
              <a:tr h="394694">
                <a:tc>
                  <a:txBody>
                    <a:bodyPr/>
                    <a:lstStyle/>
                    <a:p>
                      <a:r>
                        <a:rPr lang="fr-FR" sz="1200">
                          <a:latin typeface="Aptos" panose="020B0004020202020204" pitchFamily="34" charset="0"/>
                        </a:rPr>
                        <a:t>Causes fréquentes</a:t>
                      </a:r>
                    </a:p>
                  </a:txBody>
                  <a:tcPr marL="60435" marR="60435" marT="30218" marB="30218" anchor="ctr">
                    <a:lnL>
                      <a:noFill/>
                    </a:lnL>
                    <a:lnR>
                      <a:noFill/>
                    </a:lnR>
                    <a:lnT>
                      <a:noFill/>
                    </a:lnT>
                    <a:lnB>
                      <a:noFill/>
                    </a:lnB>
                  </a:tcPr>
                </a:tc>
                <a:tc>
                  <a:txBody>
                    <a:bodyPr/>
                    <a:lstStyle/>
                    <a:p>
                      <a:r>
                        <a:rPr lang="fr-FR" sz="1200">
                          <a:latin typeface="Aptos" panose="020B0004020202020204" pitchFamily="34" charset="0"/>
                        </a:rPr>
                        <a:t>Saisonnalité mal calibrée, biais dans données historiques, facteurs contextuels non intégrés</a:t>
                      </a:r>
                    </a:p>
                  </a:txBody>
                  <a:tcPr marL="60435" marR="60435" marT="30218" marB="30218" anchor="ctr">
                    <a:lnL>
                      <a:noFill/>
                    </a:lnL>
                    <a:lnR>
                      <a:noFill/>
                    </a:lnR>
                    <a:lnT>
                      <a:noFill/>
                    </a:lnT>
                    <a:lnB>
                      <a:noFill/>
                    </a:lnB>
                  </a:tcPr>
                </a:tc>
                <a:extLst>
                  <a:ext uri="{0D108BD9-81ED-4DB2-BD59-A6C34878D82A}">
                    <a16:rowId xmlns:a16="http://schemas.microsoft.com/office/drawing/2014/main" val="2815036987"/>
                  </a:ext>
                </a:extLst>
              </a:tr>
              <a:tr h="394694">
                <a:tc>
                  <a:txBody>
                    <a:bodyPr/>
                    <a:lstStyle/>
                    <a:p>
                      <a:r>
                        <a:rPr lang="fr-FR" sz="1200" dirty="0">
                          <a:latin typeface="Aptos" panose="020B0004020202020204" pitchFamily="34" charset="0"/>
                        </a:rPr>
                        <a:t>Cycle d'analyse</a:t>
                      </a:r>
                    </a:p>
                  </a:txBody>
                  <a:tcPr marL="60435" marR="60435" marT="30218" marB="30218"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Mensuel (écarts), trimestriel (révision modèle), annuel (restructuration)</a:t>
                      </a:r>
                    </a:p>
                  </a:txBody>
                  <a:tcPr marL="60435" marR="60435" marT="30218" marB="30218" anchor="ctr">
                    <a:lnL>
                      <a:noFill/>
                    </a:lnL>
                    <a:lnR>
                      <a:noFill/>
                    </a:lnR>
                    <a:lnT>
                      <a:noFill/>
                    </a:lnT>
                    <a:lnB>
                      <a:noFill/>
                    </a:lnB>
                    <a:solidFill>
                      <a:schemeClr val="bg2">
                        <a:lumMod val="90000"/>
                      </a:schemeClr>
                    </a:solidFill>
                  </a:tcPr>
                </a:tc>
                <a:extLst>
                  <a:ext uri="{0D108BD9-81ED-4DB2-BD59-A6C34878D82A}">
                    <a16:rowId xmlns:a16="http://schemas.microsoft.com/office/drawing/2014/main" val="1704610931"/>
                  </a:ext>
                </a:extLst>
              </a:tr>
              <a:tr h="394694">
                <a:tc>
                  <a:txBody>
                    <a:bodyPr/>
                    <a:lstStyle/>
                    <a:p>
                      <a:r>
                        <a:rPr lang="fr-FR" sz="1200">
                          <a:latin typeface="Aptos" panose="020B0004020202020204" pitchFamily="34" charset="0"/>
                        </a:rPr>
                        <a:t>Corrections</a:t>
                      </a:r>
                    </a:p>
                  </a:txBody>
                  <a:tcPr marL="60435" marR="60435" marT="30218" marB="30218" anchor="ctr">
                    <a:lnL>
                      <a:noFill/>
                    </a:lnL>
                    <a:lnR>
                      <a:noFill/>
                    </a:lnR>
                    <a:lnT>
                      <a:noFill/>
                    </a:lnT>
                    <a:lnB>
                      <a:noFill/>
                    </a:lnB>
                  </a:tcPr>
                </a:tc>
                <a:tc>
                  <a:txBody>
                    <a:bodyPr/>
                    <a:lstStyle/>
                    <a:p>
                      <a:r>
                        <a:rPr lang="fr-FR" sz="1200">
                          <a:latin typeface="Aptos" panose="020B0004020202020204" pitchFamily="34" charset="0"/>
                        </a:rPr>
                        <a:t>Recalibration indices saisonniers, correction du biais, révision des hypothèses</a:t>
                      </a:r>
                    </a:p>
                  </a:txBody>
                  <a:tcPr marL="60435" marR="60435" marT="30218" marB="30218" anchor="ctr">
                    <a:lnL>
                      <a:noFill/>
                    </a:lnL>
                    <a:lnR>
                      <a:noFill/>
                    </a:lnR>
                    <a:lnT>
                      <a:noFill/>
                    </a:lnT>
                    <a:lnB>
                      <a:noFill/>
                    </a:lnB>
                  </a:tcPr>
                </a:tc>
                <a:extLst>
                  <a:ext uri="{0D108BD9-81ED-4DB2-BD59-A6C34878D82A}">
                    <a16:rowId xmlns:a16="http://schemas.microsoft.com/office/drawing/2014/main" val="1844218515"/>
                  </a:ext>
                </a:extLst>
              </a:tr>
              <a:tr h="227009">
                <a:tc>
                  <a:txBody>
                    <a:bodyPr/>
                    <a:lstStyle/>
                    <a:p>
                      <a:r>
                        <a:rPr lang="fr-FR" sz="1200" dirty="0">
                          <a:latin typeface="Aptos" panose="020B0004020202020204" pitchFamily="34" charset="0"/>
                        </a:rPr>
                        <a:t>Documentation</a:t>
                      </a:r>
                    </a:p>
                  </a:txBody>
                  <a:tcPr marL="60435" marR="60435" marT="30218" marB="30218" anchor="ctr">
                    <a:lnL>
                      <a:noFill/>
                    </a:lnL>
                    <a:lnR>
                      <a:noFill/>
                    </a:lnR>
                    <a:lnT>
                      <a:noFill/>
                    </a:lnT>
                    <a:lnB>
                      <a:noFill/>
                    </a:lnB>
                    <a:solidFill>
                      <a:schemeClr val="bg2">
                        <a:lumMod val="90000"/>
                      </a:schemeClr>
                    </a:solidFill>
                  </a:tcPr>
                </a:tc>
                <a:tc>
                  <a:txBody>
                    <a:bodyPr/>
                    <a:lstStyle/>
                    <a:p>
                      <a:r>
                        <a:rPr lang="fr-FR" sz="1200" dirty="0">
                          <a:latin typeface="Aptos" panose="020B0004020202020204" pitchFamily="34" charset="0"/>
                        </a:rPr>
                        <a:t>Rapport formel d'analyse des écarts à chaque cycle</a:t>
                      </a:r>
                    </a:p>
                  </a:txBody>
                  <a:tcPr marL="60435" marR="60435" marT="30218" marB="30218" anchor="ctr">
                    <a:lnL>
                      <a:noFill/>
                    </a:lnL>
                    <a:lnR>
                      <a:noFill/>
                    </a:lnR>
                    <a:lnT>
                      <a:noFill/>
                    </a:lnT>
                    <a:lnB>
                      <a:noFill/>
                    </a:lnB>
                    <a:solidFill>
                      <a:schemeClr val="bg2">
                        <a:lumMod val="90000"/>
                      </a:schemeClr>
                    </a:solidFill>
                  </a:tcPr>
                </a:tc>
                <a:extLst>
                  <a:ext uri="{0D108BD9-81ED-4DB2-BD59-A6C34878D82A}">
                    <a16:rowId xmlns:a16="http://schemas.microsoft.com/office/drawing/2014/main" val="2867098949"/>
                  </a:ext>
                </a:extLst>
              </a:tr>
              <a:tr h="227009">
                <a:tc>
                  <a:txBody>
                    <a:bodyPr/>
                    <a:lstStyle/>
                    <a:p>
                      <a:r>
                        <a:rPr lang="fr-FR" sz="1200">
                          <a:latin typeface="Aptos" panose="020B0004020202020204" pitchFamily="34" charset="0"/>
                        </a:rPr>
                        <a:t>Tableau de bord qualité</a:t>
                      </a:r>
                    </a:p>
                  </a:txBody>
                  <a:tcPr marL="60435" marR="60435" marT="30218" marB="30218" anchor="ctr">
                    <a:lnL>
                      <a:noFill/>
                    </a:lnL>
                    <a:lnR>
                      <a:noFill/>
                    </a:lnR>
                    <a:lnT>
                      <a:noFill/>
                    </a:lnT>
                    <a:lnB>
                      <a:noFill/>
                    </a:lnB>
                  </a:tcPr>
                </a:tc>
                <a:tc>
                  <a:txBody>
                    <a:bodyPr/>
                    <a:lstStyle/>
                    <a:p>
                      <a:r>
                        <a:rPr lang="fr-FR" sz="1200" dirty="0">
                          <a:latin typeface="Aptos" panose="020B0004020202020204" pitchFamily="34" charset="0"/>
                        </a:rPr>
                        <a:t>Suivi de l'amélioration des prévisions dans le temps</a:t>
                      </a:r>
                    </a:p>
                  </a:txBody>
                  <a:tcPr marL="60435" marR="60435" marT="30218" marB="30218" anchor="ctr">
                    <a:lnL>
                      <a:noFill/>
                    </a:lnL>
                    <a:lnR>
                      <a:noFill/>
                    </a:lnR>
                    <a:lnT>
                      <a:noFill/>
                    </a:lnT>
                    <a:lnB>
                      <a:noFill/>
                    </a:lnB>
                  </a:tcPr>
                </a:tc>
                <a:extLst>
                  <a:ext uri="{0D108BD9-81ED-4DB2-BD59-A6C34878D82A}">
                    <a16:rowId xmlns:a16="http://schemas.microsoft.com/office/drawing/2014/main" val="195901068"/>
                  </a:ext>
                </a:extLst>
              </a:tr>
            </a:tbl>
          </a:graphicData>
        </a:graphic>
      </p:graphicFrame>
    </p:spTree>
    <p:extLst>
      <p:ext uri="{BB962C8B-B14F-4D97-AF65-F5344CB8AC3E}">
        <p14:creationId xmlns:p14="http://schemas.microsoft.com/office/powerpoint/2010/main" val="117708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5" y="2441479"/>
            <a:ext cx="9806599"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Atelier pratique : exercices de quantification pays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DES BESOINS</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565EF734-D257-4EEE-AD28-99F5AEA315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410788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586355" y="1381275"/>
            <a:ext cx="11435069" cy="454617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Cet atelier est conçu pour simuler un exercice réel de quantification nationale dans un pays fictif mais réaliste. Les données utilisées sont inspirées de contextes africains réels et reflètent les complexités, les ambiguïtés et les défis auxquels font face les équipes de quantification dans la pratique. L'atelier de quantification des ARV mobilise les compétences développées dans les deux modules précédents : collecte et analyse des données de consommation, méthode morbidité basée sur la file active, utilisation des outils (</a:t>
            </a:r>
            <a:r>
              <a:rPr kumimoji="0" lang="fr-FR" sz="2800" i="0" u="none" strike="noStrike" kern="1200" cap="none" spc="0" normalizeH="0" baseline="0" noProof="0" dirty="0" err="1">
                <a:ln>
                  <a:noFill/>
                </a:ln>
                <a:solidFill>
                  <a:schemeClr val="tx1">
                    <a:lumMod val="75000"/>
                    <a:lumOff val="25000"/>
                  </a:schemeClr>
                </a:solidFill>
                <a:effectLst/>
                <a:uLnTx/>
                <a:uFillTx/>
                <a:latin typeface="Aptos" panose="020B0004020202020204" pitchFamily="34" charset="0"/>
              </a:rPr>
              <a:t>PipeLine</a:t>
            </a: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 et QAT), triangulation, ajustements contextuels et analyse des écarts.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endParaRPr lang="fr-FR" dirty="0">
              <a:solidFill>
                <a:schemeClr val="tx1">
                  <a:lumMod val="75000"/>
                  <a:lumOff val="25000"/>
                </a:schemeClr>
              </a:solidFill>
              <a:latin typeface="Aptos" panose="020B0004020202020204" pitchFamily="34" charset="0"/>
            </a:endParaRP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b="1"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Durée estimée </a:t>
            </a: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 3 à 4 heures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endPar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endParaRP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b="1"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Organisation</a:t>
            </a: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 : groupes de 3 à 4 participants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endPar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endParaRP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b="1"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Matériel nécessaire </a:t>
            </a: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 calculatrices, formulaires de collecte, accès à QAT ou </a:t>
            </a:r>
            <a:r>
              <a:rPr kumimoji="0" lang="fr-FR" sz="2800" i="0" u="none" strike="noStrike" kern="1200" cap="none" spc="0" normalizeH="0" baseline="0" noProof="0" dirty="0" err="1">
                <a:ln>
                  <a:noFill/>
                </a:ln>
                <a:solidFill>
                  <a:schemeClr val="tx1">
                    <a:lumMod val="75000"/>
                    <a:lumOff val="25000"/>
                  </a:schemeClr>
                </a:solidFill>
                <a:effectLst/>
                <a:uLnTx/>
                <a:uFillTx/>
                <a:latin typeface="Aptos" panose="020B0004020202020204" pitchFamily="34" charset="0"/>
              </a:rPr>
              <a:t>PipeLine</a:t>
            </a: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 (si disponible), ou tableur Excel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BFCF52DA-19D5-40C1-8BD0-1D8840104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378646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latin typeface="Aptos" panose="020B0004020202020204" pitchFamily="34" charset="0"/>
                <a:ea typeface="Calibri" panose="020F0502020204030204" pitchFamily="34" charset="0"/>
                <a:cs typeface="Calibri" panose="020F0502020204030204" pitchFamily="34" charset="0"/>
              </a:rPr>
              <a:t>Atelier pratique : exercices de quantification pays </a:t>
            </a: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1082384" y="2883571"/>
            <a:ext cx="9689080" cy="64632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Atelier pratique disponible uniquement en atelier de certification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BFCF52DA-19D5-40C1-8BD0-1D8840104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290329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51DDFA-8265-4E9D-851A-03DF889A4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014A9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latin typeface="Aptos" panose="020B0004020202020204" pitchFamily="34" charset="0"/>
                <a:ea typeface="Calibri" panose="020F0502020204030204" pitchFamily="34" charset="0"/>
                <a:cs typeface="Calibri" panose="020F0502020204030204" pitchFamily="34" charset="0"/>
              </a:rPr>
              <a:t>Question?</a:t>
            </a:r>
            <a:endParaRPr lang="en-US" sz="3600" dirty="0">
              <a:solidFill>
                <a:schemeClr val="bg1"/>
              </a:solidFill>
              <a:latin typeface="Aptos" panose="020B0004020202020204" pitchFamily="34" charset="0"/>
            </a:endParaRPr>
          </a:p>
        </p:txBody>
      </p:sp>
      <p:cxnSp>
        <p:nvCxnSpPr>
          <p:cNvPr id="6" name="Connecteur droit 5">
            <a:extLst>
              <a:ext uri="{FF2B5EF4-FFF2-40B4-BE49-F238E27FC236}">
                <a16:creationId xmlns:a16="http://schemas.microsoft.com/office/drawing/2014/main" id="{2DCBA7D2-EC6B-455F-8C1C-07EFE76AD878}"/>
              </a:ext>
            </a:extLst>
          </p:cNvPr>
          <p:cNvCxnSpPr>
            <a:cxnSpLocks/>
            <a:stCxn id="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9" name="Image 8">
            <a:extLst>
              <a:ext uri="{FF2B5EF4-FFF2-40B4-BE49-F238E27FC236}">
                <a16:creationId xmlns:a16="http://schemas.microsoft.com/office/drawing/2014/main" id="{E6FAEB95-BFF9-46F3-B8A9-073888F54EE1}"/>
              </a:ext>
            </a:extLst>
          </p:cNvPr>
          <p:cNvPicPr>
            <a:picLocks noChangeAspect="1"/>
          </p:cNvPicPr>
          <p:nvPr/>
        </p:nvPicPr>
        <p:blipFill rotWithShape="1">
          <a:blip r:embed="rId3">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12" name="ZoneTexte 11">
            <a:extLst>
              <a:ext uri="{FF2B5EF4-FFF2-40B4-BE49-F238E27FC236}">
                <a16:creationId xmlns:a16="http://schemas.microsoft.com/office/drawing/2014/main" id="{D266AAB7-2CCE-4BB9-AD23-51A664897A28}"/>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QUANTIFICATION DES BESOINS</a:t>
            </a:r>
          </a:p>
        </p:txBody>
      </p:sp>
      <p:pic>
        <p:nvPicPr>
          <p:cNvPr id="13" name="Image 12">
            <a:extLst>
              <a:ext uri="{FF2B5EF4-FFF2-40B4-BE49-F238E27FC236}">
                <a16:creationId xmlns:a16="http://schemas.microsoft.com/office/drawing/2014/main" id="{CA4AA596-6C70-4F03-A5B4-5227541053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330176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6952</TotalTime>
  <Words>15844</Words>
  <Application>Microsoft Office PowerPoint</Application>
  <PresentationFormat>Grand écran</PresentationFormat>
  <Paragraphs>2160</Paragraphs>
  <Slides>171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171</vt:i4>
      </vt:variant>
    </vt:vector>
  </HeadingPairs>
  <TitlesOfParts>
    <vt:vector size="178" baseType="lpstr">
      <vt:lpstr>Aptos</vt:lpstr>
      <vt:lpstr>Arial</vt:lpstr>
      <vt:lpstr>Calibri</vt:lpstr>
      <vt:lpstr>Calibri Light</vt:lpstr>
      <vt:lpstr>Cambria Math</vt:lpstr>
      <vt:lpstr>Courier New</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Hope AKOHOUVI AMOU [SANTE]</dc:creator>
  <cp:lastModifiedBy>Hope AKOHOUVI AMOU [SANTE]</cp:lastModifiedBy>
  <cp:revision>236</cp:revision>
  <dcterms:created xsi:type="dcterms:W3CDTF">2026-05-21T14:26:34Z</dcterms:created>
  <dcterms:modified xsi:type="dcterms:W3CDTF">2026-05-28T12:50:20Z</dcterms:modified>
</cp:coreProperties>
</file>